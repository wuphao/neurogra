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notesSlides/notesSlide1.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332" r:id="rId2"/>
    <p:sldId id="387" r:id="rId3"/>
    <p:sldId id="388" r:id="rId4"/>
    <p:sldId id="389" r:id="rId5"/>
    <p:sldId id="390" r:id="rId6"/>
    <p:sldId id="391" r:id="rId7"/>
    <p:sldId id="392" r:id="rId8"/>
    <p:sldId id="393" r:id="rId9"/>
    <p:sldId id="394" r:id="rId10"/>
    <p:sldId id="395" r:id="rId11"/>
    <p:sldId id="396" r:id="rId12"/>
    <p:sldId id="397" r:id="rId13"/>
    <p:sldId id="385" r:id="rId14"/>
  </p:sldIdLst>
  <p:sldSz cx="12192000" cy="6858000"/>
  <p:notesSz cx="6858000" cy="9144000"/>
  <p:custDataLst>
    <p:tags r:id="rId16"/>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549E"/>
    <a:srgbClr val="02549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2" d="100"/>
          <a:sy n="92" d="100"/>
        </p:scale>
        <p:origin x="336" y="1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tags" Target="tags/tag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2026/10/6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80502834-B775-4031-AA4D-CF81D5954D03}" type="datetimeFigureOut">
              <a:rPr lang="zh-CN" altLang="en-US" smtClean="0"/>
              <a:t>2026/10/6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5B4D7B8-D01B-485B-9B70-601B0A8AFCF6}" type="slidenum">
              <a:rPr lang="zh-CN" altLang="en-US" smtClean="0"/>
              <a:t>‹#›</a:t>
            </a:fld>
            <a:endParaRPr lang="zh-CN" altLang="en-US"/>
          </a:p>
        </p:txBody>
      </p:sp>
    </p:spTree>
  </p:cSld>
  <p:clrMapOvr>
    <a:masterClrMapping/>
  </p:clrMapOvr>
  <p:transition spd="med">
    <p:pull/>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0502834-B775-4031-AA4D-CF81D5954D03}" type="datetimeFigureOut">
              <a:rPr lang="zh-CN" altLang="en-US" smtClean="0"/>
              <a:t>2026/10/6</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B4D7B8-D01B-485B-9B70-601B0A8AFCF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spd="med">
    <p:pull/>
  </p:transition>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13" Type="http://schemas.openxmlformats.org/officeDocument/2006/relationships/image" Target="../media/image5.png"/><Relationship Id="rId3" Type="http://schemas.openxmlformats.org/officeDocument/2006/relationships/tags" Target="../tags/tag4.xml"/><Relationship Id="rId7" Type="http://schemas.openxmlformats.org/officeDocument/2006/relationships/slideLayout" Target="../slideLayouts/slideLayout7.xml"/><Relationship Id="rId12" Type="http://schemas.openxmlformats.org/officeDocument/2006/relationships/image" Target="../media/image4.sv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image" Target="../media/image3.png"/><Relationship Id="rId5" Type="http://schemas.openxmlformats.org/officeDocument/2006/relationships/tags" Target="../tags/tag6.xml"/><Relationship Id="rId10" Type="http://schemas.openxmlformats.org/officeDocument/2006/relationships/image" Target="../media/image2.png"/><Relationship Id="rId4" Type="http://schemas.openxmlformats.org/officeDocument/2006/relationships/tags" Target="../tags/tag5.xml"/><Relationship Id="rId9" Type="http://schemas.openxmlformats.org/officeDocument/2006/relationships/image" Target="../media/image1.png"/><Relationship Id="rId14" Type="http://schemas.openxmlformats.org/officeDocument/2006/relationships/image" Target="../media/image6.sv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hyperlink" Target="https://aclanthology.org/2024.acl-long.558/" TargetMode="External"/><Relationship Id="rId3" Type="http://schemas.openxmlformats.org/officeDocument/2006/relationships/tags" Target="../tags/tag10.xml"/><Relationship Id="rId7" Type="http://schemas.openxmlformats.org/officeDocument/2006/relationships/slideLayout" Target="../slideLayouts/slideLayout1.xml"/><Relationship Id="rId12" Type="http://schemas.openxmlformats.org/officeDocument/2006/relationships/hyperlink" Target="https://aclanthology.org/2024.findings-acl.33/" TargetMode="External"/><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image" Target="../media/image9.png"/><Relationship Id="rId5" Type="http://schemas.openxmlformats.org/officeDocument/2006/relationships/tags" Target="../tags/tag12.xml"/><Relationship Id="rId10" Type="http://schemas.openxmlformats.org/officeDocument/2006/relationships/image" Target="../media/image8.png"/><Relationship Id="rId4" Type="http://schemas.openxmlformats.org/officeDocument/2006/relationships/tags" Target="../tags/tag11.xml"/><Relationship Id="rId9" Type="http://schemas.openxmlformats.org/officeDocument/2006/relationships/image" Target="../media/image1.png"/></Relationships>
</file>

<file path=ppt/slides/_rels/slide3.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6.xml"/><Relationship Id="rId7" Type="http://schemas.openxmlformats.org/officeDocument/2006/relationships/image" Target="../media/image7.png"/><Relationship Id="rId2" Type="http://schemas.openxmlformats.org/officeDocument/2006/relationships/tags" Target="../tags/tag15.xml"/><Relationship Id="rId1" Type="http://schemas.openxmlformats.org/officeDocument/2006/relationships/tags" Target="../tags/tag14.xml"/><Relationship Id="rId6" Type="http://schemas.openxmlformats.org/officeDocument/2006/relationships/slideLayout" Target="../slideLayouts/slideLayout1.xml"/><Relationship Id="rId5" Type="http://schemas.openxmlformats.org/officeDocument/2006/relationships/tags" Target="../tags/tag18.xml"/><Relationship Id="rId10" Type="http://schemas.openxmlformats.org/officeDocument/2006/relationships/image" Target="../media/image10.png"/><Relationship Id="rId4" Type="http://schemas.openxmlformats.org/officeDocument/2006/relationships/tags" Target="../tags/tag17.xml"/><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tags" Target="../tags/tag21.xml"/><Relationship Id="rId7" Type="http://schemas.openxmlformats.org/officeDocument/2006/relationships/image" Target="../media/image1.png"/><Relationship Id="rId2" Type="http://schemas.openxmlformats.org/officeDocument/2006/relationships/tags" Target="../tags/tag20.xml"/><Relationship Id="rId1" Type="http://schemas.openxmlformats.org/officeDocument/2006/relationships/tags" Target="../tags/tag19.xml"/><Relationship Id="rId6" Type="http://schemas.openxmlformats.org/officeDocument/2006/relationships/image" Target="../media/image7.png"/><Relationship Id="rId5" Type="http://schemas.openxmlformats.org/officeDocument/2006/relationships/slideLayout" Target="../slideLayouts/slideLayout1.xml"/><Relationship Id="rId4" Type="http://schemas.openxmlformats.org/officeDocument/2006/relationships/tags" Target="../tags/tag22.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tags" Target="../tags/tag25.xml"/><Relationship Id="rId7" Type="http://schemas.openxmlformats.org/officeDocument/2006/relationships/image" Target="../media/image1.png"/><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image" Target="../media/image7.png"/><Relationship Id="rId5" Type="http://schemas.openxmlformats.org/officeDocument/2006/relationships/slideLayout" Target="../slideLayouts/slideLayout1.xml"/><Relationship Id="rId4" Type="http://schemas.openxmlformats.org/officeDocument/2006/relationships/tags" Target="../tags/tag26.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tags" Target="../tags/tag29.xml"/><Relationship Id="rId7" Type="http://schemas.openxmlformats.org/officeDocument/2006/relationships/image" Target="../media/image8.png"/><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tags" Target="../tags/tag32.xml"/><Relationship Id="rId7" Type="http://schemas.openxmlformats.org/officeDocument/2006/relationships/image" Target="../media/image8.png"/><Relationship Id="rId2" Type="http://schemas.openxmlformats.org/officeDocument/2006/relationships/tags" Target="../tags/tag31.xml"/><Relationship Id="rId1" Type="http://schemas.openxmlformats.org/officeDocument/2006/relationships/tags" Target="../tags/tag30.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tags" Target="../tags/tag35.xml"/><Relationship Id="rId7" Type="http://schemas.openxmlformats.org/officeDocument/2006/relationships/image" Target="../media/image8.png"/><Relationship Id="rId2" Type="http://schemas.openxmlformats.org/officeDocument/2006/relationships/tags" Target="../tags/tag34.xml"/><Relationship Id="rId1" Type="http://schemas.openxmlformats.org/officeDocument/2006/relationships/tags" Target="../tags/tag33.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slideLayout" Target="../slideLayouts/slideLayout1.xml"/><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tags" Target="../tags/tag38.xml"/><Relationship Id="rId7" Type="http://schemas.openxmlformats.org/officeDocument/2006/relationships/image" Target="../media/image8.png"/><Relationship Id="rId2" Type="http://schemas.openxmlformats.org/officeDocument/2006/relationships/tags" Target="../tags/tag37.xml"/><Relationship Id="rId1" Type="http://schemas.openxmlformats.org/officeDocument/2006/relationships/tags" Target="../tags/tag36.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tags" Target="../tags/tag41.xml"/><Relationship Id="rId7" Type="http://schemas.openxmlformats.org/officeDocument/2006/relationships/image" Target="../media/image8.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tags" Target="../tags/tag44.xml"/><Relationship Id="rId7" Type="http://schemas.openxmlformats.org/officeDocument/2006/relationships/image" Target="../media/image8.png"/><Relationship Id="rId2" Type="http://schemas.openxmlformats.org/officeDocument/2006/relationships/tags" Target="../tags/tag43.xml"/><Relationship Id="rId1" Type="http://schemas.openxmlformats.org/officeDocument/2006/relationships/tags" Target="../tags/tag42.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tags" Target="../tags/tag47.xml"/><Relationship Id="rId7" Type="http://schemas.openxmlformats.org/officeDocument/2006/relationships/image" Target="../media/image8.png"/><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16" name="图片 15" descr="华科大"/>
          <p:cNvPicPr>
            <a:picLocks noChangeAspect="1"/>
          </p:cNvPicPr>
          <p:nvPr>
            <p:custDataLst>
              <p:tags r:id="rId1"/>
            </p:custDataLst>
          </p:nvPr>
        </p:nvPicPr>
        <p:blipFill>
          <a:blip r:embed="rId9"/>
          <a:stretch>
            <a:fillRect/>
          </a:stretch>
        </p:blipFill>
        <p:spPr>
          <a:xfrm>
            <a:off x="0" y="-110490"/>
            <a:ext cx="3847465" cy="1346835"/>
          </a:xfrm>
          <a:prstGeom prst="rect">
            <a:avLst/>
          </a:prstGeom>
        </p:spPr>
      </p:pic>
      <p:pic>
        <p:nvPicPr>
          <p:cNvPr id="4" name="图片 3" descr="D:/图片1.png图片1"/>
          <p:cNvPicPr>
            <a:picLocks noChangeAspect="1"/>
          </p:cNvPicPr>
          <p:nvPr/>
        </p:nvPicPr>
        <p:blipFill>
          <a:blip r:embed="rId10"/>
          <a:srcRect l="10309" r="20218" b="10052"/>
          <a:stretch>
            <a:fillRect/>
          </a:stretch>
        </p:blipFill>
        <p:spPr>
          <a:xfrm>
            <a:off x="3565525" y="0"/>
            <a:ext cx="8626475" cy="6858000"/>
          </a:xfrm>
          <a:prstGeom prst="rect">
            <a:avLst/>
          </a:prstGeom>
        </p:spPr>
      </p:pic>
      <p:sp>
        <p:nvSpPr>
          <p:cNvPr id="5" name="矩形 4"/>
          <p:cNvSpPr/>
          <p:nvPr/>
        </p:nvSpPr>
        <p:spPr>
          <a:xfrm>
            <a:off x="0" y="0"/>
            <a:ext cx="12192000" cy="6858000"/>
          </a:xfrm>
          <a:prstGeom prst="rect">
            <a:avLst/>
          </a:prstGeom>
          <a:gradFill>
            <a:gsLst>
              <a:gs pos="62000">
                <a:srgbClr val="02549D">
                  <a:alpha val="100000"/>
                  <a:lumMod val="96000"/>
                  <a:lumOff val="4000"/>
                </a:srgbClr>
              </a:gs>
              <a:gs pos="6000">
                <a:schemeClr val="accent1">
                  <a:lumMod val="53000"/>
                  <a:lumOff val="47000"/>
                  <a:alpha val="0"/>
                </a:schemeClr>
              </a:gs>
              <a:gs pos="100000">
                <a:srgbClr val="02549D">
                  <a:alpha val="100000"/>
                </a:srgbClr>
              </a:gs>
            </a:gsLst>
            <a:path path="circle">
              <a:fillToRect l="100000" b="100000"/>
            </a:path>
            <a:tileRect t="-100000" r="-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endParaRPr lang="zh-CN" altLang="en-US" sz="2800" dirty="0"/>
          </a:p>
        </p:txBody>
      </p:sp>
      <p:cxnSp>
        <p:nvCxnSpPr>
          <p:cNvPr id="8" name="直接连接符 7"/>
          <p:cNvCxnSpPr/>
          <p:nvPr/>
        </p:nvCxnSpPr>
        <p:spPr>
          <a:xfrm flipV="1">
            <a:off x="666750" y="3745865"/>
            <a:ext cx="6324600" cy="43815"/>
          </a:xfrm>
          <a:prstGeom prst="line">
            <a:avLst/>
          </a:prstGeom>
          <a:ln w="28575" cmpd="sng">
            <a:solidFill>
              <a:schemeClr val="bg1"/>
            </a:solidFill>
            <a:prstDash val="solid"/>
          </a:ln>
        </p:spPr>
        <p:style>
          <a:lnRef idx="2">
            <a:schemeClr val="accent1"/>
          </a:lnRef>
          <a:fillRef idx="0">
            <a:srgbClr val="FFFFFF"/>
          </a:fillRef>
          <a:effectRef idx="0">
            <a:srgbClr val="FFFFFF"/>
          </a:effectRef>
          <a:fontRef idx="minor">
            <a:schemeClr val="tx1"/>
          </a:fontRef>
        </p:style>
      </p:cxnSp>
      <p:sp>
        <p:nvSpPr>
          <p:cNvPr id="15" name="Object 106"/>
          <p:cNvSpPr txBox="1"/>
          <p:nvPr>
            <p:custDataLst>
              <p:tags r:id="rId2"/>
            </p:custDataLst>
          </p:nvPr>
        </p:nvSpPr>
        <p:spPr>
          <a:xfrm>
            <a:off x="1347470" y="4500880"/>
            <a:ext cx="2926080" cy="462280"/>
          </a:xfrm>
          <a:prstGeom prst="rect">
            <a:avLst/>
          </a:prstGeom>
        </p:spPr>
        <p:txBody>
          <a:bodyPr vert="horz" wrap="square" lIns="0" tIns="46800" rIns="0" bIns="46800" rtlCol="0" anchor="t" anchorCtr="0">
            <a:noAutofit/>
          </a:bodyPr>
          <a:lstStyle/>
          <a:p>
            <a:pPr algn="l">
              <a:lnSpc>
                <a:spcPct val="100000"/>
              </a:lnSpc>
            </a:pPr>
            <a:r>
              <a:rPr lang="zh-CN" altLang="en-US"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主讲</a:t>
            </a:r>
            <a:r>
              <a:rPr lang="zh-CN"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人：</a:t>
            </a:r>
            <a:r>
              <a:rPr lang="zh-CN" altLang="en-US"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吴鹏昊</a:t>
            </a:r>
            <a:endParaRPr lang="zh-CN"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1" name="Object 106"/>
          <p:cNvSpPr txBox="1"/>
          <p:nvPr>
            <p:custDataLst>
              <p:tags r:id="rId3"/>
            </p:custDataLst>
          </p:nvPr>
        </p:nvSpPr>
        <p:spPr>
          <a:xfrm>
            <a:off x="1347470" y="5610860"/>
            <a:ext cx="4298950" cy="462280"/>
          </a:xfrm>
          <a:prstGeom prst="rect">
            <a:avLst/>
          </a:prstGeom>
        </p:spPr>
        <p:txBody>
          <a:bodyPr vert="horz" wrap="square" lIns="0" tIns="46800" rIns="0" bIns="46800" rtlCol="0" anchor="t" anchorCtr="0">
            <a:noAutofit/>
          </a:bodyPr>
          <a:lstStyle/>
          <a:p>
            <a:pPr algn="l">
              <a:lnSpc>
                <a:spcPct val="100000"/>
              </a:lnSpc>
              <a:buClrTx/>
              <a:buSzTx/>
              <a:buFontTx/>
            </a:pPr>
            <a:r>
              <a:rPr lang="zh-CN"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日期：</a:t>
            </a:r>
            <a:r>
              <a:rPr lang="en-US" altLang="zh-CN" sz="2800" b="1" dirty="0">
                <a:solidFill>
                  <a:srgbClr val="FFFFFF"/>
                </a:solidFill>
                <a:latin typeface="微软雅黑" panose="020B0503020204020204" pitchFamily="34" charset="-122"/>
                <a:ea typeface="微软雅黑" panose="020B0503020204020204" pitchFamily="34" charset="-122"/>
                <a:cs typeface="微软雅黑" panose="020B0503020204020204" pitchFamily="34" charset="-122"/>
              </a:rPr>
              <a:t>2026.3.3</a:t>
            </a:r>
          </a:p>
        </p:txBody>
      </p:sp>
      <p:pic>
        <p:nvPicPr>
          <p:cNvPr id="13" name="图片 12" descr="华科大"/>
          <p:cNvPicPr>
            <a:picLocks noChangeAspect="1"/>
          </p:cNvPicPr>
          <p:nvPr>
            <p:custDataLst>
              <p:tags r:id="rId4"/>
            </p:custDataLst>
          </p:nvPr>
        </p:nvPicPr>
        <p:blipFill>
          <a:blip r:embed="rId9"/>
          <a:stretch>
            <a:fillRect/>
          </a:stretch>
        </p:blipFill>
        <p:spPr>
          <a:xfrm>
            <a:off x="0" y="0"/>
            <a:ext cx="3132455" cy="1096645"/>
          </a:xfrm>
          <a:prstGeom prst="rect">
            <a:avLst/>
          </a:prstGeom>
        </p:spPr>
      </p:pic>
      <p:pic>
        <p:nvPicPr>
          <p:cNvPr id="7" name="图片 6" descr="论文答辩"/>
          <p:cNvPicPr>
            <a:picLocks noChangeAspect="1"/>
          </p:cNvPicPr>
          <p:nvPr>
            <p:custDataLst>
              <p:tags r:id="rId5"/>
            </p:custDataLst>
          </p:nvPr>
        </p:nvPicPr>
        <p:blipFill>
          <a:blip r:embed="rId11">
            <a:extLst>
              <a:ext uri="{96DAC541-7B7A-43D3-8B79-37D633B846F1}">
                <asvg:svgBlip xmlns:asvg="http://schemas.microsoft.com/office/drawing/2016/SVG/main" r:embed="rId12"/>
              </a:ext>
            </a:extLst>
          </a:blip>
          <a:stretch>
            <a:fillRect/>
          </a:stretch>
        </p:blipFill>
        <p:spPr>
          <a:xfrm>
            <a:off x="666750" y="4473575"/>
            <a:ext cx="521335" cy="521335"/>
          </a:xfrm>
          <a:prstGeom prst="rect">
            <a:avLst/>
          </a:prstGeom>
        </p:spPr>
      </p:pic>
      <p:pic>
        <p:nvPicPr>
          <p:cNvPr id="10" name="图片 9" descr="笔记本"/>
          <p:cNvPicPr>
            <a:picLocks noChangeAspect="1"/>
          </p:cNvPicPr>
          <p:nvPr>
            <p:custDataLst>
              <p:tags r:id="rId6"/>
            </p:custDataLst>
          </p:nvPr>
        </p:nvPicPr>
        <p:blipFill>
          <a:blip r:embed="rId13">
            <a:extLst>
              <a:ext uri="{96DAC541-7B7A-43D3-8B79-37D633B846F1}">
                <asvg:svgBlip xmlns:asvg="http://schemas.microsoft.com/office/drawing/2016/SVG/main" r:embed="rId14"/>
              </a:ext>
            </a:extLst>
          </a:blip>
          <a:stretch>
            <a:fillRect/>
          </a:stretch>
        </p:blipFill>
        <p:spPr>
          <a:xfrm>
            <a:off x="666750" y="5547360"/>
            <a:ext cx="515620" cy="515620"/>
          </a:xfrm>
          <a:prstGeom prst="rect">
            <a:avLst/>
          </a:prstGeom>
        </p:spPr>
      </p:pic>
    </p:spTree>
  </p:cSld>
  <p:clrMapOvr>
    <a:masterClrMapping/>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54290-5BFB-91C9-1979-35329E27C248}"/>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1E46E6E0-9605-7F2E-9AE0-66D6CEB5E6A0}"/>
              </a:ext>
            </a:extLst>
          </p:cNvPr>
          <p:cNvPicPr>
            <a:picLocks noChangeAspect="1"/>
          </p:cNvPicPr>
          <p:nvPr>
            <p:custDataLst>
              <p:tags r:id="rId2"/>
            </p:custDataLst>
          </p:nvPr>
        </p:nvPicPr>
        <p:blipFill>
          <a:blip r:embed="rId8"/>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2C7B6A2E-3975-1F0E-932C-3BA9A3B94ABC}"/>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36F3800F-5315-12C4-D93A-7E47C2C0160A}"/>
              </a:ext>
            </a:extLst>
          </p:cNvPr>
          <p:cNvPicPr>
            <a:picLocks noChangeAspect="1"/>
          </p:cNvPicPr>
          <p:nvPr>
            <p:custDataLst>
              <p:tags r:id="rId3"/>
            </p:custDataLst>
          </p:nvPr>
        </p:nvPicPr>
        <p:blipFill>
          <a:blip r:embed="rId9"/>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2B77A6AF-49A2-5253-5773-03AA8074991D}"/>
              </a:ext>
            </a:extLst>
          </p:cNvPr>
          <p:cNvPicPr>
            <a:picLocks noChangeAspect="1"/>
          </p:cNvPicPr>
          <p:nvPr/>
        </p:nvPicPr>
        <p:blipFill>
          <a:blip r:embed="rId10"/>
          <a:srcRect l="3256" t="-6868" r="4770" b="-1340"/>
          <a:stretch>
            <a:fillRect/>
          </a:stretch>
        </p:blipFill>
        <p:spPr>
          <a:xfrm>
            <a:off x="9730566" y="6359394"/>
            <a:ext cx="2313940" cy="410210"/>
          </a:xfrm>
          <a:prstGeom prst="rect">
            <a:avLst/>
          </a:prstGeom>
        </p:spPr>
      </p:pic>
      <p:pic>
        <p:nvPicPr>
          <p:cNvPr id="2" name="图片 1">
            <a:extLst>
              <a:ext uri="{FF2B5EF4-FFF2-40B4-BE49-F238E27FC236}">
                <a16:creationId xmlns:a16="http://schemas.microsoft.com/office/drawing/2014/main" id="{218DA992-BF16-9461-BAE6-6A755C7ECDBD}"/>
              </a:ext>
            </a:extLst>
          </p:cNvPr>
          <p:cNvPicPr>
            <a:picLocks noChangeAspect="1"/>
          </p:cNvPicPr>
          <p:nvPr>
            <p:custDataLst>
              <p:tags r:id="rId4"/>
            </p:custDataLst>
          </p:nvPr>
        </p:nvPicPr>
        <p:blipFill>
          <a:blip r:embed="rId8"/>
          <a:srcRect t="69576" b="21479"/>
          <a:stretch>
            <a:fillRect/>
          </a:stretch>
        </p:blipFill>
        <p:spPr>
          <a:xfrm>
            <a:off x="0" y="-22860"/>
            <a:ext cx="12192000" cy="681355"/>
          </a:xfrm>
          <a:prstGeom prst="rect">
            <a:avLst/>
          </a:prstGeom>
        </p:spPr>
      </p:pic>
      <p:sp>
        <p:nvSpPr>
          <p:cNvPr id="3" name="矩形 2">
            <a:extLst>
              <a:ext uri="{FF2B5EF4-FFF2-40B4-BE49-F238E27FC236}">
                <a16:creationId xmlns:a16="http://schemas.microsoft.com/office/drawing/2014/main" id="{11043765-0F41-632E-D422-2F52410C81F7}"/>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796C3B28-AA42-D357-17CD-4B7F7465A0D5}"/>
              </a:ext>
            </a:extLst>
          </p:cNvPr>
          <p:cNvSpPr/>
          <p:nvPr>
            <p:custDataLst>
              <p:tags r:id="rId5"/>
            </p:custDataLst>
          </p:nvPr>
        </p:nvSpPr>
        <p:spPr>
          <a:xfrm>
            <a:off x="2125374" y="-24015"/>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文本框 6">
            <a:extLst>
              <a:ext uri="{FF2B5EF4-FFF2-40B4-BE49-F238E27FC236}">
                <a16:creationId xmlns:a16="http://schemas.microsoft.com/office/drawing/2014/main" id="{88B496FD-C098-EF71-B3B6-F9357FE3CBD4}"/>
              </a:ext>
            </a:extLst>
          </p:cNvPr>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p>
        </p:txBody>
      </p:sp>
      <p:sp>
        <p:nvSpPr>
          <p:cNvPr id="8" name="文本框 7">
            <a:extLst>
              <a:ext uri="{FF2B5EF4-FFF2-40B4-BE49-F238E27FC236}">
                <a16:creationId xmlns:a16="http://schemas.microsoft.com/office/drawing/2014/main" id="{097F1FCC-2213-1749-7559-03029D44E393}"/>
              </a:ext>
            </a:extLst>
          </p:cNvPr>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1" name="文本框 10">
            <a:extLst>
              <a:ext uri="{FF2B5EF4-FFF2-40B4-BE49-F238E27FC236}">
                <a16:creationId xmlns:a16="http://schemas.microsoft.com/office/drawing/2014/main" id="{E24F70EE-1E6D-1096-B3CC-509119C5B015}"/>
              </a:ext>
            </a:extLst>
          </p:cNvPr>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12" name="文本框 11">
            <a:extLst>
              <a:ext uri="{FF2B5EF4-FFF2-40B4-BE49-F238E27FC236}">
                <a16:creationId xmlns:a16="http://schemas.microsoft.com/office/drawing/2014/main" id="{225A9116-0627-DC10-C13B-0D1DE88A139D}"/>
              </a:ext>
            </a:extLst>
          </p:cNvPr>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13" name="文本框 12">
            <a:extLst>
              <a:ext uri="{FF2B5EF4-FFF2-40B4-BE49-F238E27FC236}">
                <a16:creationId xmlns:a16="http://schemas.microsoft.com/office/drawing/2014/main" id="{2BFCAF49-D560-14C0-7A60-F17E2E47695F}"/>
              </a:ext>
            </a:extLst>
          </p:cNvPr>
          <p:cNvSpPr txBox="1"/>
          <p:nvPr/>
        </p:nvSpPr>
        <p:spPr>
          <a:xfrm>
            <a:off x="8667692" y="88396"/>
            <a:ext cx="173672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消融实验</a:t>
            </a:r>
          </a:p>
        </p:txBody>
      </p:sp>
      <p:pic>
        <p:nvPicPr>
          <p:cNvPr id="15" name="图片 14" descr="华科大">
            <a:extLst>
              <a:ext uri="{FF2B5EF4-FFF2-40B4-BE49-F238E27FC236}">
                <a16:creationId xmlns:a16="http://schemas.microsoft.com/office/drawing/2014/main" id="{030386FE-C492-9C33-DF8A-33605EDFE27E}"/>
              </a:ext>
            </a:extLst>
          </p:cNvPr>
          <p:cNvPicPr>
            <a:picLocks noChangeAspect="1"/>
          </p:cNvPicPr>
          <p:nvPr>
            <p:custDataLst>
              <p:tags r:id="rId6"/>
            </p:custDataLst>
          </p:nvPr>
        </p:nvPicPr>
        <p:blipFill>
          <a:blip r:embed="rId9"/>
          <a:stretch>
            <a:fillRect/>
          </a:stretch>
        </p:blipFill>
        <p:spPr>
          <a:xfrm>
            <a:off x="-156383" y="-97790"/>
            <a:ext cx="2354580" cy="824230"/>
          </a:xfrm>
          <a:prstGeom prst="rect">
            <a:avLst/>
          </a:prstGeom>
        </p:spPr>
      </p:pic>
      <p:sp>
        <p:nvSpPr>
          <p:cNvPr id="17" name="文本框 16">
            <a:extLst>
              <a:ext uri="{FF2B5EF4-FFF2-40B4-BE49-F238E27FC236}">
                <a16:creationId xmlns:a16="http://schemas.microsoft.com/office/drawing/2014/main" id="{06E8AEDC-0273-DA22-5EAF-D8B46A8677B2}"/>
              </a:ext>
            </a:extLst>
          </p:cNvPr>
          <p:cNvSpPr txBox="1"/>
          <p:nvPr/>
        </p:nvSpPr>
        <p:spPr>
          <a:xfrm>
            <a:off x="561861" y="982519"/>
            <a:ext cx="11141824" cy="832664"/>
          </a:xfrm>
          <a:prstGeom prst="rect">
            <a:avLst/>
          </a:prstGeom>
          <a:noFill/>
        </p:spPr>
        <p:txBody>
          <a:bodyPr wrap="square" rtlCol="0" anchor="t">
            <a:spAutoFit/>
          </a:bodyPr>
          <a:lstStyle/>
          <a:p>
            <a:pPr>
              <a:lnSpc>
                <a:spcPct val="140000"/>
              </a:lnSpc>
            </a:pPr>
            <a:r>
              <a:rPr lang="zh-CN" altLang="zh-CN" dirty="0"/>
              <a:t>神经退行性疾病是一组涉及认知、运动、行为及自主神经功能持续损害的疾病，其诊断需要综合症状组合、病程演变、检查结果和病因证据</a:t>
            </a:r>
            <a:r>
              <a:rPr lang="zh-CN" altLang="en-US" dirty="0"/>
              <a:t>。</a:t>
            </a:r>
            <a:endParaRPr lang="en-US" altLang="zh-CN" dirty="0"/>
          </a:p>
        </p:txBody>
      </p:sp>
      <p:sp>
        <p:nvSpPr>
          <p:cNvPr id="19" name="文本框 18">
            <a:extLst>
              <a:ext uri="{FF2B5EF4-FFF2-40B4-BE49-F238E27FC236}">
                <a16:creationId xmlns:a16="http://schemas.microsoft.com/office/drawing/2014/main" id="{CAD02D01-B8F2-70F3-0E33-0DCF8E7943BB}"/>
              </a:ext>
            </a:extLst>
          </p:cNvPr>
          <p:cNvSpPr txBox="1"/>
          <p:nvPr/>
        </p:nvSpPr>
        <p:spPr>
          <a:xfrm>
            <a:off x="10226811" y="67914"/>
            <a:ext cx="20153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结论和展望</a:t>
            </a:r>
          </a:p>
        </p:txBody>
      </p:sp>
      <p:pic>
        <p:nvPicPr>
          <p:cNvPr id="21" name="图片 20">
            <a:extLst>
              <a:ext uri="{FF2B5EF4-FFF2-40B4-BE49-F238E27FC236}">
                <a16:creationId xmlns:a16="http://schemas.microsoft.com/office/drawing/2014/main" id="{2A3CF4FE-5A5C-6324-30C3-4A4D1FC01D34}"/>
              </a:ext>
            </a:extLst>
          </p:cNvPr>
          <p:cNvPicPr>
            <a:picLocks noChangeAspect="1"/>
          </p:cNvPicPr>
          <p:nvPr/>
        </p:nvPicPr>
        <p:blipFill>
          <a:blip r:embed="rId11"/>
          <a:stretch>
            <a:fillRect/>
          </a:stretch>
        </p:blipFill>
        <p:spPr>
          <a:xfrm>
            <a:off x="6558741" y="1661572"/>
            <a:ext cx="5511145" cy="4182026"/>
          </a:xfrm>
          <a:prstGeom prst="rect">
            <a:avLst/>
          </a:prstGeom>
        </p:spPr>
      </p:pic>
      <p:sp>
        <p:nvSpPr>
          <p:cNvPr id="22" name="文本框 21">
            <a:extLst>
              <a:ext uri="{FF2B5EF4-FFF2-40B4-BE49-F238E27FC236}">
                <a16:creationId xmlns:a16="http://schemas.microsoft.com/office/drawing/2014/main" id="{830927A8-E6C9-6D3B-62F7-350B24A8A8F5}"/>
              </a:ext>
            </a:extLst>
          </p:cNvPr>
          <p:cNvSpPr txBox="1"/>
          <p:nvPr/>
        </p:nvSpPr>
        <p:spPr>
          <a:xfrm>
            <a:off x="525088" y="1953987"/>
            <a:ext cx="5659581" cy="1608261"/>
          </a:xfrm>
          <a:prstGeom prst="rect">
            <a:avLst/>
          </a:prstGeom>
          <a:noFill/>
        </p:spPr>
        <p:txBody>
          <a:bodyPr wrap="square" rtlCol="0" anchor="t">
            <a:spAutoFit/>
          </a:bodyPr>
          <a:lstStyle/>
          <a:p>
            <a:pPr>
              <a:lnSpc>
                <a:spcPct val="140000"/>
              </a:lnSpc>
            </a:pPr>
            <a:r>
              <a:rPr lang="zh-CN" altLang="en-US" dirty="0"/>
              <a:t>郝峻巍教授团队与中国疾控中心周脉耕研究员团队的研究指出，以阿尔茨海默病和帕金森病为代表的神经退行性疾病在我国患病人数众多，神经系统疾病的伤残调整生命年（</a:t>
            </a:r>
            <a:r>
              <a:rPr lang="en-US" altLang="zh-CN" dirty="0"/>
              <a:t>DALYs</a:t>
            </a:r>
            <a:r>
              <a:rPr lang="zh-CN" altLang="en-US" dirty="0"/>
              <a:t>）自</a:t>
            </a:r>
            <a:r>
              <a:rPr lang="en-US" altLang="zh-CN" dirty="0"/>
              <a:t>1990</a:t>
            </a:r>
            <a:r>
              <a:rPr lang="zh-CN" altLang="en-US" dirty="0"/>
              <a:t>年以来逐年上升。</a:t>
            </a:r>
            <a:endParaRPr lang="en-US" altLang="zh-CN" dirty="0"/>
          </a:p>
        </p:txBody>
      </p:sp>
      <p:sp>
        <p:nvSpPr>
          <p:cNvPr id="23" name="文本框 22">
            <a:extLst>
              <a:ext uri="{FF2B5EF4-FFF2-40B4-BE49-F238E27FC236}">
                <a16:creationId xmlns:a16="http://schemas.microsoft.com/office/drawing/2014/main" id="{B0CA9ACE-58BF-8397-FAD8-8783D6BE2820}"/>
              </a:ext>
            </a:extLst>
          </p:cNvPr>
          <p:cNvSpPr txBox="1"/>
          <p:nvPr/>
        </p:nvSpPr>
        <p:spPr>
          <a:xfrm>
            <a:off x="427308" y="3701052"/>
            <a:ext cx="5998429" cy="1996059"/>
          </a:xfrm>
          <a:prstGeom prst="rect">
            <a:avLst/>
          </a:prstGeom>
          <a:noFill/>
        </p:spPr>
        <p:txBody>
          <a:bodyPr wrap="square" rtlCol="0" anchor="t">
            <a:spAutoFit/>
          </a:bodyPr>
          <a:lstStyle/>
          <a:p>
            <a:pPr>
              <a:lnSpc>
                <a:spcPct val="140000"/>
              </a:lnSpc>
            </a:pPr>
            <a:r>
              <a:rPr lang="zh-CN" altLang="en-US" dirty="0"/>
              <a:t>大语言模型的发展为神经退行性疾病辅助诊断提供了技术基础。整合病历、症状与检查结果等多源数据，结合多智能体协作与知识图谱增强推理，有望实现</a:t>
            </a:r>
            <a:r>
              <a:rPr lang="zh-CN" altLang="en-US" b="1" dirty="0"/>
              <a:t>证据可溯源、过程可追踪</a:t>
            </a:r>
            <a:r>
              <a:rPr lang="zh-CN" altLang="en-US" dirty="0"/>
              <a:t>的辅助诊断，为提升推理的可靠性与可解释性提供可行路径（</a:t>
            </a:r>
            <a:r>
              <a:rPr lang="en-US" altLang="zh-CN" dirty="0">
                <a:hlinkClick r:id="rId12"/>
              </a:rPr>
              <a:t>Tang et al., 2024</a:t>
            </a:r>
            <a:r>
              <a:rPr lang="zh-CN" altLang="en-US" dirty="0"/>
              <a:t>；</a:t>
            </a:r>
            <a:r>
              <a:rPr lang="en-US" altLang="zh-CN" dirty="0">
                <a:hlinkClick r:id="rId13"/>
              </a:rPr>
              <a:t>Wen et al., 2024</a:t>
            </a:r>
            <a:r>
              <a:rPr lang="zh-CN" altLang="en-US" dirty="0"/>
              <a:t>）。</a:t>
            </a:r>
            <a:endParaRPr lang="en-US" altLang="zh-CN" dirty="0"/>
          </a:p>
        </p:txBody>
      </p:sp>
    </p:spTree>
    <p:custDataLst>
      <p:tags r:id="rId1"/>
    </p:custDataLst>
    <p:extLst>
      <p:ext uri="{BB962C8B-B14F-4D97-AF65-F5344CB8AC3E}">
        <p14:creationId xmlns:p14="http://schemas.microsoft.com/office/powerpoint/2010/main" val="91073851"/>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913F0-5A43-A963-C3FA-D3F463BED8C3}"/>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AE0770EF-B62E-7632-47BC-08CA8906E0A7}"/>
              </a:ext>
            </a:extLst>
          </p:cNvPr>
          <p:cNvPicPr>
            <a:picLocks noChangeAspect="1"/>
          </p:cNvPicPr>
          <p:nvPr>
            <p:custDataLst>
              <p:tags r:id="rId2"/>
            </p:custDataLst>
          </p:nvPr>
        </p:nvPicPr>
        <p:blipFill>
          <a:blip r:embed="rId7"/>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7D125D22-9FE8-E2E3-D620-D09C920C66B1}"/>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AD1891EC-7026-41E3-81F0-FC0CF811650E}"/>
              </a:ext>
            </a:extLst>
          </p:cNvPr>
          <p:cNvPicPr>
            <a:picLocks noChangeAspect="1"/>
          </p:cNvPicPr>
          <p:nvPr>
            <p:custDataLst>
              <p:tags r:id="rId3"/>
            </p:custDataLst>
          </p:nvPr>
        </p:nvPicPr>
        <p:blipFill>
          <a:blip r:embed="rId8"/>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7263182D-7A78-A62A-082A-842B4CE5561B}"/>
              </a:ext>
            </a:extLst>
          </p:cNvPr>
          <p:cNvPicPr>
            <a:picLocks noChangeAspect="1"/>
          </p:cNvPicPr>
          <p:nvPr/>
        </p:nvPicPr>
        <p:blipFill>
          <a:blip r:embed="rId9"/>
          <a:srcRect l="3256" t="-6868" r="4770" b="-1340"/>
          <a:stretch>
            <a:fillRect/>
          </a:stretch>
        </p:blipFill>
        <p:spPr>
          <a:xfrm>
            <a:off x="9389745" y="6247765"/>
            <a:ext cx="2313940" cy="410210"/>
          </a:xfrm>
          <a:prstGeom prst="rect">
            <a:avLst/>
          </a:prstGeom>
        </p:spPr>
      </p:pic>
      <p:sp>
        <p:nvSpPr>
          <p:cNvPr id="2" name="文本框 1">
            <a:extLst>
              <a:ext uri="{FF2B5EF4-FFF2-40B4-BE49-F238E27FC236}">
                <a16:creationId xmlns:a16="http://schemas.microsoft.com/office/drawing/2014/main" id="{C756DF85-47D1-57E2-58DB-768D7A5DEAC8}"/>
              </a:ext>
            </a:extLst>
          </p:cNvPr>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p>
        </p:txBody>
      </p:sp>
      <p:sp>
        <p:nvSpPr>
          <p:cNvPr id="6" name="文本框 5">
            <a:extLst>
              <a:ext uri="{FF2B5EF4-FFF2-40B4-BE49-F238E27FC236}">
                <a16:creationId xmlns:a16="http://schemas.microsoft.com/office/drawing/2014/main" id="{0D897595-8CF9-1F6D-A528-76DFD635EC08}"/>
              </a:ext>
            </a:extLst>
          </p:cNvPr>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7" name="文本框 6">
            <a:extLst>
              <a:ext uri="{FF2B5EF4-FFF2-40B4-BE49-F238E27FC236}">
                <a16:creationId xmlns:a16="http://schemas.microsoft.com/office/drawing/2014/main" id="{C643F48B-7816-2200-152C-3F611A134ED6}"/>
              </a:ext>
            </a:extLst>
          </p:cNvPr>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算法设计</a:t>
            </a:r>
            <a:endParaRPr lang="zh-CN" altLang="en-US" sz="2400" b="1" dirty="0">
              <a:solidFill>
                <a:schemeClr val="bg1"/>
              </a:solidFill>
            </a:endParaRPr>
          </a:p>
        </p:txBody>
      </p:sp>
      <p:sp>
        <p:nvSpPr>
          <p:cNvPr id="8" name="文本框 7">
            <a:extLst>
              <a:ext uri="{FF2B5EF4-FFF2-40B4-BE49-F238E27FC236}">
                <a16:creationId xmlns:a16="http://schemas.microsoft.com/office/drawing/2014/main" id="{20D09797-C085-781D-32AF-1EC19A9202C6}"/>
              </a:ext>
            </a:extLst>
          </p:cNvPr>
          <p:cNvSpPr txBox="1"/>
          <p:nvPr/>
        </p:nvSpPr>
        <p:spPr>
          <a:xfrm>
            <a:off x="8667692" y="88396"/>
            <a:ext cx="173672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消融实验</a:t>
            </a:r>
          </a:p>
        </p:txBody>
      </p:sp>
      <p:sp>
        <p:nvSpPr>
          <p:cNvPr id="11" name="文本框 10">
            <a:extLst>
              <a:ext uri="{FF2B5EF4-FFF2-40B4-BE49-F238E27FC236}">
                <a16:creationId xmlns:a16="http://schemas.microsoft.com/office/drawing/2014/main" id="{752E5379-68F0-17B8-E9E4-FEE15E75A817}"/>
              </a:ext>
            </a:extLst>
          </p:cNvPr>
          <p:cNvSpPr txBox="1"/>
          <p:nvPr/>
        </p:nvSpPr>
        <p:spPr>
          <a:xfrm>
            <a:off x="10226811" y="67914"/>
            <a:ext cx="20153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结论和展望</a:t>
            </a:r>
          </a:p>
        </p:txBody>
      </p:sp>
      <p:sp>
        <p:nvSpPr>
          <p:cNvPr id="12" name="矩形 11">
            <a:extLst>
              <a:ext uri="{FF2B5EF4-FFF2-40B4-BE49-F238E27FC236}">
                <a16:creationId xmlns:a16="http://schemas.microsoft.com/office/drawing/2014/main" id="{6DD3511B-399A-17A5-F76F-DB58CBEEE836}"/>
              </a:ext>
            </a:extLst>
          </p:cNvPr>
          <p:cNvSpPr/>
          <p:nvPr>
            <p:custDataLst>
              <p:tags r:id="rId4"/>
            </p:custDataLst>
          </p:nvPr>
        </p:nvSpPr>
        <p:spPr>
          <a:xfrm>
            <a:off x="3747280" y="-24015"/>
            <a:ext cx="1859281" cy="676679"/>
          </a:xfrm>
          <a:prstGeom prst="rect">
            <a:avLst/>
          </a:prstGeom>
          <a:solidFill>
            <a:srgbClr val="02549D"/>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文本框 12">
            <a:extLst>
              <a:ext uri="{FF2B5EF4-FFF2-40B4-BE49-F238E27FC236}">
                <a16:creationId xmlns:a16="http://schemas.microsoft.com/office/drawing/2014/main" id="{B162B6D7-2D57-D1A1-C8D3-8EB2CEB3ADEA}"/>
              </a:ext>
            </a:extLst>
          </p:cNvPr>
          <p:cNvSpPr txBox="1"/>
          <p:nvPr/>
        </p:nvSpPr>
        <p:spPr>
          <a:xfrm>
            <a:off x="3633368" y="67914"/>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14" name="文本框 13">
            <a:extLst>
              <a:ext uri="{FF2B5EF4-FFF2-40B4-BE49-F238E27FC236}">
                <a16:creationId xmlns:a16="http://schemas.microsoft.com/office/drawing/2014/main" id="{0AD5D2B0-696E-0319-F624-93B190810C42}"/>
              </a:ext>
            </a:extLst>
          </p:cNvPr>
          <p:cNvSpPr txBox="1"/>
          <p:nvPr>
            <p:custDataLst>
              <p:tags r:id="rId5"/>
            </p:custDataLst>
          </p:nvPr>
        </p:nvSpPr>
        <p:spPr>
          <a:xfrm>
            <a:off x="177522" y="801370"/>
            <a:ext cx="3895704" cy="400110"/>
          </a:xfrm>
          <a:prstGeom prst="rect">
            <a:avLst/>
          </a:prstGeom>
          <a:noFill/>
        </p:spPr>
        <p:txBody>
          <a:bodyPr wrap="square" rtlCol="0">
            <a:spAutoFit/>
          </a:bodyPr>
          <a:lstStyle/>
          <a:p>
            <a:r>
              <a:rPr lang="zh-CN" altLang="en-US" sz="2000" b="1" dirty="0">
                <a:solidFill>
                  <a:schemeClr val="accent1"/>
                </a:solidFill>
                <a:latin typeface="微软雅黑" panose="020B0503020204020204" pitchFamily="34" charset="-122"/>
                <a:ea typeface="微软雅黑" panose="020B0503020204020204" pitchFamily="34" charset="-122"/>
              </a:rPr>
              <a:t>神经退行性疾病智能分析研究</a:t>
            </a:r>
          </a:p>
        </p:txBody>
      </p:sp>
      <p:sp>
        <p:nvSpPr>
          <p:cNvPr id="16" name="文本框 15">
            <a:extLst>
              <a:ext uri="{FF2B5EF4-FFF2-40B4-BE49-F238E27FC236}">
                <a16:creationId xmlns:a16="http://schemas.microsoft.com/office/drawing/2014/main" id="{91D9074D-3D05-E607-287F-5534694D74E6}"/>
              </a:ext>
            </a:extLst>
          </p:cNvPr>
          <p:cNvSpPr txBox="1"/>
          <p:nvPr/>
        </p:nvSpPr>
        <p:spPr>
          <a:xfrm>
            <a:off x="245073" y="1254868"/>
            <a:ext cx="10989425" cy="646331"/>
          </a:xfrm>
          <a:prstGeom prst="rect">
            <a:avLst/>
          </a:prstGeom>
          <a:noFill/>
        </p:spPr>
        <p:txBody>
          <a:bodyPr wrap="square">
            <a:spAutoFit/>
          </a:bodyPr>
          <a:lstStyle/>
          <a:p>
            <a:r>
              <a:rPr lang="zh-CN" altLang="en-US" dirty="0"/>
              <a:t>研究方法：通过融合患者病史、认知评估、影像及其他临床资料，利用预测模型或智能体工具完成疾病识别与病因鉴别。</a:t>
            </a:r>
          </a:p>
        </p:txBody>
      </p:sp>
      <p:sp>
        <p:nvSpPr>
          <p:cNvPr id="18" name="文本框 17">
            <a:extLst>
              <a:ext uri="{FF2B5EF4-FFF2-40B4-BE49-F238E27FC236}">
                <a16:creationId xmlns:a16="http://schemas.microsoft.com/office/drawing/2014/main" id="{C7446543-861D-7BA2-E03F-40EA0DA5CCC2}"/>
              </a:ext>
            </a:extLst>
          </p:cNvPr>
          <p:cNvSpPr txBox="1"/>
          <p:nvPr/>
        </p:nvSpPr>
        <p:spPr>
          <a:xfrm>
            <a:off x="265759" y="1815839"/>
            <a:ext cx="10698093" cy="646331"/>
          </a:xfrm>
          <a:prstGeom prst="rect">
            <a:avLst/>
          </a:prstGeom>
          <a:noFill/>
        </p:spPr>
        <p:txBody>
          <a:bodyPr wrap="square">
            <a:spAutoFit/>
          </a:bodyPr>
          <a:lstStyle/>
          <a:p>
            <a:r>
              <a:rPr lang="en-US" altLang="zh-CN" dirty="0"/>
              <a:t>Xue </a:t>
            </a:r>
            <a:r>
              <a:rPr lang="zh-CN" altLang="en-US" dirty="0"/>
              <a:t>等融合人口学信息、病史、认知评估与神经影像，基于 </a:t>
            </a:r>
            <a:r>
              <a:rPr lang="en-US" altLang="zh-CN" dirty="0"/>
              <a:t>9 </a:t>
            </a:r>
            <a:r>
              <a:rPr lang="zh-CN" altLang="en-US" dirty="0"/>
              <a:t>个数据集、共 </a:t>
            </a:r>
            <a:r>
              <a:rPr lang="en-US" altLang="zh-CN" dirty="0"/>
              <a:t>51,269 </a:t>
            </a:r>
            <a:r>
              <a:rPr lang="zh-CN" altLang="en-US" dirty="0"/>
              <a:t>名受试者开展多病因痴呆鉴别研究，病因鉴别的微平均 </a:t>
            </a:r>
            <a:r>
              <a:rPr lang="en-US" altLang="zh-CN" dirty="0"/>
              <a:t>AUROC </a:t>
            </a:r>
            <a:r>
              <a:rPr lang="zh-CN" altLang="en-US" dirty="0"/>
              <a:t>达到 </a:t>
            </a:r>
            <a:r>
              <a:rPr lang="en-US" altLang="zh-CN" b="1" dirty="0"/>
              <a:t>0.96</a:t>
            </a:r>
            <a:r>
              <a:rPr lang="zh-CN" altLang="en-US" dirty="0"/>
              <a:t>，验证了多源信息融合用于复杂痴呆病因识别的潜力。</a:t>
            </a:r>
          </a:p>
        </p:txBody>
      </p:sp>
      <p:sp>
        <p:nvSpPr>
          <p:cNvPr id="20" name="文本框 19">
            <a:extLst>
              <a:ext uri="{FF2B5EF4-FFF2-40B4-BE49-F238E27FC236}">
                <a16:creationId xmlns:a16="http://schemas.microsoft.com/office/drawing/2014/main" id="{07F5CF43-4A1A-6F46-E694-E3CDBC4762CA}"/>
              </a:ext>
            </a:extLst>
          </p:cNvPr>
          <p:cNvSpPr txBox="1"/>
          <p:nvPr/>
        </p:nvSpPr>
        <p:spPr>
          <a:xfrm>
            <a:off x="5802284" y="2728957"/>
            <a:ext cx="5494713" cy="1477328"/>
          </a:xfrm>
          <a:prstGeom prst="rect">
            <a:avLst/>
          </a:prstGeom>
          <a:noFill/>
        </p:spPr>
        <p:txBody>
          <a:bodyPr wrap="square">
            <a:spAutoFit/>
          </a:bodyPr>
          <a:lstStyle/>
          <a:p>
            <a:r>
              <a:rPr lang="en-US" altLang="zh-CN" dirty="0"/>
              <a:t>Hou </a:t>
            </a:r>
            <a:r>
              <a:rPr lang="zh-CN" altLang="en-US" dirty="0"/>
              <a:t>等提出 </a:t>
            </a:r>
            <a:r>
              <a:rPr lang="en-US" altLang="zh-CN" dirty="0" err="1"/>
              <a:t>ADAgent</a:t>
            </a:r>
            <a:r>
              <a:rPr lang="zh-CN" altLang="en-US" dirty="0"/>
              <a:t>，通过大语言模型调用 </a:t>
            </a:r>
            <a:r>
              <a:rPr lang="en-US" altLang="zh-CN" dirty="0"/>
              <a:t>MRI</a:t>
            </a:r>
            <a:r>
              <a:rPr lang="zh-CN" altLang="en-US" dirty="0"/>
              <a:t>、</a:t>
            </a:r>
            <a:r>
              <a:rPr lang="en-US" altLang="zh-CN" dirty="0"/>
              <a:t>PET </a:t>
            </a:r>
            <a:r>
              <a:rPr lang="zh-CN" altLang="en-US" dirty="0"/>
              <a:t>等医学分析工具，并协调不同模型的预测结果。在 </a:t>
            </a:r>
            <a:r>
              <a:rPr lang="en-US" altLang="zh-CN" dirty="0"/>
              <a:t>ADNI </a:t>
            </a:r>
            <a:r>
              <a:rPr lang="zh-CN" altLang="en-US" dirty="0"/>
              <a:t>的认知正常、</a:t>
            </a:r>
            <a:r>
              <a:rPr lang="en-US" altLang="zh-CN" dirty="0"/>
              <a:t>MCI </a:t>
            </a:r>
            <a:r>
              <a:rPr lang="zh-CN" altLang="en-US" dirty="0"/>
              <a:t>与 </a:t>
            </a:r>
            <a:r>
              <a:rPr lang="en-US" altLang="zh-CN" dirty="0"/>
              <a:t>AD </a:t>
            </a:r>
            <a:r>
              <a:rPr lang="zh-CN" altLang="en-US" dirty="0"/>
              <a:t>三分类任务中，准确率达到 </a:t>
            </a:r>
            <a:r>
              <a:rPr lang="en-US" altLang="zh-CN" b="1" dirty="0"/>
              <a:t>64.4%</a:t>
            </a:r>
            <a:r>
              <a:rPr lang="zh-CN" altLang="en-US" dirty="0"/>
              <a:t>，较 </a:t>
            </a:r>
            <a:r>
              <a:rPr lang="en-US" altLang="zh-CN" dirty="0" err="1"/>
              <a:t>CMViM</a:t>
            </a:r>
            <a:r>
              <a:rPr lang="en-US" altLang="zh-CN" dirty="0"/>
              <a:t> </a:t>
            </a:r>
            <a:r>
              <a:rPr lang="zh-CN" altLang="en-US" dirty="0"/>
              <a:t>提高 </a:t>
            </a:r>
            <a:r>
              <a:rPr lang="en-US" altLang="zh-CN" b="1" dirty="0"/>
              <a:t>2.7 </a:t>
            </a:r>
            <a:r>
              <a:rPr lang="zh-CN" altLang="en-US" b="1" dirty="0"/>
              <a:t>个百分点</a:t>
            </a:r>
            <a:r>
              <a:rPr lang="zh-CN" altLang="en-US" dirty="0"/>
              <a:t>，展示了工具协作与结果整合的应用价值。</a:t>
            </a:r>
          </a:p>
        </p:txBody>
      </p:sp>
      <p:pic>
        <p:nvPicPr>
          <p:cNvPr id="22" name="图片 21">
            <a:extLst>
              <a:ext uri="{FF2B5EF4-FFF2-40B4-BE49-F238E27FC236}">
                <a16:creationId xmlns:a16="http://schemas.microsoft.com/office/drawing/2014/main" id="{DEEA459B-3D9F-1E84-B71F-0D770F40BA91}"/>
              </a:ext>
            </a:extLst>
          </p:cNvPr>
          <p:cNvPicPr>
            <a:picLocks noChangeAspect="1"/>
          </p:cNvPicPr>
          <p:nvPr/>
        </p:nvPicPr>
        <p:blipFill>
          <a:blip r:embed="rId10"/>
          <a:stretch>
            <a:fillRect/>
          </a:stretch>
        </p:blipFill>
        <p:spPr>
          <a:xfrm>
            <a:off x="621319" y="2680990"/>
            <a:ext cx="4978688" cy="3489247"/>
          </a:xfrm>
          <a:prstGeom prst="rect">
            <a:avLst/>
          </a:prstGeom>
        </p:spPr>
      </p:pic>
      <p:sp>
        <p:nvSpPr>
          <p:cNvPr id="24" name="文本框 23">
            <a:extLst>
              <a:ext uri="{FF2B5EF4-FFF2-40B4-BE49-F238E27FC236}">
                <a16:creationId xmlns:a16="http://schemas.microsoft.com/office/drawing/2014/main" id="{FDEAE735-5869-6C84-A230-BDE0B7EE1A19}"/>
              </a:ext>
            </a:extLst>
          </p:cNvPr>
          <p:cNvSpPr txBox="1"/>
          <p:nvPr/>
        </p:nvSpPr>
        <p:spPr>
          <a:xfrm>
            <a:off x="5802284" y="4532632"/>
            <a:ext cx="5590942" cy="1754326"/>
          </a:xfrm>
          <a:prstGeom prst="rect">
            <a:avLst/>
          </a:prstGeom>
          <a:noFill/>
        </p:spPr>
        <p:txBody>
          <a:bodyPr wrap="square">
            <a:spAutoFit/>
          </a:bodyPr>
          <a:lstStyle/>
          <a:p>
            <a:r>
              <a:rPr lang="en-US" altLang="zh-CN" dirty="0"/>
              <a:t>Li </a:t>
            </a:r>
            <a:r>
              <a:rPr lang="zh-CN" altLang="en-US" dirty="0"/>
              <a:t>等提出 </a:t>
            </a:r>
            <a:r>
              <a:rPr lang="en-US" altLang="zh-CN" dirty="0"/>
              <a:t>CARE-AD</a:t>
            </a:r>
            <a:r>
              <a:rPr lang="zh-CN" altLang="en-US" dirty="0"/>
              <a:t>，通过纵向电子病历提取认知、功能及精神行为相关线索，组织多专科智能体开展 </a:t>
            </a:r>
            <a:r>
              <a:rPr lang="en-US" altLang="zh-CN" dirty="0"/>
              <a:t>AD </a:t>
            </a:r>
            <a:r>
              <a:rPr lang="zh-CN" altLang="en-US" dirty="0"/>
              <a:t>风险评估。在首次 </a:t>
            </a:r>
            <a:r>
              <a:rPr lang="en-US" altLang="zh-CN" dirty="0"/>
              <a:t>AD </a:t>
            </a:r>
            <a:r>
              <a:rPr lang="zh-CN" altLang="en-US" dirty="0"/>
              <a:t>诊断编码前 </a:t>
            </a:r>
            <a:r>
              <a:rPr lang="en-US" altLang="zh-CN" b="1" dirty="0"/>
              <a:t>10 </a:t>
            </a:r>
            <a:r>
              <a:rPr lang="zh-CN" altLang="en-US" b="1" dirty="0"/>
              <a:t>年</a:t>
            </a:r>
            <a:r>
              <a:rPr lang="zh-CN" altLang="en-US" dirty="0"/>
              <a:t>的回顾性预测任务中，准确率达到 </a:t>
            </a:r>
            <a:r>
              <a:rPr lang="en-US" altLang="zh-CN" b="1" dirty="0"/>
              <a:t>53%</a:t>
            </a:r>
            <a:r>
              <a:rPr lang="zh-CN" altLang="en-US" dirty="0"/>
              <a:t>，高于单模型基线的 </a:t>
            </a:r>
            <a:r>
              <a:rPr lang="en-US" altLang="zh-CN" b="1" dirty="0"/>
              <a:t>26%–45%</a:t>
            </a:r>
            <a:r>
              <a:rPr lang="zh-CN" altLang="en-US" dirty="0"/>
              <a:t>，展示了临床文本挖掘与多智能体协作支持早期风险识别的潜力</a:t>
            </a:r>
          </a:p>
        </p:txBody>
      </p:sp>
    </p:spTree>
    <p:custDataLst>
      <p:tags r:id="rId1"/>
    </p:custDataLst>
    <p:extLst>
      <p:ext uri="{BB962C8B-B14F-4D97-AF65-F5344CB8AC3E}">
        <p14:creationId xmlns:p14="http://schemas.microsoft.com/office/powerpoint/2010/main" val="411942641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ppt_x"/>
                                          </p:val>
                                        </p:tav>
                                        <p:tav tm="100000">
                                          <p:val>
                                            <p:strVal val="#ppt_x"/>
                                          </p:val>
                                        </p:tav>
                                      </p:tavLst>
                                    </p:anim>
                                    <p:anim calcmode="lin" valueType="num">
                                      <p:cBhvr additive="base">
                                        <p:cTn id="12"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F9FE2-A983-DCB9-F7D6-6AE569BC10DB}"/>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B20F4908-8770-297D-53C9-E46984551824}"/>
              </a:ext>
            </a:extLst>
          </p:cNvPr>
          <p:cNvPicPr>
            <a:picLocks noChangeAspect="1"/>
          </p:cNvPicPr>
          <p:nvPr>
            <p:custDataLst>
              <p:tags r:id="rId2"/>
            </p:custDataLst>
          </p:nvPr>
        </p:nvPicPr>
        <p:blipFill>
          <a:blip r:embed="rId6"/>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2CDE6026-1AE2-B865-F2A6-D726B0500563}"/>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5162DB14-4A13-AB28-AA13-8FD2D102B385}"/>
              </a:ext>
            </a:extLst>
          </p:cNvPr>
          <p:cNvPicPr>
            <a:picLocks noChangeAspect="1"/>
          </p:cNvPicPr>
          <p:nvPr>
            <p:custDataLst>
              <p:tags r:id="rId3"/>
            </p:custDataLst>
          </p:nvPr>
        </p:nvPicPr>
        <p:blipFill>
          <a:blip r:embed="rId7"/>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F19ECBD7-AF5E-906E-5E7F-13BFCFF20E7E}"/>
              </a:ext>
            </a:extLst>
          </p:cNvPr>
          <p:cNvPicPr>
            <a:picLocks noChangeAspect="1"/>
          </p:cNvPicPr>
          <p:nvPr/>
        </p:nvPicPr>
        <p:blipFill>
          <a:blip r:embed="rId8"/>
          <a:srcRect l="3256" t="-6868" r="4770" b="-1340"/>
          <a:stretch>
            <a:fillRect/>
          </a:stretch>
        </p:blipFill>
        <p:spPr>
          <a:xfrm>
            <a:off x="9389745" y="6247765"/>
            <a:ext cx="2313940" cy="410210"/>
          </a:xfrm>
          <a:prstGeom prst="rect">
            <a:avLst/>
          </a:prstGeom>
        </p:spPr>
      </p:pic>
      <p:sp>
        <p:nvSpPr>
          <p:cNvPr id="2" name="文本框 1">
            <a:extLst>
              <a:ext uri="{FF2B5EF4-FFF2-40B4-BE49-F238E27FC236}">
                <a16:creationId xmlns:a16="http://schemas.microsoft.com/office/drawing/2014/main" id="{E1A939B5-F22A-2560-1FB8-FF987115A611}"/>
              </a:ext>
            </a:extLst>
          </p:cNvPr>
          <p:cNvSpPr txBox="1"/>
          <p:nvPr/>
        </p:nvSpPr>
        <p:spPr>
          <a:xfrm>
            <a:off x="2125374" y="67915"/>
            <a:ext cx="16725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研究背景</a:t>
            </a:r>
          </a:p>
        </p:txBody>
      </p:sp>
      <p:sp>
        <p:nvSpPr>
          <p:cNvPr id="3" name="文本框 2">
            <a:extLst>
              <a:ext uri="{FF2B5EF4-FFF2-40B4-BE49-F238E27FC236}">
                <a16:creationId xmlns:a16="http://schemas.microsoft.com/office/drawing/2014/main" id="{0C9D7DD2-FB27-0219-B4FF-FC3D0AB6C375}"/>
              </a:ext>
            </a:extLst>
          </p:cNvPr>
          <p:cNvSpPr txBox="1"/>
          <p:nvPr/>
        </p:nvSpPr>
        <p:spPr>
          <a:xfrm>
            <a:off x="3762124" y="80122"/>
            <a:ext cx="178165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研究现状</a:t>
            </a:r>
            <a:endParaRPr lang="zh-CN" altLang="en-US" sz="2400" b="1" dirty="0">
              <a:solidFill>
                <a:schemeClr val="bg1"/>
              </a:solidFill>
            </a:endParaRPr>
          </a:p>
        </p:txBody>
      </p:sp>
      <p:sp>
        <p:nvSpPr>
          <p:cNvPr id="6" name="文本框 5">
            <a:extLst>
              <a:ext uri="{FF2B5EF4-FFF2-40B4-BE49-F238E27FC236}">
                <a16:creationId xmlns:a16="http://schemas.microsoft.com/office/drawing/2014/main" id="{546E8D1C-23DD-98F7-FBC1-E669FDB06D5B}"/>
              </a:ext>
            </a:extLst>
          </p:cNvPr>
          <p:cNvSpPr txBox="1"/>
          <p:nvPr/>
        </p:nvSpPr>
        <p:spPr>
          <a:xfrm>
            <a:off x="5394826" y="86984"/>
            <a:ext cx="183705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系统架构</a:t>
            </a:r>
            <a:endParaRPr lang="zh-CN" altLang="en-US" sz="2400" b="1" dirty="0">
              <a:solidFill>
                <a:schemeClr val="bg1"/>
              </a:solidFill>
            </a:endParaRPr>
          </a:p>
        </p:txBody>
      </p:sp>
      <p:sp>
        <p:nvSpPr>
          <p:cNvPr id="7" name="文本框 6">
            <a:extLst>
              <a:ext uri="{FF2B5EF4-FFF2-40B4-BE49-F238E27FC236}">
                <a16:creationId xmlns:a16="http://schemas.microsoft.com/office/drawing/2014/main" id="{CD8BFA24-995C-936D-FB66-9E1407306D22}"/>
              </a:ext>
            </a:extLst>
          </p:cNvPr>
          <p:cNvSpPr txBox="1"/>
          <p:nvPr/>
        </p:nvSpPr>
        <p:spPr>
          <a:xfrm>
            <a:off x="7005125" y="86983"/>
            <a:ext cx="1859280"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图谱算法</a:t>
            </a:r>
            <a:endParaRPr lang="zh-CN" altLang="en-US" sz="2400" b="1" dirty="0">
              <a:solidFill>
                <a:schemeClr val="bg1"/>
              </a:solidFill>
            </a:endParaRPr>
          </a:p>
        </p:txBody>
      </p:sp>
      <p:sp>
        <p:nvSpPr>
          <p:cNvPr id="8" name="文本框 7">
            <a:extLst>
              <a:ext uri="{FF2B5EF4-FFF2-40B4-BE49-F238E27FC236}">
                <a16:creationId xmlns:a16="http://schemas.microsoft.com/office/drawing/2014/main" id="{FBE67185-BB5D-1382-E5A9-CE8ADE6942D3}"/>
              </a:ext>
            </a:extLst>
          </p:cNvPr>
          <p:cNvSpPr txBox="1"/>
          <p:nvPr/>
        </p:nvSpPr>
        <p:spPr>
          <a:xfrm>
            <a:off x="8667692" y="88396"/>
            <a:ext cx="173672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消融实验</a:t>
            </a:r>
          </a:p>
        </p:txBody>
      </p:sp>
      <p:sp>
        <p:nvSpPr>
          <p:cNvPr id="11" name="文本框 10">
            <a:extLst>
              <a:ext uri="{FF2B5EF4-FFF2-40B4-BE49-F238E27FC236}">
                <a16:creationId xmlns:a16="http://schemas.microsoft.com/office/drawing/2014/main" id="{8C28CA8F-4C54-3ABF-7F95-EDBB2E71F38D}"/>
              </a:ext>
            </a:extLst>
          </p:cNvPr>
          <p:cNvSpPr txBox="1"/>
          <p:nvPr/>
        </p:nvSpPr>
        <p:spPr>
          <a:xfrm>
            <a:off x="10226811" y="67914"/>
            <a:ext cx="2015375" cy="461665"/>
          </a:xfrm>
          <a:prstGeom prst="rect">
            <a:avLst/>
          </a:prstGeom>
          <a:noFill/>
        </p:spPr>
        <p:txBody>
          <a:bodyPr wrap="square" rtlCol="0">
            <a:spAutoFit/>
          </a:bodyPr>
          <a:lstStyle/>
          <a:p>
            <a:r>
              <a:rPr lang="en-US" altLang="zh-CN" sz="2200" b="1" dirty="0">
                <a:solidFill>
                  <a:schemeClr val="bg1"/>
                </a:solidFill>
              </a:rPr>
              <a:t>  </a:t>
            </a:r>
            <a:r>
              <a:rPr lang="zh-CN" altLang="en-US" sz="2400" b="1" dirty="0">
                <a:solidFill>
                  <a:schemeClr val="bg1"/>
                </a:solidFill>
                <a:latin typeface="微软雅黑" panose="020B0503020204020204" pitchFamily="34" charset="-122"/>
                <a:ea typeface="微软雅黑" panose="020B0503020204020204" pitchFamily="34" charset="-122"/>
              </a:rPr>
              <a:t>结论和展望</a:t>
            </a:r>
          </a:p>
        </p:txBody>
      </p:sp>
      <p:sp>
        <p:nvSpPr>
          <p:cNvPr id="12" name="文本框 11">
            <a:extLst>
              <a:ext uri="{FF2B5EF4-FFF2-40B4-BE49-F238E27FC236}">
                <a16:creationId xmlns:a16="http://schemas.microsoft.com/office/drawing/2014/main" id="{5483C96E-62C6-C492-151C-F37489B7331D}"/>
              </a:ext>
            </a:extLst>
          </p:cNvPr>
          <p:cNvSpPr txBox="1"/>
          <p:nvPr>
            <p:custDataLst>
              <p:tags r:id="rId4"/>
            </p:custDataLst>
          </p:nvPr>
        </p:nvSpPr>
        <p:spPr>
          <a:xfrm>
            <a:off x="177522" y="801370"/>
            <a:ext cx="3895704" cy="400110"/>
          </a:xfrm>
          <a:prstGeom prst="rect">
            <a:avLst/>
          </a:prstGeom>
          <a:noFill/>
        </p:spPr>
        <p:txBody>
          <a:bodyPr wrap="square" rtlCol="0">
            <a:spAutoFit/>
          </a:bodyPr>
          <a:lstStyle/>
          <a:p>
            <a:r>
              <a:rPr lang="zh-CN" altLang="en-US" sz="2000" b="1" dirty="0">
                <a:solidFill>
                  <a:schemeClr val="accent1"/>
                </a:solidFill>
                <a:latin typeface="微软雅黑" panose="020B0503020204020204" pitchFamily="34" charset="-122"/>
                <a:ea typeface="微软雅黑" panose="020B0503020204020204" pitchFamily="34" charset="-122"/>
              </a:rPr>
              <a:t>医学知识图谱增强</a:t>
            </a:r>
          </a:p>
        </p:txBody>
      </p:sp>
      <p:sp>
        <p:nvSpPr>
          <p:cNvPr id="14" name="文本框 13">
            <a:extLst>
              <a:ext uri="{FF2B5EF4-FFF2-40B4-BE49-F238E27FC236}">
                <a16:creationId xmlns:a16="http://schemas.microsoft.com/office/drawing/2014/main" id="{E7DFBBA1-6910-3989-6040-E26D879AADCE}"/>
              </a:ext>
            </a:extLst>
          </p:cNvPr>
          <p:cNvSpPr txBox="1"/>
          <p:nvPr/>
        </p:nvSpPr>
        <p:spPr>
          <a:xfrm>
            <a:off x="243146" y="1276410"/>
            <a:ext cx="11145290" cy="646331"/>
          </a:xfrm>
          <a:prstGeom prst="rect">
            <a:avLst/>
          </a:prstGeom>
          <a:noFill/>
        </p:spPr>
        <p:txBody>
          <a:bodyPr wrap="square">
            <a:spAutoFit/>
          </a:bodyPr>
          <a:lstStyle/>
          <a:p>
            <a:r>
              <a:rPr lang="zh-CN" altLang="en-US" dirty="0"/>
              <a:t>研究方法：将分散的医学知识组织为实体与关系，结合图谱和文本检索，为大语言模型提供结构化知识与可核查来源。</a:t>
            </a:r>
          </a:p>
        </p:txBody>
      </p:sp>
      <p:sp>
        <p:nvSpPr>
          <p:cNvPr id="16" name="文本框 15">
            <a:extLst>
              <a:ext uri="{FF2B5EF4-FFF2-40B4-BE49-F238E27FC236}">
                <a16:creationId xmlns:a16="http://schemas.microsoft.com/office/drawing/2014/main" id="{07BD4205-7EE0-58D3-38B9-A23CB0E9CD8B}"/>
              </a:ext>
            </a:extLst>
          </p:cNvPr>
          <p:cNvSpPr txBox="1"/>
          <p:nvPr/>
        </p:nvSpPr>
        <p:spPr>
          <a:xfrm>
            <a:off x="243145" y="1997671"/>
            <a:ext cx="11145289" cy="923330"/>
          </a:xfrm>
          <a:prstGeom prst="rect">
            <a:avLst/>
          </a:prstGeom>
          <a:noFill/>
        </p:spPr>
        <p:txBody>
          <a:bodyPr wrap="square">
            <a:spAutoFit/>
          </a:bodyPr>
          <a:lstStyle/>
          <a:p>
            <a:r>
              <a:rPr lang="en-US" altLang="zh-CN" dirty="0"/>
              <a:t>Romano </a:t>
            </a:r>
            <a:r>
              <a:rPr lang="zh-CN" altLang="en-US" dirty="0"/>
              <a:t>等整合 </a:t>
            </a:r>
            <a:r>
              <a:rPr lang="en-US" altLang="zh-CN" dirty="0"/>
              <a:t>22 </a:t>
            </a:r>
            <a:r>
              <a:rPr lang="zh-CN" altLang="en-US" dirty="0"/>
              <a:t>个外部数据源，构建包含约 </a:t>
            </a:r>
            <a:r>
              <a:rPr lang="en-US" altLang="zh-CN" b="1" dirty="0"/>
              <a:t>11.89 </a:t>
            </a:r>
            <a:r>
              <a:rPr lang="zh-CN" altLang="en-US" b="1" dirty="0"/>
              <a:t>万个实体、</a:t>
            </a:r>
            <a:r>
              <a:rPr lang="en-US" altLang="zh-CN" b="1" dirty="0"/>
              <a:t>130.95 </a:t>
            </a:r>
            <a:r>
              <a:rPr lang="zh-CN" altLang="en-US" b="1" dirty="0"/>
              <a:t>万条关系</a:t>
            </a:r>
            <a:r>
              <a:rPr lang="zh-CN" altLang="en-US" dirty="0"/>
              <a:t>的阿尔茨海默病知识库 </a:t>
            </a:r>
            <a:r>
              <a:rPr lang="en-US" altLang="zh-CN" dirty="0" err="1"/>
              <a:t>AlzKB</a:t>
            </a:r>
            <a:r>
              <a:rPr lang="zh-CN" altLang="en-US" dirty="0"/>
              <a:t>，并通过治疗靶点预测与药物再利用两个计算案例，展示了知识图谱支持医学关联分析与治疗假设生成的价值。</a:t>
            </a:r>
          </a:p>
        </p:txBody>
      </p:sp>
      <p:sp>
        <p:nvSpPr>
          <p:cNvPr id="18" name="文本框 17">
            <a:extLst>
              <a:ext uri="{FF2B5EF4-FFF2-40B4-BE49-F238E27FC236}">
                <a16:creationId xmlns:a16="http://schemas.microsoft.com/office/drawing/2014/main" id="{B77CC93B-1A9D-361C-1A58-6767039AC35A}"/>
              </a:ext>
            </a:extLst>
          </p:cNvPr>
          <p:cNvSpPr txBox="1"/>
          <p:nvPr/>
        </p:nvSpPr>
        <p:spPr>
          <a:xfrm>
            <a:off x="243145" y="3061929"/>
            <a:ext cx="11361422" cy="923330"/>
          </a:xfrm>
          <a:prstGeom prst="rect">
            <a:avLst/>
          </a:prstGeom>
          <a:noFill/>
        </p:spPr>
        <p:txBody>
          <a:bodyPr wrap="square">
            <a:spAutoFit/>
          </a:bodyPr>
          <a:lstStyle/>
          <a:p>
            <a:r>
              <a:rPr lang="en-US" altLang="zh-CN" dirty="0"/>
              <a:t>Wu </a:t>
            </a:r>
            <a:r>
              <a:rPr lang="zh-CN" altLang="en-US" dirty="0"/>
              <a:t>等提出 </a:t>
            </a:r>
            <a:r>
              <a:rPr lang="en-US" altLang="zh-CN" dirty="0"/>
              <a:t>Medical Graph RAG</a:t>
            </a:r>
            <a:r>
              <a:rPr lang="zh-CN" altLang="en-US" dirty="0"/>
              <a:t>，通过多层图结构关联用户文档与可信医学来源，结合分层检索和回答优化，在 </a:t>
            </a:r>
            <a:r>
              <a:rPr lang="en-US" altLang="zh-CN" b="1" dirty="0"/>
              <a:t>9 </a:t>
            </a:r>
            <a:r>
              <a:rPr lang="zh-CN" altLang="en-US" b="1" dirty="0"/>
              <a:t>个医学问答基准、</a:t>
            </a:r>
            <a:r>
              <a:rPr lang="en-US" altLang="zh-CN" b="1" dirty="0"/>
              <a:t>2 </a:t>
            </a:r>
            <a:r>
              <a:rPr lang="zh-CN" altLang="en-US" b="1" dirty="0"/>
              <a:t>个健康事实核查数据集及长文本生成任务</a:t>
            </a:r>
            <a:r>
              <a:rPr lang="zh-CN" altLang="en-US" dirty="0"/>
              <a:t>上评价方法效果，实现了医学回答与可验证来源的关联。</a:t>
            </a:r>
          </a:p>
        </p:txBody>
      </p:sp>
      <p:sp>
        <p:nvSpPr>
          <p:cNvPr id="20" name="文本框 19">
            <a:extLst>
              <a:ext uri="{FF2B5EF4-FFF2-40B4-BE49-F238E27FC236}">
                <a16:creationId xmlns:a16="http://schemas.microsoft.com/office/drawing/2014/main" id="{ABF4096E-2B2C-4407-B4E5-CE44E7A71A69}"/>
              </a:ext>
            </a:extLst>
          </p:cNvPr>
          <p:cNvSpPr txBox="1"/>
          <p:nvPr/>
        </p:nvSpPr>
        <p:spPr>
          <a:xfrm>
            <a:off x="243145" y="4251245"/>
            <a:ext cx="11145288" cy="1200329"/>
          </a:xfrm>
          <a:prstGeom prst="rect">
            <a:avLst/>
          </a:prstGeom>
          <a:noFill/>
        </p:spPr>
        <p:txBody>
          <a:bodyPr wrap="square">
            <a:spAutoFit/>
          </a:bodyPr>
          <a:lstStyle/>
          <a:p>
            <a:r>
              <a:rPr lang="en-US" altLang="zh-CN" dirty="0"/>
              <a:t>Li </a:t>
            </a:r>
            <a:r>
              <a:rPr lang="zh-CN" altLang="en-US" dirty="0"/>
              <a:t>等提出 </a:t>
            </a:r>
            <a:r>
              <a:rPr lang="en-US" altLang="zh-CN" dirty="0" err="1"/>
              <a:t>MedCoRAG</a:t>
            </a:r>
            <a:r>
              <a:rPr lang="zh-CN" altLang="en-US" dirty="0"/>
              <a:t>，将 </a:t>
            </a:r>
            <a:r>
              <a:rPr lang="en-US" altLang="zh-CN" dirty="0"/>
              <a:t>UMLS </a:t>
            </a:r>
            <a:r>
              <a:rPr lang="zh-CN" altLang="en-US" dirty="0"/>
              <a:t>图谱路径、临床指南与多专科智能体协作结合，根据病例复杂程度调度专科智能体，并利用证据充分性判断触发再检索，形成可追溯的诊断报告。该研究结合知识蒸馏训练专科智能体，在基于 </a:t>
            </a:r>
            <a:r>
              <a:rPr lang="en-US" altLang="zh-CN" dirty="0"/>
              <a:t>MIMIC-IV </a:t>
            </a:r>
            <a:r>
              <a:rPr lang="zh-CN" altLang="en-US" dirty="0"/>
              <a:t>构建的 </a:t>
            </a:r>
            <a:r>
              <a:rPr lang="en-US" altLang="zh-CN" b="1" dirty="0"/>
              <a:t>13 </a:t>
            </a:r>
            <a:r>
              <a:rPr lang="zh-CN" altLang="en-US" b="1" dirty="0"/>
              <a:t>类肝病问答任务</a:t>
            </a:r>
            <a:r>
              <a:rPr lang="zh-CN" altLang="en-US" dirty="0"/>
              <a:t>测试集上，加权 </a:t>
            </a:r>
            <a:r>
              <a:rPr lang="en-US" altLang="zh-CN" dirty="0"/>
              <a:t>F1 </a:t>
            </a:r>
            <a:r>
              <a:rPr lang="zh-CN" altLang="en-US" dirty="0"/>
              <a:t>达到 </a:t>
            </a:r>
            <a:r>
              <a:rPr lang="en-US" altLang="zh-CN" b="1" dirty="0"/>
              <a:t>79.12%</a:t>
            </a:r>
            <a:r>
              <a:rPr lang="zh-CN" altLang="en-US" dirty="0"/>
              <a:t>，高于同一测试集上 </a:t>
            </a:r>
            <a:r>
              <a:rPr lang="en-US" altLang="zh-CN" dirty="0"/>
              <a:t>DeepSeek-V3.1-Think </a:t>
            </a:r>
            <a:r>
              <a:rPr lang="zh-CN" altLang="en-US" dirty="0"/>
              <a:t>的 </a:t>
            </a:r>
            <a:r>
              <a:rPr lang="en-US" altLang="zh-CN" b="1" dirty="0"/>
              <a:t>77.61%</a:t>
            </a:r>
            <a:r>
              <a:rPr lang="zh-CN" altLang="en-US" dirty="0"/>
              <a:t>，展示了混合证据检索与协同推理框架在该任务中的效果。</a:t>
            </a:r>
          </a:p>
        </p:txBody>
      </p:sp>
    </p:spTree>
    <p:custDataLst>
      <p:tags r:id="rId1"/>
    </p:custDataLst>
    <p:extLst>
      <p:ext uri="{BB962C8B-B14F-4D97-AF65-F5344CB8AC3E}">
        <p14:creationId xmlns:p14="http://schemas.microsoft.com/office/powerpoint/2010/main" val="3161779882"/>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2" grpId="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65912-D20E-0523-8F3B-88EE28B9F947}"/>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9212279C-DA43-2DC1-D01B-53E5EF5603CE}"/>
              </a:ext>
            </a:extLst>
          </p:cNvPr>
          <p:cNvPicPr>
            <a:picLocks noChangeAspect="1"/>
          </p:cNvPicPr>
          <p:nvPr>
            <p:custDataLst>
              <p:tags r:id="rId2"/>
            </p:custDataLst>
          </p:nvPr>
        </p:nvPicPr>
        <p:blipFill>
          <a:blip r:embed="rId6"/>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E781D3FC-A65C-C7B2-7FCF-03FF92A4F522}"/>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36289779-8080-EE8E-CEA2-210CDCBA48C4}"/>
              </a:ext>
            </a:extLst>
          </p:cNvPr>
          <p:cNvPicPr>
            <a:picLocks noChangeAspect="1"/>
          </p:cNvPicPr>
          <p:nvPr>
            <p:custDataLst>
              <p:tags r:id="rId3"/>
            </p:custDataLst>
          </p:nvPr>
        </p:nvPicPr>
        <p:blipFill>
          <a:blip r:embed="rId7"/>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030D416C-1E1E-EBF2-198F-7C1CB2DFB1DE}"/>
              </a:ext>
            </a:extLst>
          </p:cNvPr>
          <p:cNvPicPr>
            <a:picLocks noChangeAspect="1"/>
          </p:cNvPicPr>
          <p:nvPr/>
        </p:nvPicPr>
        <p:blipFill>
          <a:blip r:embed="rId8"/>
          <a:srcRect l="3256" t="-6868" r="4770" b="-1340"/>
          <a:stretch>
            <a:fillRect/>
          </a:stretch>
        </p:blipFill>
        <p:spPr>
          <a:xfrm>
            <a:off x="9389745" y="6247765"/>
            <a:ext cx="2313940" cy="410210"/>
          </a:xfrm>
          <a:prstGeom prst="rect">
            <a:avLst/>
          </a:prstGeom>
        </p:spPr>
      </p:pic>
      <p:sp>
        <p:nvSpPr>
          <p:cNvPr id="2" name="文本框 1">
            <a:extLst>
              <a:ext uri="{FF2B5EF4-FFF2-40B4-BE49-F238E27FC236}">
                <a16:creationId xmlns:a16="http://schemas.microsoft.com/office/drawing/2014/main" id="{382D2A7F-AD52-37F1-1A68-98743427DACC}"/>
              </a:ext>
            </a:extLst>
          </p:cNvPr>
          <p:cNvSpPr txBox="1"/>
          <p:nvPr>
            <p:custDataLst>
              <p:tags r:id="rId4"/>
            </p:custDataLst>
          </p:nvPr>
        </p:nvSpPr>
        <p:spPr>
          <a:xfrm>
            <a:off x="177522" y="801370"/>
            <a:ext cx="1509962" cy="400110"/>
          </a:xfrm>
          <a:prstGeom prst="rect">
            <a:avLst/>
          </a:prstGeom>
          <a:noFill/>
        </p:spPr>
        <p:txBody>
          <a:bodyPr wrap="square" rtlCol="0">
            <a:spAutoFit/>
          </a:bodyPr>
          <a:lstStyle/>
          <a:p>
            <a:r>
              <a:rPr lang="zh-CN" altLang="en-US" sz="2000" b="1" dirty="0">
                <a:solidFill>
                  <a:schemeClr val="accent1"/>
                </a:solidFill>
                <a:latin typeface="微软雅黑" panose="020B0503020204020204" pitchFamily="34" charset="-122"/>
                <a:ea typeface="微软雅黑" panose="020B0503020204020204" pitchFamily="34" charset="-122"/>
              </a:rPr>
              <a:t>现有不足</a:t>
            </a:r>
          </a:p>
        </p:txBody>
      </p:sp>
      <p:sp>
        <p:nvSpPr>
          <p:cNvPr id="7" name="文本框 6">
            <a:extLst>
              <a:ext uri="{FF2B5EF4-FFF2-40B4-BE49-F238E27FC236}">
                <a16:creationId xmlns:a16="http://schemas.microsoft.com/office/drawing/2014/main" id="{544A5CB0-E1EF-CFEF-24E9-4B6CCDD1D5F1}"/>
              </a:ext>
            </a:extLst>
          </p:cNvPr>
          <p:cNvSpPr txBox="1"/>
          <p:nvPr/>
        </p:nvSpPr>
        <p:spPr>
          <a:xfrm>
            <a:off x="251459" y="1384476"/>
            <a:ext cx="11145290" cy="646331"/>
          </a:xfrm>
          <a:prstGeom prst="rect">
            <a:avLst/>
          </a:prstGeom>
          <a:noFill/>
        </p:spPr>
        <p:txBody>
          <a:bodyPr wrap="square">
            <a:spAutoFit/>
          </a:bodyPr>
          <a:lstStyle/>
          <a:p>
            <a:r>
              <a:rPr lang="zh-CN" altLang="en-US" b="1" dirty="0"/>
              <a:t>跨病种鉴别与纵向病程证据的结合仍需深化：</a:t>
            </a:r>
            <a:r>
              <a:rPr lang="zh-CN" altLang="en-US" dirty="0"/>
              <a:t>已有研究分别开展多病因分类和纵向 </a:t>
            </a:r>
            <a:r>
              <a:rPr lang="en-US" altLang="zh-CN" dirty="0"/>
              <a:t>AD </a:t>
            </a:r>
            <a:r>
              <a:rPr lang="zh-CN" altLang="en-US" dirty="0"/>
              <a:t>风险预测，但症状出现顺序、病程变化与检查结果如何共同支持相近病种的鉴别，仍需进一步联合建模和验证。</a:t>
            </a:r>
            <a:endParaRPr lang="zh-CN" altLang="en-US" b="1" dirty="0"/>
          </a:p>
        </p:txBody>
      </p:sp>
      <p:sp>
        <p:nvSpPr>
          <p:cNvPr id="8" name="文本框 7">
            <a:extLst>
              <a:ext uri="{FF2B5EF4-FFF2-40B4-BE49-F238E27FC236}">
                <a16:creationId xmlns:a16="http://schemas.microsoft.com/office/drawing/2014/main" id="{F2422830-9BE1-63A7-9F0E-5C560D90E4EA}"/>
              </a:ext>
            </a:extLst>
          </p:cNvPr>
          <p:cNvSpPr txBox="1"/>
          <p:nvPr/>
        </p:nvSpPr>
        <p:spPr>
          <a:xfrm>
            <a:off x="251459" y="2213803"/>
            <a:ext cx="11145290" cy="923330"/>
          </a:xfrm>
          <a:prstGeom prst="rect">
            <a:avLst/>
          </a:prstGeom>
          <a:noFill/>
        </p:spPr>
        <p:txBody>
          <a:bodyPr wrap="square">
            <a:spAutoFit/>
          </a:bodyPr>
          <a:lstStyle/>
          <a:p>
            <a:r>
              <a:rPr lang="zh-CN" altLang="en-US" b="1" dirty="0"/>
              <a:t>有限预算下关键诊断证据的完整保留仍面临挑战：</a:t>
            </a:r>
            <a:r>
              <a:rPr lang="zh-CN" altLang="en-US" dirty="0"/>
              <a:t>检索片段与疾病相关，并不能保证其包含判断所需的适用条件、排除依据及时间要求。在有限 </a:t>
            </a:r>
            <a:r>
              <a:rPr lang="en-US" altLang="zh-CN" dirty="0"/>
              <a:t>token </a:t>
            </a:r>
            <a:r>
              <a:rPr lang="zh-CN" altLang="en-US" dirty="0"/>
              <a:t>预算下，需要控制重复信息，并验证关键依据及其必要条件能否同时保留，降低证据遗漏和条件误用的风险。</a:t>
            </a:r>
            <a:endParaRPr lang="zh-CN" altLang="en-US" b="1" dirty="0"/>
          </a:p>
        </p:txBody>
      </p:sp>
      <p:sp>
        <p:nvSpPr>
          <p:cNvPr id="11" name="文本框 10">
            <a:extLst>
              <a:ext uri="{FF2B5EF4-FFF2-40B4-BE49-F238E27FC236}">
                <a16:creationId xmlns:a16="http://schemas.microsoft.com/office/drawing/2014/main" id="{488E3958-5610-57B0-E327-D5A297423E1A}"/>
              </a:ext>
            </a:extLst>
          </p:cNvPr>
          <p:cNvSpPr txBox="1"/>
          <p:nvPr/>
        </p:nvSpPr>
        <p:spPr>
          <a:xfrm>
            <a:off x="251459" y="3320129"/>
            <a:ext cx="11145290" cy="923330"/>
          </a:xfrm>
          <a:prstGeom prst="rect">
            <a:avLst/>
          </a:prstGeom>
          <a:noFill/>
        </p:spPr>
        <p:txBody>
          <a:bodyPr wrap="square">
            <a:spAutoFit/>
          </a:bodyPr>
          <a:lstStyle/>
          <a:p>
            <a:r>
              <a:rPr lang="zh-CN" altLang="en-US" b="1" dirty="0"/>
              <a:t>资料缺失与证据冲突下的解释仍需逐项核验：</a:t>
            </a:r>
            <a:r>
              <a:rPr lang="zh-CN" altLang="en-US" dirty="0"/>
              <a:t>报告提供引用后，仍需核验原文是否支持具体结论、患者是否满足对应条件。尤其需要区分“未记录、未检查、检查阴性”，并说明冲突证据对判断的影响，避免形成超出已有证据的确定性结论。</a:t>
            </a:r>
            <a:endParaRPr lang="zh-CN" altLang="en-US" b="1" dirty="0"/>
          </a:p>
        </p:txBody>
      </p:sp>
      <p:sp>
        <p:nvSpPr>
          <p:cNvPr id="13" name="文本框 12">
            <a:extLst>
              <a:ext uri="{FF2B5EF4-FFF2-40B4-BE49-F238E27FC236}">
                <a16:creationId xmlns:a16="http://schemas.microsoft.com/office/drawing/2014/main" id="{A57417CE-0080-7996-AFB8-377CBF759907}"/>
              </a:ext>
            </a:extLst>
          </p:cNvPr>
          <p:cNvSpPr txBox="1"/>
          <p:nvPr/>
        </p:nvSpPr>
        <p:spPr>
          <a:xfrm>
            <a:off x="251459" y="4550194"/>
            <a:ext cx="11145290" cy="923330"/>
          </a:xfrm>
          <a:prstGeom prst="rect">
            <a:avLst/>
          </a:prstGeom>
          <a:noFill/>
        </p:spPr>
        <p:txBody>
          <a:bodyPr wrap="square">
            <a:spAutoFit/>
          </a:bodyPr>
          <a:lstStyle/>
          <a:p>
            <a:r>
              <a:rPr lang="zh-CN" altLang="en-US" dirty="0"/>
              <a:t>本研究拟通过</a:t>
            </a:r>
            <a:r>
              <a:rPr lang="zh-CN" altLang="en-US" b="1" dirty="0"/>
              <a:t>多智能体协同与知识图谱技术</a:t>
            </a:r>
            <a:r>
              <a:rPr lang="zh-CN" altLang="en-US" dirty="0"/>
              <a:t>，融合多源临床及纵向随访数据，改善跨病种鉴别、时序证据整合及资料缺失下的解释能力，最终形成</a:t>
            </a:r>
            <a:r>
              <a:rPr lang="zh-CN" altLang="en-US" b="1" dirty="0"/>
              <a:t>具备证据溯源、推理过程追踪与不确定性表达能力的神经退行性疾病辅助诊断框架</a:t>
            </a:r>
            <a:r>
              <a:rPr lang="zh-CN" altLang="en-US" dirty="0"/>
              <a:t>。</a:t>
            </a:r>
          </a:p>
        </p:txBody>
      </p:sp>
    </p:spTree>
    <p:custDataLst>
      <p:tags r:id="rId1"/>
    </p:custDataLst>
    <p:extLst>
      <p:ext uri="{BB962C8B-B14F-4D97-AF65-F5344CB8AC3E}">
        <p14:creationId xmlns:p14="http://schemas.microsoft.com/office/powerpoint/2010/main" val="4102593652"/>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ppt_x"/>
                                          </p:val>
                                        </p:tav>
                                        <p:tav tm="100000">
                                          <p:val>
                                            <p:strVal val="#ppt_x"/>
                                          </p:val>
                                        </p:tav>
                                      </p:tavLst>
                                    </p:anim>
                                    <p:anim calcmode="lin" valueType="num">
                                      <p:cBhvr additive="base">
                                        <p:cTn id="12"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E8C86-4026-0C93-E08B-011FB408BA7C}"/>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D6BC27B5-F149-CA78-7D04-91BDF352BBB7}"/>
              </a:ext>
            </a:extLst>
          </p:cNvPr>
          <p:cNvPicPr>
            <a:picLocks noChangeAspect="1"/>
          </p:cNvPicPr>
          <p:nvPr>
            <p:custDataLst>
              <p:tags r:id="rId2"/>
            </p:custDataLst>
          </p:nvPr>
        </p:nvPicPr>
        <p:blipFill>
          <a:blip r:embed="rId5"/>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B070B995-CF45-1A3A-7B74-62B6CE2A60E4}"/>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270ACE54-B381-D185-3871-AE3A32706AB6}"/>
              </a:ext>
            </a:extLst>
          </p:cNvPr>
          <p:cNvPicPr>
            <a:picLocks noChangeAspect="1"/>
          </p:cNvPicPr>
          <p:nvPr>
            <p:custDataLst>
              <p:tags r:id="rId3"/>
            </p:custDataLst>
          </p:nvPr>
        </p:nvPicPr>
        <p:blipFill>
          <a:blip r:embed="rId6"/>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A5FC48FB-A70A-8109-7EEB-D13A0ECE5865}"/>
              </a:ext>
            </a:extLst>
          </p:cNvPr>
          <p:cNvPicPr>
            <a:picLocks noChangeAspect="1"/>
          </p:cNvPicPr>
          <p:nvPr/>
        </p:nvPicPr>
        <p:blipFill>
          <a:blip r:embed="rId7"/>
          <a:srcRect l="3256" t="-6868" r="4770" b="-1340"/>
          <a:stretch>
            <a:fillRect/>
          </a:stretch>
        </p:blipFill>
        <p:spPr>
          <a:xfrm>
            <a:off x="9456247" y="6323154"/>
            <a:ext cx="2313940" cy="410210"/>
          </a:xfrm>
          <a:prstGeom prst="rect">
            <a:avLst/>
          </a:prstGeom>
        </p:spPr>
      </p:pic>
      <p:pic>
        <p:nvPicPr>
          <p:cNvPr id="3" name="图片 2">
            <a:extLst>
              <a:ext uri="{FF2B5EF4-FFF2-40B4-BE49-F238E27FC236}">
                <a16:creationId xmlns:a16="http://schemas.microsoft.com/office/drawing/2014/main" id="{F17372C1-458B-508B-A8FA-842A0C3E1219}"/>
              </a:ext>
            </a:extLst>
          </p:cNvPr>
          <p:cNvPicPr>
            <a:picLocks noChangeAspect="1"/>
          </p:cNvPicPr>
          <p:nvPr/>
        </p:nvPicPr>
        <p:blipFill>
          <a:blip r:embed="rId8"/>
          <a:stretch>
            <a:fillRect/>
          </a:stretch>
        </p:blipFill>
        <p:spPr>
          <a:xfrm>
            <a:off x="1045266" y="801370"/>
            <a:ext cx="9752967" cy="5488960"/>
          </a:xfrm>
          <a:prstGeom prst="rect">
            <a:avLst/>
          </a:prstGeom>
        </p:spPr>
      </p:pic>
    </p:spTree>
    <p:custDataLst>
      <p:tags r:id="rId1"/>
    </p:custDataLst>
    <p:extLst>
      <p:ext uri="{BB962C8B-B14F-4D97-AF65-F5344CB8AC3E}">
        <p14:creationId xmlns:p14="http://schemas.microsoft.com/office/powerpoint/2010/main" val="3111399923"/>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F4243-4DE9-F0B1-1F65-C1F22CB19C0D}"/>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4AA4908A-5319-E689-AC09-5EA25E08EFAE}"/>
              </a:ext>
            </a:extLst>
          </p:cNvPr>
          <p:cNvPicPr>
            <a:picLocks noChangeAspect="1"/>
          </p:cNvPicPr>
          <p:nvPr>
            <p:custDataLst>
              <p:tags r:id="rId2"/>
            </p:custDataLst>
          </p:nvPr>
        </p:nvPicPr>
        <p:blipFill>
          <a:blip r:embed="rId5"/>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A43195C2-A40F-D280-2308-A3AFE1C53280}"/>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8E73E2F3-4CF6-1C8A-28A4-873B16AFF2BB}"/>
              </a:ext>
            </a:extLst>
          </p:cNvPr>
          <p:cNvPicPr>
            <a:picLocks noChangeAspect="1"/>
          </p:cNvPicPr>
          <p:nvPr>
            <p:custDataLst>
              <p:tags r:id="rId3"/>
            </p:custDataLst>
          </p:nvPr>
        </p:nvPicPr>
        <p:blipFill>
          <a:blip r:embed="rId6"/>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67DA07EA-F086-52AB-A976-4036C1F56F1F}"/>
              </a:ext>
            </a:extLst>
          </p:cNvPr>
          <p:cNvPicPr>
            <a:picLocks noChangeAspect="1"/>
          </p:cNvPicPr>
          <p:nvPr/>
        </p:nvPicPr>
        <p:blipFill>
          <a:blip r:embed="rId7"/>
          <a:srcRect l="3256" t="-6868" r="4770" b="-1340"/>
          <a:stretch>
            <a:fillRect/>
          </a:stretch>
        </p:blipFill>
        <p:spPr>
          <a:xfrm>
            <a:off x="9389745" y="6247765"/>
            <a:ext cx="2313940" cy="410210"/>
          </a:xfrm>
          <a:prstGeom prst="rect">
            <a:avLst/>
          </a:prstGeom>
        </p:spPr>
      </p:pic>
      <p:pic>
        <p:nvPicPr>
          <p:cNvPr id="2" name="Picture 1">
            <a:extLst>
              <a:ext uri="{FF2B5EF4-FFF2-40B4-BE49-F238E27FC236}">
                <a16:creationId xmlns:a16="http://schemas.microsoft.com/office/drawing/2014/main" id="{03A024FF-99FE-2243-5580-AEAC81A8CAC5}"/>
              </a:ext>
            </a:extLst>
          </p:cNvPr>
          <p:cNvPicPr>
            <a:picLocks noChangeAspect="1"/>
          </p:cNvPicPr>
          <p:nvPr/>
        </p:nvPicPr>
        <p:blipFill>
          <a:blip r:embed="rId8"/>
          <a:stretch>
            <a:fillRect/>
          </a:stretch>
        </p:blipFill>
        <p:spPr>
          <a:xfrm>
            <a:off x="2987040" y="1485222"/>
            <a:ext cx="6217920" cy="3627120"/>
          </a:xfrm>
          <a:prstGeom prst="rect">
            <a:avLst/>
          </a:prstGeom>
        </p:spPr>
      </p:pic>
      <p:sp>
        <p:nvSpPr>
          <p:cNvPr id="6" name="文本框 5">
            <a:extLst>
              <a:ext uri="{FF2B5EF4-FFF2-40B4-BE49-F238E27FC236}">
                <a16:creationId xmlns:a16="http://schemas.microsoft.com/office/drawing/2014/main" id="{B62A144A-4ECE-F658-6D93-9EE3CBD2161D}"/>
              </a:ext>
            </a:extLst>
          </p:cNvPr>
          <p:cNvSpPr txBox="1"/>
          <p:nvPr/>
        </p:nvSpPr>
        <p:spPr>
          <a:xfrm>
            <a:off x="297873" y="801370"/>
            <a:ext cx="11797145" cy="646331"/>
          </a:xfrm>
          <a:prstGeom prst="rect">
            <a:avLst/>
          </a:prstGeom>
          <a:noFill/>
        </p:spPr>
        <p:txBody>
          <a:bodyPr wrap="square">
            <a:spAutoFit/>
          </a:bodyPr>
          <a:lstStyle/>
          <a:p>
            <a:r>
              <a:rPr lang="zh-CN" altLang="en-US" dirty="0"/>
              <a:t>面向神经退行性疾病的诊断问题涉及的定义、条件、时间限制和例外，可能分散在正文、表格、图像以及不同知识节点中。因此，算法以知识图谱组织这些关联，并以</a:t>
            </a:r>
            <a:r>
              <a:rPr lang="zh-CN" altLang="en-US" b="1" dirty="0"/>
              <a:t>必要证据是否齐全</a:t>
            </a:r>
            <a:r>
              <a:rPr lang="zh-CN" altLang="en-US" dirty="0"/>
              <a:t>决定后续检索和探索。</a:t>
            </a:r>
          </a:p>
        </p:txBody>
      </p:sp>
      <p:sp>
        <p:nvSpPr>
          <p:cNvPr id="8" name="文本框 7">
            <a:extLst>
              <a:ext uri="{FF2B5EF4-FFF2-40B4-BE49-F238E27FC236}">
                <a16:creationId xmlns:a16="http://schemas.microsoft.com/office/drawing/2014/main" id="{1C7B2940-5CC6-3635-D659-DED1C3C8620C}"/>
              </a:ext>
            </a:extLst>
          </p:cNvPr>
          <p:cNvSpPr txBox="1"/>
          <p:nvPr/>
        </p:nvSpPr>
        <p:spPr>
          <a:xfrm>
            <a:off x="754726" y="5372778"/>
            <a:ext cx="10883438" cy="646331"/>
          </a:xfrm>
          <a:prstGeom prst="rect">
            <a:avLst/>
          </a:prstGeom>
          <a:noFill/>
        </p:spPr>
        <p:txBody>
          <a:bodyPr wrap="square">
            <a:spAutoFit/>
          </a:bodyPr>
          <a:lstStyle/>
          <a:p>
            <a:r>
              <a:rPr lang="zh-CN" altLang="en-US" b="1" dirty="0"/>
              <a:t>根据问题确定必要证据，通过多模态图谱与语义检索获取初始信息；针对未被满足的证据需求，探索潜在实体与关系，并回到原始来源核验；在条件完整、来源可追溯的基础上生成回答。</a:t>
            </a:r>
          </a:p>
        </p:txBody>
      </p:sp>
    </p:spTree>
    <p:custDataLst>
      <p:tags r:id="rId1"/>
    </p:custDataLst>
    <p:extLst>
      <p:ext uri="{BB962C8B-B14F-4D97-AF65-F5344CB8AC3E}">
        <p14:creationId xmlns:p14="http://schemas.microsoft.com/office/powerpoint/2010/main" val="1768813418"/>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B647B-E729-1285-54D6-A2247C7EA154}"/>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7FFD0631-0C43-0D4D-69B0-77EBE81DEE4F}"/>
              </a:ext>
            </a:extLst>
          </p:cNvPr>
          <p:cNvPicPr>
            <a:picLocks noChangeAspect="1"/>
          </p:cNvPicPr>
          <p:nvPr>
            <p:custDataLst>
              <p:tags r:id="rId2"/>
            </p:custDataLst>
          </p:nvPr>
        </p:nvPicPr>
        <p:blipFill>
          <a:blip r:embed="rId5"/>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E1FB7EAE-37FE-6DD1-EC00-2DEFD1F6645D}"/>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DE6A1E68-F3BB-681D-3F87-3C364B59056B}"/>
              </a:ext>
            </a:extLst>
          </p:cNvPr>
          <p:cNvPicPr>
            <a:picLocks noChangeAspect="1"/>
          </p:cNvPicPr>
          <p:nvPr>
            <p:custDataLst>
              <p:tags r:id="rId3"/>
            </p:custDataLst>
          </p:nvPr>
        </p:nvPicPr>
        <p:blipFill>
          <a:blip r:embed="rId6"/>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2DB53F9C-896B-0AF3-9F55-FB3FAB9C6D21}"/>
              </a:ext>
            </a:extLst>
          </p:cNvPr>
          <p:cNvPicPr>
            <a:picLocks noChangeAspect="1"/>
          </p:cNvPicPr>
          <p:nvPr/>
        </p:nvPicPr>
        <p:blipFill>
          <a:blip r:embed="rId7"/>
          <a:srcRect l="3256" t="-6868" r="4770" b="-1340"/>
          <a:stretch>
            <a:fillRect/>
          </a:stretch>
        </p:blipFill>
        <p:spPr>
          <a:xfrm>
            <a:off x="9389745" y="6247765"/>
            <a:ext cx="2313940" cy="410210"/>
          </a:xfrm>
          <a:prstGeom prst="rect">
            <a:avLst/>
          </a:prstGeom>
        </p:spPr>
      </p:pic>
      <p:sp>
        <p:nvSpPr>
          <p:cNvPr id="3" name="文本框 2">
            <a:extLst>
              <a:ext uri="{FF2B5EF4-FFF2-40B4-BE49-F238E27FC236}">
                <a16:creationId xmlns:a16="http://schemas.microsoft.com/office/drawing/2014/main" id="{AE5FB137-06C4-D2C9-76EC-035AEE5E2F38}"/>
              </a:ext>
            </a:extLst>
          </p:cNvPr>
          <p:cNvSpPr txBox="1"/>
          <p:nvPr/>
        </p:nvSpPr>
        <p:spPr>
          <a:xfrm>
            <a:off x="139932" y="801370"/>
            <a:ext cx="6097384" cy="461665"/>
          </a:xfrm>
          <a:prstGeom prst="rect">
            <a:avLst/>
          </a:prstGeom>
          <a:noFill/>
        </p:spPr>
        <p:txBody>
          <a:bodyPr wrap="square">
            <a:spAutoFit/>
          </a:bodyPr>
          <a:lstStyle/>
          <a:p>
            <a:r>
              <a:rPr lang="zh-CN" altLang="en-US" sz="2400" b="1" dirty="0"/>
              <a:t>建图</a:t>
            </a:r>
            <a:r>
              <a:rPr lang="en-US" altLang="zh-CN" sz="2400" b="1" dirty="0"/>
              <a:t>——</a:t>
            </a:r>
            <a:r>
              <a:rPr lang="zh-CN" altLang="en-US" sz="2400" b="1" dirty="0"/>
              <a:t>构建多模态知识图谱与来源索引</a:t>
            </a:r>
          </a:p>
        </p:txBody>
      </p:sp>
      <p:sp>
        <p:nvSpPr>
          <p:cNvPr id="7" name="文本框 6">
            <a:extLst>
              <a:ext uri="{FF2B5EF4-FFF2-40B4-BE49-F238E27FC236}">
                <a16:creationId xmlns:a16="http://schemas.microsoft.com/office/drawing/2014/main" id="{535CC5CA-E8E7-02BD-23D6-733C177CB4FC}"/>
              </a:ext>
            </a:extLst>
          </p:cNvPr>
          <p:cNvSpPr txBox="1"/>
          <p:nvPr/>
        </p:nvSpPr>
        <p:spPr>
          <a:xfrm>
            <a:off x="413558" y="1485128"/>
            <a:ext cx="11290127" cy="646331"/>
          </a:xfrm>
          <a:prstGeom prst="rect">
            <a:avLst/>
          </a:prstGeom>
          <a:noFill/>
        </p:spPr>
        <p:txBody>
          <a:bodyPr wrap="square">
            <a:spAutoFit/>
          </a:bodyPr>
          <a:lstStyle/>
          <a:p>
            <a:pPr>
              <a:buNone/>
            </a:pPr>
            <a:r>
              <a:rPr lang="zh-CN" altLang="en-US" dirty="0"/>
              <a:t>解析文献正文、图像、表格和公式，抽取实体及关系，并保留定义、条件、例外、适用版本和原文位置。将文本知识与模态知识进行领域对齐：</a:t>
            </a:r>
          </a:p>
        </p:txBody>
      </p:sp>
      <p:pic>
        <p:nvPicPr>
          <p:cNvPr id="11" name="图片 10">
            <a:extLst>
              <a:ext uri="{FF2B5EF4-FFF2-40B4-BE49-F238E27FC236}">
                <a16:creationId xmlns:a16="http://schemas.microsoft.com/office/drawing/2014/main" id="{AB2EEDB5-6307-8EA3-60FF-A177D9E9073C}"/>
              </a:ext>
            </a:extLst>
          </p:cNvPr>
          <p:cNvPicPr>
            <a:picLocks noChangeAspect="1"/>
          </p:cNvPicPr>
          <p:nvPr/>
        </p:nvPicPr>
        <p:blipFill>
          <a:blip r:embed="rId8"/>
          <a:stretch>
            <a:fillRect/>
          </a:stretch>
        </p:blipFill>
        <p:spPr>
          <a:xfrm>
            <a:off x="4135249" y="1975794"/>
            <a:ext cx="2990476" cy="476190"/>
          </a:xfrm>
          <a:prstGeom prst="rect">
            <a:avLst/>
          </a:prstGeom>
        </p:spPr>
      </p:pic>
      <p:sp>
        <p:nvSpPr>
          <p:cNvPr id="17" name="文本框 16">
            <a:extLst>
              <a:ext uri="{FF2B5EF4-FFF2-40B4-BE49-F238E27FC236}">
                <a16:creationId xmlns:a16="http://schemas.microsoft.com/office/drawing/2014/main" id="{710311C4-EB6B-71C1-96E8-1A8D7524BE6A}"/>
              </a:ext>
            </a:extLst>
          </p:cNvPr>
          <p:cNvSpPr txBox="1"/>
          <p:nvPr/>
        </p:nvSpPr>
        <p:spPr>
          <a:xfrm>
            <a:off x="413555" y="2701557"/>
            <a:ext cx="11149447" cy="646331"/>
          </a:xfrm>
          <a:prstGeom prst="rect">
            <a:avLst/>
          </a:prstGeom>
          <a:noFill/>
        </p:spPr>
        <p:txBody>
          <a:bodyPr wrap="square">
            <a:spAutoFit/>
          </a:bodyPr>
          <a:lstStyle/>
          <a:p>
            <a:r>
              <a:rPr lang="zh-CN" altLang="en-US" dirty="0"/>
              <a:t>对齐依据实体类型、定义及适用范围，避免合并同名但含义不同的对象。同时建立语义索引，使尚未形成图谱连接的原文也能被检索。</a:t>
            </a:r>
          </a:p>
        </p:txBody>
      </p:sp>
      <p:sp>
        <p:nvSpPr>
          <p:cNvPr id="18" name="文本框 17">
            <a:extLst>
              <a:ext uri="{FF2B5EF4-FFF2-40B4-BE49-F238E27FC236}">
                <a16:creationId xmlns:a16="http://schemas.microsoft.com/office/drawing/2014/main" id="{AD37ACC2-8414-07DF-D2DD-7E13C1E1B36A}"/>
              </a:ext>
            </a:extLst>
          </p:cNvPr>
          <p:cNvSpPr txBox="1"/>
          <p:nvPr/>
        </p:nvSpPr>
        <p:spPr>
          <a:xfrm>
            <a:off x="139932" y="3366602"/>
            <a:ext cx="7690657" cy="461665"/>
          </a:xfrm>
          <a:prstGeom prst="rect">
            <a:avLst/>
          </a:prstGeom>
          <a:noFill/>
        </p:spPr>
        <p:txBody>
          <a:bodyPr wrap="square">
            <a:spAutoFit/>
          </a:bodyPr>
          <a:lstStyle/>
          <a:p>
            <a:r>
              <a:rPr lang="zh-CN" altLang="en-US" sz="2400" b="1" dirty="0"/>
              <a:t>联合检索与缺口识别</a:t>
            </a:r>
            <a:r>
              <a:rPr lang="en-US" altLang="zh-CN" sz="2400" b="1" dirty="0"/>
              <a:t>——</a:t>
            </a:r>
            <a:r>
              <a:rPr lang="zh-CN" altLang="en-US" sz="2400" b="1" dirty="0"/>
              <a:t>确定问题还缺哪些证据</a:t>
            </a:r>
          </a:p>
        </p:txBody>
      </p:sp>
      <p:sp>
        <p:nvSpPr>
          <p:cNvPr id="21" name="文本框 20">
            <a:extLst>
              <a:ext uri="{FF2B5EF4-FFF2-40B4-BE49-F238E27FC236}">
                <a16:creationId xmlns:a16="http://schemas.microsoft.com/office/drawing/2014/main" id="{A4E8AA45-2BDC-9273-1153-4E2335611EB7}"/>
              </a:ext>
            </a:extLst>
          </p:cNvPr>
          <p:cNvSpPr txBox="1"/>
          <p:nvPr/>
        </p:nvSpPr>
        <p:spPr>
          <a:xfrm>
            <a:off x="579813" y="3917986"/>
            <a:ext cx="10866812" cy="646331"/>
          </a:xfrm>
          <a:prstGeom prst="rect">
            <a:avLst/>
          </a:prstGeom>
          <a:noFill/>
        </p:spPr>
        <p:txBody>
          <a:bodyPr wrap="square">
            <a:spAutoFit/>
          </a:bodyPr>
          <a:lstStyle/>
          <a:p>
            <a:r>
              <a:rPr lang="zh-CN" altLang="en-US" dirty="0"/>
              <a:t>将问题 </a:t>
            </a:r>
            <a:r>
              <a:rPr lang="en-US" altLang="zh-CN" dirty="0"/>
              <a:t>q</a:t>
            </a:r>
            <a:r>
              <a:rPr lang="zh-CN" altLang="en-US" dirty="0"/>
              <a:t>分解为必要证据需求，包括目标对象、待回答关系、限定条件及适用范围。随后联合进行图谱检索与语义检索：</a:t>
            </a:r>
          </a:p>
        </p:txBody>
      </p:sp>
      <p:pic>
        <p:nvPicPr>
          <p:cNvPr id="23" name="图片 22">
            <a:extLst>
              <a:ext uri="{FF2B5EF4-FFF2-40B4-BE49-F238E27FC236}">
                <a16:creationId xmlns:a16="http://schemas.microsoft.com/office/drawing/2014/main" id="{00E81223-ACA0-962A-B7CB-39F20FFDE66D}"/>
              </a:ext>
            </a:extLst>
          </p:cNvPr>
          <p:cNvPicPr>
            <a:picLocks noChangeAspect="1"/>
          </p:cNvPicPr>
          <p:nvPr/>
        </p:nvPicPr>
        <p:blipFill>
          <a:blip r:embed="rId9"/>
          <a:stretch>
            <a:fillRect/>
          </a:stretch>
        </p:blipFill>
        <p:spPr>
          <a:xfrm>
            <a:off x="4682761" y="4455705"/>
            <a:ext cx="2942857" cy="428571"/>
          </a:xfrm>
          <a:prstGeom prst="rect">
            <a:avLst/>
          </a:prstGeom>
        </p:spPr>
      </p:pic>
      <p:sp>
        <p:nvSpPr>
          <p:cNvPr id="25" name="文本框 24">
            <a:extLst>
              <a:ext uri="{FF2B5EF4-FFF2-40B4-BE49-F238E27FC236}">
                <a16:creationId xmlns:a16="http://schemas.microsoft.com/office/drawing/2014/main" id="{178DDD6C-F6CB-84A0-CEC0-05B20AE16913}"/>
              </a:ext>
            </a:extLst>
          </p:cNvPr>
          <p:cNvSpPr txBox="1"/>
          <p:nvPr/>
        </p:nvSpPr>
        <p:spPr>
          <a:xfrm>
            <a:off x="671253" y="4960330"/>
            <a:ext cx="10775372" cy="369332"/>
          </a:xfrm>
          <a:prstGeom prst="rect">
            <a:avLst/>
          </a:prstGeom>
          <a:noFill/>
        </p:spPr>
        <p:txBody>
          <a:bodyPr wrap="square">
            <a:spAutoFit/>
          </a:bodyPr>
          <a:lstStyle/>
          <a:p>
            <a:r>
              <a:rPr lang="zh-CN" altLang="en-US" dirty="0"/>
              <a:t>检索内容经来源核验后形成回答证据 。根据当前必要需求集合 </a:t>
            </a:r>
            <a:r>
              <a:rPr lang="en-US" altLang="zh-CN" dirty="0"/>
              <a:t>\(\</a:t>
            </a:r>
            <a:r>
              <a:rPr lang="en-US" altLang="zh-CN" dirty="0" err="1"/>
              <a:t>mathcal</a:t>
            </a:r>
            <a:r>
              <a:rPr lang="en-US" altLang="zh-CN" dirty="0"/>
              <a:t> </a:t>
            </a:r>
            <a:r>
              <a:rPr lang="en-US" altLang="zh-CN" dirty="0" err="1"/>
              <a:t>N_i</a:t>
            </a:r>
            <a:r>
              <a:rPr lang="en-US" altLang="zh-CN" dirty="0"/>
              <a:t>^{\</a:t>
            </a:r>
            <a:r>
              <a:rPr lang="en-US" altLang="zh-CN" dirty="0" err="1"/>
              <a:t>mathrm</a:t>
            </a:r>
            <a:r>
              <a:rPr lang="en-US" altLang="zh-CN" dirty="0"/>
              <a:t>{req}}\)</a:t>
            </a:r>
            <a:r>
              <a:rPr lang="zh-CN" altLang="en-US" dirty="0"/>
              <a:t>，计算缺口：</a:t>
            </a:r>
          </a:p>
        </p:txBody>
      </p:sp>
    </p:spTree>
    <p:custDataLst>
      <p:tags r:id="rId1"/>
    </p:custDataLst>
    <p:extLst>
      <p:ext uri="{BB962C8B-B14F-4D97-AF65-F5344CB8AC3E}">
        <p14:creationId xmlns:p14="http://schemas.microsoft.com/office/powerpoint/2010/main" val="427164015"/>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5A466-CAE3-4116-3E99-FF3E850EB491}"/>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B726644F-C836-ED7F-DB22-B68CD761D07F}"/>
              </a:ext>
            </a:extLst>
          </p:cNvPr>
          <p:cNvPicPr>
            <a:picLocks noChangeAspect="1"/>
          </p:cNvPicPr>
          <p:nvPr>
            <p:custDataLst>
              <p:tags r:id="rId2"/>
            </p:custDataLst>
          </p:nvPr>
        </p:nvPicPr>
        <p:blipFill>
          <a:blip r:embed="rId5"/>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41AD155B-3E3B-E8D6-52B2-3C57CE309F97}"/>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CA73F08E-E618-714A-6C9F-7A40A4D8FC41}"/>
              </a:ext>
            </a:extLst>
          </p:cNvPr>
          <p:cNvPicPr>
            <a:picLocks noChangeAspect="1"/>
          </p:cNvPicPr>
          <p:nvPr>
            <p:custDataLst>
              <p:tags r:id="rId3"/>
            </p:custDataLst>
          </p:nvPr>
        </p:nvPicPr>
        <p:blipFill>
          <a:blip r:embed="rId6"/>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A5036032-3B3B-099F-ED72-F4D8620E1760}"/>
              </a:ext>
            </a:extLst>
          </p:cNvPr>
          <p:cNvPicPr>
            <a:picLocks noChangeAspect="1"/>
          </p:cNvPicPr>
          <p:nvPr/>
        </p:nvPicPr>
        <p:blipFill>
          <a:blip r:embed="rId7"/>
          <a:srcRect l="3256" t="-6868" r="4770" b="-1340"/>
          <a:stretch>
            <a:fillRect/>
          </a:stretch>
        </p:blipFill>
        <p:spPr>
          <a:xfrm>
            <a:off x="9389745" y="6247765"/>
            <a:ext cx="2313940" cy="410210"/>
          </a:xfrm>
          <a:prstGeom prst="rect">
            <a:avLst/>
          </a:prstGeom>
        </p:spPr>
      </p:pic>
    </p:spTree>
    <p:custDataLst>
      <p:tags r:id="rId1"/>
    </p:custDataLst>
    <p:extLst>
      <p:ext uri="{BB962C8B-B14F-4D97-AF65-F5344CB8AC3E}">
        <p14:creationId xmlns:p14="http://schemas.microsoft.com/office/powerpoint/2010/main" val="280673631"/>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84784-058C-C6A0-867B-3639E6304C3D}"/>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B1AA8941-6E9D-EF0B-A886-3DE7E4368A41}"/>
              </a:ext>
            </a:extLst>
          </p:cNvPr>
          <p:cNvPicPr>
            <a:picLocks noChangeAspect="1"/>
          </p:cNvPicPr>
          <p:nvPr>
            <p:custDataLst>
              <p:tags r:id="rId2"/>
            </p:custDataLst>
          </p:nvPr>
        </p:nvPicPr>
        <p:blipFill>
          <a:blip r:embed="rId5"/>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ED33A772-C259-5F5A-CF28-308DB894EB43}"/>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2AAFEBE5-79E1-6BA4-CFEA-F46E44D6E8DB}"/>
              </a:ext>
            </a:extLst>
          </p:cNvPr>
          <p:cNvPicPr>
            <a:picLocks noChangeAspect="1"/>
          </p:cNvPicPr>
          <p:nvPr>
            <p:custDataLst>
              <p:tags r:id="rId3"/>
            </p:custDataLst>
          </p:nvPr>
        </p:nvPicPr>
        <p:blipFill>
          <a:blip r:embed="rId6"/>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CBF886E0-5191-BF2C-17BC-7103A6BA767F}"/>
              </a:ext>
            </a:extLst>
          </p:cNvPr>
          <p:cNvPicPr>
            <a:picLocks noChangeAspect="1"/>
          </p:cNvPicPr>
          <p:nvPr/>
        </p:nvPicPr>
        <p:blipFill>
          <a:blip r:embed="rId7"/>
          <a:srcRect l="3256" t="-6868" r="4770" b="-1340"/>
          <a:stretch>
            <a:fillRect/>
          </a:stretch>
        </p:blipFill>
        <p:spPr>
          <a:xfrm>
            <a:off x="9389745" y="6247765"/>
            <a:ext cx="2313940" cy="410210"/>
          </a:xfrm>
          <a:prstGeom prst="rect">
            <a:avLst/>
          </a:prstGeom>
        </p:spPr>
      </p:pic>
    </p:spTree>
    <p:custDataLst>
      <p:tags r:id="rId1"/>
    </p:custDataLst>
    <p:extLst>
      <p:ext uri="{BB962C8B-B14F-4D97-AF65-F5344CB8AC3E}">
        <p14:creationId xmlns:p14="http://schemas.microsoft.com/office/powerpoint/2010/main" val="1885359866"/>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9DD42-2D24-2CAE-E3E3-F88DC41A7D54}"/>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DD2F3132-C082-D2AF-6067-3D16D76BDAD8}"/>
              </a:ext>
            </a:extLst>
          </p:cNvPr>
          <p:cNvPicPr>
            <a:picLocks noChangeAspect="1"/>
          </p:cNvPicPr>
          <p:nvPr>
            <p:custDataLst>
              <p:tags r:id="rId2"/>
            </p:custDataLst>
          </p:nvPr>
        </p:nvPicPr>
        <p:blipFill>
          <a:blip r:embed="rId5"/>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4B3AAABC-3064-BA22-2B90-023F4D5478E7}"/>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33EEF7E3-C067-9E15-A51E-138DAF8F4BC5}"/>
              </a:ext>
            </a:extLst>
          </p:cNvPr>
          <p:cNvPicPr>
            <a:picLocks noChangeAspect="1"/>
          </p:cNvPicPr>
          <p:nvPr>
            <p:custDataLst>
              <p:tags r:id="rId3"/>
            </p:custDataLst>
          </p:nvPr>
        </p:nvPicPr>
        <p:blipFill>
          <a:blip r:embed="rId6"/>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D43D9B69-66F8-A62A-1D14-B775865A76C5}"/>
              </a:ext>
            </a:extLst>
          </p:cNvPr>
          <p:cNvPicPr>
            <a:picLocks noChangeAspect="1"/>
          </p:cNvPicPr>
          <p:nvPr/>
        </p:nvPicPr>
        <p:blipFill>
          <a:blip r:embed="rId7"/>
          <a:srcRect l="3256" t="-6868" r="4770" b="-1340"/>
          <a:stretch>
            <a:fillRect/>
          </a:stretch>
        </p:blipFill>
        <p:spPr>
          <a:xfrm>
            <a:off x="9389745" y="6247765"/>
            <a:ext cx="2313940" cy="410210"/>
          </a:xfrm>
          <a:prstGeom prst="rect">
            <a:avLst/>
          </a:prstGeom>
        </p:spPr>
      </p:pic>
    </p:spTree>
    <p:custDataLst>
      <p:tags r:id="rId1"/>
    </p:custDataLst>
    <p:extLst>
      <p:ext uri="{BB962C8B-B14F-4D97-AF65-F5344CB8AC3E}">
        <p14:creationId xmlns:p14="http://schemas.microsoft.com/office/powerpoint/2010/main" val="1957860387"/>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690DF-E883-1D50-289E-DAC9E778C45C}"/>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7112C058-37F6-9A5D-D462-983DECEEE915}"/>
              </a:ext>
            </a:extLst>
          </p:cNvPr>
          <p:cNvPicPr>
            <a:picLocks noChangeAspect="1"/>
          </p:cNvPicPr>
          <p:nvPr>
            <p:custDataLst>
              <p:tags r:id="rId2"/>
            </p:custDataLst>
          </p:nvPr>
        </p:nvPicPr>
        <p:blipFill>
          <a:blip r:embed="rId5"/>
          <a:srcRect t="69576" b="21479"/>
          <a:stretch>
            <a:fillRect/>
          </a:stretch>
        </p:blipFill>
        <p:spPr>
          <a:xfrm>
            <a:off x="0" y="-22860"/>
            <a:ext cx="12192000" cy="681355"/>
          </a:xfrm>
          <a:prstGeom prst="rect">
            <a:avLst/>
          </a:prstGeom>
        </p:spPr>
      </p:pic>
      <p:sp>
        <p:nvSpPr>
          <p:cNvPr id="5" name="矩形 4">
            <a:extLst>
              <a:ext uri="{FF2B5EF4-FFF2-40B4-BE49-F238E27FC236}">
                <a16:creationId xmlns:a16="http://schemas.microsoft.com/office/drawing/2014/main" id="{65E8C603-2D74-40FE-5477-3BC7A28BA523}"/>
              </a:ext>
            </a:extLst>
          </p:cNvPr>
          <p:cNvSpPr/>
          <p:nvPr/>
        </p:nvSpPr>
        <p:spPr>
          <a:xfrm>
            <a:off x="635" y="-20955"/>
            <a:ext cx="12191365" cy="679450"/>
          </a:xfrm>
          <a:prstGeom prst="rect">
            <a:avLst/>
          </a:prstGeom>
          <a:solidFill>
            <a:srgbClr val="02549D">
              <a:alpha val="57000"/>
            </a:srgb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0" name="图片 9" descr="华科大">
            <a:extLst>
              <a:ext uri="{FF2B5EF4-FFF2-40B4-BE49-F238E27FC236}">
                <a16:creationId xmlns:a16="http://schemas.microsoft.com/office/drawing/2014/main" id="{75329BD7-BD39-F4A3-1340-711460D73EB3}"/>
              </a:ext>
            </a:extLst>
          </p:cNvPr>
          <p:cNvPicPr>
            <a:picLocks noChangeAspect="1"/>
          </p:cNvPicPr>
          <p:nvPr>
            <p:custDataLst>
              <p:tags r:id="rId3"/>
            </p:custDataLst>
          </p:nvPr>
        </p:nvPicPr>
        <p:blipFill>
          <a:blip r:embed="rId6"/>
          <a:stretch>
            <a:fillRect/>
          </a:stretch>
        </p:blipFill>
        <p:spPr>
          <a:xfrm>
            <a:off x="635" y="-97790"/>
            <a:ext cx="2354580" cy="824230"/>
          </a:xfrm>
          <a:prstGeom prst="rect">
            <a:avLst/>
          </a:prstGeom>
        </p:spPr>
      </p:pic>
      <p:pic>
        <p:nvPicPr>
          <p:cNvPr id="4" name="图片 3">
            <a:extLst>
              <a:ext uri="{FF2B5EF4-FFF2-40B4-BE49-F238E27FC236}">
                <a16:creationId xmlns:a16="http://schemas.microsoft.com/office/drawing/2014/main" id="{6E8F57D6-0813-7EC0-C1E4-B0450C5ADB30}"/>
              </a:ext>
            </a:extLst>
          </p:cNvPr>
          <p:cNvPicPr>
            <a:picLocks noChangeAspect="1"/>
          </p:cNvPicPr>
          <p:nvPr/>
        </p:nvPicPr>
        <p:blipFill>
          <a:blip r:embed="rId7"/>
          <a:srcRect l="3256" t="-6868" r="4770" b="-1340"/>
          <a:stretch>
            <a:fillRect/>
          </a:stretch>
        </p:blipFill>
        <p:spPr>
          <a:xfrm>
            <a:off x="9389745" y="6247765"/>
            <a:ext cx="2313940" cy="410210"/>
          </a:xfrm>
          <a:prstGeom prst="rect">
            <a:avLst/>
          </a:prstGeom>
        </p:spPr>
      </p:pic>
    </p:spTree>
    <p:custDataLst>
      <p:tags r:id="rId1"/>
    </p:custDataLst>
    <p:extLst>
      <p:ext uri="{BB962C8B-B14F-4D97-AF65-F5344CB8AC3E}">
        <p14:creationId xmlns:p14="http://schemas.microsoft.com/office/powerpoint/2010/main" val="2516056852"/>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descr="华科大"/>
          <p:cNvPicPr>
            <a:picLocks noChangeAspect="1"/>
          </p:cNvPicPr>
          <p:nvPr>
            <p:custDataLst>
              <p:tags r:id="rId1"/>
            </p:custDataLst>
          </p:nvPr>
        </p:nvPicPr>
        <p:blipFill>
          <a:blip r:embed="rId5"/>
          <a:stretch>
            <a:fillRect/>
          </a:stretch>
        </p:blipFill>
        <p:spPr>
          <a:xfrm>
            <a:off x="0" y="-110490"/>
            <a:ext cx="3847465" cy="1346835"/>
          </a:xfrm>
          <a:prstGeom prst="rect">
            <a:avLst/>
          </a:prstGeom>
        </p:spPr>
      </p:pic>
      <p:pic>
        <p:nvPicPr>
          <p:cNvPr id="4" name="图片 3" descr="D:/图片1.png图片1"/>
          <p:cNvPicPr>
            <a:picLocks noChangeAspect="1"/>
          </p:cNvPicPr>
          <p:nvPr/>
        </p:nvPicPr>
        <p:blipFill>
          <a:blip r:embed="rId6"/>
          <a:srcRect l="10309" r="20218" b="10052"/>
          <a:stretch>
            <a:fillRect/>
          </a:stretch>
        </p:blipFill>
        <p:spPr>
          <a:xfrm>
            <a:off x="3565525" y="0"/>
            <a:ext cx="8626475" cy="6858000"/>
          </a:xfrm>
          <a:prstGeom prst="rect">
            <a:avLst/>
          </a:prstGeom>
        </p:spPr>
      </p:pic>
      <p:sp>
        <p:nvSpPr>
          <p:cNvPr id="5" name="矩形 4"/>
          <p:cNvSpPr/>
          <p:nvPr/>
        </p:nvSpPr>
        <p:spPr>
          <a:xfrm>
            <a:off x="0" y="0"/>
            <a:ext cx="12192000" cy="6858000"/>
          </a:xfrm>
          <a:prstGeom prst="rect">
            <a:avLst/>
          </a:prstGeom>
          <a:gradFill>
            <a:gsLst>
              <a:gs pos="62000">
                <a:srgbClr val="02549D">
                  <a:alpha val="100000"/>
                  <a:lumMod val="96000"/>
                  <a:lumOff val="4000"/>
                </a:srgbClr>
              </a:gs>
              <a:gs pos="6000">
                <a:schemeClr val="accent1">
                  <a:lumMod val="53000"/>
                  <a:lumOff val="47000"/>
                  <a:alpha val="0"/>
                </a:schemeClr>
              </a:gs>
              <a:gs pos="100000">
                <a:srgbClr val="02549D">
                  <a:alpha val="100000"/>
                </a:srgbClr>
              </a:gs>
            </a:gsLst>
            <a:path path="circle">
              <a:fillToRect l="100000" b="100000"/>
            </a:path>
            <a:tileRect t="-100000" r="-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6" name="文本框 5"/>
          <p:cNvSpPr txBox="1"/>
          <p:nvPr/>
        </p:nvSpPr>
        <p:spPr>
          <a:xfrm>
            <a:off x="504825" y="1691640"/>
            <a:ext cx="9972675" cy="2553335"/>
          </a:xfrm>
          <a:prstGeom prst="rect">
            <a:avLst/>
          </a:prstGeom>
          <a:noFill/>
        </p:spPr>
        <p:txBody>
          <a:bodyPr wrap="square" rtlCol="0">
            <a:spAutoFit/>
          </a:bodyPr>
          <a:lstStyle/>
          <a:p>
            <a:r>
              <a:rPr lang="en-US" altLang="zh-CN" sz="8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 </a:t>
            </a:r>
          </a:p>
          <a:p>
            <a:r>
              <a:rPr lang="zh-CN" altLang="en-US" sz="8000" b="1" dirty="0">
                <a:solidFill>
                  <a:schemeClr val="bg1"/>
                </a:solidFill>
                <a:latin typeface="微软雅黑" panose="020B0503020204020204" pitchFamily="34" charset="-122"/>
                <a:ea typeface="微软雅黑" panose="020B0503020204020204" pitchFamily="34" charset="-122"/>
                <a:cs typeface="微软雅黑" panose="020B0503020204020204" pitchFamily="34" charset="-122"/>
              </a:rPr>
              <a:t>谢谢</a:t>
            </a:r>
          </a:p>
        </p:txBody>
      </p:sp>
      <p:pic>
        <p:nvPicPr>
          <p:cNvPr id="13" name="图片 12" descr="华科大"/>
          <p:cNvPicPr>
            <a:picLocks noChangeAspect="1"/>
          </p:cNvPicPr>
          <p:nvPr>
            <p:custDataLst>
              <p:tags r:id="rId2"/>
            </p:custDataLst>
          </p:nvPr>
        </p:nvPicPr>
        <p:blipFill>
          <a:blip r:embed="rId5"/>
          <a:stretch>
            <a:fillRect/>
          </a:stretch>
        </p:blipFill>
        <p:spPr>
          <a:xfrm>
            <a:off x="0" y="0"/>
            <a:ext cx="3132455" cy="1096645"/>
          </a:xfrm>
          <a:prstGeom prst="rect">
            <a:avLst/>
          </a:prstGeom>
        </p:spPr>
      </p:pic>
      <p:cxnSp>
        <p:nvCxnSpPr>
          <p:cNvPr id="7" name="直接连接符 6"/>
          <p:cNvCxnSpPr/>
          <p:nvPr/>
        </p:nvCxnSpPr>
        <p:spPr>
          <a:xfrm flipV="1">
            <a:off x="504825" y="4439920"/>
            <a:ext cx="6324600" cy="43815"/>
          </a:xfrm>
          <a:prstGeom prst="line">
            <a:avLst/>
          </a:prstGeom>
          <a:ln w="28575" cmpd="sng">
            <a:solidFill>
              <a:schemeClr val="bg1"/>
            </a:solidFill>
            <a:prstDash val="solid"/>
          </a:ln>
        </p:spPr>
        <p:style>
          <a:lnRef idx="2">
            <a:schemeClr val="accent1"/>
          </a:lnRef>
          <a:fillRef idx="0">
            <a:srgbClr val="FFFFFF"/>
          </a:fillRef>
          <a:effectRef idx="0">
            <a:srgbClr val="FFFFFF"/>
          </a:effectRef>
          <a:fontRef idx="minor">
            <a:schemeClr val="tx1"/>
          </a:fontRef>
        </p:style>
      </p:cxnSp>
    </p:spTree>
  </p:cSld>
  <p:clrMapOvr>
    <a:masterClrMapping/>
  </p:clrMapOvr>
  <p:transition spd="med">
    <p:pull/>
  </p:transition>
</p:sld>
</file>

<file path=ppt/tags/tag1.xml><?xml version="1.0" encoding="utf-8"?>
<p:tagLst xmlns:a="http://schemas.openxmlformats.org/drawingml/2006/main" xmlns:r="http://schemas.openxmlformats.org/officeDocument/2006/relationships" xmlns:p="http://schemas.openxmlformats.org/presentationml/2006/main">
  <p:tag name="COMMONDATA" val="eyJoZGlkIjoiYWE4NTNmMDNmNTQyNTFjYmVjMGMwZTEzNjM2MWM4MjAifQ=="/>
  <p:tag name="RESOURCE_RECORD_KEY" val="{&quot;10&quot;:[17426551,20192695,17426558,20117132,17426564,21568122,21602029,4521272,21589047,3471017,3645291],&quot;13&quot;:[4364974],&quot;65&quot;:[20205081]}"/>
</p:tagLst>
</file>

<file path=ppt/tags/tag2.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122.75,&quot;left&quot;:-1.15,&quot;top&quot;:345.8,&quot;width&quot;:801.75}"/>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122.75,&quot;left&quot;:-1.15,&quot;top&quot;:345.8,&quot;width&quot;:801.75}"/>
</p:tagLst>
</file>

<file path=ppt/tags/tag5.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122.75,&quot;left&quot;:-1.15,&quot;top&quot;:345.8,&quot;width&quot;:801.75}"/>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122.75,&quot;left&quot;:-1.15,&quot;top&quot;:345.8,&quot;width&quot;:801.75}"/>
</p:tagLst>
</file>

<file path=ppt/tags/tag8.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9.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10.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11.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14.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15.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16.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379.9,&quot;left&quot;:70.6,&quot;top&quot;:95.3,&quot;width&quot;:456.95}"/>
</p:tagLst>
</file>

<file path=ppt/tags/tag19.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20.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21.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379.9,&quot;left&quot;:70.6,&quot;top&quot;:95.3,&quot;width&quot;:456.95}"/>
</p:tagLst>
</file>

<file path=ppt/tags/tag23.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24.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25.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26.xml><?xml version="1.0" encoding="utf-8"?>
<p:tagLst xmlns:a="http://schemas.openxmlformats.org/drawingml/2006/main" xmlns:r="http://schemas.openxmlformats.org/officeDocument/2006/relationships" xmlns:p="http://schemas.openxmlformats.org/presentationml/2006/main">
  <p:tag name="KSO_WM_DIAGRAM_VIRTUALLY_FRAME" val="{&quot;height&quot;:379.9,&quot;left&quot;:70.6,&quot;top&quot;:95.3,&quot;width&quot;:456.95}"/>
</p:tagLst>
</file>

<file path=ppt/tags/tag27.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28.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29.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30.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31.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32.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33.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34.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35.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36.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37.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38.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39.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40.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41.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42.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43.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44.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45.xml><?xml version="1.0" encoding="utf-8"?>
<p:tagLst xmlns:a="http://schemas.openxmlformats.org/drawingml/2006/main" xmlns:r="http://schemas.openxmlformats.org/officeDocument/2006/relationships"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RESOURCE_RECORD_KEY" val="{&quot;10&quot;:[21602029],&quot;65&quot;:[20205081]}"/>
</p:tagLst>
</file>

<file path=ppt/tags/tag46.xml><?xml version="1.0" encoding="utf-8"?>
<p:tagLst xmlns:a="http://schemas.openxmlformats.org/drawingml/2006/main" xmlns:r="http://schemas.openxmlformats.org/officeDocument/2006/relationships" xmlns:p="http://schemas.openxmlformats.org/presentationml/2006/main">
  <p:tag name="PICID" val="{a791dc5b-7db8-45a7-ab7d-d2e36ea33ee8}"/>
</p:tagLst>
</file>

<file path=ppt/tags/tag47.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48.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ags/tag49.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4235,&quot;width&quot;:12100}"/>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1122</TotalTime>
  <Words>1225</Words>
  <Application>Microsoft Office PowerPoint</Application>
  <PresentationFormat>宽屏</PresentationFormat>
  <Paragraphs>48</Paragraphs>
  <Slides>13</Slides>
  <Notes>2</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13</vt:i4>
      </vt:variant>
    </vt:vector>
  </HeadingPairs>
  <TitlesOfParts>
    <vt:vector size="19" baseType="lpstr">
      <vt:lpstr>等线</vt:lpstr>
      <vt:lpstr>等线 Light</vt:lpstr>
      <vt:lpstr>微软雅黑</vt:lpstr>
      <vt:lpstr>Arial</vt:lpstr>
      <vt:lpstr>Calibri</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鲁杰 张</dc:creator>
  <cp:lastModifiedBy>鹏昊 吴</cp:lastModifiedBy>
  <cp:revision>282</cp:revision>
  <dcterms:created xsi:type="dcterms:W3CDTF">2024-10-16T06:04:00Z</dcterms:created>
  <dcterms:modified xsi:type="dcterms:W3CDTF">2026-10-06T02:56:11Z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DAB892520CB04161B04A65F23E79FCB1_13</vt:lpwstr>
  </property>
  <property fmtid="{D5CDD505-2E9C-101B-9397-08002B2CF9AE}" pid="3" name="KSOProductBuildVer">
    <vt:lpwstr>2052-12.1.0.23125</vt:lpwstr>
  </property>
</Properties>
</file>
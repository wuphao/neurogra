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s/slide12.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32" r:id="rId3"/>
    <p:sldId id="420" r:id="rId5"/>
    <p:sldId id="421" r:id="rId6"/>
    <p:sldId id="422" r:id="rId7"/>
    <p:sldId id="419" r:id="rId8"/>
    <p:sldId id="411" r:id="rId9"/>
    <p:sldId id="408" r:id="rId10"/>
    <p:sldId id="392" r:id="rId11"/>
    <p:sldId id="400" r:id="rId12"/>
    <p:sldId id="423" r:id="rId13"/>
    <p:sldId id="424" r:id="rIdExperiment4"/>
    <p:sldId id="385" r:id="rId14"/>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549E"/>
    <a:srgbClr val="0254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92" d="100"/>
          <a:sy n="92" d="100"/>
        </p:scale>
        <p:origin x="245"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50.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 Id="rIdExperiment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内容来源：用户提供的实验设计文本。全部样本规模均为规划数量，尚未表示采集、标注或实验已完成。</a:t>
            </a:r>
          </a:p>
          <a:p xmlns:a="http://schemas.openxmlformats.org/drawingml/2006/main">
            <a:r>
              <a:t>ADNI 的临床标签不能等同于独立病理确诊。病例证据集需标注知识的适用性与必要性。报告金标准来自病例子集。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内容来源：用户提供的实验设计文本。全部样本规模均为规划数量，尚未表示采集、标注或实验已完成。</a:t>
            </a:r>
          </a:p>
          <a:p xmlns:a="http://schemas.openxmlformats.org/drawingml/2006/main">
            <a:r>
              <a:t>B2 与 B3 使用充分设计的提示词。实验二的知识适用性分为适用、不适用、条件未知。知识缺口与患者数据缺口分别评价，文献检索不能补出患者尚未开展的检查结果。Dense RAG 与 Hybrid RAG 为两个独立对照组，表中合并一行仅为排版。固定条件化图谱时，比较普通检索、Agentic RAG 与算法二。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内容来源：用户提供的实验设计文本。全部样本规模均为规划数量，尚未表示采集、标注或实验已完成。</a:t>
            </a:r>
          </a:p>
          <a:p xmlns:a="http://schemas.openxmlformats.org/drawingml/2006/main">
            <a:r>
              <a:t>不设置唯一标准报告，也不将指标强行加权为总分。专家参考答案还包含可接受诊断结论及证据不足的判断。条件允许时双专家独立标注并仲裁。验证自动评分的 Precision、Recall、F1 及专家一致性，达到预设标准后再用于剩余报告。专家不知报告所属方法。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内容来源：用户提供的实验设计文本。全部样本规模均为规划数量，尚未表示采集、标注或实验已完成。</a:t>
            </a:r>
          </a:p>
          <a:p xmlns:a="http://schemas.openxmlformats.org/drawingml/2006/main">
            <a:r>
              <a:t>主任务为 CN/MCI/AD 三类临床状态判断。只有获得有意义的类别概率时才增加 AUROC、Brier Score 或校准误差，不把自然语言概率直接当作校准概率。四个消融组保留多智能体分析框架。固定候选诊断的解释实验排除诊断类别差异的干扰。鲁棒性中的条件变化采用满足与不满足条件的成对病例。所有内容是实验设计，不呈现虚构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med">
    <p:pull/>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502834-B775-4031-AA4D-CF81D5954D0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B4D7B8-D01B-485B-9B70-601B0A8AFCF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pull/>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3.png"/><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2.png"/><Relationship Id="rId2" Type="http://schemas.openxmlformats.org/officeDocument/2006/relationships/image" Target="../media/image1.png"/><Relationship Id="rId14" Type="http://schemas.openxmlformats.org/officeDocument/2006/relationships/notesSlide" Target="../notesSlides/notesSlide1.xml"/><Relationship Id="rId13" Type="http://schemas.openxmlformats.org/officeDocument/2006/relationships/slideLayout" Target="../slideLayouts/slideLayout7.xml"/><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tags" Target="../tags/tag6.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0" Type="http://schemas.openxmlformats.org/officeDocument/2006/relationships/notesSlide" Target="../notesSlides/notesSlide2.xml"/><Relationship Id="rId3" Type="http://schemas.openxmlformats.org/officeDocument/2006/relationships/image" Target="../media/image9.png"/><Relationship Id="rId29" Type="http://schemas.openxmlformats.org/officeDocument/2006/relationships/slideLayout" Target="../slideLayouts/slideLayout12.xml"/><Relationship Id="rId28" Type="http://schemas.openxmlformats.org/officeDocument/2006/relationships/tags" Target="../tags/tag11.xml"/><Relationship Id="rId27" Type="http://schemas.openxmlformats.org/officeDocument/2006/relationships/tags" Target="../tags/tag10.xml"/><Relationship Id="rId26" Type="http://schemas.openxmlformats.org/officeDocument/2006/relationships/tags" Target="../tags/tag9.xml"/><Relationship Id="rId25" Type="http://schemas.openxmlformats.org/officeDocument/2006/relationships/image" Target="../media/image1.png"/><Relationship Id="rId24" Type="http://schemas.openxmlformats.org/officeDocument/2006/relationships/tags" Target="../tags/tag8.xml"/><Relationship Id="rId23" Type="http://schemas.openxmlformats.org/officeDocument/2006/relationships/image" Target="../media/image28.png"/><Relationship Id="rId22" Type="http://schemas.openxmlformats.org/officeDocument/2006/relationships/tags" Target="../tags/tag7.xml"/><Relationship Id="rId21" Type="http://schemas.openxmlformats.org/officeDocument/2006/relationships/image" Target="../media/image27.png"/><Relationship Id="rId20" Type="http://schemas.openxmlformats.org/officeDocument/2006/relationships/image" Target="../media/image26.png"/><Relationship Id="rId2" Type="http://schemas.openxmlformats.org/officeDocument/2006/relationships/image" Target="../media/image8.png"/><Relationship Id="rId19" Type="http://schemas.openxmlformats.org/officeDocument/2006/relationships/image" Target="../media/image25.png"/><Relationship Id="rId18" Type="http://schemas.openxmlformats.org/officeDocument/2006/relationships/image" Target="../media/image24.png"/><Relationship Id="rId17" Type="http://schemas.openxmlformats.org/officeDocument/2006/relationships/image" Target="../media/image23.png"/><Relationship Id="rId16" Type="http://schemas.openxmlformats.org/officeDocument/2006/relationships/image" Target="../media/image22.png"/><Relationship Id="rId15" Type="http://schemas.openxmlformats.org/officeDocument/2006/relationships/image" Target="../media/image21.png"/><Relationship Id="rId14" Type="http://schemas.openxmlformats.org/officeDocument/2006/relationships/image" Target="../media/image20.png"/><Relationship Id="rId13" Type="http://schemas.openxmlformats.org/officeDocument/2006/relationships/image" Target="../media/image19.png"/><Relationship Id="rId12" Type="http://schemas.openxmlformats.org/officeDocument/2006/relationships/image" Target="../media/image18.png"/><Relationship Id="rId11" Type="http://schemas.openxmlformats.org/officeDocument/2006/relationships/image" Target="../media/image17.png"/><Relationship Id="rId10" Type="http://schemas.openxmlformats.org/officeDocument/2006/relationships/image" Target="../media/image16.png"/><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image" Target="../media/image28.png"/><Relationship Id="rId7" Type="http://schemas.openxmlformats.org/officeDocument/2006/relationships/tags" Target="../tags/tag1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6" Type="http://schemas.openxmlformats.org/officeDocument/2006/relationships/notesSlide" Target="../notesSlides/notesSlide3.xml"/><Relationship Id="rId15" Type="http://schemas.openxmlformats.org/officeDocument/2006/relationships/slideLayout" Target="../slideLayouts/slideLayout12.xml"/><Relationship Id="rId14" Type="http://schemas.openxmlformats.org/officeDocument/2006/relationships/image" Target="../media/image27.png"/><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image" Target="../media/image1.png"/><Relationship Id="rId1" Type="http://schemas.openxmlformats.org/officeDocument/2006/relationships/image" Target="../media/image29.png"/></Relationships>
</file>

<file path=ppt/slides/_rels/slide4.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image" Target="../media/image42.png"/><Relationship Id="rId7" Type="http://schemas.openxmlformats.org/officeDocument/2006/relationships/image" Target="../media/image41.png"/><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9" Type="http://schemas.openxmlformats.org/officeDocument/2006/relationships/notesSlide" Target="../notesSlides/notesSlide4.xml"/><Relationship Id="rId38" Type="http://schemas.openxmlformats.org/officeDocument/2006/relationships/slideLayout" Target="../slideLayouts/slideLayout12.xml"/><Relationship Id="rId37" Type="http://schemas.openxmlformats.org/officeDocument/2006/relationships/tags" Target="../tags/tag21.xml"/><Relationship Id="rId36" Type="http://schemas.openxmlformats.org/officeDocument/2006/relationships/tags" Target="../tags/tag20.xml"/><Relationship Id="rId35" Type="http://schemas.openxmlformats.org/officeDocument/2006/relationships/tags" Target="../tags/tag19.xml"/><Relationship Id="rId34" Type="http://schemas.openxmlformats.org/officeDocument/2006/relationships/image" Target="../media/image1.png"/><Relationship Id="rId33" Type="http://schemas.openxmlformats.org/officeDocument/2006/relationships/tags" Target="../tags/tag18.xml"/><Relationship Id="rId32" Type="http://schemas.openxmlformats.org/officeDocument/2006/relationships/image" Target="../media/image28.png"/><Relationship Id="rId31" Type="http://schemas.openxmlformats.org/officeDocument/2006/relationships/tags" Target="../tags/tag17.xml"/><Relationship Id="rId30" Type="http://schemas.openxmlformats.org/officeDocument/2006/relationships/image" Target="../media/image64.png"/><Relationship Id="rId3" Type="http://schemas.openxmlformats.org/officeDocument/2006/relationships/image" Target="../media/image37.png"/><Relationship Id="rId29" Type="http://schemas.openxmlformats.org/officeDocument/2006/relationships/image" Target="../media/image63.png"/><Relationship Id="rId28" Type="http://schemas.openxmlformats.org/officeDocument/2006/relationships/image" Target="../media/image62.png"/><Relationship Id="rId27" Type="http://schemas.openxmlformats.org/officeDocument/2006/relationships/image" Target="../media/image61.png"/><Relationship Id="rId26" Type="http://schemas.openxmlformats.org/officeDocument/2006/relationships/image" Target="../media/image60.png"/><Relationship Id="rId25" Type="http://schemas.openxmlformats.org/officeDocument/2006/relationships/image" Target="../media/image59.png"/><Relationship Id="rId24" Type="http://schemas.openxmlformats.org/officeDocument/2006/relationships/image" Target="../media/image58.png"/><Relationship Id="rId23" Type="http://schemas.openxmlformats.org/officeDocument/2006/relationships/image" Target="../media/image57.png"/><Relationship Id="rId22" Type="http://schemas.openxmlformats.org/officeDocument/2006/relationships/image" Target="../media/image56.png"/><Relationship Id="rId21" Type="http://schemas.openxmlformats.org/officeDocument/2006/relationships/image" Target="../media/image55.png"/><Relationship Id="rId20" Type="http://schemas.openxmlformats.org/officeDocument/2006/relationships/image" Target="../media/image54.png"/><Relationship Id="rId2" Type="http://schemas.openxmlformats.org/officeDocument/2006/relationships/image" Target="../media/image36.png"/><Relationship Id="rId19" Type="http://schemas.openxmlformats.org/officeDocument/2006/relationships/image" Target="../media/image53.png"/><Relationship Id="rId18" Type="http://schemas.openxmlformats.org/officeDocument/2006/relationships/image" Target="../media/image52.png"/><Relationship Id="rId17" Type="http://schemas.openxmlformats.org/officeDocument/2006/relationships/image" Target="../media/image51.png"/><Relationship Id="rId16" Type="http://schemas.openxmlformats.org/officeDocument/2006/relationships/image" Target="../media/image50.png"/><Relationship Id="rId15" Type="http://schemas.openxmlformats.org/officeDocument/2006/relationships/image" Target="../media/image49.png"/><Relationship Id="rId14" Type="http://schemas.openxmlformats.org/officeDocument/2006/relationships/image" Target="../media/image48.png"/><Relationship Id="rId13" Type="http://schemas.openxmlformats.org/officeDocument/2006/relationships/image" Target="../media/image47.png"/><Relationship Id="rId12" Type="http://schemas.openxmlformats.org/officeDocument/2006/relationships/image" Target="../media/image46.png"/><Relationship Id="rId11" Type="http://schemas.openxmlformats.org/officeDocument/2006/relationships/image" Target="../media/image45.png"/><Relationship Id="rId10" Type="http://schemas.openxmlformats.org/officeDocument/2006/relationships/image" Target="../media/image44.png"/><Relationship Id="rId1" Type="http://schemas.openxmlformats.org/officeDocument/2006/relationships/image" Target="../media/image35.png"/></Relationships>
</file>

<file path=ppt/slides/_rels/slide5.xml.rels><?xml version="1.0" encoding="UTF-8" standalone="yes"?>
<Relationships xmlns="http://schemas.openxmlformats.org/package/2006/relationships"><Relationship Id="rId9" Type="http://schemas.openxmlformats.org/officeDocument/2006/relationships/image" Target="../media/image73.png"/><Relationship Id="rId8" Type="http://schemas.openxmlformats.org/officeDocument/2006/relationships/image" Target="../media/image72.png"/><Relationship Id="rId7" Type="http://schemas.openxmlformats.org/officeDocument/2006/relationships/image" Target="../media/image71.png"/><Relationship Id="rId68" Type="http://schemas.openxmlformats.org/officeDocument/2006/relationships/notesSlide" Target="../notesSlides/notesSlide5.xml"/><Relationship Id="rId67" Type="http://schemas.openxmlformats.org/officeDocument/2006/relationships/slideLayout" Target="../slideLayouts/slideLayout12.xml"/><Relationship Id="rId66" Type="http://schemas.openxmlformats.org/officeDocument/2006/relationships/tags" Target="../tags/tag26.xml"/><Relationship Id="rId65" Type="http://schemas.openxmlformats.org/officeDocument/2006/relationships/tags" Target="../tags/tag25.xml"/><Relationship Id="rId64" Type="http://schemas.openxmlformats.org/officeDocument/2006/relationships/tags" Target="../tags/tag24.xml"/><Relationship Id="rId63" Type="http://schemas.openxmlformats.org/officeDocument/2006/relationships/image" Target="../media/image1.png"/><Relationship Id="rId62" Type="http://schemas.openxmlformats.org/officeDocument/2006/relationships/tags" Target="../tags/tag23.xml"/><Relationship Id="rId61" Type="http://schemas.openxmlformats.org/officeDocument/2006/relationships/image" Target="../media/image28.png"/><Relationship Id="rId60" Type="http://schemas.openxmlformats.org/officeDocument/2006/relationships/tags" Target="../tags/tag22.xml"/><Relationship Id="rId6" Type="http://schemas.openxmlformats.org/officeDocument/2006/relationships/image" Target="../media/image70.png"/><Relationship Id="rId59" Type="http://schemas.openxmlformats.org/officeDocument/2006/relationships/image" Target="../media/image123.png"/><Relationship Id="rId58" Type="http://schemas.openxmlformats.org/officeDocument/2006/relationships/image" Target="../media/image122.png"/><Relationship Id="rId57" Type="http://schemas.openxmlformats.org/officeDocument/2006/relationships/image" Target="../media/image121.png"/><Relationship Id="rId56" Type="http://schemas.openxmlformats.org/officeDocument/2006/relationships/image" Target="../media/image120.png"/><Relationship Id="rId55" Type="http://schemas.openxmlformats.org/officeDocument/2006/relationships/image" Target="../media/image119.png"/><Relationship Id="rId54" Type="http://schemas.openxmlformats.org/officeDocument/2006/relationships/image" Target="../media/image118.png"/><Relationship Id="rId53" Type="http://schemas.openxmlformats.org/officeDocument/2006/relationships/image" Target="../media/image117.png"/><Relationship Id="rId52" Type="http://schemas.openxmlformats.org/officeDocument/2006/relationships/image" Target="../media/image116.png"/><Relationship Id="rId51" Type="http://schemas.openxmlformats.org/officeDocument/2006/relationships/image" Target="../media/image115.png"/><Relationship Id="rId50" Type="http://schemas.openxmlformats.org/officeDocument/2006/relationships/image" Target="../media/image114.png"/><Relationship Id="rId5" Type="http://schemas.openxmlformats.org/officeDocument/2006/relationships/image" Target="../media/image69.png"/><Relationship Id="rId49" Type="http://schemas.openxmlformats.org/officeDocument/2006/relationships/image" Target="../media/image113.png"/><Relationship Id="rId48" Type="http://schemas.openxmlformats.org/officeDocument/2006/relationships/image" Target="../media/image112.png"/><Relationship Id="rId47" Type="http://schemas.openxmlformats.org/officeDocument/2006/relationships/image" Target="../media/image111.png"/><Relationship Id="rId46" Type="http://schemas.openxmlformats.org/officeDocument/2006/relationships/image" Target="../media/image110.png"/><Relationship Id="rId45" Type="http://schemas.openxmlformats.org/officeDocument/2006/relationships/image" Target="../media/image109.png"/><Relationship Id="rId44" Type="http://schemas.openxmlformats.org/officeDocument/2006/relationships/image" Target="../media/image108.png"/><Relationship Id="rId43" Type="http://schemas.openxmlformats.org/officeDocument/2006/relationships/image" Target="../media/image107.png"/><Relationship Id="rId42" Type="http://schemas.openxmlformats.org/officeDocument/2006/relationships/image" Target="../media/image106.png"/><Relationship Id="rId41" Type="http://schemas.openxmlformats.org/officeDocument/2006/relationships/image" Target="../media/image105.png"/><Relationship Id="rId40" Type="http://schemas.openxmlformats.org/officeDocument/2006/relationships/image" Target="../media/image104.png"/><Relationship Id="rId4" Type="http://schemas.openxmlformats.org/officeDocument/2006/relationships/image" Target="../media/image68.png"/><Relationship Id="rId39" Type="http://schemas.openxmlformats.org/officeDocument/2006/relationships/image" Target="../media/image103.png"/><Relationship Id="rId38" Type="http://schemas.openxmlformats.org/officeDocument/2006/relationships/image" Target="../media/image102.png"/><Relationship Id="rId37" Type="http://schemas.openxmlformats.org/officeDocument/2006/relationships/image" Target="../media/image101.png"/><Relationship Id="rId36" Type="http://schemas.openxmlformats.org/officeDocument/2006/relationships/image" Target="../media/image100.png"/><Relationship Id="rId35" Type="http://schemas.openxmlformats.org/officeDocument/2006/relationships/image" Target="../media/image99.png"/><Relationship Id="rId34" Type="http://schemas.openxmlformats.org/officeDocument/2006/relationships/image" Target="../media/image98.png"/><Relationship Id="rId33" Type="http://schemas.openxmlformats.org/officeDocument/2006/relationships/image" Target="../media/image97.png"/><Relationship Id="rId32" Type="http://schemas.openxmlformats.org/officeDocument/2006/relationships/image" Target="../media/image96.png"/><Relationship Id="rId31" Type="http://schemas.openxmlformats.org/officeDocument/2006/relationships/image" Target="../media/image95.png"/><Relationship Id="rId30" Type="http://schemas.openxmlformats.org/officeDocument/2006/relationships/image" Target="../media/image94.png"/><Relationship Id="rId3" Type="http://schemas.openxmlformats.org/officeDocument/2006/relationships/image" Target="../media/image67.png"/><Relationship Id="rId29" Type="http://schemas.openxmlformats.org/officeDocument/2006/relationships/image" Target="../media/image93.png"/><Relationship Id="rId28" Type="http://schemas.openxmlformats.org/officeDocument/2006/relationships/image" Target="../media/image92.png"/><Relationship Id="rId27" Type="http://schemas.openxmlformats.org/officeDocument/2006/relationships/image" Target="../media/image91.png"/><Relationship Id="rId26" Type="http://schemas.openxmlformats.org/officeDocument/2006/relationships/image" Target="../media/image90.png"/><Relationship Id="rId25" Type="http://schemas.openxmlformats.org/officeDocument/2006/relationships/image" Target="../media/image89.png"/><Relationship Id="rId24" Type="http://schemas.openxmlformats.org/officeDocument/2006/relationships/image" Target="../media/image88.png"/><Relationship Id="rId23" Type="http://schemas.openxmlformats.org/officeDocument/2006/relationships/image" Target="../media/image87.png"/><Relationship Id="rId22" Type="http://schemas.openxmlformats.org/officeDocument/2006/relationships/image" Target="../media/image86.png"/><Relationship Id="rId21" Type="http://schemas.openxmlformats.org/officeDocument/2006/relationships/image" Target="../media/image85.png"/><Relationship Id="rId20" Type="http://schemas.openxmlformats.org/officeDocument/2006/relationships/image" Target="../media/image84.png"/><Relationship Id="rId2" Type="http://schemas.openxmlformats.org/officeDocument/2006/relationships/image" Target="../media/image66.png"/><Relationship Id="rId19" Type="http://schemas.openxmlformats.org/officeDocument/2006/relationships/image" Target="../media/image83.png"/><Relationship Id="rId18" Type="http://schemas.openxmlformats.org/officeDocument/2006/relationships/image" Target="../media/image82.png"/><Relationship Id="rId17" Type="http://schemas.openxmlformats.org/officeDocument/2006/relationships/image" Target="../media/image81.png"/><Relationship Id="rId16" Type="http://schemas.openxmlformats.org/officeDocument/2006/relationships/image" Target="../media/image80.png"/><Relationship Id="rId15" Type="http://schemas.openxmlformats.org/officeDocument/2006/relationships/image" Target="../media/image79.png"/><Relationship Id="rId14" Type="http://schemas.openxmlformats.org/officeDocument/2006/relationships/image" Target="../media/image78.png"/><Relationship Id="rId13" Type="http://schemas.openxmlformats.org/officeDocument/2006/relationships/image" Target="../media/image77.png"/><Relationship Id="rId12" Type="http://schemas.openxmlformats.org/officeDocument/2006/relationships/image" Target="../media/image76.png"/><Relationship Id="rId11" Type="http://schemas.openxmlformats.org/officeDocument/2006/relationships/image" Target="../media/image75.png"/><Relationship Id="rId10" Type="http://schemas.openxmlformats.org/officeDocument/2006/relationships/image" Target="../media/image74.png"/><Relationship Id="rId1" Type="http://schemas.openxmlformats.org/officeDocument/2006/relationships/image" Target="../media/image65.png"/></Relationships>
</file>

<file path=ppt/slides/_rels/slide6.xml.rels><?xml version="1.0" encoding="UTF-8" standalone="yes"?>
<Relationships xmlns="http://schemas.openxmlformats.org/package/2006/relationships"><Relationship Id="rId9" Type="http://schemas.openxmlformats.org/officeDocument/2006/relationships/image" Target="../media/image132.png"/><Relationship Id="rId80" Type="http://schemas.openxmlformats.org/officeDocument/2006/relationships/notesSlide" Target="../notesSlides/notesSlide6.xml"/><Relationship Id="rId8" Type="http://schemas.openxmlformats.org/officeDocument/2006/relationships/image" Target="../media/image131.png"/><Relationship Id="rId79" Type="http://schemas.openxmlformats.org/officeDocument/2006/relationships/slideLayout" Target="../slideLayouts/slideLayout12.xml"/><Relationship Id="rId78" Type="http://schemas.openxmlformats.org/officeDocument/2006/relationships/tags" Target="../tags/tag32.xml"/><Relationship Id="rId77" Type="http://schemas.openxmlformats.org/officeDocument/2006/relationships/tags" Target="../tags/tag31.xml"/><Relationship Id="rId76" Type="http://schemas.openxmlformats.org/officeDocument/2006/relationships/tags" Target="../tags/tag30.xml"/><Relationship Id="rId75" Type="http://schemas.openxmlformats.org/officeDocument/2006/relationships/tags" Target="../tags/tag29.xml"/><Relationship Id="rId74" Type="http://schemas.openxmlformats.org/officeDocument/2006/relationships/image" Target="../media/image28.png"/><Relationship Id="rId73" Type="http://schemas.openxmlformats.org/officeDocument/2006/relationships/tags" Target="../tags/tag28.xml"/><Relationship Id="rId72" Type="http://schemas.openxmlformats.org/officeDocument/2006/relationships/image" Target="../media/image1.png"/><Relationship Id="rId71" Type="http://schemas.openxmlformats.org/officeDocument/2006/relationships/tags" Target="../tags/tag27.xml"/><Relationship Id="rId70" Type="http://schemas.openxmlformats.org/officeDocument/2006/relationships/image" Target="../media/image193.png"/><Relationship Id="rId7" Type="http://schemas.openxmlformats.org/officeDocument/2006/relationships/image" Target="../media/image130.png"/><Relationship Id="rId69" Type="http://schemas.openxmlformats.org/officeDocument/2006/relationships/image" Target="../media/image192.png"/><Relationship Id="rId68" Type="http://schemas.openxmlformats.org/officeDocument/2006/relationships/image" Target="../media/image191.png"/><Relationship Id="rId67" Type="http://schemas.openxmlformats.org/officeDocument/2006/relationships/image" Target="../media/image190.png"/><Relationship Id="rId66" Type="http://schemas.openxmlformats.org/officeDocument/2006/relationships/image" Target="../media/image189.png"/><Relationship Id="rId65" Type="http://schemas.openxmlformats.org/officeDocument/2006/relationships/image" Target="../media/image188.png"/><Relationship Id="rId64" Type="http://schemas.openxmlformats.org/officeDocument/2006/relationships/image" Target="../media/image187.png"/><Relationship Id="rId63" Type="http://schemas.openxmlformats.org/officeDocument/2006/relationships/image" Target="../media/image186.png"/><Relationship Id="rId62" Type="http://schemas.openxmlformats.org/officeDocument/2006/relationships/image" Target="../media/image185.png"/><Relationship Id="rId61" Type="http://schemas.openxmlformats.org/officeDocument/2006/relationships/image" Target="../media/image184.png"/><Relationship Id="rId60" Type="http://schemas.openxmlformats.org/officeDocument/2006/relationships/image" Target="../media/image183.png"/><Relationship Id="rId6" Type="http://schemas.openxmlformats.org/officeDocument/2006/relationships/image" Target="../media/image129.png"/><Relationship Id="rId59" Type="http://schemas.openxmlformats.org/officeDocument/2006/relationships/image" Target="../media/image182.png"/><Relationship Id="rId58" Type="http://schemas.openxmlformats.org/officeDocument/2006/relationships/image" Target="../media/image181.png"/><Relationship Id="rId57" Type="http://schemas.openxmlformats.org/officeDocument/2006/relationships/image" Target="../media/image180.png"/><Relationship Id="rId56" Type="http://schemas.openxmlformats.org/officeDocument/2006/relationships/image" Target="../media/image179.png"/><Relationship Id="rId55" Type="http://schemas.openxmlformats.org/officeDocument/2006/relationships/image" Target="../media/image178.png"/><Relationship Id="rId54" Type="http://schemas.openxmlformats.org/officeDocument/2006/relationships/image" Target="../media/image177.png"/><Relationship Id="rId53" Type="http://schemas.openxmlformats.org/officeDocument/2006/relationships/image" Target="../media/image176.png"/><Relationship Id="rId52" Type="http://schemas.openxmlformats.org/officeDocument/2006/relationships/image" Target="../media/image175.png"/><Relationship Id="rId51" Type="http://schemas.openxmlformats.org/officeDocument/2006/relationships/image" Target="../media/image174.png"/><Relationship Id="rId50" Type="http://schemas.openxmlformats.org/officeDocument/2006/relationships/image" Target="../media/image173.png"/><Relationship Id="rId5" Type="http://schemas.openxmlformats.org/officeDocument/2006/relationships/image" Target="../media/image128.png"/><Relationship Id="rId49" Type="http://schemas.openxmlformats.org/officeDocument/2006/relationships/image" Target="../media/image172.png"/><Relationship Id="rId48" Type="http://schemas.openxmlformats.org/officeDocument/2006/relationships/image" Target="../media/image171.png"/><Relationship Id="rId47" Type="http://schemas.openxmlformats.org/officeDocument/2006/relationships/image" Target="../media/image170.png"/><Relationship Id="rId46" Type="http://schemas.openxmlformats.org/officeDocument/2006/relationships/image" Target="../media/image169.png"/><Relationship Id="rId45" Type="http://schemas.openxmlformats.org/officeDocument/2006/relationships/image" Target="../media/image168.png"/><Relationship Id="rId44" Type="http://schemas.openxmlformats.org/officeDocument/2006/relationships/image" Target="../media/image167.png"/><Relationship Id="rId43" Type="http://schemas.openxmlformats.org/officeDocument/2006/relationships/image" Target="../media/image166.png"/><Relationship Id="rId42" Type="http://schemas.openxmlformats.org/officeDocument/2006/relationships/image" Target="../media/image165.png"/><Relationship Id="rId41" Type="http://schemas.openxmlformats.org/officeDocument/2006/relationships/image" Target="../media/image164.png"/><Relationship Id="rId40" Type="http://schemas.openxmlformats.org/officeDocument/2006/relationships/image" Target="../media/image163.png"/><Relationship Id="rId4" Type="http://schemas.openxmlformats.org/officeDocument/2006/relationships/image" Target="../media/image127.png"/><Relationship Id="rId39" Type="http://schemas.openxmlformats.org/officeDocument/2006/relationships/image" Target="../media/image162.png"/><Relationship Id="rId38" Type="http://schemas.openxmlformats.org/officeDocument/2006/relationships/image" Target="../media/image161.png"/><Relationship Id="rId37" Type="http://schemas.openxmlformats.org/officeDocument/2006/relationships/image" Target="../media/image160.png"/><Relationship Id="rId36" Type="http://schemas.openxmlformats.org/officeDocument/2006/relationships/image" Target="../media/image159.png"/><Relationship Id="rId35" Type="http://schemas.openxmlformats.org/officeDocument/2006/relationships/image" Target="../media/image158.png"/><Relationship Id="rId34" Type="http://schemas.openxmlformats.org/officeDocument/2006/relationships/image" Target="../media/image157.png"/><Relationship Id="rId33" Type="http://schemas.openxmlformats.org/officeDocument/2006/relationships/image" Target="../media/image156.png"/><Relationship Id="rId32" Type="http://schemas.openxmlformats.org/officeDocument/2006/relationships/image" Target="../media/image155.png"/><Relationship Id="rId31" Type="http://schemas.openxmlformats.org/officeDocument/2006/relationships/image" Target="../media/image154.png"/><Relationship Id="rId30" Type="http://schemas.openxmlformats.org/officeDocument/2006/relationships/image" Target="../media/image153.png"/><Relationship Id="rId3" Type="http://schemas.openxmlformats.org/officeDocument/2006/relationships/image" Target="../media/image126.png"/><Relationship Id="rId29" Type="http://schemas.openxmlformats.org/officeDocument/2006/relationships/image" Target="../media/image152.png"/><Relationship Id="rId28" Type="http://schemas.openxmlformats.org/officeDocument/2006/relationships/image" Target="../media/image151.png"/><Relationship Id="rId27" Type="http://schemas.openxmlformats.org/officeDocument/2006/relationships/image" Target="../media/image150.png"/><Relationship Id="rId26" Type="http://schemas.openxmlformats.org/officeDocument/2006/relationships/image" Target="../media/image149.png"/><Relationship Id="rId25" Type="http://schemas.openxmlformats.org/officeDocument/2006/relationships/image" Target="../media/image148.png"/><Relationship Id="rId24" Type="http://schemas.openxmlformats.org/officeDocument/2006/relationships/image" Target="../media/image147.png"/><Relationship Id="rId23" Type="http://schemas.openxmlformats.org/officeDocument/2006/relationships/image" Target="../media/image146.png"/><Relationship Id="rId22" Type="http://schemas.openxmlformats.org/officeDocument/2006/relationships/image" Target="../media/image145.png"/><Relationship Id="rId21" Type="http://schemas.openxmlformats.org/officeDocument/2006/relationships/image" Target="../media/image144.png"/><Relationship Id="rId20" Type="http://schemas.openxmlformats.org/officeDocument/2006/relationships/image" Target="../media/image143.png"/><Relationship Id="rId2" Type="http://schemas.openxmlformats.org/officeDocument/2006/relationships/image" Target="../media/image125.png"/><Relationship Id="rId19" Type="http://schemas.openxmlformats.org/officeDocument/2006/relationships/image" Target="../media/image142.png"/><Relationship Id="rId18" Type="http://schemas.openxmlformats.org/officeDocument/2006/relationships/image" Target="../media/image141.png"/><Relationship Id="rId17" Type="http://schemas.openxmlformats.org/officeDocument/2006/relationships/image" Target="../media/image140.png"/><Relationship Id="rId16" Type="http://schemas.openxmlformats.org/officeDocument/2006/relationships/image" Target="../media/image139.png"/><Relationship Id="rId15" Type="http://schemas.openxmlformats.org/officeDocument/2006/relationships/image" Target="../media/image138.png"/><Relationship Id="rId14" Type="http://schemas.openxmlformats.org/officeDocument/2006/relationships/image" Target="../media/image137.png"/><Relationship Id="rId13" Type="http://schemas.openxmlformats.org/officeDocument/2006/relationships/image" Target="../media/image136.png"/><Relationship Id="rId12" Type="http://schemas.openxmlformats.org/officeDocument/2006/relationships/image" Target="../media/image135.png"/><Relationship Id="rId11" Type="http://schemas.openxmlformats.org/officeDocument/2006/relationships/image" Target="../media/image134.png"/><Relationship Id="rId10" Type="http://schemas.openxmlformats.org/officeDocument/2006/relationships/image" Target="../media/image133.png"/><Relationship Id="rId1" Type="http://schemas.openxmlformats.org/officeDocument/2006/relationships/image" Target="../media/image124.jpeg"/></Relationships>
</file>

<file path=ppt/slides/_rels/slide7.xml.rels><?xml version="1.0" encoding="UTF-8" standalone="yes"?>
<Relationships xmlns="http://schemas.openxmlformats.org/package/2006/relationships"><Relationship Id="rId9" Type="http://schemas.openxmlformats.org/officeDocument/2006/relationships/image" Target="../media/image202.png"/><Relationship Id="rId80" Type="http://schemas.openxmlformats.org/officeDocument/2006/relationships/notesSlide" Target="../notesSlides/notesSlide7.xml"/><Relationship Id="rId8" Type="http://schemas.openxmlformats.org/officeDocument/2006/relationships/image" Target="../media/image201.png"/><Relationship Id="rId79" Type="http://schemas.openxmlformats.org/officeDocument/2006/relationships/slideLayout" Target="../slideLayouts/slideLayout12.xml"/><Relationship Id="rId78" Type="http://schemas.openxmlformats.org/officeDocument/2006/relationships/tags" Target="../tags/tag38.xml"/><Relationship Id="rId77" Type="http://schemas.openxmlformats.org/officeDocument/2006/relationships/tags" Target="../tags/tag37.xml"/><Relationship Id="rId76" Type="http://schemas.openxmlformats.org/officeDocument/2006/relationships/tags" Target="../tags/tag36.xml"/><Relationship Id="rId75" Type="http://schemas.openxmlformats.org/officeDocument/2006/relationships/image" Target="../media/image28.png"/><Relationship Id="rId74" Type="http://schemas.openxmlformats.org/officeDocument/2006/relationships/tags" Target="../tags/tag35.xml"/><Relationship Id="rId73" Type="http://schemas.openxmlformats.org/officeDocument/2006/relationships/tags" Target="../tags/tag34.xml"/><Relationship Id="rId72" Type="http://schemas.openxmlformats.org/officeDocument/2006/relationships/image" Target="../media/image1.png"/><Relationship Id="rId71" Type="http://schemas.openxmlformats.org/officeDocument/2006/relationships/tags" Target="../tags/tag33.xml"/><Relationship Id="rId70" Type="http://schemas.openxmlformats.org/officeDocument/2006/relationships/image" Target="../media/image263.png"/><Relationship Id="rId7" Type="http://schemas.openxmlformats.org/officeDocument/2006/relationships/image" Target="../media/image200.png"/><Relationship Id="rId69" Type="http://schemas.openxmlformats.org/officeDocument/2006/relationships/image" Target="../media/image262.png"/><Relationship Id="rId68" Type="http://schemas.openxmlformats.org/officeDocument/2006/relationships/image" Target="../media/image261.png"/><Relationship Id="rId67" Type="http://schemas.openxmlformats.org/officeDocument/2006/relationships/image" Target="../media/image260.png"/><Relationship Id="rId66" Type="http://schemas.openxmlformats.org/officeDocument/2006/relationships/image" Target="../media/image259.png"/><Relationship Id="rId65" Type="http://schemas.openxmlformats.org/officeDocument/2006/relationships/image" Target="../media/image258.png"/><Relationship Id="rId64" Type="http://schemas.openxmlformats.org/officeDocument/2006/relationships/image" Target="../media/image257.png"/><Relationship Id="rId63" Type="http://schemas.openxmlformats.org/officeDocument/2006/relationships/image" Target="../media/image256.png"/><Relationship Id="rId62" Type="http://schemas.openxmlformats.org/officeDocument/2006/relationships/image" Target="../media/image255.png"/><Relationship Id="rId61" Type="http://schemas.openxmlformats.org/officeDocument/2006/relationships/image" Target="../media/image254.png"/><Relationship Id="rId60" Type="http://schemas.openxmlformats.org/officeDocument/2006/relationships/image" Target="../media/image253.png"/><Relationship Id="rId6" Type="http://schemas.openxmlformats.org/officeDocument/2006/relationships/image" Target="../media/image199.png"/><Relationship Id="rId59" Type="http://schemas.openxmlformats.org/officeDocument/2006/relationships/image" Target="../media/image252.png"/><Relationship Id="rId58" Type="http://schemas.openxmlformats.org/officeDocument/2006/relationships/image" Target="../media/image251.png"/><Relationship Id="rId57" Type="http://schemas.openxmlformats.org/officeDocument/2006/relationships/image" Target="../media/image250.png"/><Relationship Id="rId56" Type="http://schemas.openxmlformats.org/officeDocument/2006/relationships/image" Target="../media/image249.png"/><Relationship Id="rId55" Type="http://schemas.openxmlformats.org/officeDocument/2006/relationships/image" Target="../media/image248.png"/><Relationship Id="rId54" Type="http://schemas.openxmlformats.org/officeDocument/2006/relationships/image" Target="../media/image247.png"/><Relationship Id="rId53" Type="http://schemas.openxmlformats.org/officeDocument/2006/relationships/image" Target="../media/image246.png"/><Relationship Id="rId52" Type="http://schemas.openxmlformats.org/officeDocument/2006/relationships/image" Target="../media/image245.png"/><Relationship Id="rId51" Type="http://schemas.openxmlformats.org/officeDocument/2006/relationships/image" Target="../media/image244.png"/><Relationship Id="rId50" Type="http://schemas.openxmlformats.org/officeDocument/2006/relationships/image" Target="../media/image243.png"/><Relationship Id="rId5" Type="http://schemas.openxmlformats.org/officeDocument/2006/relationships/image" Target="../media/image198.png"/><Relationship Id="rId49" Type="http://schemas.openxmlformats.org/officeDocument/2006/relationships/image" Target="../media/image242.png"/><Relationship Id="rId48" Type="http://schemas.openxmlformats.org/officeDocument/2006/relationships/image" Target="../media/image241.png"/><Relationship Id="rId47" Type="http://schemas.openxmlformats.org/officeDocument/2006/relationships/image" Target="../media/image240.png"/><Relationship Id="rId46" Type="http://schemas.openxmlformats.org/officeDocument/2006/relationships/image" Target="../media/image239.png"/><Relationship Id="rId45" Type="http://schemas.openxmlformats.org/officeDocument/2006/relationships/image" Target="../media/image238.png"/><Relationship Id="rId44" Type="http://schemas.openxmlformats.org/officeDocument/2006/relationships/image" Target="../media/image237.png"/><Relationship Id="rId43" Type="http://schemas.openxmlformats.org/officeDocument/2006/relationships/image" Target="../media/image236.png"/><Relationship Id="rId42" Type="http://schemas.openxmlformats.org/officeDocument/2006/relationships/image" Target="../media/image235.png"/><Relationship Id="rId41" Type="http://schemas.openxmlformats.org/officeDocument/2006/relationships/image" Target="../media/image234.png"/><Relationship Id="rId40" Type="http://schemas.openxmlformats.org/officeDocument/2006/relationships/image" Target="../media/image233.png"/><Relationship Id="rId4" Type="http://schemas.openxmlformats.org/officeDocument/2006/relationships/image" Target="../media/image197.png"/><Relationship Id="rId39" Type="http://schemas.openxmlformats.org/officeDocument/2006/relationships/image" Target="../media/image232.png"/><Relationship Id="rId38" Type="http://schemas.openxmlformats.org/officeDocument/2006/relationships/image" Target="../media/image231.png"/><Relationship Id="rId37" Type="http://schemas.openxmlformats.org/officeDocument/2006/relationships/image" Target="../media/image230.png"/><Relationship Id="rId36" Type="http://schemas.openxmlformats.org/officeDocument/2006/relationships/image" Target="../media/image229.png"/><Relationship Id="rId35" Type="http://schemas.openxmlformats.org/officeDocument/2006/relationships/image" Target="../media/image228.png"/><Relationship Id="rId34" Type="http://schemas.openxmlformats.org/officeDocument/2006/relationships/image" Target="../media/image227.png"/><Relationship Id="rId33" Type="http://schemas.openxmlformats.org/officeDocument/2006/relationships/image" Target="../media/image226.png"/><Relationship Id="rId32" Type="http://schemas.openxmlformats.org/officeDocument/2006/relationships/image" Target="../media/image225.png"/><Relationship Id="rId31" Type="http://schemas.openxmlformats.org/officeDocument/2006/relationships/image" Target="../media/image224.png"/><Relationship Id="rId30" Type="http://schemas.openxmlformats.org/officeDocument/2006/relationships/image" Target="../media/image223.png"/><Relationship Id="rId3" Type="http://schemas.openxmlformats.org/officeDocument/2006/relationships/image" Target="../media/image196.png"/><Relationship Id="rId29" Type="http://schemas.openxmlformats.org/officeDocument/2006/relationships/image" Target="../media/image222.png"/><Relationship Id="rId28" Type="http://schemas.openxmlformats.org/officeDocument/2006/relationships/image" Target="../media/image221.png"/><Relationship Id="rId27" Type="http://schemas.openxmlformats.org/officeDocument/2006/relationships/image" Target="../media/image220.png"/><Relationship Id="rId26" Type="http://schemas.openxmlformats.org/officeDocument/2006/relationships/image" Target="../media/image219.png"/><Relationship Id="rId25" Type="http://schemas.openxmlformats.org/officeDocument/2006/relationships/image" Target="../media/image218.png"/><Relationship Id="rId24" Type="http://schemas.openxmlformats.org/officeDocument/2006/relationships/image" Target="../media/image217.png"/><Relationship Id="rId23" Type="http://schemas.openxmlformats.org/officeDocument/2006/relationships/image" Target="../media/image216.png"/><Relationship Id="rId22" Type="http://schemas.openxmlformats.org/officeDocument/2006/relationships/image" Target="../media/image215.png"/><Relationship Id="rId21" Type="http://schemas.openxmlformats.org/officeDocument/2006/relationships/image" Target="../media/image214.png"/><Relationship Id="rId20" Type="http://schemas.openxmlformats.org/officeDocument/2006/relationships/image" Target="../media/image213.png"/><Relationship Id="rId2" Type="http://schemas.openxmlformats.org/officeDocument/2006/relationships/image" Target="../media/image195.png"/><Relationship Id="rId19" Type="http://schemas.openxmlformats.org/officeDocument/2006/relationships/image" Target="../media/image212.png"/><Relationship Id="rId18" Type="http://schemas.openxmlformats.org/officeDocument/2006/relationships/image" Target="../media/image211.png"/><Relationship Id="rId17" Type="http://schemas.openxmlformats.org/officeDocument/2006/relationships/image" Target="../media/image210.png"/><Relationship Id="rId16" Type="http://schemas.openxmlformats.org/officeDocument/2006/relationships/image" Target="../media/image209.png"/><Relationship Id="rId15" Type="http://schemas.openxmlformats.org/officeDocument/2006/relationships/image" Target="../media/image208.png"/><Relationship Id="rId14" Type="http://schemas.openxmlformats.org/officeDocument/2006/relationships/image" Target="../media/image207.png"/><Relationship Id="rId13" Type="http://schemas.openxmlformats.org/officeDocument/2006/relationships/image" Target="../media/image206.png"/><Relationship Id="rId12" Type="http://schemas.openxmlformats.org/officeDocument/2006/relationships/image" Target="../media/image205.png"/><Relationship Id="rId11" Type="http://schemas.openxmlformats.org/officeDocument/2006/relationships/image" Target="../media/image204.png"/><Relationship Id="rId10" Type="http://schemas.openxmlformats.org/officeDocument/2006/relationships/image" Target="../media/image203.png"/><Relationship Id="rId1" Type="http://schemas.openxmlformats.org/officeDocument/2006/relationships/image" Target="../media/image194.jpeg"/></Relationships>
</file>

<file path=ppt/slides/_rels/slide8.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image" Target="../media/image28.png"/><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image" Target="../media/image1.png"/><Relationship Id="rId2" Type="http://schemas.openxmlformats.org/officeDocument/2006/relationships/tags" Target="../tags/tag39.xml"/><Relationship Id="rId11" Type="http://schemas.openxmlformats.org/officeDocument/2006/relationships/slideLayout" Target="../slideLayouts/slideLayout1.xml"/><Relationship Id="rId10" Type="http://schemas.openxmlformats.org/officeDocument/2006/relationships/tags" Target="../tags/tag45.xml"/><Relationship Id="rId1" Type="http://schemas.openxmlformats.org/officeDocument/2006/relationships/image" Target="../media/image27.png"/><Relationship Id="rIdBadge" Type="http://schemas.openxmlformats.org/officeDocument/2006/relationships/image" Target="../media/image29.png"/><Relationship Id="rIdExperimentNotes" Type="http://schemas.openxmlformats.org/officeDocument/2006/relationships/notesSlide" Target="../notesSlides/notesSlide12.xml"/></Relationships>
</file>

<file path=ppt/slides/_rels/slide9.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image" Target="../media/image28.png"/><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image" Target="../media/image1.png"/><Relationship Id="rId2" Type="http://schemas.openxmlformats.org/officeDocument/2006/relationships/tags" Target="../tags/tag39.xml"/><Relationship Id="rId11" Type="http://schemas.openxmlformats.org/officeDocument/2006/relationships/slideLayout" Target="../slideLayouts/slideLayout1.xml"/><Relationship Id="rId10" Type="http://schemas.openxmlformats.org/officeDocument/2006/relationships/tags" Target="../tags/tag45.xml"/><Relationship Id="rId1" Type="http://schemas.openxmlformats.org/officeDocument/2006/relationships/image" Target="../media/image27.png"/><Relationship Id="rIdBadge" Type="http://schemas.openxmlformats.org/officeDocument/2006/relationships/image" Target="../media/image29.png"/><Relationship Id="rIdExperimentNotes" Type="http://schemas.openxmlformats.org/officeDocument/2006/relationships/notesSlide" Target="../notesSlides/notesSlide13.xml"/></Relationships>
</file>

<file path=ppt/slides/_rels/slide10.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image" Target="../media/image28.png"/><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image" Target="../media/image1.png"/><Relationship Id="rId2" Type="http://schemas.openxmlformats.org/officeDocument/2006/relationships/tags" Target="../tags/tag39.xml"/><Relationship Id="rId11" Type="http://schemas.openxmlformats.org/officeDocument/2006/relationships/slideLayout" Target="../slideLayouts/slideLayout1.xml"/><Relationship Id="rId10" Type="http://schemas.openxmlformats.org/officeDocument/2006/relationships/tags" Target="../tags/tag45.xml"/><Relationship Id="rId1" Type="http://schemas.openxmlformats.org/officeDocument/2006/relationships/image" Target="../media/image27.png"/><Relationship Id="rIdBadge" Type="http://schemas.openxmlformats.org/officeDocument/2006/relationships/image" Target="../media/image29.png"/><Relationship Id="rIdExperimentNotes"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7.xml"/><Relationship Id="rId4" Type="http://schemas.openxmlformats.org/officeDocument/2006/relationships/tags" Target="../tags/tag49.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48.xml"/></Relationships>
</file>

<file path=ppt/slides/_rels/slide12.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image" Target="../media/image28.png"/><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image" Target="../media/image1.png"/><Relationship Id="rId2" Type="http://schemas.openxmlformats.org/officeDocument/2006/relationships/tags" Target="../tags/tag39.xml"/><Relationship Id="rId11" Type="http://schemas.openxmlformats.org/officeDocument/2006/relationships/slideLayout" Target="../slideLayouts/slideLayout1.xml"/><Relationship Id="rId10" Type="http://schemas.openxmlformats.org/officeDocument/2006/relationships/tags" Target="../tags/tag45.xml"/><Relationship Id="rId1" Type="http://schemas.openxmlformats.org/officeDocument/2006/relationships/image" Target="../media/image27.png"/><Relationship Id="rIdBadge" Type="http://schemas.openxmlformats.org/officeDocument/2006/relationships/image" Target="../media/image29.png"/><Relationship Id="rIdExperiment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16" name="图片 15" descr="华科大"/>
          <p:cNvPicPr>
            <a:picLocks noChangeAspect="1"/>
          </p:cNvPicPr>
          <p:nvPr>
            <p:custDataLst>
              <p:tags r:id="rId1"/>
            </p:custDataLst>
          </p:nvPr>
        </p:nvPicPr>
        <p:blipFill>
          <a:blip r:embed="rId2"/>
          <a:stretch>
            <a:fillRect/>
          </a:stretch>
        </p:blipFill>
        <p:spPr>
          <a:xfrm>
            <a:off x="0" y="-110490"/>
            <a:ext cx="3847465" cy="1346835"/>
          </a:xfrm>
          <a:prstGeom prst="rect">
            <a:avLst/>
          </a:prstGeom>
        </p:spPr>
      </p:pic>
      <p:pic>
        <p:nvPicPr>
          <p:cNvPr id="4" name="图片 3" descr="D:/图片1.png图片1"/>
          <p:cNvPicPr>
            <a:picLocks noChangeAspect="1"/>
          </p:cNvPicPr>
          <p:nvPr/>
        </p:nvPicPr>
        <p:blipFill>
          <a:blip r:embed="rId3"/>
          <a:srcRect l="10309" r="20218" b="10052"/>
          <a:stretch>
            <a:fillRect/>
          </a:stretch>
        </p:blipFill>
        <p:spPr>
          <a:xfrm>
            <a:off x="3565525" y="0"/>
            <a:ext cx="8626475" cy="6858000"/>
          </a:xfrm>
          <a:prstGeom prst="rect">
            <a:avLst/>
          </a:prstGeom>
        </p:spPr>
      </p:pic>
      <p:sp>
        <p:nvSpPr>
          <p:cNvPr id="5" name="矩形 4"/>
          <p:cNvSpPr/>
          <p:nvPr/>
        </p:nvSpPr>
        <p:spPr>
          <a:xfrm>
            <a:off x="0" y="0"/>
            <a:ext cx="12192000" cy="6858000"/>
          </a:xfrm>
          <a:prstGeom prst="rect">
            <a:avLst/>
          </a:prstGeom>
          <a:gradFill>
            <a:gsLst>
              <a:gs pos="62000">
                <a:srgbClr val="02549D">
                  <a:alpha val="100000"/>
                  <a:lumMod val="96000"/>
                  <a:lumOff val="4000"/>
                </a:srgbClr>
              </a:gs>
              <a:gs pos="6000">
                <a:schemeClr val="accent1">
                  <a:lumMod val="53000"/>
                  <a:lumOff val="47000"/>
                  <a:alpha val="0"/>
                </a:schemeClr>
              </a:gs>
              <a:gs pos="100000">
                <a:srgbClr val="02549D">
                  <a:alpha val="100000"/>
                </a:srgbClr>
              </a:gs>
            </a:gsLst>
            <a:path path="circle">
              <a:fillToRect l="100000" b="100000"/>
            </a:path>
            <a:tileRect t="-100000" r="-10000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en-US" altLang="zh-CN" sz="4000" dirty="0"/>
              <a:t>   </a:t>
            </a:r>
            <a:r>
              <a:rPr lang="zh-CN" altLang="en-US" sz="4000" dirty="0"/>
              <a:t>基于知识图谱与多智能体的神经退行性疾病</a:t>
            </a:r>
            <a:endParaRPr lang="zh-CN" altLang="en-US" sz="4000" dirty="0"/>
          </a:p>
          <a:p>
            <a:r>
              <a:rPr lang="en-US" altLang="zh-CN" sz="4000" dirty="0"/>
              <a:t>   </a:t>
            </a:r>
            <a:r>
              <a:rPr lang="zh-CN" altLang="en-US" sz="4000" dirty="0"/>
              <a:t>辅助诊断研究</a:t>
            </a:r>
            <a:endParaRPr lang="zh-CN" altLang="en-US" sz="4000" dirty="0"/>
          </a:p>
        </p:txBody>
      </p:sp>
      <p:cxnSp>
        <p:nvCxnSpPr>
          <p:cNvPr id="8" name="直接连接符 7"/>
          <p:cNvCxnSpPr/>
          <p:nvPr/>
        </p:nvCxnSpPr>
        <p:spPr>
          <a:xfrm flipV="1">
            <a:off x="504825" y="4109720"/>
            <a:ext cx="6324600" cy="43815"/>
          </a:xfrm>
          <a:prstGeom prst="line">
            <a:avLst/>
          </a:prstGeom>
          <a:ln w="28575" cmpd="sng">
            <a:solidFill>
              <a:schemeClr val="bg1"/>
            </a:solidFill>
            <a:prstDash val="solid"/>
          </a:ln>
        </p:spPr>
        <p:style>
          <a:lnRef idx="2">
            <a:schemeClr val="accent1"/>
          </a:lnRef>
          <a:fillRef idx="0">
            <a:srgbClr val="FFFFFF"/>
          </a:fillRef>
          <a:effectRef idx="0">
            <a:srgbClr val="FFFFFF"/>
          </a:effectRef>
          <a:fontRef idx="minor">
            <a:schemeClr val="tx1"/>
          </a:fontRef>
        </p:style>
      </p:cxnSp>
      <p:sp>
        <p:nvSpPr>
          <p:cNvPr id="15" name="Object 106"/>
          <p:cNvSpPr txBox="1"/>
          <p:nvPr>
            <p:custDataLst>
              <p:tags r:id="rId4"/>
            </p:custDataLst>
          </p:nvPr>
        </p:nvSpPr>
        <p:spPr>
          <a:xfrm>
            <a:off x="1347470" y="4500880"/>
            <a:ext cx="2926080" cy="462280"/>
          </a:xfrm>
          <a:prstGeom prst="rect">
            <a:avLst/>
          </a:prstGeom>
        </p:spPr>
        <p:txBody>
          <a:bodyPr vert="horz" wrap="square" lIns="0" tIns="46800" rIns="0" bIns="46800" rtlCol="0" anchor="t" anchorCtr="0">
            <a:noAutofit/>
          </a:bodyPr>
          <a:lstStyle/>
          <a:p>
            <a:pPr algn="l">
              <a:lnSpc>
                <a:spcPct val="100000"/>
              </a:lnSpc>
            </a:pPr>
            <a:r>
              <a:rPr lang="zh-CN" altLang="en-US"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主讲</a:t>
            </a:r>
            <a:r>
              <a:rPr lang="zh-CN"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人：</a:t>
            </a:r>
            <a:r>
              <a:rPr lang="zh-CN" altLang="en-US"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吴鹏昊</a:t>
            </a:r>
            <a:endParaRPr lang="zh-CN"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Object 106"/>
          <p:cNvSpPr txBox="1"/>
          <p:nvPr>
            <p:custDataLst>
              <p:tags r:id="rId5"/>
            </p:custDataLst>
          </p:nvPr>
        </p:nvSpPr>
        <p:spPr>
          <a:xfrm>
            <a:off x="1347470" y="5610860"/>
            <a:ext cx="4298950" cy="462280"/>
          </a:xfrm>
          <a:prstGeom prst="rect">
            <a:avLst/>
          </a:prstGeom>
        </p:spPr>
        <p:txBody>
          <a:bodyPr vert="horz" wrap="square" lIns="0" tIns="46800" rIns="0" bIns="46800" rtlCol="0" anchor="t" anchorCtr="0">
            <a:noAutofit/>
          </a:bodyPr>
          <a:lstStyle/>
          <a:p>
            <a:pPr algn="l">
              <a:lnSpc>
                <a:spcPct val="100000"/>
              </a:lnSpc>
              <a:buClrTx/>
              <a:buSzTx/>
              <a:buFontTx/>
            </a:pPr>
            <a:r>
              <a:rPr lang="zh-CN"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日期：</a:t>
            </a:r>
            <a:r>
              <a:rPr lang="en-US" altLang="zh-CN"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2026.10.10</a:t>
            </a:r>
            <a:endParaRPr lang="en-US" altLang="zh-CN"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片 12" descr="华科大"/>
          <p:cNvPicPr>
            <a:picLocks noChangeAspect="1"/>
          </p:cNvPicPr>
          <p:nvPr>
            <p:custDataLst>
              <p:tags r:id="rId6"/>
            </p:custDataLst>
          </p:nvPr>
        </p:nvPicPr>
        <p:blipFill>
          <a:blip r:embed="rId2"/>
          <a:stretch>
            <a:fillRect/>
          </a:stretch>
        </p:blipFill>
        <p:spPr>
          <a:xfrm>
            <a:off x="0" y="0"/>
            <a:ext cx="3132455" cy="1096645"/>
          </a:xfrm>
          <a:prstGeom prst="rect">
            <a:avLst/>
          </a:prstGeom>
        </p:spPr>
      </p:pic>
      <p:pic>
        <p:nvPicPr>
          <p:cNvPr id="7" name="图片 6" descr="论文答辩"/>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666750" y="4473575"/>
            <a:ext cx="521335" cy="521335"/>
          </a:xfrm>
          <a:prstGeom prst="rect">
            <a:avLst/>
          </a:prstGeom>
        </p:spPr>
      </p:pic>
      <p:pic>
        <p:nvPicPr>
          <p:cNvPr id="10" name="图片 9" descr="笔记本"/>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666750" y="5547360"/>
            <a:ext cx="515620" cy="515620"/>
          </a:xfrm>
          <a:prstGeom prst="rect">
            <a:avLst/>
          </a:prstGeom>
        </p:spPr>
      </p:pic>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192977" y="954773"/>
            <a:ext cx="2944294" cy="5159802"/>
          </a:xfrm>
          <a:prstGeom prst="roundRect">
            <a:avLst>
              <a:gd name="adj" fmla="val 2475"/>
            </a:avLst>
          </a:prstGeom>
          <a:solidFill>
            <a:srgbClr val="FEFEFE"/>
          </a:solidFill>
          <a:ln w="15875">
            <a:solidFill>
              <a:srgbClr val="D5E5F1"/>
            </a:solidFill>
            <a:prstDash val="solid"/>
          </a:ln>
        </p:spPr>
        <p:txBody>
          <a:bodyPr/>
          <a:p>
            <a:endParaRPr lang="zh-CN" altLang="en-US"/>
          </a:p>
        </p:txBody>
      </p:sp>
      <p:sp>
        <p:nvSpPr>
          <p:cNvPr id="4" name="Shape 1"/>
          <p:cNvSpPr/>
          <p:nvPr/>
        </p:nvSpPr>
        <p:spPr>
          <a:xfrm>
            <a:off x="3253877" y="954773"/>
            <a:ext cx="4941166" cy="5159802"/>
          </a:xfrm>
          <a:prstGeom prst="roundRect">
            <a:avLst>
              <a:gd name="adj" fmla="val 1622"/>
            </a:avLst>
          </a:prstGeom>
          <a:solidFill>
            <a:srgbClr val="FEFEFE"/>
          </a:solidFill>
          <a:ln w="15875">
            <a:solidFill>
              <a:srgbClr val="D5E5F1"/>
            </a:solidFill>
            <a:prstDash val="solid"/>
          </a:ln>
        </p:spPr>
      </p:sp>
      <p:sp>
        <p:nvSpPr>
          <p:cNvPr id="5" name="Shape 2"/>
          <p:cNvSpPr/>
          <p:nvPr/>
        </p:nvSpPr>
        <p:spPr>
          <a:xfrm>
            <a:off x="8311648" y="954773"/>
            <a:ext cx="3709518" cy="5174377"/>
          </a:xfrm>
          <a:prstGeom prst="roundRect">
            <a:avLst>
              <a:gd name="adj" fmla="val 1768"/>
            </a:avLst>
          </a:prstGeom>
          <a:solidFill>
            <a:srgbClr val="FEFEFE"/>
          </a:solidFill>
          <a:ln w="15875">
            <a:solidFill>
              <a:srgbClr val="D5E5F1"/>
            </a:solidFill>
            <a:prstDash val="solid"/>
          </a:ln>
        </p:spPr>
      </p:sp>
      <p:sp>
        <p:nvSpPr>
          <p:cNvPr id="7" name="Shape 4"/>
          <p:cNvSpPr/>
          <p:nvPr/>
        </p:nvSpPr>
        <p:spPr>
          <a:xfrm>
            <a:off x="192977" y="954773"/>
            <a:ext cx="2944294" cy="510150"/>
          </a:xfrm>
          <a:prstGeom prst="roundRect">
            <a:avLst>
              <a:gd name="adj" fmla="val 11429"/>
            </a:avLst>
          </a:prstGeom>
          <a:solidFill>
            <a:srgbClr val="ECF3F9"/>
          </a:solidFill>
          <a:ln w="12700">
            <a:solidFill>
              <a:srgbClr val="ECF3F9">
                <a:alpha val="0"/>
              </a:srgbClr>
            </a:solidFill>
            <a:prstDash val="solid"/>
          </a:ln>
        </p:spPr>
      </p:sp>
      <p:sp>
        <p:nvSpPr>
          <p:cNvPr id="8" name="Shape 5"/>
          <p:cNvSpPr/>
          <p:nvPr/>
        </p:nvSpPr>
        <p:spPr>
          <a:xfrm>
            <a:off x="3253877" y="954773"/>
            <a:ext cx="4941166" cy="510150"/>
          </a:xfrm>
          <a:prstGeom prst="roundRect">
            <a:avLst>
              <a:gd name="adj" fmla="val 11429"/>
            </a:avLst>
          </a:prstGeom>
          <a:solidFill>
            <a:srgbClr val="ECF3F9"/>
          </a:solidFill>
          <a:ln w="12700">
            <a:solidFill>
              <a:srgbClr val="ECF3F9">
                <a:alpha val="0"/>
              </a:srgbClr>
            </a:solidFill>
            <a:prstDash val="solid"/>
          </a:ln>
        </p:spPr>
      </p:sp>
      <p:sp>
        <p:nvSpPr>
          <p:cNvPr id="9" name="Shape 6"/>
          <p:cNvSpPr/>
          <p:nvPr/>
        </p:nvSpPr>
        <p:spPr>
          <a:xfrm>
            <a:off x="3363194" y="1596104"/>
            <a:ext cx="4722530" cy="2091615"/>
          </a:xfrm>
          <a:prstGeom prst="roundRect">
            <a:avLst>
              <a:gd name="adj" fmla="val 2623"/>
            </a:avLst>
          </a:prstGeom>
          <a:solidFill>
            <a:srgbClr val="FEFEFE"/>
          </a:solidFill>
          <a:ln w="15875">
            <a:solidFill>
              <a:srgbClr val="D0E2F0"/>
            </a:solidFill>
            <a:prstDash val="solid"/>
          </a:ln>
        </p:spPr>
      </p:sp>
      <p:sp>
        <p:nvSpPr>
          <p:cNvPr id="10" name="Shape 7"/>
          <p:cNvSpPr/>
          <p:nvPr/>
        </p:nvSpPr>
        <p:spPr>
          <a:xfrm>
            <a:off x="3363194" y="3833476"/>
            <a:ext cx="4722530" cy="2200932"/>
          </a:xfrm>
          <a:prstGeom prst="roundRect">
            <a:avLst>
              <a:gd name="adj" fmla="val 3642"/>
            </a:avLst>
          </a:prstGeom>
          <a:solidFill>
            <a:srgbClr val="FBFDFE"/>
          </a:solidFill>
          <a:ln w="15875">
            <a:solidFill>
              <a:srgbClr val="D0E2F0"/>
            </a:solidFill>
            <a:prstDash val="solid"/>
          </a:ln>
        </p:spPr>
      </p:sp>
      <p:sp>
        <p:nvSpPr>
          <p:cNvPr id="11" name="Shape 8"/>
          <p:cNvSpPr/>
          <p:nvPr/>
        </p:nvSpPr>
        <p:spPr>
          <a:xfrm>
            <a:off x="8311648" y="954773"/>
            <a:ext cx="3709518" cy="510150"/>
          </a:xfrm>
          <a:prstGeom prst="roundRect">
            <a:avLst>
              <a:gd name="adj" fmla="val 10000"/>
            </a:avLst>
          </a:prstGeom>
          <a:solidFill>
            <a:srgbClr val="EDF4FA"/>
          </a:solidFill>
          <a:ln w="12700">
            <a:solidFill>
              <a:srgbClr val="EDF4FA">
                <a:alpha val="0"/>
              </a:srgbClr>
            </a:solidFill>
            <a:prstDash val="solid"/>
          </a:ln>
        </p:spPr>
      </p:sp>
      <p:sp>
        <p:nvSpPr>
          <p:cNvPr id="12" name="Shape 9"/>
          <p:cNvSpPr/>
          <p:nvPr/>
        </p:nvSpPr>
        <p:spPr>
          <a:xfrm>
            <a:off x="9047722" y="3585689"/>
            <a:ext cx="2251947" cy="590316"/>
          </a:xfrm>
          <a:prstGeom prst="roundRect">
            <a:avLst>
              <a:gd name="adj" fmla="val 13580"/>
            </a:avLst>
          </a:prstGeom>
          <a:solidFill>
            <a:srgbClr val="ECF3F9"/>
          </a:solidFill>
          <a:ln w="15875">
            <a:solidFill>
              <a:srgbClr val="8FBBD9"/>
            </a:solidFill>
            <a:prstDash val="solid"/>
          </a:ln>
        </p:spPr>
      </p:sp>
      <p:pic>
        <p:nvPicPr>
          <p:cNvPr id="14" name="Image 1" descr="image"/>
          <p:cNvPicPr>
            <a:picLocks noChangeAspect="1"/>
          </p:cNvPicPr>
          <p:nvPr/>
        </p:nvPicPr>
        <p:blipFill>
          <a:blip r:embed="rId1"/>
          <a:stretch>
            <a:fillRect/>
          </a:stretch>
        </p:blipFill>
        <p:spPr>
          <a:xfrm>
            <a:off x="8442830" y="1698134"/>
            <a:ext cx="1071315" cy="1013012"/>
          </a:xfrm>
          <a:prstGeom prst="rect">
            <a:avLst/>
          </a:prstGeom>
        </p:spPr>
      </p:pic>
      <p:pic>
        <p:nvPicPr>
          <p:cNvPr id="15" name="Image 2" descr="image"/>
          <p:cNvPicPr>
            <a:picLocks noChangeAspect="1"/>
          </p:cNvPicPr>
          <p:nvPr/>
        </p:nvPicPr>
        <p:blipFill>
          <a:blip r:embed="rId2"/>
          <a:stretch>
            <a:fillRect/>
          </a:stretch>
        </p:blipFill>
        <p:spPr>
          <a:xfrm>
            <a:off x="9645326" y="1698134"/>
            <a:ext cx="1071315" cy="969285"/>
          </a:xfrm>
          <a:prstGeom prst="rect">
            <a:avLst/>
          </a:prstGeom>
        </p:spPr>
      </p:pic>
      <p:pic>
        <p:nvPicPr>
          <p:cNvPr id="16" name="Image 3" descr="image"/>
          <p:cNvPicPr>
            <a:picLocks noChangeAspect="1"/>
          </p:cNvPicPr>
          <p:nvPr/>
        </p:nvPicPr>
        <p:blipFill>
          <a:blip r:embed="rId3"/>
          <a:stretch>
            <a:fillRect/>
          </a:stretch>
        </p:blipFill>
        <p:spPr>
          <a:xfrm>
            <a:off x="10840534" y="1698134"/>
            <a:ext cx="1071315" cy="969285"/>
          </a:xfrm>
          <a:prstGeom prst="rect">
            <a:avLst/>
          </a:prstGeom>
        </p:spPr>
      </p:pic>
      <p:sp>
        <p:nvSpPr>
          <p:cNvPr id="17" name="Shape 11"/>
          <p:cNvSpPr/>
          <p:nvPr/>
        </p:nvSpPr>
        <p:spPr>
          <a:xfrm>
            <a:off x="207553" y="991212"/>
            <a:ext cx="553877" cy="466423"/>
          </a:xfrm>
          <a:prstGeom prst="roundRect">
            <a:avLst>
              <a:gd name="adj" fmla="val 7812"/>
            </a:avLst>
          </a:prstGeom>
          <a:solidFill>
            <a:srgbClr val="39638A"/>
          </a:solidFill>
          <a:ln w="12700">
            <a:solidFill>
              <a:srgbClr val="39638A">
                <a:alpha val="0"/>
              </a:srgbClr>
            </a:solidFill>
            <a:prstDash val="solid"/>
          </a:ln>
        </p:spPr>
      </p:sp>
      <p:pic>
        <p:nvPicPr>
          <p:cNvPr id="18" name="Image 4" descr="image"/>
          <p:cNvPicPr>
            <a:picLocks noChangeAspect="1"/>
          </p:cNvPicPr>
          <p:nvPr/>
        </p:nvPicPr>
        <p:blipFill>
          <a:blip r:embed="rId4"/>
          <a:stretch>
            <a:fillRect/>
          </a:stretch>
        </p:blipFill>
        <p:spPr>
          <a:xfrm>
            <a:off x="3253877" y="969349"/>
            <a:ext cx="568453" cy="510150"/>
          </a:xfrm>
          <a:prstGeom prst="rect">
            <a:avLst/>
          </a:prstGeom>
        </p:spPr>
      </p:pic>
      <p:sp>
        <p:nvSpPr>
          <p:cNvPr id="19" name="Shape 12"/>
          <p:cNvSpPr/>
          <p:nvPr/>
        </p:nvSpPr>
        <p:spPr>
          <a:xfrm>
            <a:off x="3370482" y="1588816"/>
            <a:ext cx="4707955" cy="451847"/>
          </a:xfrm>
          <a:prstGeom prst="roundRect">
            <a:avLst>
              <a:gd name="adj" fmla="val 16129"/>
            </a:avLst>
          </a:prstGeom>
          <a:solidFill>
            <a:srgbClr val="F4F8FC"/>
          </a:solidFill>
          <a:ln w="12700">
            <a:solidFill>
              <a:srgbClr val="F4F8FC">
                <a:alpha val="0"/>
              </a:srgbClr>
            </a:solidFill>
            <a:prstDash val="solid"/>
          </a:ln>
        </p:spPr>
      </p:sp>
      <p:pic>
        <p:nvPicPr>
          <p:cNvPr id="24" name="Image 5" descr="image"/>
          <p:cNvPicPr>
            <a:picLocks noChangeAspect="1"/>
          </p:cNvPicPr>
          <p:nvPr/>
        </p:nvPicPr>
        <p:blipFill>
          <a:blip r:embed="rId5"/>
          <a:stretch>
            <a:fillRect/>
          </a:stretch>
        </p:blipFill>
        <p:spPr>
          <a:xfrm>
            <a:off x="3363194" y="3811612"/>
            <a:ext cx="4729818" cy="692346"/>
          </a:xfrm>
          <a:prstGeom prst="rect">
            <a:avLst/>
          </a:prstGeom>
        </p:spPr>
      </p:pic>
      <p:sp>
        <p:nvSpPr>
          <p:cNvPr id="26" name="Shape 18"/>
          <p:cNvSpPr/>
          <p:nvPr/>
        </p:nvSpPr>
        <p:spPr>
          <a:xfrm>
            <a:off x="535506" y="4988601"/>
            <a:ext cx="641331" cy="0"/>
          </a:xfrm>
          <a:prstGeom prst="line">
            <a:avLst/>
          </a:prstGeom>
          <a:noFill/>
          <a:ln w="15875">
            <a:solidFill>
              <a:srgbClr val="C8DCEB"/>
            </a:solidFill>
            <a:prstDash val="solid"/>
          </a:ln>
        </p:spPr>
      </p:sp>
      <p:sp>
        <p:nvSpPr>
          <p:cNvPr id="28" name="Shape 20"/>
          <p:cNvSpPr/>
          <p:nvPr/>
        </p:nvSpPr>
        <p:spPr>
          <a:xfrm>
            <a:off x="2240865" y="4988601"/>
            <a:ext cx="517438" cy="0"/>
          </a:xfrm>
          <a:prstGeom prst="line">
            <a:avLst/>
          </a:prstGeom>
          <a:noFill/>
          <a:ln w="15875">
            <a:solidFill>
              <a:srgbClr val="C8DCEB"/>
            </a:solidFill>
            <a:prstDash val="solid"/>
          </a:ln>
        </p:spPr>
      </p:sp>
      <p:pic>
        <p:nvPicPr>
          <p:cNvPr id="30" name="Image 6" descr="image"/>
          <p:cNvPicPr>
            <a:picLocks noChangeAspect="1"/>
          </p:cNvPicPr>
          <p:nvPr/>
        </p:nvPicPr>
        <p:blipFill>
          <a:blip r:embed="rId6"/>
          <a:stretch>
            <a:fillRect/>
          </a:stretch>
        </p:blipFill>
        <p:spPr>
          <a:xfrm>
            <a:off x="8311648" y="969349"/>
            <a:ext cx="583028" cy="517438"/>
          </a:xfrm>
          <a:prstGeom prst="rect">
            <a:avLst/>
          </a:prstGeom>
        </p:spPr>
      </p:pic>
      <p:pic>
        <p:nvPicPr>
          <p:cNvPr id="34" name="Image 7" descr="salvage"/>
          <p:cNvPicPr>
            <a:picLocks noChangeAspect="1"/>
          </p:cNvPicPr>
          <p:nvPr/>
        </p:nvPicPr>
        <p:blipFill>
          <a:blip r:embed="rId7"/>
          <a:stretch>
            <a:fillRect/>
          </a:stretch>
        </p:blipFill>
        <p:spPr>
          <a:xfrm>
            <a:off x="8442830" y="1107818"/>
            <a:ext cx="313378" cy="269651"/>
          </a:xfrm>
          <a:prstGeom prst="rect">
            <a:avLst/>
          </a:prstGeom>
        </p:spPr>
      </p:pic>
      <p:pic>
        <p:nvPicPr>
          <p:cNvPr id="35" name="Image 8" descr="icon"/>
          <p:cNvPicPr>
            <a:picLocks noChangeAspect="1"/>
          </p:cNvPicPr>
          <p:nvPr/>
        </p:nvPicPr>
        <p:blipFill>
          <a:blip r:embed="rId8"/>
          <a:stretch>
            <a:fillRect/>
          </a:stretch>
        </p:blipFill>
        <p:spPr>
          <a:xfrm>
            <a:off x="10549020" y="2973509"/>
            <a:ext cx="896406" cy="575741"/>
          </a:xfrm>
          <a:prstGeom prst="rect">
            <a:avLst/>
          </a:prstGeom>
        </p:spPr>
      </p:pic>
      <p:pic>
        <p:nvPicPr>
          <p:cNvPr id="36" name="Image 9" descr="icon"/>
          <p:cNvPicPr>
            <a:picLocks noChangeAspect="1"/>
          </p:cNvPicPr>
          <p:nvPr/>
        </p:nvPicPr>
        <p:blipFill>
          <a:blip r:embed="rId9"/>
          <a:stretch>
            <a:fillRect/>
          </a:stretch>
        </p:blipFill>
        <p:spPr>
          <a:xfrm>
            <a:off x="8901965" y="2973509"/>
            <a:ext cx="889118" cy="568453"/>
          </a:xfrm>
          <a:prstGeom prst="rect">
            <a:avLst/>
          </a:prstGeom>
        </p:spPr>
      </p:pic>
      <p:sp>
        <p:nvSpPr>
          <p:cNvPr id="37" name="image2ppt-measured-path-1"/>
          <p:cNvSpPr/>
          <p:nvPr/>
        </p:nvSpPr>
        <p:spPr>
          <a:xfrm>
            <a:off x="10105779" y="2988116"/>
            <a:ext cx="127536" cy="528369"/>
          </a:xfrm>
          <a:custGeom>
            <a:avLst/>
            <a:gdLst/>
            <a:ahLst/>
            <a:cxnLst/>
            <a:rect l="l" t="t" r="r" b="b"/>
            <a:pathLst>
              <a:path w="127536" h="528369" fill="none">
                <a:moveTo>
                  <a:pt x="64277" y="0"/>
                </a:moveTo>
                <a:lnTo>
                  <a:pt x="64277" y="419063"/>
                </a:lnTo>
              </a:path>
              <a:path w="127536" h="528369" stroke="0">
                <a:moveTo>
                  <a:pt x="66195" y="528369"/>
                </a:moveTo>
                <a:lnTo>
                  <a:pt x="0" y="419416"/>
                </a:lnTo>
                <a:lnTo>
                  <a:pt x="127536" y="418710"/>
                </a:lnTo>
                <a:close/>
              </a:path>
            </a:pathLst>
          </a:custGeom>
          <a:solidFill>
            <a:srgbClr val="0F7081"/>
          </a:solidFill>
          <a:ln w="36440">
            <a:solidFill>
              <a:srgbClr val="0F7081"/>
            </a:solidFill>
            <a:prstDash val="solid"/>
          </a:ln>
        </p:spPr>
      </p:sp>
      <p:pic>
        <p:nvPicPr>
          <p:cNvPr id="47" name="Image 14" descr="image"/>
          <p:cNvPicPr>
            <a:picLocks noChangeAspect="1"/>
          </p:cNvPicPr>
          <p:nvPr/>
        </p:nvPicPr>
        <p:blipFill>
          <a:blip r:embed="rId10"/>
          <a:stretch>
            <a:fillRect/>
          </a:stretch>
        </p:blipFill>
        <p:spPr>
          <a:xfrm>
            <a:off x="295007" y="5159866"/>
            <a:ext cx="2674643" cy="947421"/>
          </a:xfrm>
          <a:prstGeom prst="rect">
            <a:avLst/>
          </a:prstGeom>
        </p:spPr>
      </p:pic>
      <p:pic>
        <p:nvPicPr>
          <p:cNvPr id="57" name="Image 24" descr="icon"/>
          <p:cNvPicPr>
            <a:picLocks noChangeAspect="1"/>
          </p:cNvPicPr>
          <p:nvPr/>
        </p:nvPicPr>
        <p:blipFill>
          <a:blip r:embed="rId11"/>
          <a:stretch>
            <a:fillRect/>
          </a:stretch>
        </p:blipFill>
        <p:spPr>
          <a:xfrm>
            <a:off x="8763495" y="1865755"/>
            <a:ext cx="451847" cy="437271"/>
          </a:xfrm>
          <a:prstGeom prst="rect">
            <a:avLst/>
          </a:prstGeom>
        </p:spPr>
      </p:pic>
      <p:pic>
        <p:nvPicPr>
          <p:cNvPr id="58" name="Image 25" descr="icon"/>
          <p:cNvPicPr>
            <a:picLocks noChangeAspect="1"/>
          </p:cNvPicPr>
          <p:nvPr/>
        </p:nvPicPr>
        <p:blipFill>
          <a:blip r:embed="rId12"/>
          <a:stretch>
            <a:fillRect/>
          </a:stretch>
        </p:blipFill>
        <p:spPr>
          <a:xfrm>
            <a:off x="9958704" y="1865755"/>
            <a:ext cx="451847" cy="400832"/>
          </a:xfrm>
          <a:prstGeom prst="rect">
            <a:avLst/>
          </a:prstGeom>
        </p:spPr>
      </p:pic>
      <p:pic>
        <p:nvPicPr>
          <p:cNvPr id="59" name="Image 26" descr="icon"/>
          <p:cNvPicPr>
            <a:picLocks noChangeAspect="1"/>
          </p:cNvPicPr>
          <p:nvPr/>
        </p:nvPicPr>
        <p:blipFill>
          <a:blip r:embed="rId13"/>
          <a:stretch>
            <a:fillRect/>
          </a:stretch>
        </p:blipFill>
        <p:spPr>
          <a:xfrm>
            <a:off x="11168488" y="1865755"/>
            <a:ext cx="429983" cy="408120"/>
          </a:xfrm>
          <a:prstGeom prst="rect">
            <a:avLst/>
          </a:prstGeom>
        </p:spPr>
      </p:pic>
      <p:pic>
        <p:nvPicPr>
          <p:cNvPr id="60" name="Image 27" descr="icon"/>
          <p:cNvPicPr>
            <a:picLocks noChangeAspect="1"/>
          </p:cNvPicPr>
          <p:nvPr/>
        </p:nvPicPr>
        <p:blipFill>
          <a:blip r:embed="rId14"/>
          <a:stretch>
            <a:fillRect/>
          </a:stretch>
        </p:blipFill>
        <p:spPr>
          <a:xfrm>
            <a:off x="9295509" y="3680431"/>
            <a:ext cx="437271" cy="415408"/>
          </a:xfrm>
          <a:prstGeom prst="rect">
            <a:avLst/>
          </a:prstGeom>
        </p:spPr>
      </p:pic>
      <p:pic>
        <p:nvPicPr>
          <p:cNvPr id="61" name="Image 28" descr="icon"/>
          <p:cNvPicPr>
            <a:picLocks noChangeAspect="1"/>
          </p:cNvPicPr>
          <p:nvPr/>
        </p:nvPicPr>
        <p:blipFill>
          <a:blip r:embed="rId15"/>
          <a:stretch>
            <a:fillRect/>
          </a:stretch>
        </p:blipFill>
        <p:spPr>
          <a:xfrm>
            <a:off x="3501664" y="3906355"/>
            <a:ext cx="364393" cy="306090"/>
          </a:xfrm>
          <a:prstGeom prst="rect">
            <a:avLst/>
          </a:prstGeom>
        </p:spPr>
      </p:pic>
      <p:pic>
        <p:nvPicPr>
          <p:cNvPr id="62" name="Image 29" descr="icon"/>
          <p:cNvPicPr>
            <a:picLocks noChangeAspect="1"/>
          </p:cNvPicPr>
          <p:nvPr/>
        </p:nvPicPr>
        <p:blipFill>
          <a:blip r:embed="rId16"/>
          <a:stretch>
            <a:fillRect/>
          </a:stretch>
        </p:blipFill>
        <p:spPr>
          <a:xfrm>
            <a:off x="3508951" y="1683559"/>
            <a:ext cx="313378" cy="284226"/>
          </a:xfrm>
          <a:prstGeom prst="rect">
            <a:avLst/>
          </a:prstGeom>
        </p:spPr>
      </p:pic>
      <p:pic>
        <p:nvPicPr>
          <p:cNvPr id="63" name="Image 30" descr="icon"/>
          <p:cNvPicPr>
            <a:picLocks noChangeAspect="1"/>
          </p:cNvPicPr>
          <p:nvPr/>
        </p:nvPicPr>
        <p:blipFill>
          <a:blip r:embed="rId17"/>
          <a:stretch>
            <a:fillRect/>
          </a:stretch>
        </p:blipFill>
        <p:spPr>
          <a:xfrm>
            <a:off x="1315307" y="4831912"/>
            <a:ext cx="284226" cy="291514"/>
          </a:xfrm>
          <a:prstGeom prst="rect">
            <a:avLst/>
          </a:prstGeom>
        </p:spPr>
      </p:pic>
      <p:pic>
        <p:nvPicPr>
          <p:cNvPr id="64" name="Image 31" descr="icon"/>
          <p:cNvPicPr>
            <a:picLocks noChangeAspect="1"/>
          </p:cNvPicPr>
          <p:nvPr/>
        </p:nvPicPr>
        <p:blipFill>
          <a:blip r:embed="rId18"/>
          <a:stretch>
            <a:fillRect/>
          </a:stretch>
        </p:blipFill>
        <p:spPr>
          <a:xfrm>
            <a:off x="11081033" y="2696571"/>
            <a:ext cx="225924" cy="233211"/>
          </a:xfrm>
          <a:prstGeom prst="rect">
            <a:avLst/>
          </a:prstGeom>
        </p:spPr>
      </p:pic>
      <p:pic>
        <p:nvPicPr>
          <p:cNvPr id="65" name="Image 32" descr="icon"/>
          <p:cNvPicPr>
            <a:picLocks noChangeAspect="1"/>
          </p:cNvPicPr>
          <p:nvPr/>
        </p:nvPicPr>
        <p:blipFill>
          <a:blip r:embed="rId19"/>
          <a:stretch>
            <a:fillRect/>
          </a:stretch>
        </p:blipFill>
        <p:spPr>
          <a:xfrm>
            <a:off x="8632314" y="2703858"/>
            <a:ext cx="204060" cy="233211"/>
          </a:xfrm>
          <a:prstGeom prst="rect">
            <a:avLst/>
          </a:prstGeom>
        </p:spPr>
      </p:pic>
      <p:pic>
        <p:nvPicPr>
          <p:cNvPr id="66" name="Image 33" descr="icon"/>
          <p:cNvPicPr>
            <a:picLocks noChangeAspect="1"/>
          </p:cNvPicPr>
          <p:nvPr/>
        </p:nvPicPr>
        <p:blipFill>
          <a:blip r:embed="rId20"/>
          <a:stretch>
            <a:fillRect/>
          </a:stretch>
        </p:blipFill>
        <p:spPr>
          <a:xfrm>
            <a:off x="9856674" y="2703858"/>
            <a:ext cx="225924" cy="225924"/>
          </a:xfrm>
          <a:prstGeom prst="rect">
            <a:avLst/>
          </a:prstGeom>
        </p:spPr>
      </p:pic>
      <p:sp>
        <p:nvSpPr>
          <p:cNvPr id="70" name="Text 32"/>
          <p:cNvSpPr txBox="1"/>
          <p:nvPr/>
        </p:nvSpPr>
        <p:spPr>
          <a:xfrm>
            <a:off x="316871" y="1085818"/>
            <a:ext cx="298802" cy="277212"/>
          </a:xfrm>
          <a:prstGeom prst="rect">
            <a:avLst/>
          </a:prstGeom>
          <a:noFill/>
        </p:spPr>
        <p:txBody>
          <a:bodyPr wrap="none" lIns="0" tIns="0" rIns="0" bIns="0" rtlCol="0" anchor="ctr"/>
          <a:lstStyle/>
          <a:p>
            <a:pPr marL="0" indent="0" algn="ctr">
              <a:buNone/>
            </a:pPr>
            <a:r>
              <a:rPr lang="en-US" sz="1920" b="1" dirty="0">
                <a:solidFill>
                  <a:srgbClr val="FFFFFF"/>
                </a:solidFill>
                <a:latin typeface="Arial" panose="020B0604020202020204" pitchFamily="34" charset="0"/>
                <a:ea typeface="Arial" panose="020B0604020202020204" pitchFamily="34" charset="-122"/>
                <a:cs typeface="Arial" panose="020B0604020202020204" pitchFamily="34" charset="-120"/>
              </a:rPr>
              <a:t>01</a:t>
            </a:r>
            <a:endParaRPr lang="en-US" sz="1920" dirty="0"/>
          </a:p>
        </p:txBody>
      </p:sp>
      <p:sp>
        <p:nvSpPr>
          <p:cNvPr id="71" name="Text 33"/>
          <p:cNvSpPr txBox="1"/>
          <p:nvPr/>
        </p:nvSpPr>
        <p:spPr>
          <a:xfrm>
            <a:off x="921763" y="1049378"/>
            <a:ext cx="1654617" cy="342803"/>
          </a:xfrm>
          <a:prstGeom prst="rect">
            <a:avLst/>
          </a:prstGeom>
          <a:noFill/>
        </p:spPr>
        <p:txBody>
          <a:bodyPr wrap="none" lIns="0" tIns="0" rIns="0" bIns="0" rtlCol="0" anchor="ctr"/>
          <a:lstStyle/>
          <a:p>
            <a:pPr marL="0" indent="0" algn="l">
              <a:buNone/>
            </a:pPr>
            <a:r>
              <a:rPr lang="en-US" sz="1920" b="1" dirty="0">
                <a:solidFill>
                  <a:srgbClr val="071A3D"/>
                </a:solidFill>
                <a:latin typeface="微软雅黑" panose="020B0503020204020204" pitchFamily="34" charset="-122"/>
                <a:ea typeface="微软雅黑" panose="020B0503020204020204" pitchFamily="34" charset="-122"/>
                <a:cs typeface="微软雅黑" panose="020B0503020204020204" pitchFamily="34" charset="-120"/>
              </a:rPr>
              <a:t>疾病负担沉重</a:t>
            </a:r>
            <a:endParaRPr lang="en-US" sz="1920" dirty="0"/>
          </a:p>
        </p:txBody>
      </p:sp>
      <p:sp>
        <p:nvSpPr>
          <p:cNvPr id="74" name="Text 36"/>
          <p:cNvSpPr txBox="1"/>
          <p:nvPr/>
        </p:nvSpPr>
        <p:spPr>
          <a:xfrm>
            <a:off x="1665124" y="4875503"/>
            <a:ext cx="480998" cy="211621"/>
          </a:xfrm>
          <a:prstGeom prst="rect">
            <a:avLst/>
          </a:prstGeom>
          <a:noFill/>
        </p:spPr>
        <p:txBody>
          <a:bodyPr wrap="none" lIns="0" tIns="0" rIns="0" bIns="0" rtlCol="0" anchor="ctr"/>
          <a:lstStyle/>
          <a:p>
            <a:pPr marL="0" indent="0" algn="ctr">
              <a:buNone/>
            </a:pPr>
            <a:r>
              <a:rPr lang="en-US" sz="1300" dirty="0">
                <a:solidFill>
                  <a:srgbClr val="5E7B9A"/>
                </a:solidFill>
                <a:latin typeface="Arial" panose="020B0604020202020204" pitchFamily="34" charset="0"/>
                <a:ea typeface="Arial" panose="020B0604020202020204" pitchFamily="34" charset="-122"/>
                <a:cs typeface="Arial" panose="020B0604020202020204" pitchFamily="34" charset="-120"/>
              </a:rPr>
              <a:t>WHO</a:t>
            </a:r>
            <a:endParaRPr lang="en-US" sz="1300" dirty="0"/>
          </a:p>
        </p:txBody>
      </p:sp>
      <p:sp>
        <p:nvSpPr>
          <p:cNvPr id="75" name="Text 37"/>
          <p:cNvSpPr txBox="1"/>
          <p:nvPr/>
        </p:nvSpPr>
        <p:spPr>
          <a:xfrm>
            <a:off x="3363194" y="1042091"/>
            <a:ext cx="349817" cy="350091"/>
          </a:xfrm>
          <a:prstGeom prst="rect">
            <a:avLst/>
          </a:prstGeom>
          <a:noFill/>
        </p:spPr>
        <p:txBody>
          <a:bodyPr wrap="none" lIns="0" tIns="0" rIns="0" bIns="0" rtlCol="0" anchor="ctr"/>
          <a:lstStyle/>
          <a:p>
            <a:pPr marL="0" indent="0" algn="ctr">
              <a:buNone/>
            </a:pPr>
            <a:r>
              <a:rPr lang="en-US" sz="1920" b="1" dirty="0">
                <a:solidFill>
                  <a:srgbClr val="FFFFFF"/>
                </a:solidFill>
                <a:latin typeface="Arial" panose="020B0604020202020204" pitchFamily="34" charset="0"/>
                <a:ea typeface="Arial" panose="020B0604020202020204" pitchFamily="34" charset="-122"/>
                <a:cs typeface="Arial" panose="020B0604020202020204" pitchFamily="34" charset="-120"/>
              </a:rPr>
              <a:t>02</a:t>
            </a:r>
            <a:endParaRPr lang="en-US" sz="1920" dirty="0"/>
          </a:p>
        </p:txBody>
      </p:sp>
      <p:sp>
        <p:nvSpPr>
          <p:cNvPr id="76" name="Text 38"/>
          <p:cNvSpPr txBox="1"/>
          <p:nvPr/>
        </p:nvSpPr>
        <p:spPr>
          <a:xfrm>
            <a:off x="3924359" y="1042091"/>
            <a:ext cx="2405266" cy="350091"/>
          </a:xfrm>
          <a:prstGeom prst="rect">
            <a:avLst/>
          </a:prstGeom>
          <a:noFill/>
        </p:spPr>
        <p:txBody>
          <a:bodyPr wrap="none" lIns="0" tIns="0" rIns="0" bIns="0" rtlCol="0" anchor="ctr"/>
          <a:lstStyle/>
          <a:p>
            <a:pPr marL="0" indent="0" algn="l">
              <a:buNone/>
            </a:pPr>
            <a:r>
              <a:rPr lang="en-US" sz="1920" b="1" dirty="0">
                <a:solidFill>
                  <a:srgbClr val="071A3D"/>
                </a:solidFill>
                <a:latin typeface="微软雅黑" panose="020B0503020204020204" pitchFamily="34" charset="-122"/>
                <a:ea typeface="微软雅黑" panose="020B0503020204020204" pitchFamily="34" charset="-122"/>
                <a:cs typeface="微软雅黑" panose="020B0503020204020204" pitchFamily="34" charset="-120"/>
              </a:rPr>
              <a:t>诊断面临双重复杂性</a:t>
            </a:r>
            <a:endParaRPr lang="en-US" sz="1920" dirty="0"/>
          </a:p>
        </p:txBody>
      </p:sp>
      <p:sp>
        <p:nvSpPr>
          <p:cNvPr id="77" name="Text 39"/>
          <p:cNvSpPr txBox="1"/>
          <p:nvPr/>
        </p:nvSpPr>
        <p:spPr>
          <a:xfrm>
            <a:off x="3960799" y="1676134"/>
            <a:ext cx="1508586" cy="313651"/>
          </a:xfrm>
          <a:prstGeom prst="rect">
            <a:avLst/>
          </a:prstGeom>
          <a:noFill/>
        </p:spPr>
        <p:txBody>
          <a:bodyPr wrap="none" lIns="0" tIns="0" rIns="0" bIns="0" rtlCol="0" anchor="ctr"/>
          <a:lstStyle/>
          <a:p>
            <a:pPr marL="0" indent="0" algn="ctr">
              <a:buNone/>
            </a:pPr>
            <a:r>
              <a:rPr lang="en-US" sz="1650" b="1" dirty="0">
                <a:solidFill>
                  <a:srgbClr val="071A3D"/>
                </a:solidFill>
                <a:latin typeface="微软雅黑" panose="020B0503020204020204" pitchFamily="34" charset="-122"/>
                <a:ea typeface="微软雅黑" panose="020B0503020204020204" pitchFamily="34" charset="-122"/>
                <a:cs typeface="微软雅黑" panose="020B0503020204020204" pitchFamily="34" charset="-120"/>
              </a:rPr>
              <a:t>多模态患者信息</a:t>
            </a:r>
            <a:endParaRPr lang="en-US" sz="1650" dirty="0"/>
          </a:p>
        </p:txBody>
      </p:sp>
      <p:sp>
        <p:nvSpPr>
          <p:cNvPr id="78" name="Text 40"/>
          <p:cNvSpPr txBox="1"/>
          <p:nvPr/>
        </p:nvSpPr>
        <p:spPr>
          <a:xfrm>
            <a:off x="8996707" y="1049378"/>
            <a:ext cx="619741" cy="342803"/>
          </a:xfrm>
          <a:prstGeom prst="rect">
            <a:avLst/>
          </a:prstGeom>
          <a:noFill/>
        </p:spPr>
        <p:txBody>
          <a:bodyPr wrap="none" lIns="0" tIns="0" rIns="0" bIns="0" rtlCol="0" anchor="ctr"/>
          <a:lstStyle/>
          <a:p>
            <a:pPr marL="0" indent="0" algn="l">
              <a:buNone/>
            </a:pPr>
            <a:r>
              <a:rPr lang="en-US" sz="1920" b="1" dirty="0">
                <a:solidFill>
                  <a:srgbClr val="071A3D"/>
                </a:solidFill>
                <a:latin typeface="微软雅黑" panose="020B0503020204020204" pitchFamily="34" charset="-122"/>
                <a:ea typeface="微软雅黑" panose="020B0503020204020204" pitchFamily="34" charset="-122"/>
                <a:cs typeface="微软雅黑" panose="020B0503020204020204" pitchFamily="34" charset="-120"/>
              </a:rPr>
              <a:t>智能</a:t>
            </a:r>
            <a:endParaRPr lang="en-US" sz="1920" dirty="0"/>
          </a:p>
        </p:txBody>
      </p:sp>
      <p:sp>
        <p:nvSpPr>
          <p:cNvPr id="79" name="Text 41"/>
          <p:cNvSpPr txBox="1"/>
          <p:nvPr/>
        </p:nvSpPr>
        <p:spPr>
          <a:xfrm>
            <a:off x="9499569" y="1049378"/>
            <a:ext cx="1873252" cy="342803"/>
          </a:xfrm>
          <a:prstGeom prst="rect">
            <a:avLst/>
          </a:prstGeom>
          <a:noFill/>
        </p:spPr>
        <p:txBody>
          <a:bodyPr wrap="none" lIns="0" tIns="0" rIns="0" bIns="0" rtlCol="0" anchor="ctr"/>
          <a:lstStyle/>
          <a:p>
            <a:pPr marL="0" indent="0" algn="l">
              <a:buNone/>
            </a:pPr>
            <a:r>
              <a:rPr lang="en-US" sz="1920" b="1" dirty="0">
                <a:solidFill>
                  <a:srgbClr val="071A3D"/>
                </a:solidFill>
                <a:latin typeface="微软雅黑" panose="020B0503020204020204" pitchFamily="34" charset="-122"/>
                <a:ea typeface="微软雅黑" panose="020B0503020204020204" pitchFamily="34" charset="-122"/>
                <a:cs typeface="微软雅黑" panose="020B0503020204020204" pitchFamily="34" charset="-120"/>
              </a:rPr>
              <a:t>辅助诊疗新途径</a:t>
            </a:r>
            <a:endParaRPr lang="en-US" sz="1920" dirty="0"/>
          </a:p>
        </p:txBody>
      </p:sp>
      <p:sp>
        <p:nvSpPr>
          <p:cNvPr id="84" name="Text 46"/>
          <p:cNvSpPr txBox="1"/>
          <p:nvPr/>
        </p:nvSpPr>
        <p:spPr>
          <a:xfrm>
            <a:off x="3960799" y="3898930"/>
            <a:ext cx="1785525" cy="328227"/>
          </a:xfrm>
          <a:prstGeom prst="rect">
            <a:avLst/>
          </a:prstGeom>
          <a:noFill/>
        </p:spPr>
        <p:txBody>
          <a:bodyPr wrap="none" lIns="0" tIns="0" rIns="0" bIns="0" rtlCol="0" anchor="ctr"/>
          <a:lstStyle/>
          <a:p>
            <a:pPr marL="0" indent="0" algn="ctr">
              <a:buNone/>
            </a:pPr>
            <a:r>
              <a:rPr lang="en-US" sz="1710" b="1" dirty="0">
                <a:solidFill>
                  <a:srgbClr val="071A3D"/>
                </a:solidFill>
                <a:latin typeface="微软雅黑" panose="020B0503020204020204" pitchFamily="34" charset="-122"/>
                <a:ea typeface="微软雅黑" panose="020B0503020204020204" pitchFamily="34" charset="-122"/>
                <a:cs typeface="微软雅黑" panose="020B0503020204020204" pitchFamily="34" charset="-120"/>
              </a:rPr>
              <a:t>海量动态医学知识</a:t>
            </a:r>
            <a:endParaRPr lang="en-US" sz="1710" dirty="0"/>
          </a:p>
        </p:txBody>
      </p:sp>
      <p:sp>
        <p:nvSpPr>
          <p:cNvPr id="88" name="Text 50"/>
          <p:cNvSpPr txBox="1"/>
          <p:nvPr/>
        </p:nvSpPr>
        <p:spPr>
          <a:xfrm>
            <a:off x="8792647" y="2324753"/>
            <a:ext cx="400832" cy="218909"/>
          </a:xfrm>
          <a:prstGeom prst="rect">
            <a:avLst/>
          </a:prstGeom>
          <a:noFill/>
        </p:spPr>
        <p:txBody>
          <a:bodyPr wrap="none" lIns="0" tIns="0" rIns="0" bIns="0" rtlCol="0" anchor="ctr"/>
          <a:lstStyle/>
          <a:p>
            <a:pPr marL="0" indent="0" algn="ctr">
              <a:buNone/>
            </a:pPr>
            <a:r>
              <a:rPr lang="en-US" sz="1280" b="1" dirty="0">
                <a:solidFill>
                  <a:srgbClr val="071A3D"/>
                </a:solidFill>
                <a:latin typeface="Arial" panose="020B0604020202020204" pitchFamily="34" charset="0"/>
                <a:ea typeface="Arial" panose="020B0604020202020204" pitchFamily="34" charset="-122"/>
                <a:cs typeface="Arial" panose="020B0604020202020204" pitchFamily="34" charset="-120"/>
              </a:rPr>
              <a:t>LLM</a:t>
            </a:r>
            <a:endParaRPr lang="en-US" sz="1280" dirty="0"/>
          </a:p>
        </p:txBody>
      </p:sp>
      <p:sp>
        <p:nvSpPr>
          <p:cNvPr id="89" name="Text 51"/>
          <p:cNvSpPr txBox="1"/>
          <p:nvPr/>
        </p:nvSpPr>
        <p:spPr>
          <a:xfrm>
            <a:off x="9834810" y="2295602"/>
            <a:ext cx="692346" cy="262636"/>
          </a:xfrm>
          <a:prstGeom prst="rect">
            <a:avLst/>
          </a:prstGeom>
          <a:noFill/>
        </p:spPr>
        <p:txBody>
          <a:bodyPr wrap="none" lIns="0" tIns="0" rIns="0" bIns="0" rtlCol="0" anchor="ctr"/>
          <a:lstStyle/>
          <a:p>
            <a:pPr marL="0" indent="0" algn="ctr">
              <a:buNone/>
            </a:pPr>
            <a:r>
              <a:rPr lang="en-US" sz="1280" b="1" dirty="0">
                <a:solidFill>
                  <a:srgbClr val="071A3D"/>
                </a:solidFill>
                <a:latin typeface="微软雅黑" panose="020B0503020204020204" pitchFamily="34" charset="-122"/>
                <a:ea typeface="微软雅黑" panose="020B0503020204020204" pitchFamily="34" charset="-122"/>
                <a:cs typeface="微软雅黑" panose="020B0503020204020204" pitchFamily="34" charset="-120"/>
              </a:rPr>
              <a:t>多智能体</a:t>
            </a:r>
            <a:endParaRPr lang="en-US" sz="1280" dirty="0"/>
          </a:p>
        </p:txBody>
      </p:sp>
      <p:sp>
        <p:nvSpPr>
          <p:cNvPr id="90" name="Text 52"/>
          <p:cNvSpPr txBox="1"/>
          <p:nvPr/>
        </p:nvSpPr>
        <p:spPr>
          <a:xfrm>
            <a:off x="11030018" y="2295602"/>
            <a:ext cx="692346" cy="262636"/>
          </a:xfrm>
          <a:prstGeom prst="rect">
            <a:avLst/>
          </a:prstGeom>
          <a:noFill/>
        </p:spPr>
        <p:txBody>
          <a:bodyPr wrap="none" lIns="0" tIns="0" rIns="0" bIns="0" rtlCol="0" anchor="ctr"/>
          <a:lstStyle/>
          <a:p>
            <a:pPr marL="0" indent="0" algn="ctr">
              <a:buNone/>
            </a:pPr>
            <a:r>
              <a:rPr lang="en-US" sz="1280" b="1" dirty="0">
                <a:solidFill>
                  <a:srgbClr val="071A3D"/>
                </a:solidFill>
                <a:latin typeface="微软雅黑" panose="020B0503020204020204" pitchFamily="34" charset="-122"/>
                <a:ea typeface="微软雅黑" panose="020B0503020204020204" pitchFamily="34" charset="-122"/>
                <a:cs typeface="微软雅黑" panose="020B0503020204020204" pitchFamily="34" charset="-120"/>
              </a:rPr>
              <a:t>知识图谱</a:t>
            </a:r>
            <a:endParaRPr lang="en-US" sz="1280" dirty="0"/>
          </a:p>
        </p:txBody>
      </p:sp>
      <p:sp>
        <p:nvSpPr>
          <p:cNvPr id="91" name="Text 53"/>
          <p:cNvSpPr txBox="1"/>
          <p:nvPr/>
        </p:nvSpPr>
        <p:spPr>
          <a:xfrm>
            <a:off x="8923828" y="2703722"/>
            <a:ext cx="327953" cy="226197"/>
          </a:xfrm>
          <a:prstGeom prst="rect">
            <a:avLst/>
          </a:prstGeom>
          <a:noFill/>
        </p:spPr>
        <p:txBody>
          <a:bodyPr wrap="none" lIns="0" tIns="0" rIns="0" bIns="0" rtlCol="0" anchor="ctr"/>
          <a:lstStyle/>
          <a:p>
            <a:pPr marL="0" indent="0" algn="ctr">
              <a:buNone/>
            </a:pPr>
            <a:r>
              <a:rPr lang="en-US" sz="1230" b="1" dirty="0">
                <a:solidFill>
                  <a:srgbClr val="071A3D"/>
                </a:solidFill>
                <a:latin typeface="微软雅黑" panose="020B0503020204020204" pitchFamily="34" charset="-122"/>
                <a:ea typeface="微软雅黑" panose="020B0503020204020204" pitchFamily="34" charset="-122"/>
                <a:cs typeface="微软雅黑" panose="020B0503020204020204" pitchFamily="34" charset="-120"/>
              </a:rPr>
              <a:t>理解</a:t>
            </a:r>
            <a:endParaRPr lang="en-US" sz="1230" dirty="0"/>
          </a:p>
        </p:txBody>
      </p:sp>
      <p:sp>
        <p:nvSpPr>
          <p:cNvPr id="92" name="Text 54"/>
          <p:cNvSpPr txBox="1"/>
          <p:nvPr/>
        </p:nvSpPr>
        <p:spPr>
          <a:xfrm>
            <a:off x="10162764" y="2681858"/>
            <a:ext cx="327953" cy="262636"/>
          </a:xfrm>
          <a:prstGeom prst="rect">
            <a:avLst/>
          </a:prstGeom>
          <a:noFill/>
        </p:spPr>
        <p:txBody>
          <a:bodyPr wrap="none" lIns="0" tIns="0" rIns="0" bIns="0" rtlCol="0" anchor="ctr"/>
          <a:lstStyle/>
          <a:p>
            <a:pPr marL="0" indent="0" algn="ctr">
              <a:buNone/>
            </a:pPr>
            <a:r>
              <a:rPr lang="en-US" sz="1230" b="1" dirty="0">
                <a:solidFill>
                  <a:srgbClr val="071A3D"/>
                </a:solidFill>
                <a:latin typeface="微软雅黑" panose="020B0503020204020204" pitchFamily="34" charset="-122"/>
                <a:ea typeface="微软雅黑" panose="020B0503020204020204" pitchFamily="34" charset="-122"/>
                <a:cs typeface="微软雅黑" panose="020B0503020204020204" pitchFamily="34" charset="-120"/>
              </a:rPr>
              <a:t>协作</a:t>
            </a:r>
            <a:endParaRPr lang="en-US" sz="1230" dirty="0"/>
          </a:p>
        </p:txBody>
      </p:sp>
      <p:sp>
        <p:nvSpPr>
          <p:cNvPr id="93" name="Text 55"/>
          <p:cNvSpPr txBox="1"/>
          <p:nvPr/>
        </p:nvSpPr>
        <p:spPr>
          <a:xfrm>
            <a:off x="11372548" y="2674570"/>
            <a:ext cx="349817" cy="277212"/>
          </a:xfrm>
          <a:prstGeom prst="rect">
            <a:avLst/>
          </a:prstGeom>
          <a:noFill/>
        </p:spPr>
        <p:txBody>
          <a:bodyPr wrap="none" lIns="0" tIns="0" rIns="0" bIns="0" rtlCol="0" anchor="ctr"/>
          <a:lstStyle/>
          <a:p>
            <a:pPr marL="0" indent="0" algn="ctr">
              <a:buNone/>
            </a:pPr>
            <a:r>
              <a:rPr lang="en-US" sz="1230" b="1" dirty="0">
                <a:solidFill>
                  <a:srgbClr val="10264D"/>
                </a:solidFill>
                <a:latin typeface="微软雅黑" panose="020B0503020204020204" pitchFamily="34" charset="-122"/>
                <a:ea typeface="微软雅黑" panose="020B0503020204020204" pitchFamily="34" charset="-122"/>
                <a:cs typeface="微软雅黑" panose="020B0503020204020204" pitchFamily="34" charset="-120"/>
              </a:rPr>
              <a:t>检索</a:t>
            </a:r>
            <a:endParaRPr lang="en-US" sz="1230" dirty="0"/>
          </a:p>
        </p:txBody>
      </p:sp>
      <p:sp>
        <p:nvSpPr>
          <p:cNvPr id="94" name="Text 56"/>
          <p:cNvSpPr txBox="1"/>
          <p:nvPr/>
        </p:nvSpPr>
        <p:spPr>
          <a:xfrm>
            <a:off x="9798371" y="3753173"/>
            <a:ext cx="1253511" cy="291788"/>
          </a:xfrm>
          <a:prstGeom prst="rect">
            <a:avLst/>
          </a:prstGeom>
          <a:noFill/>
        </p:spPr>
        <p:txBody>
          <a:bodyPr wrap="none" lIns="0" tIns="0" rIns="0" bIns="0" rtlCol="0" anchor="ctr"/>
          <a:lstStyle/>
          <a:p>
            <a:pPr marL="0" indent="0" algn="ctr">
              <a:buNone/>
            </a:pPr>
            <a:r>
              <a:rPr lang="en-US" sz="1360" b="1" dirty="0">
                <a:solidFill>
                  <a:srgbClr val="000B38"/>
                </a:solidFill>
                <a:latin typeface="微软雅黑" panose="020B0503020204020204" pitchFamily="34" charset="-122"/>
                <a:ea typeface="微软雅黑" panose="020B0503020204020204" pitchFamily="34" charset="-122"/>
                <a:cs typeface="微软雅黑" panose="020B0503020204020204" pitchFamily="34" charset="-120"/>
              </a:rPr>
              <a:t>综合分析与推理</a:t>
            </a:r>
            <a:endParaRPr lang="en-US" sz="1360" dirty="0"/>
          </a:p>
        </p:txBody>
      </p:sp>
      <p:pic>
        <p:nvPicPr>
          <p:cNvPr id="104" name="图片 103"/>
          <p:cNvPicPr>
            <a:picLocks noChangeAspect="1"/>
          </p:cNvPicPr>
          <p:nvPr/>
        </p:nvPicPr>
        <p:blipFill>
          <a:blip r:embed="rId21"/>
          <a:srcRect l="3256" t="-6868" r="4770" b="-1340"/>
          <a:stretch>
            <a:fillRect/>
          </a:stretch>
        </p:blipFill>
        <p:spPr>
          <a:xfrm>
            <a:off x="9730566" y="6359394"/>
            <a:ext cx="2313940" cy="410210"/>
          </a:xfrm>
          <a:prstGeom prst="rect">
            <a:avLst/>
          </a:prstGeom>
        </p:spPr>
      </p:pic>
      <p:pic>
        <p:nvPicPr>
          <p:cNvPr id="105" name="图片 104"/>
          <p:cNvPicPr>
            <a:picLocks noChangeAspect="1"/>
          </p:cNvPicPr>
          <p:nvPr>
            <p:custDataLst>
              <p:tags r:id="rId22"/>
            </p:custDataLst>
          </p:nvPr>
        </p:nvPicPr>
        <p:blipFill>
          <a:blip r:embed="rId23"/>
          <a:srcRect t="69576" b="21479"/>
          <a:stretch>
            <a:fillRect/>
          </a:stretch>
        </p:blipFill>
        <p:spPr>
          <a:xfrm>
            <a:off x="0" y="-22860"/>
            <a:ext cx="12192000" cy="681355"/>
          </a:xfrm>
          <a:prstGeom prst="rect">
            <a:avLst/>
          </a:prstGeom>
        </p:spPr>
      </p:pic>
      <p:sp>
        <p:nvSpPr>
          <p:cNvPr id="106" name="矩形 105"/>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7" name="图片 106" descr="华科大"/>
          <p:cNvPicPr>
            <a:picLocks noChangeAspect="1"/>
          </p:cNvPicPr>
          <p:nvPr>
            <p:custDataLst>
              <p:tags r:id="rId24"/>
            </p:custDataLst>
          </p:nvPr>
        </p:nvPicPr>
        <p:blipFill>
          <a:blip r:embed="rId25"/>
          <a:stretch>
            <a:fillRect/>
          </a:stretch>
        </p:blipFill>
        <p:spPr>
          <a:xfrm>
            <a:off x="635" y="-97790"/>
            <a:ext cx="2354580" cy="824230"/>
          </a:xfrm>
          <a:prstGeom prst="rect">
            <a:avLst/>
          </a:prstGeom>
        </p:spPr>
      </p:pic>
      <p:pic>
        <p:nvPicPr>
          <p:cNvPr id="108" name="图片 107"/>
          <p:cNvPicPr>
            <a:picLocks noChangeAspect="1"/>
          </p:cNvPicPr>
          <p:nvPr>
            <p:custDataLst>
              <p:tags r:id="rId26"/>
            </p:custDataLst>
          </p:nvPr>
        </p:nvPicPr>
        <p:blipFill>
          <a:blip r:embed="rId23"/>
          <a:srcRect t="69576" b="21479"/>
          <a:stretch>
            <a:fillRect/>
          </a:stretch>
        </p:blipFill>
        <p:spPr>
          <a:xfrm>
            <a:off x="0" y="-22860"/>
            <a:ext cx="12192000" cy="681355"/>
          </a:xfrm>
          <a:prstGeom prst="rect">
            <a:avLst/>
          </a:prstGeom>
        </p:spPr>
      </p:pic>
      <p:sp>
        <p:nvSpPr>
          <p:cNvPr id="109" name="矩形 108"/>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0" name="矩形 109"/>
          <p:cNvSpPr/>
          <p:nvPr>
            <p:custDataLst>
              <p:tags r:id="rId27"/>
            </p:custDataLst>
          </p:nvPr>
        </p:nvSpPr>
        <p:spPr>
          <a:xfrm>
            <a:off x="2125374" y="-24015"/>
            <a:ext cx="1859281" cy="676679"/>
          </a:xfrm>
          <a:prstGeom prst="rect">
            <a:avLst/>
          </a:prstGeom>
          <a:solidFill>
            <a:srgbClr val="02549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 name="文本框 110"/>
          <p:cNvSpPr txBox="1"/>
          <p:nvPr/>
        </p:nvSpPr>
        <p:spPr>
          <a:xfrm>
            <a:off x="2125374" y="67915"/>
            <a:ext cx="16725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研究背景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12" name="文本框 111"/>
          <p:cNvSpPr txBox="1"/>
          <p:nvPr/>
        </p:nvSpPr>
        <p:spPr>
          <a:xfrm>
            <a:off x="3762124" y="80122"/>
            <a:ext cx="178165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研究现状</a:t>
            </a:r>
            <a:endParaRPr lang="zh-CN" altLang="en-US" sz="2400" b="1" dirty="0">
              <a:solidFill>
                <a:schemeClr val="bg1"/>
              </a:solidFill>
            </a:endParaRPr>
          </a:p>
        </p:txBody>
      </p:sp>
      <p:sp>
        <p:nvSpPr>
          <p:cNvPr id="113" name="文本框 112"/>
          <p:cNvSpPr txBox="1"/>
          <p:nvPr/>
        </p:nvSpPr>
        <p:spPr>
          <a:xfrm>
            <a:off x="5394826" y="86984"/>
            <a:ext cx="183705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系统架构</a:t>
            </a:r>
            <a:endParaRPr lang="zh-CN" altLang="en-US" sz="2400" b="1" dirty="0">
              <a:solidFill>
                <a:schemeClr val="bg1"/>
              </a:solidFill>
            </a:endParaRPr>
          </a:p>
        </p:txBody>
      </p:sp>
      <p:sp>
        <p:nvSpPr>
          <p:cNvPr id="114" name="文本框 113"/>
          <p:cNvSpPr txBox="1"/>
          <p:nvPr/>
        </p:nvSpPr>
        <p:spPr>
          <a:xfrm>
            <a:off x="7005125" y="86983"/>
            <a:ext cx="185928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图谱算法</a:t>
            </a:r>
            <a:endParaRPr lang="zh-CN" altLang="en-US" sz="2400" b="1" dirty="0">
              <a:solidFill>
                <a:schemeClr val="bg1"/>
              </a:solidFill>
            </a:endParaRPr>
          </a:p>
        </p:txBody>
      </p:sp>
      <p:sp>
        <p:nvSpPr>
          <p:cNvPr id="115" name="文本框 114"/>
          <p:cNvSpPr txBox="1"/>
          <p:nvPr/>
        </p:nvSpPr>
        <p:spPr>
          <a:xfrm>
            <a:off x="8667692" y="88396"/>
            <a:ext cx="1736725" cy="429895"/>
          </a:xfrm>
          <a:prstGeom prst="rect">
            <a:avLst/>
          </a:prstGeom>
          <a:noFill/>
        </p:spPr>
        <p:txBody>
          <a:bodyPr wrap="square" rtlCol="0">
            <a:spAutoFit/>
          </a:bodyPr>
          <a:lstStyle/>
          <a:p>
            <a:r>
              <a:rPr lang="en-US" altLang="zh-CN" sz="2200" b="1" dirty="0">
                <a:solidFill>
                  <a:schemeClr val="bg1"/>
                </a:solidFill>
                <a:sym typeface="+mn-ea"/>
              </a:rPr>
              <a:t>  </a:t>
            </a:r>
            <a:r>
              <a:rPr lang="zh-CN" altLang="en-US" sz="2200" b="1" dirty="0">
                <a:solidFill>
                  <a:schemeClr val="bg1"/>
                </a:solidFill>
                <a:latin typeface="微软雅黑" panose="020B0503020204020204" pitchFamily="34" charset="-122"/>
                <a:ea typeface="微软雅黑" panose="020B0503020204020204" pitchFamily="34" charset="-122"/>
                <a:sym typeface="+mn-ea"/>
              </a:rPr>
              <a:t>实验设计</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16" name="文本框 115"/>
          <p:cNvSpPr txBox="1"/>
          <p:nvPr/>
        </p:nvSpPr>
        <p:spPr>
          <a:xfrm>
            <a:off x="10176646" y="88234"/>
            <a:ext cx="2015375" cy="460375"/>
          </a:xfrm>
          <a:prstGeom prst="rect">
            <a:avLst/>
          </a:prstGeom>
          <a:noFill/>
        </p:spPr>
        <p:txBody>
          <a:bodyPr wrap="squar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研究</a:t>
            </a:r>
            <a:r>
              <a:rPr lang="zh-CN" altLang="en-US" sz="2400" b="1" dirty="0">
                <a:solidFill>
                  <a:schemeClr val="bg1"/>
                </a:solidFill>
                <a:latin typeface="微软雅黑" panose="020B0503020204020204" pitchFamily="34" charset="-122"/>
                <a:ea typeface="微软雅黑" panose="020B0503020204020204" pitchFamily="34" charset="-122"/>
              </a:rPr>
              <a:t>计划</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117" name="图片 116" descr="华科大"/>
          <p:cNvPicPr>
            <a:picLocks noChangeAspect="1"/>
          </p:cNvPicPr>
          <p:nvPr>
            <p:custDataLst>
              <p:tags r:id="rId28"/>
            </p:custDataLst>
          </p:nvPr>
        </p:nvPicPr>
        <p:blipFill>
          <a:blip r:embed="rId25"/>
          <a:stretch>
            <a:fillRect/>
          </a:stretch>
        </p:blipFill>
        <p:spPr>
          <a:xfrm>
            <a:off x="-156383" y="-97790"/>
            <a:ext cx="2354580" cy="824230"/>
          </a:xfrm>
          <a:prstGeom prst="rect">
            <a:avLst/>
          </a:prstGeom>
        </p:spPr>
      </p:pic>
      <p:sp>
        <p:nvSpPr>
          <p:cNvPr id="119" name="文本框 118"/>
          <p:cNvSpPr txBox="1"/>
          <p:nvPr/>
        </p:nvSpPr>
        <p:spPr>
          <a:xfrm>
            <a:off x="238125" y="1596390"/>
            <a:ext cx="2854325" cy="1891665"/>
          </a:xfrm>
          <a:prstGeom prst="rect">
            <a:avLst/>
          </a:prstGeom>
          <a:noFill/>
        </p:spPr>
        <p:txBody>
          <a:bodyPr wrap="square" rtlCol="0">
            <a:noAutofit/>
          </a:bodyPr>
          <a:p>
            <a:r>
              <a:rPr lang="zh-CN" altLang="en-US"/>
              <a:t>世界卫生组织（</a:t>
            </a:r>
            <a:r>
              <a:rPr lang="en-US" altLang="zh-CN"/>
              <a:t>WHO）</a:t>
            </a:r>
            <a:r>
              <a:rPr lang="zh-CN" altLang="en-US"/>
              <a:t>公布的数据显示，2021年全球约有</a:t>
            </a:r>
            <a:r>
              <a:rPr lang="zh-CN" altLang="en-US" b="1"/>
              <a:t>5700万</a:t>
            </a:r>
            <a:r>
              <a:rPr lang="zh-CN" altLang="en-US"/>
              <a:t>名痴呆症患者，每年新增病例接近</a:t>
            </a:r>
            <a:r>
              <a:rPr lang="zh-CN" altLang="en-US" b="1"/>
              <a:t>1000万</a:t>
            </a:r>
            <a:r>
              <a:rPr lang="zh-CN" altLang="en-US"/>
              <a:t>。痴呆症是老年人失能和照护依赖的主要原因之一，给患者、家庭及医疗卫生体系带来沉重负担，疾病防治形势严峻，对准确诊断和及时干预提出了迫切需求。</a:t>
            </a:r>
            <a:endParaRPr lang="zh-CN" altLang="en-US"/>
          </a:p>
        </p:txBody>
      </p:sp>
      <p:sp>
        <p:nvSpPr>
          <p:cNvPr id="120" name="文本框 119"/>
          <p:cNvSpPr txBox="1"/>
          <p:nvPr/>
        </p:nvSpPr>
        <p:spPr>
          <a:xfrm>
            <a:off x="3458210" y="2058670"/>
            <a:ext cx="4556760" cy="1568450"/>
          </a:xfrm>
          <a:prstGeom prst="rect">
            <a:avLst/>
          </a:prstGeom>
          <a:noFill/>
        </p:spPr>
        <p:txBody>
          <a:bodyPr wrap="square" rtlCol="0">
            <a:spAutoFit/>
          </a:bodyPr>
          <a:p>
            <a:r>
              <a:rPr lang="zh-CN" altLang="en-US" sz="1600"/>
              <a:t>患者诊断需要</a:t>
            </a:r>
            <a:r>
              <a:rPr lang="zh-CN" altLang="en-US" sz="1600" b="1"/>
              <a:t>综合病史、症状与病程变化、量表评估、影像检查及实验室检验等多源资料</a:t>
            </a:r>
            <a:r>
              <a:rPr lang="zh-CN" altLang="en-US" sz="1600"/>
              <a:t>。不同类型的信息分别反映患者的临床表现、功能状态和病理特征，需要结合临床背景进行关联分析与综合判读，对信息整合能力和诊断准确性提出了较高要求。</a:t>
            </a:r>
            <a:endParaRPr lang="zh-CN" altLang="en-US" sz="1600"/>
          </a:p>
        </p:txBody>
      </p:sp>
      <p:sp>
        <p:nvSpPr>
          <p:cNvPr id="122" name="文本框 121"/>
          <p:cNvSpPr txBox="1"/>
          <p:nvPr/>
        </p:nvSpPr>
        <p:spPr>
          <a:xfrm>
            <a:off x="3501390" y="4279265"/>
            <a:ext cx="4461510" cy="1814830"/>
          </a:xfrm>
          <a:prstGeom prst="rect">
            <a:avLst/>
          </a:prstGeom>
          <a:noFill/>
        </p:spPr>
        <p:txBody>
          <a:bodyPr wrap="square" rtlCol="0">
            <a:spAutoFit/>
          </a:bodyPr>
          <a:p>
            <a:r>
              <a:rPr lang="zh-CN" altLang="en-US" sz="1600"/>
              <a:t>临床指南、诊断标准及研究文献构成了疾病判断的重要知识基础。随着生物标志物、检测技术和疾病机制研究的发展，相关医学知识</a:t>
            </a:r>
            <a:r>
              <a:rPr lang="zh-CN" altLang="en-US" sz="1600" b="1"/>
              <a:t>持续积累</a:t>
            </a:r>
            <a:r>
              <a:rPr lang="zh-CN" altLang="en-US" sz="1600"/>
              <a:t>，诊断依据</a:t>
            </a:r>
            <a:r>
              <a:rPr lang="zh-CN" altLang="en-US" sz="1600" b="1"/>
              <a:t>不断更新</a:t>
            </a:r>
            <a:r>
              <a:rPr lang="zh-CN" altLang="en-US" sz="1600"/>
              <a:t>。同时，不同知识具有各自的适用人群、检查方法和判定条件，准确获取并正确使用这些知识，是提高患者判断准确性的重要环节。</a:t>
            </a:r>
            <a:endParaRPr lang="zh-CN" altLang="en-US" sz="1600"/>
          </a:p>
        </p:txBody>
      </p:sp>
      <p:sp>
        <p:nvSpPr>
          <p:cNvPr id="124" name="文本框 123"/>
          <p:cNvSpPr txBox="1"/>
          <p:nvPr/>
        </p:nvSpPr>
        <p:spPr>
          <a:xfrm>
            <a:off x="8351520" y="4279265"/>
            <a:ext cx="3669665" cy="1383665"/>
          </a:xfrm>
          <a:prstGeom prst="rect">
            <a:avLst/>
          </a:prstGeom>
          <a:noFill/>
        </p:spPr>
        <p:txBody>
          <a:bodyPr wrap="square" rtlCol="0">
            <a:spAutoFit/>
          </a:bodyPr>
          <a:p>
            <a:r>
              <a:rPr lang="zh-CN" altLang="en-US" sz="1400"/>
              <a:t>大语言模型为患者资料与医学文献的理解和分析提供了技术基础，智能体支持不同分析任务的分工协作，知识图谱则能够组织医学概念及其关系，并支持相关知识检索。三者结合，为综合分析患者资料、调用适用医学知识和提高辅助诊断准确性提供了新的可能。</a:t>
            </a:r>
            <a:endParaRPr lang="zh-CN" altLang="en-US" sz="1400"/>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04"/>
                                        </p:tgtEl>
                                        <p:attrNameLst>
                                          <p:attrName>style.visibility</p:attrName>
                                        </p:attrNameLst>
                                      </p:cBhvr>
                                      <p:to>
                                        <p:strVal val="visible"/>
                                      </p:to>
                                    </p:set>
                                    <p:anim calcmode="lin" valueType="num">
                                      <p:cBhvr additive="base">
                                        <p:cTn id="7" dur="500" fill="hold"/>
                                        <p:tgtEl>
                                          <p:spTgt spid="104"/>
                                        </p:tgtEl>
                                        <p:attrNameLst>
                                          <p:attrName>ppt_x</p:attrName>
                                        </p:attrNameLst>
                                      </p:cBhvr>
                                      <p:tavLst>
                                        <p:tav tm="0">
                                          <p:val>
                                            <p:strVal val="#ppt_x"/>
                                          </p:val>
                                        </p:tav>
                                        <p:tav tm="100000">
                                          <p:val>
                                            <p:strVal val="#ppt_x"/>
                                          </p:val>
                                        </p:tav>
                                      </p:tavLst>
                                    </p:anim>
                                    <p:anim calcmode="lin" valueType="num">
                                      <p:cBhvr additive="base">
                                        <p:cTn id="8"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92977" y="932909"/>
            <a:ext cx="3396141" cy="5232680"/>
          </a:xfrm>
          <a:prstGeom prst="roundRect">
            <a:avLst>
              <a:gd name="adj" fmla="val 2575"/>
            </a:avLst>
          </a:prstGeom>
          <a:solidFill>
            <a:srgbClr val="FEFEFE"/>
          </a:solidFill>
          <a:ln w="15875">
            <a:solidFill>
              <a:srgbClr val="B9D9F0"/>
            </a:solidFill>
            <a:prstDash val="solid"/>
          </a:ln>
        </p:spPr>
      </p:sp>
      <p:sp>
        <p:nvSpPr>
          <p:cNvPr id="4" name="Shape 1"/>
          <p:cNvSpPr/>
          <p:nvPr/>
        </p:nvSpPr>
        <p:spPr>
          <a:xfrm>
            <a:off x="3691148" y="932909"/>
            <a:ext cx="4321698" cy="5232680"/>
          </a:xfrm>
          <a:prstGeom prst="roundRect">
            <a:avLst>
              <a:gd name="adj" fmla="val 2192"/>
            </a:avLst>
          </a:prstGeom>
          <a:solidFill>
            <a:srgbClr val="FEFEFE"/>
          </a:solidFill>
          <a:ln w="15875">
            <a:solidFill>
              <a:srgbClr val="B9D9F0"/>
            </a:solidFill>
            <a:prstDash val="solid"/>
          </a:ln>
        </p:spPr>
      </p:sp>
      <p:sp>
        <p:nvSpPr>
          <p:cNvPr id="5" name="Shape 2"/>
          <p:cNvSpPr/>
          <p:nvPr/>
        </p:nvSpPr>
        <p:spPr>
          <a:xfrm>
            <a:off x="8129452" y="932909"/>
            <a:ext cx="3877139" cy="5232680"/>
          </a:xfrm>
          <a:prstGeom prst="roundRect">
            <a:avLst>
              <a:gd name="adj" fmla="val 1692"/>
            </a:avLst>
          </a:prstGeom>
          <a:solidFill>
            <a:srgbClr val="FEFEFE"/>
          </a:solidFill>
          <a:ln w="15875">
            <a:solidFill>
              <a:srgbClr val="B9D9F0"/>
            </a:solidFill>
            <a:prstDash val="solid"/>
          </a:ln>
        </p:spPr>
      </p:sp>
      <p:sp>
        <p:nvSpPr>
          <p:cNvPr id="7" name="Shape 4"/>
          <p:cNvSpPr/>
          <p:nvPr/>
        </p:nvSpPr>
        <p:spPr>
          <a:xfrm>
            <a:off x="207553" y="940197"/>
            <a:ext cx="3366989" cy="480998"/>
          </a:xfrm>
          <a:prstGeom prst="roundRect">
            <a:avLst>
              <a:gd name="adj" fmla="val 10606"/>
            </a:avLst>
          </a:prstGeom>
          <a:solidFill>
            <a:srgbClr val="EDF5FB"/>
          </a:solidFill>
          <a:ln w="12700">
            <a:solidFill>
              <a:srgbClr val="EDF5FB">
                <a:alpha val="0"/>
              </a:srgbClr>
            </a:solidFill>
            <a:prstDash val="solid"/>
          </a:ln>
        </p:spPr>
      </p:sp>
      <p:sp>
        <p:nvSpPr>
          <p:cNvPr id="8" name="Shape 5"/>
          <p:cNvSpPr/>
          <p:nvPr/>
        </p:nvSpPr>
        <p:spPr>
          <a:xfrm>
            <a:off x="3705724" y="940197"/>
            <a:ext cx="4292547" cy="480998"/>
          </a:xfrm>
          <a:prstGeom prst="roundRect">
            <a:avLst>
              <a:gd name="adj" fmla="val 7576"/>
            </a:avLst>
          </a:prstGeom>
          <a:solidFill>
            <a:srgbClr val="EDF5FB"/>
          </a:solidFill>
          <a:ln w="12700">
            <a:solidFill>
              <a:srgbClr val="EDF5FB">
                <a:alpha val="0"/>
              </a:srgbClr>
            </a:solidFill>
            <a:prstDash val="solid"/>
          </a:ln>
        </p:spPr>
      </p:sp>
      <p:sp>
        <p:nvSpPr>
          <p:cNvPr id="9" name="Shape 6"/>
          <p:cNvSpPr/>
          <p:nvPr/>
        </p:nvSpPr>
        <p:spPr>
          <a:xfrm>
            <a:off x="8136740" y="940197"/>
            <a:ext cx="3862563" cy="480998"/>
          </a:xfrm>
          <a:prstGeom prst="roundRect">
            <a:avLst>
              <a:gd name="adj" fmla="val 7576"/>
            </a:avLst>
          </a:prstGeom>
          <a:solidFill>
            <a:srgbClr val="EDF5FB"/>
          </a:solidFill>
          <a:ln w="12700">
            <a:solidFill>
              <a:srgbClr val="EDF5FB">
                <a:alpha val="0"/>
              </a:srgbClr>
            </a:solidFill>
            <a:prstDash val="solid"/>
          </a:ln>
        </p:spPr>
      </p:sp>
      <p:sp>
        <p:nvSpPr>
          <p:cNvPr id="10" name="Shape 7"/>
          <p:cNvSpPr/>
          <p:nvPr/>
        </p:nvSpPr>
        <p:spPr>
          <a:xfrm>
            <a:off x="258445" y="3094990"/>
            <a:ext cx="3257550" cy="3012440"/>
          </a:xfrm>
          <a:prstGeom prst="roundRect">
            <a:avLst>
              <a:gd name="adj" fmla="val 5848"/>
            </a:avLst>
          </a:prstGeom>
          <a:solidFill>
            <a:srgbClr val="EEF6FC"/>
          </a:solidFill>
          <a:ln w="15875">
            <a:solidFill>
              <a:srgbClr val="D2E8F7"/>
            </a:solidFill>
            <a:prstDash val="solid"/>
          </a:ln>
        </p:spPr>
      </p:sp>
      <p:sp>
        <p:nvSpPr>
          <p:cNvPr id="11" name="Shape 8"/>
          <p:cNvSpPr/>
          <p:nvPr/>
        </p:nvSpPr>
        <p:spPr>
          <a:xfrm>
            <a:off x="3749675" y="3094990"/>
            <a:ext cx="4175760" cy="3041015"/>
          </a:xfrm>
          <a:prstGeom prst="roundRect">
            <a:avLst>
              <a:gd name="adj" fmla="val 5714"/>
            </a:avLst>
          </a:prstGeom>
          <a:solidFill>
            <a:srgbClr val="EFF6FC"/>
          </a:solidFill>
          <a:ln w="15875">
            <a:solidFill>
              <a:srgbClr val="D2E8F7"/>
            </a:solidFill>
            <a:prstDash val="solid"/>
          </a:ln>
        </p:spPr>
      </p:sp>
      <p:sp>
        <p:nvSpPr>
          <p:cNvPr id="13" name="Shape 9"/>
          <p:cNvSpPr/>
          <p:nvPr/>
        </p:nvSpPr>
        <p:spPr>
          <a:xfrm>
            <a:off x="8173085" y="3094355"/>
            <a:ext cx="3775075" cy="3041650"/>
          </a:xfrm>
          <a:prstGeom prst="roundRect">
            <a:avLst>
              <a:gd name="adj" fmla="val 4676"/>
            </a:avLst>
          </a:prstGeom>
          <a:solidFill>
            <a:srgbClr val="EEF6FB"/>
          </a:solidFill>
          <a:ln w="15875">
            <a:solidFill>
              <a:srgbClr val="D2E8F7"/>
            </a:solidFill>
            <a:prstDash val="solid"/>
          </a:ln>
        </p:spPr>
      </p:sp>
      <p:pic>
        <p:nvPicPr>
          <p:cNvPr id="34" name="Image 2" descr="image"/>
          <p:cNvPicPr>
            <a:picLocks noChangeAspect="1"/>
          </p:cNvPicPr>
          <p:nvPr/>
        </p:nvPicPr>
        <p:blipFill>
          <a:blip r:embed="rId1"/>
          <a:stretch>
            <a:fillRect/>
          </a:stretch>
        </p:blipFill>
        <p:spPr>
          <a:xfrm>
            <a:off x="185689" y="932909"/>
            <a:ext cx="604892" cy="510150"/>
          </a:xfrm>
          <a:prstGeom prst="rect">
            <a:avLst/>
          </a:prstGeom>
        </p:spPr>
      </p:pic>
      <p:pic>
        <p:nvPicPr>
          <p:cNvPr id="35" name="Image 3" descr="image"/>
          <p:cNvPicPr>
            <a:picLocks noChangeAspect="1"/>
          </p:cNvPicPr>
          <p:nvPr/>
        </p:nvPicPr>
        <p:blipFill>
          <a:blip r:embed="rId2"/>
          <a:stretch>
            <a:fillRect/>
          </a:stretch>
        </p:blipFill>
        <p:spPr>
          <a:xfrm>
            <a:off x="3683860" y="940197"/>
            <a:ext cx="612180" cy="502862"/>
          </a:xfrm>
          <a:prstGeom prst="rect">
            <a:avLst/>
          </a:prstGeom>
        </p:spPr>
      </p:pic>
      <p:pic>
        <p:nvPicPr>
          <p:cNvPr id="36" name="Image 4" descr="image"/>
          <p:cNvPicPr>
            <a:picLocks noChangeAspect="1"/>
          </p:cNvPicPr>
          <p:nvPr/>
        </p:nvPicPr>
        <p:blipFill>
          <a:blip r:embed="rId3"/>
          <a:stretch>
            <a:fillRect/>
          </a:stretch>
        </p:blipFill>
        <p:spPr>
          <a:xfrm>
            <a:off x="8122164" y="932909"/>
            <a:ext cx="619468" cy="510150"/>
          </a:xfrm>
          <a:prstGeom prst="rect">
            <a:avLst/>
          </a:prstGeom>
        </p:spPr>
      </p:pic>
      <p:pic>
        <p:nvPicPr>
          <p:cNvPr id="81" name="Image 33" descr="icon"/>
          <p:cNvPicPr>
            <a:picLocks noChangeAspect="1"/>
          </p:cNvPicPr>
          <p:nvPr/>
        </p:nvPicPr>
        <p:blipFill>
          <a:blip r:embed="rId4"/>
          <a:stretch>
            <a:fillRect/>
          </a:stretch>
        </p:blipFill>
        <p:spPr>
          <a:xfrm>
            <a:off x="8485941" y="3217899"/>
            <a:ext cx="255075" cy="276939"/>
          </a:xfrm>
          <a:prstGeom prst="rect">
            <a:avLst/>
          </a:prstGeom>
        </p:spPr>
      </p:pic>
      <p:pic>
        <p:nvPicPr>
          <p:cNvPr id="82" name="Image 34" descr="icon"/>
          <p:cNvPicPr>
            <a:picLocks noChangeAspect="1"/>
          </p:cNvPicPr>
          <p:nvPr/>
        </p:nvPicPr>
        <p:blipFill>
          <a:blip r:embed="rId5"/>
          <a:stretch>
            <a:fillRect/>
          </a:stretch>
        </p:blipFill>
        <p:spPr>
          <a:xfrm>
            <a:off x="483397" y="3239489"/>
            <a:ext cx="255075" cy="276939"/>
          </a:xfrm>
          <a:prstGeom prst="rect">
            <a:avLst/>
          </a:prstGeom>
        </p:spPr>
      </p:pic>
      <p:pic>
        <p:nvPicPr>
          <p:cNvPr id="83" name="Image 35" descr="icon"/>
          <p:cNvPicPr>
            <a:picLocks noChangeAspect="1"/>
          </p:cNvPicPr>
          <p:nvPr/>
        </p:nvPicPr>
        <p:blipFill>
          <a:blip r:embed="rId6"/>
          <a:stretch>
            <a:fillRect/>
          </a:stretch>
        </p:blipFill>
        <p:spPr>
          <a:xfrm>
            <a:off x="3960251" y="3217899"/>
            <a:ext cx="255075" cy="276939"/>
          </a:xfrm>
          <a:prstGeom prst="rect">
            <a:avLst/>
          </a:prstGeom>
        </p:spPr>
      </p:pic>
      <p:sp>
        <p:nvSpPr>
          <p:cNvPr id="85" name="Text 47"/>
          <p:cNvSpPr txBox="1"/>
          <p:nvPr/>
        </p:nvSpPr>
        <p:spPr>
          <a:xfrm>
            <a:off x="316871" y="1020227"/>
            <a:ext cx="371681" cy="350091"/>
          </a:xfrm>
          <a:prstGeom prst="rect">
            <a:avLst/>
          </a:prstGeom>
          <a:noFill/>
        </p:spPr>
        <p:txBody>
          <a:bodyPr wrap="none" lIns="0" tIns="0" rIns="0" bIns="0" rtlCol="0" anchor="ctr"/>
          <a:lstStyle/>
          <a:p>
            <a:pPr marL="0" indent="0" algn="ctr">
              <a:buNone/>
            </a:pPr>
            <a:r>
              <a:rPr lang="en-US" sz="2660" b="1" dirty="0">
                <a:solidFill>
                  <a:srgbClr val="FFFFFF"/>
                </a:solidFill>
                <a:latin typeface="Arial" panose="020B0604020202020204" pitchFamily="34" charset="0"/>
                <a:ea typeface="Arial" panose="020B0604020202020204" pitchFamily="34" charset="-122"/>
                <a:cs typeface="Arial" panose="020B0604020202020204" pitchFamily="34" charset="-120"/>
              </a:rPr>
              <a:t>01</a:t>
            </a:r>
            <a:endParaRPr lang="en-US" sz="2660" dirty="0"/>
          </a:p>
        </p:txBody>
      </p:sp>
      <p:sp>
        <p:nvSpPr>
          <p:cNvPr id="86" name="Text 48"/>
          <p:cNvSpPr txBox="1"/>
          <p:nvPr/>
        </p:nvSpPr>
        <p:spPr>
          <a:xfrm>
            <a:off x="892611" y="1020227"/>
            <a:ext cx="1887828" cy="357378"/>
          </a:xfrm>
          <a:prstGeom prst="rect">
            <a:avLst/>
          </a:prstGeom>
          <a:noFill/>
        </p:spPr>
        <p:txBody>
          <a:bodyPr wrap="none" lIns="0" tIns="0" rIns="0" bIns="0" rtlCol="0" anchor="ctr"/>
          <a:lstStyle/>
          <a:p>
            <a:pPr marL="0" indent="0" algn="l">
              <a:buNone/>
            </a:pPr>
            <a:r>
              <a:rPr lang="en-US" sz="1950" b="1" dirty="0">
                <a:solidFill>
                  <a:srgbClr val="071A43"/>
                </a:solidFill>
                <a:latin typeface="微软雅黑" panose="020B0503020204020204" pitchFamily="34" charset="-122"/>
                <a:ea typeface="微软雅黑" panose="020B0503020204020204" pitchFamily="34" charset="-122"/>
                <a:cs typeface="微软雅黑" panose="020B0503020204020204" pitchFamily="34" charset="-120"/>
              </a:rPr>
              <a:t>单模态智能预测</a:t>
            </a:r>
            <a:endParaRPr lang="en-US" sz="1950" dirty="0"/>
          </a:p>
        </p:txBody>
      </p:sp>
      <p:sp>
        <p:nvSpPr>
          <p:cNvPr id="90" name="Text 52"/>
          <p:cNvSpPr txBox="1"/>
          <p:nvPr/>
        </p:nvSpPr>
        <p:spPr>
          <a:xfrm>
            <a:off x="3705792" y="1020559"/>
            <a:ext cx="510150" cy="350091"/>
          </a:xfrm>
          <a:prstGeom prst="rect">
            <a:avLst/>
          </a:prstGeom>
          <a:noFill/>
        </p:spPr>
        <p:txBody>
          <a:bodyPr wrap="none" lIns="0" tIns="0" rIns="0" bIns="0" rtlCol="0" anchor="ctr"/>
          <a:lstStyle/>
          <a:p>
            <a:pPr marL="0" indent="0" algn="ctr">
              <a:buNone/>
            </a:pPr>
            <a:r>
              <a:rPr lang="en-US" sz="2660" b="1" dirty="0">
                <a:solidFill>
                  <a:srgbClr val="FFFFFF"/>
                </a:solidFill>
                <a:latin typeface="Arial" panose="020B0604020202020204" pitchFamily="34" charset="0"/>
                <a:ea typeface="Arial" panose="020B0604020202020204" pitchFamily="34" charset="-122"/>
                <a:cs typeface="Arial" panose="020B0604020202020204" pitchFamily="34" charset="-120"/>
              </a:rPr>
              <a:t>02</a:t>
            </a:r>
            <a:endParaRPr lang="en-US" sz="2660" dirty="0"/>
          </a:p>
        </p:txBody>
      </p:sp>
      <p:sp>
        <p:nvSpPr>
          <p:cNvPr id="91" name="Text 53"/>
          <p:cNvSpPr txBox="1"/>
          <p:nvPr/>
        </p:nvSpPr>
        <p:spPr>
          <a:xfrm>
            <a:off x="4412646" y="1012939"/>
            <a:ext cx="1865964" cy="357378"/>
          </a:xfrm>
          <a:prstGeom prst="rect">
            <a:avLst/>
          </a:prstGeom>
          <a:noFill/>
        </p:spPr>
        <p:txBody>
          <a:bodyPr wrap="none" lIns="0" tIns="0" rIns="0" bIns="0" rtlCol="0" anchor="ctr"/>
          <a:lstStyle/>
          <a:p>
            <a:pPr marL="0" indent="0" algn="l">
              <a:buNone/>
            </a:pPr>
            <a:r>
              <a:rPr lang="en-US" sz="1950" b="1" dirty="0">
                <a:solidFill>
                  <a:srgbClr val="071A43"/>
                </a:solidFill>
                <a:latin typeface="微软雅黑" panose="020B0503020204020204" pitchFamily="34" charset="-122"/>
                <a:ea typeface="微软雅黑" panose="020B0503020204020204" pitchFamily="34" charset="-122"/>
                <a:cs typeface="微软雅黑" panose="020B0503020204020204" pitchFamily="34" charset="-120"/>
              </a:rPr>
              <a:t>多模态联合诊断</a:t>
            </a:r>
            <a:endParaRPr lang="en-US" sz="1950" dirty="0"/>
          </a:p>
        </p:txBody>
      </p:sp>
      <p:sp>
        <p:nvSpPr>
          <p:cNvPr id="101" name="Text 63"/>
          <p:cNvSpPr txBox="1"/>
          <p:nvPr/>
        </p:nvSpPr>
        <p:spPr>
          <a:xfrm>
            <a:off x="891908" y="3239655"/>
            <a:ext cx="852679" cy="255348"/>
          </a:xfrm>
          <a:prstGeom prst="rect">
            <a:avLst/>
          </a:prstGeom>
          <a:noFill/>
        </p:spPr>
        <p:txBody>
          <a:bodyPr wrap="none" lIns="0" tIns="0" rIns="0" bIns="0" rtlCol="0" anchor="ctr"/>
          <a:lstStyle/>
          <a:p>
            <a:pPr marL="0" indent="0" algn="ctr">
              <a:buNone/>
            </a:pPr>
            <a:r>
              <a:rPr lang="en-US" sz="1280" b="1" dirty="0">
                <a:solidFill>
                  <a:srgbClr val="071B4B"/>
                </a:solidFill>
                <a:latin typeface="微软雅黑" panose="020B0503020204020204" pitchFamily="34" charset="-122"/>
                <a:ea typeface="微软雅黑" panose="020B0503020204020204" pitchFamily="34" charset="-122"/>
                <a:cs typeface="微软雅黑" panose="020B0503020204020204" pitchFamily="34" charset="-120"/>
              </a:rPr>
              <a:t>代表性研究</a:t>
            </a:r>
            <a:endParaRPr lang="en-US" sz="1280" dirty="0"/>
          </a:p>
        </p:txBody>
      </p:sp>
      <p:sp>
        <p:nvSpPr>
          <p:cNvPr id="104" name="Text 66"/>
          <p:cNvSpPr txBox="1"/>
          <p:nvPr/>
        </p:nvSpPr>
        <p:spPr>
          <a:xfrm>
            <a:off x="8253345" y="1049378"/>
            <a:ext cx="335241" cy="269924"/>
          </a:xfrm>
          <a:prstGeom prst="rect">
            <a:avLst/>
          </a:prstGeom>
          <a:noFill/>
        </p:spPr>
        <p:txBody>
          <a:bodyPr wrap="none" lIns="0" tIns="0" rIns="0" bIns="0" rtlCol="0" anchor="ctr"/>
          <a:lstStyle/>
          <a:p>
            <a:pPr marL="0" indent="0" algn="ctr">
              <a:buNone/>
            </a:pPr>
            <a:r>
              <a:rPr lang="en-US" sz="2370" b="1" dirty="0">
                <a:solidFill>
                  <a:srgbClr val="FFFFFF"/>
                </a:solidFill>
                <a:latin typeface="Arial" panose="020B0604020202020204" pitchFamily="34" charset="0"/>
                <a:ea typeface="Arial" panose="020B0604020202020204" pitchFamily="34" charset="-122"/>
                <a:cs typeface="Arial" panose="020B0604020202020204" pitchFamily="34" charset="-120"/>
              </a:rPr>
              <a:t>03</a:t>
            </a:r>
            <a:endParaRPr lang="en-US" sz="2370" dirty="0"/>
          </a:p>
        </p:txBody>
      </p:sp>
      <p:sp>
        <p:nvSpPr>
          <p:cNvPr id="105" name="Text 67"/>
          <p:cNvSpPr txBox="1"/>
          <p:nvPr/>
        </p:nvSpPr>
        <p:spPr>
          <a:xfrm>
            <a:off x="8880101" y="1027515"/>
            <a:ext cx="2186630" cy="342803"/>
          </a:xfrm>
          <a:prstGeom prst="rect">
            <a:avLst/>
          </a:prstGeom>
          <a:noFill/>
        </p:spPr>
        <p:txBody>
          <a:bodyPr wrap="none" lIns="0" tIns="0" rIns="0" bIns="0" rtlCol="0" anchor="ctr"/>
          <a:lstStyle/>
          <a:p>
            <a:pPr marL="0" indent="0" algn="l">
              <a:buNone/>
            </a:pPr>
            <a:r>
              <a:rPr lang="en-US" sz="1920" b="1" dirty="0">
                <a:solidFill>
                  <a:srgbClr val="071A43"/>
                </a:solidFill>
                <a:latin typeface="微软雅黑" panose="020B0503020204020204" pitchFamily="34" charset="-122"/>
                <a:ea typeface="微软雅黑" panose="020B0503020204020204" pitchFamily="34" charset="-122"/>
                <a:cs typeface="微软雅黑" panose="020B0503020204020204" pitchFamily="34" charset="-120"/>
              </a:rPr>
              <a:t>LLM 与智能体分析</a:t>
            </a:r>
            <a:endParaRPr lang="en-US" sz="1920" dirty="0"/>
          </a:p>
        </p:txBody>
      </p:sp>
      <p:sp>
        <p:nvSpPr>
          <p:cNvPr id="121" name="Text 83"/>
          <p:cNvSpPr txBox="1"/>
          <p:nvPr/>
        </p:nvSpPr>
        <p:spPr>
          <a:xfrm>
            <a:off x="4296069" y="3225382"/>
            <a:ext cx="845391" cy="269924"/>
          </a:xfrm>
          <a:prstGeom prst="rect">
            <a:avLst/>
          </a:prstGeom>
          <a:noFill/>
        </p:spPr>
        <p:txBody>
          <a:bodyPr wrap="none" lIns="0" tIns="0" rIns="0" bIns="0" rtlCol="0" anchor="ctr"/>
          <a:lstStyle/>
          <a:p>
            <a:pPr marL="0" indent="0" algn="ctr">
              <a:buNone/>
            </a:pPr>
            <a:r>
              <a:rPr lang="en-US" sz="1280" b="1" dirty="0">
                <a:solidFill>
                  <a:srgbClr val="000E45"/>
                </a:solidFill>
                <a:latin typeface="微软雅黑" panose="020B0503020204020204" pitchFamily="34" charset="-122"/>
                <a:ea typeface="微软雅黑" panose="020B0503020204020204" pitchFamily="34" charset="-122"/>
                <a:cs typeface="微软雅黑" panose="020B0503020204020204" pitchFamily="34" charset="-120"/>
              </a:rPr>
              <a:t>代表性研究</a:t>
            </a:r>
            <a:endParaRPr lang="en-US" sz="1280" dirty="0"/>
          </a:p>
        </p:txBody>
      </p:sp>
      <p:sp>
        <p:nvSpPr>
          <p:cNvPr id="122" name="Text 84"/>
          <p:cNvSpPr txBox="1"/>
          <p:nvPr/>
        </p:nvSpPr>
        <p:spPr>
          <a:xfrm>
            <a:off x="8864880" y="3239958"/>
            <a:ext cx="845391" cy="262636"/>
          </a:xfrm>
          <a:prstGeom prst="rect">
            <a:avLst/>
          </a:prstGeom>
          <a:noFill/>
        </p:spPr>
        <p:txBody>
          <a:bodyPr wrap="none" lIns="0" tIns="0" rIns="0" bIns="0" rtlCol="0" anchor="ctr"/>
          <a:lstStyle/>
          <a:p>
            <a:pPr marL="0" indent="0" algn="ctr">
              <a:buNone/>
            </a:pPr>
            <a:r>
              <a:rPr lang="en-US" sz="1280" b="1" dirty="0">
                <a:solidFill>
                  <a:srgbClr val="08265C"/>
                </a:solidFill>
                <a:latin typeface="微软雅黑" panose="020B0503020204020204" pitchFamily="34" charset="-122"/>
                <a:ea typeface="微软雅黑" panose="020B0503020204020204" pitchFamily="34" charset="-122"/>
                <a:cs typeface="微软雅黑" panose="020B0503020204020204" pitchFamily="34" charset="-120"/>
              </a:rPr>
              <a:t>代表性研究</a:t>
            </a:r>
            <a:endParaRPr lang="en-US" sz="1280" dirty="0"/>
          </a:p>
        </p:txBody>
      </p:sp>
      <p:pic>
        <p:nvPicPr>
          <p:cNvPr id="136" name="图片 135"/>
          <p:cNvPicPr>
            <a:picLocks noChangeAspect="1"/>
          </p:cNvPicPr>
          <p:nvPr>
            <p:custDataLst>
              <p:tags r:id="rId7"/>
            </p:custDataLst>
          </p:nvPr>
        </p:nvPicPr>
        <p:blipFill>
          <a:blip r:embed="rId8"/>
          <a:srcRect t="69576" b="21479"/>
          <a:stretch>
            <a:fillRect/>
          </a:stretch>
        </p:blipFill>
        <p:spPr>
          <a:xfrm>
            <a:off x="0" y="-22860"/>
            <a:ext cx="12192000" cy="681355"/>
          </a:xfrm>
          <a:prstGeom prst="rect">
            <a:avLst/>
          </a:prstGeom>
        </p:spPr>
      </p:pic>
      <p:sp>
        <p:nvSpPr>
          <p:cNvPr id="137" name="矩形 136"/>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38" name="图片 137" descr="华科大"/>
          <p:cNvPicPr>
            <a:picLocks noChangeAspect="1"/>
          </p:cNvPicPr>
          <p:nvPr>
            <p:custDataLst>
              <p:tags r:id="rId9"/>
            </p:custDataLst>
          </p:nvPr>
        </p:nvPicPr>
        <p:blipFill>
          <a:blip r:embed="rId10"/>
          <a:stretch>
            <a:fillRect/>
          </a:stretch>
        </p:blipFill>
        <p:spPr>
          <a:xfrm>
            <a:off x="635" y="-97790"/>
            <a:ext cx="2354580" cy="824230"/>
          </a:xfrm>
          <a:prstGeom prst="rect">
            <a:avLst/>
          </a:prstGeom>
        </p:spPr>
      </p:pic>
      <p:pic>
        <p:nvPicPr>
          <p:cNvPr id="139" name="图片 138"/>
          <p:cNvPicPr>
            <a:picLocks noChangeAspect="1"/>
          </p:cNvPicPr>
          <p:nvPr>
            <p:custDataLst>
              <p:tags r:id="rId11"/>
            </p:custDataLst>
          </p:nvPr>
        </p:nvPicPr>
        <p:blipFill>
          <a:blip r:embed="rId8"/>
          <a:srcRect t="69576" b="21479"/>
          <a:stretch>
            <a:fillRect/>
          </a:stretch>
        </p:blipFill>
        <p:spPr>
          <a:xfrm>
            <a:off x="0" y="-22860"/>
            <a:ext cx="12192000" cy="681355"/>
          </a:xfrm>
          <a:prstGeom prst="rect">
            <a:avLst/>
          </a:prstGeom>
        </p:spPr>
      </p:pic>
      <p:sp>
        <p:nvSpPr>
          <p:cNvPr id="140" name="矩形 139"/>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1" name="矩形 140"/>
          <p:cNvSpPr/>
          <p:nvPr>
            <p:custDataLst>
              <p:tags r:id="rId12"/>
            </p:custDataLst>
          </p:nvPr>
        </p:nvSpPr>
        <p:spPr>
          <a:xfrm>
            <a:off x="3797964" y="-24015"/>
            <a:ext cx="1859281" cy="676679"/>
          </a:xfrm>
          <a:prstGeom prst="rect">
            <a:avLst/>
          </a:prstGeom>
          <a:solidFill>
            <a:srgbClr val="02549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2" name="文本框 141"/>
          <p:cNvSpPr txBox="1"/>
          <p:nvPr/>
        </p:nvSpPr>
        <p:spPr>
          <a:xfrm>
            <a:off x="2125374" y="67915"/>
            <a:ext cx="16725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研究背景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43" name="文本框 142"/>
          <p:cNvSpPr txBox="1"/>
          <p:nvPr/>
        </p:nvSpPr>
        <p:spPr>
          <a:xfrm>
            <a:off x="3762124" y="80122"/>
            <a:ext cx="178165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研究现状</a:t>
            </a:r>
            <a:endParaRPr lang="zh-CN" altLang="en-US" sz="2400" b="1" dirty="0">
              <a:solidFill>
                <a:schemeClr val="bg1"/>
              </a:solidFill>
            </a:endParaRPr>
          </a:p>
        </p:txBody>
      </p:sp>
      <p:sp>
        <p:nvSpPr>
          <p:cNvPr id="144" name="文本框 143"/>
          <p:cNvSpPr txBox="1"/>
          <p:nvPr/>
        </p:nvSpPr>
        <p:spPr>
          <a:xfrm>
            <a:off x="5394826" y="86984"/>
            <a:ext cx="183705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系统架构</a:t>
            </a:r>
            <a:endParaRPr lang="zh-CN" altLang="en-US" sz="2400" b="1" dirty="0">
              <a:solidFill>
                <a:schemeClr val="bg1"/>
              </a:solidFill>
            </a:endParaRPr>
          </a:p>
        </p:txBody>
      </p:sp>
      <p:sp>
        <p:nvSpPr>
          <p:cNvPr id="145" name="文本框 144"/>
          <p:cNvSpPr txBox="1"/>
          <p:nvPr/>
        </p:nvSpPr>
        <p:spPr>
          <a:xfrm>
            <a:off x="7005125" y="86983"/>
            <a:ext cx="185928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图谱算法</a:t>
            </a:r>
            <a:endParaRPr lang="zh-CN" altLang="en-US" sz="2400" b="1" dirty="0">
              <a:solidFill>
                <a:schemeClr val="bg1"/>
              </a:solidFill>
            </a:endParaRPr>
          </a:p>
        </p:txBody>
      </p:sp>
      <p:sp>
        <p:nvSpPr>
          <p:cNvPr id="146" name="文本框 145"/>
          <p:cNvSpPr txBox="1"/>
          <p:nvPr/>
        </p:nvSpPr>
        <p:spPr>
          <a:xfrm>
            <a:off x="8667692" y="88396"/>
            <a:ext cx="1736725" cy="429895"/>
          </a:xfrm>
          <a:prstGeom prst="rect">
            <a:avLst/>
          </a:prstGeom>
          <a:noFill/>
        </p:spPr>
        <p:txBody>
          <a:bodyPr wrap="square" rtlCol="0">
            <a:spAutoFit/>
          </a:bodyPr>
          <a:lstStyle/>
          <a:p>
            <a:r>
              <a:rPr lang="en-US" altLang="zh-CN" sz="2200" b="1" dirty="0">
                <a:solidFill>
                  <a:schemeClr val="bg1"/>
                </a:solidFill>
                <a:sym typeface="+mn-ea"/>
              </a:rPr>
              <a:t>  </a:t>
            </a:r>
            <a:r>
              <a:rPr lang="zh-CN" altLang="en-US" sz="2200" b="1" dirty="0">
                <a:solidFill>
                  <a:schemeClr val="bg1"/>
                </a:solidFill>
                <a:latin typeface="微软雅黑" panose="020B0503020204020204" pitchFamily="34" charset="-122"/>
                <a:ea typeface="微软雅黑" panose="020B0503020204020204" pitchFamily="34" charset="-122"/>
                <a:sym typeface="+mn-ea"/>
              </a:rPr>
              <a:t>实验设计</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147" name="图片 146" descr="华科大"/>
          <p:cNvPicPr>
            <a:picLocks noChangeAspect="1"/>
          </p:cNvPicPr>
          <p:nvPr>
            <p:custDataLst>
              <p:tags r:id="rId13"/>
            </p:custDataLst>
          </p:nvPr>
        </p:nvPicPr>
        <p:blipFill>
          <a:blip r:embed="rId10"/>
          <a:stretch>
            <a:fillRect/>
          </a:stretch>
        </p:blipFill>
        <p:spPr>
          <a:xfrm>
            <a:off x="-156383" y="-97790"/>
            <a:ext cx="2354580" cy="824230"/>
          </a:xfrm>
          <a:prstGeom prst="rect">
            <a:avLst/>
          </a:prstGeom>
        </p:spPr>
      </p:pic>
      <p:pic>
        <p:nvPicPr>
          <p:cNvPr id="149" name="图片 148"/>
          <p:cNvPicPr>
            <a:picLocks noChangeAspect="1"/>
          </p:cNvPicPr>
          <p:nvPr/>
        </p:nvPicPr>
        <p:blipFill>
          <a:blip r:embed="rId14"/>
          <a:srcRect l="3256" t="-6868" r="4770" b="-1340"/>
          <a:stretch>
            <a:fillRect/>
          </a:stretch>
        </p:blipFill>
        <p:spPr>
          <a:xfrm>
            <a:off x="9730566" y="6359394"/>
            <a:ext cx="2313940" cy="410210"/>
          </a:xfrm>
          <a:prstGeom prst="rect">
            <a:avLst/>
          </a:prstGeom>
        </p:spPr>
      </p:pic>
      <p:sp>
        <p:nvSpPr>
          <p:cNvPr id="152" name="文本框 151"/>
          <p:cNvSpPr txBox="1"/>
          <p:nvPr/>
        </p:nvSpPr>
        <p:spPr>
          <a:xfrm>
            <a:off x="231775" y="1518920"/>
            <a:ext cx="3129280" cy="1396365"/>
          </a:xfrm>
          <a:prstGeom prst="rect">
            <a:avLst/>
          </a:prstGeom>
          <a:noFill/>
        </p:spPr>
        <p:txBody>
          <a:bodyPr wrap="square" rtlCol="0">
            <a:noAutofit/>
          </a:bodyPr>
          <a:p>
            <a:r>
              <a:rPr lang="zh-CN" altLang="en-US" sz="1600"/>
              <a:t>以 </a:t>
            </a:r>
            <a:r>
              <a:rPr lang="en-US" altLang="zh-CN" sz="1600"/>
              <a:t>MRI、PET </a:t>
            </a:r>
            <a:r>
              <a:rPr lang="zh-CN" altLang="en-US" sz="1600"/>
              <a:t>或量表等单一类型数据为输入，通过机器学习或深度学习提取疾病相关特征，用于正常认知、轻度认知障碍与痴呆的分类，以及疾病进展风险预测</a:t>
            </a:r>
            <a:endParaRPr lang="zh-CN" altLang="en-US" sz="1600"/>
          </a:p>
        </p:txBody>
      </p:sp>
      <p:sp>
        <p:nvSpPr>
          <p:cNvPr id="153" name="文本框 152"/>
          <p:cNvSpPr txBox="1"/>
          <p:nvPr/>
        </p:nvSpPr>
        <p:spPr>
          <a:xfrm>
            <a:off x="372110" y="3603625"/>
            <a:ext cx="3103245" cy="1168400"/>
          </a:xfrm>
          <a:prstGeom prst="rect">
            <a:avLst/>
          </a:prstGeom>
          <a:noFill/>
        </p:spPr>
        <p:txBody>
          <a:bodyPr wrap="square" rtlCol="0">
            <a:spAutoFit/>
          </a:bodyPr>
          <a:p>
            <a:r>
              <a:rPr lang="en-US" altLang="zh-CN" sz="1400"/>
              <a:t>Wen et al.2020</a:t>
            </a:r>
            <a:r>
              <a:rPr lang="zh-CN" altLang="en-US" sz="1400"/>
              <a:t>的工作比较基于 </a:t>
            </a:r>
            <a:r>
              <a:rPr lang="en-US" altLang="zh-CN" sz="1400"/>
              <a:t>T1 </a:t>
            </a:r>
            <a:r>
              <a:rPr lang="zh-CN" altLang="en-US" sz="1400"/>
              <a:t>加权 </a:t>
            </a:r>
            <a:r>
              <a:rPr lang="en-US" altLang="zh-CN" sz="1400"/>
              <a:t>MRI </a:t>
            </a:r>
            <a:r>
              <a:rPr lang="zh-CN" altLang="en-US" sz="1400"/>
              <a:t>的不同卷积神经网络分类方法，建立公开可复现的评估流程，并分析数据泄漏、验证方式及跨数据集泛化对 </a:t>
            </a:r>
            <a:r>
              <a:rPr lang="en-US" altLang="zh-CN" sz="1400"/>
              <a:t>AD </a:t>
            </a:r>
            <a:r>
              <a:rPr lang="zh-CN" altLang="en-US" sz="1400"/>
              <a:t>分类结果的影响。  </a:t>
            </a:r>
            <a:endParaRPr lang="zh-CN" altLang="en-US" sz="1400"/>
          </a:p>
        </p:txBody>
      </p:sp>
      <p:sp>
        <p:nvSpPr>
          <p:cNvPr id="154" name="文本框 153"/>
          <p:cNvSpPr txBox="1"/>
          <p:nvPr/>
        </p:nvSpPr>
        <p:spPr>
          <a:xfrm>
            <a:off x="3797935" y="1569085"/>
            <a:ext cx="4064000" cy="1076325"/>
          </a:xfrm>
          <a:prstGeom prst="rect">
            <a:avLst/>
          </a:prstGeom>
          <a:noFill/>
        </p:spPr>
        <p:txBody>
          <a:bodyPr wrap="square" rtlCol="0">
            <a:spAutoFit/>
          </a:bodyPr>
          <a:p>
            <a:r>
              <a:rPr lang="zh-CN" altLang="en-US" sz="1600"/>
              <a:t>整合患者病史、认知量表、</a:t>
            </a:r>
            <a:r>
              <a:rPr lang="en-US" altLang="zh-CN" sz="1600"/>
              <a:t>MRI/PET </a:t>
            </a:r>
            <a:r>
              <a:rPr lang="zh-CN" altLang="en-US" sz="1600"/>
              <a:t>影像及生物标志物等多源信息，通过特征融合或联合建模综合不同模态的诊断线索，开展认知状态评估、痴呆病因鉴别及疾病进展预测</a:t>
            </a:r>
            <a:endParaRPr lang="zh-CN" altLang="en-US" sz="1600"/>
          </a:p>
        </p:txBody>
      </p:sp>
      <p:sp>
        <p:nvSpPr>
          <p:cNvPr id="155" name="文本框 154"/>
          <p:cNvSpPr txBox="1"/>
          <p:nvPr/>
        </p:nvSpPr>
        <p:spPr>
          <a:xfrm>
            <a:off x="3853815" y="3603625"/>
            <a:ext cx="4064000" cy="1814830"/>
          </a:xfrm>
          <a:prstGeom prst="rect">
            <a:avLst/>
          </a:prstGeom>
          <a:noFill/>
        </p:spPr>
        <p:txBody>
          <a:bodyPr wrap="square" rtlCol="0">
            <a:spAutoFit/>
          </a:bodyPr>
          <a:p>
            <a:r>
              <a:rPr lang="en-US" altLang="zh-CN" sz="1400"/>
              <a:t>Qiu et al., 2022</a:t>
            </a:r>
            <a:r>
              <a:rPr lang="zh-CN" altLang="en-US" sz="1400"/>
              <a:t>构建</a:t>
            </a:r>
            <a:r>
              <a:rPr lang="zh-CN" altLang="en-US" sz="1400"/>
              <a:t>了融合 </a:t>
            </a:r>
            <a:r>
              <a:rPr lang="en-US" altLang="zh-CN" sz="1400"/>
              <a:t>MRI、</a:t>
            </a:r>
            <a:r>
              <a:rPr lang="zh-CN" altLang="en-US" sz="1400"/>
              <a:t>人口学信息、病史和神经心理评估的深度学习框架，识别正常认知、轻度认知障碍和痴呆状态，并辅助区分阿尔茨海默病与其他病因导致的痴呆。</a:t>
            </a:r>
            <a:endParaRPr lang="zh-CN" altLang="en-US" sz="1400"/>
          </a:p>
          <a:p>
            <a:r>
              <a:rPr lang="en-US" altLang="zh-CN" sz="1400"/>
              <a:t>Xue et al., 2024</a:t>
            </a:r>
            <a:r>
              <a:rPr lang="zh-CN" altLang="en-US" sz="1400"/>
              <a:t>构建融合人口学资料、病史、用药、认知功能评估和多序列 </a:t>
            </a:r>
            <a:r>
              <a:rPr lang="en-US" altLang="zh-CN" sz="1400"/>
              <a:t>MRI </a:t>
            </a:r>
            <a:r>
              <a:rPr lang="zh-CN" altLang="en-US" sz="1400"/>
              <a:t>的人工智能模型，对十类痴呆病因及共存病因进行鉴别，并评估患者资料不完整时的诊断表现。</a:t>
            </a:r>
            <a:endParaRPr lang="zh-CN" altLang="en-US" sz="1400"/>
          </a:p>
        </p:txBody>
      </p:sp>
      <p:sp>
        <p:nvSpPr>
          <p:cNvPr id="156" name="文本框 155"/>
          <p:cNvSpPr txBox="1"/>
          <p:nvPr/>
        </p:nvSpPr>
        <p:spPr>
          <a:xfrm>
            <a:off x="8253095" y="1518920"/>
            <a:ext cx="3695700" cy="1322070"/>
          </a:xfrm>
          <a:prstGeom prst="rect">
            <a:avLst/>
          </a:prstGeom>
          <a:noFill/>
        </p:spPr>
        <p:txBody>
          <a:bodyPr wrap="square" rtlCol="0">
            <a:spAutoFit/>
          </a:bodyPr>
          <a:p>
            <a:r>
              <a:rPr lang="zh-CN" altLang="en-US" sz="1600"/>
              <a:t>利用大语言模型理解病历和医学文本，通过智能体分工协作、外部知识检索与专用工具调用，综合患者不同类型的资料及分析结果，为辅助诊断和疾病风险评估提供支持</a:t>
            </a:r>
            <a:endParaRPr lang="zh-CN" altLang="en-US" sz="1600"/>
          </a:p>
        </p:txBody>
      </p:sp>
      <p:sp>
        <p:nvSpPr>
          <p:cNvPr id="157" name="文本框 156"/>
          <p:cNvSpPr txBox="1"/>
          <p:nvPr/>
        </p:nvSpPr>
        <p:spPr>
          <a:xfrm>
            <a:off x="8253095" y="3603625"/>
            <a:ext cx="3613150" cy="2245360"/>
          </a:xfrm>
          <a:prstGeom prst="rect">
            <a:avLst/>
          </a:prstGeom>
          <a:noFill/>
        </p:spPr>
        <p:txBody>
          <a:bodyPr wrap="square" rtlCol="0">
            <a:spAutoFit/>
          </a:bodyPr>
          <a:p>
            <a:r>
              <a:rPr lang="en-US" altLang="zh-CN" sz="1400"/>
              <a:t>ADAgent, 2025</a:t>
            </a:r>
            <a:r>
              <a:rPr lang="zh-CN" altLang="en-US" sz="1400"/>
              <a:t>提出</a:t>
            </a:r>
            <a:r>
              <a:rPr lang="zh-CN" altLang="en-US" sz="1400"/>
              <a:t>了由 </a:t>
            </a:r>
            <a:r>
              <a:rPr lang="en-US" altLang="zh-CN" sz="1400"/>
              <a:t>LLM </a:t>
            </a:r>
            <a:r>
              <a:rPr lang="zh-CN" altLang="en-US" sz="1400"/>
              <a:t>驱动的 </a:t>
            </a:r>
            <a:r>
              <a:rPr lang="en-US" altLang="zh-CN" sz="1400"/>
              <a:t>AD </a:t>
            </a:r>
            <a:r>
              <a:rPr lang="zh-CN" altLang="en-US" sz="1400"/>
              <a:t>分析智能体，结合推理引擎、</a:t>
            </a:r>
            <a:r>
              <a:rPr lang="en-US" altLang="zh-CN" sz="1400"/>
              <a:t>MRI/PET </a:t>
            </a:r>
            <a:r>
              <a:rPr lang="zh-CN" altLang="en-US" sz="1400"/>
              <a:t>等专用医学工具及结果协调机制，处理不同模态组合或缺失输入，支持 </a:t>
            </a:r>
            <a:r>
              <a:rPr lang="en-US" altLang="zh-CN" sz="1400"/>
              <a:t>AD </a:t>
            </a:r>
            <a:r>
              <a:rPr lang="zh-CN" altLang="en-US" sz="1400"/>
              <a:t>诊断与疾病进展预测。</a:t>
            </a:r>
            <a:endParaRPr lang="zh-CN" altLang="en-US" sz="1400"/>
          </a:p>
          <a:p>
            <a:r>
              <a:rPr lang="en-US" altLang="zh-CN" sz="1400"/>
              <a:t>CARE-AD, 2025</a:t>
            </a:r>
            <a:r>
              <a:rPr lang="zh-CN" altLang="en-US" sz="1400"/>
              <a:t>构建</a:t>
            </a:r>
            <a:r>
              <a:rPr lang="zh-CN" altLang="en-US" sz="1400"/>
              <a:t>了基于 </a:t>
            </a:r>
            <a:r>
              <a:rPr lang="en-US" altLang="zh-CN" sz="1400"/>
              <a:t>LLM </a:t>
            </a:r>
            <a:r>
              <a:rPr lang="zh-CN" altLang="en-US" sz="1400"/>
              <a:t>的多智能体框架，从纵向电子病历中提取 </a:t>
            </a:r>
            <a:r>
              <a:rPr lang="en-US" altLang="zh-CN" sz="1400"/>
              <a:t>AD </a:t>
            </a:r>
            <a:r>
              <a:rPr lang="zh-CN" altLang="en-US" sz="1400"/>
              <a:t>相关症状，由不同专属智能体进行领域分析并综合评估，预测患者在首次记录 </a:t>
            </a:r>
            <a:r>
              <a:rPr lang="en-US" altLang="zh-CN" sz="1400"/>
              <a:t>AD </a:t>
            </a:r>
            <a:r>
              <a:rPr lang="zh-CN" altLang="en-US" sz="1400"/>
              <a:t>诊断之前的发病风险。</a:t>
            </a:r>
            <a:endParaRPr lang="zh-CN" altLang="en-US" sz="1400"/>
          </a:p>
        </p:txBody>
      </p:sp>
      <p:sp>
        <p:nvSpPr>
          <p:cNvPr id="158" name="文本框 157"/>
          <p:cNvSpPr txBox="1"/>
          <p:nvPr/>
        </p:nvSpPr>
        <p:spPr>
          <a:xfrm>
            <a:off x="10176646" y="88234"/>
            <a:ext cx="2015375" cy="460375"/>
          </a:xfrm>
          <a:prstGeom prst="rect">
            <a:avLst/>
          </a:prstGeom>
          <a:noFill/>
        </p:spPr>
        <p:txBody>
          <a:bodyPr wrap="squar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研究</a:t>
            </a:r>
            <a:r>
              <a:rPr lang="zh-CN" altLang="en-US" sz="2400" b="1" dirty="0">
                <a:solidFill>
                  <a:schemeClr val="bg1"/>
                </a:solidFill>
                <a:latin typeface="微软雅黑" panose="020B0503020204020204" pitchFamily="34" charset="-122"/>
                <a:ea typeface="微软雅黑" panose="020B0503020204020204" pitchFamily="34" charset="-122"/>
              </a:rPr>
              <a:t>计划</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49"/>
                                        </p:tgtEl>
                                        <p:attrNameLst>
                                          <p:attrName>style.visibility</p:attrName>
                                        </p:attrNameLst>
                                      </p:cBhvr>
                                      <p:to>
                                        <p:strVal val="visible"/>
                                      </p:to>
                                    </p:set>
                                    <p:anim calcmode="lin" valueType="num">
                                      <p:cBhvr additive="base">
                                        <p:cTn id="7" dur="500" fill="hold"/>
                                        <p:tgtEl>
                                          <p:spTgt spid="149"/>
                                        </p:tgtEl>
                                        <p:attrNameLst>
                                          <p:attrName>ppt_x</p:attrName>
                                        </p:attrNameLst>
                                      </p:cBhvr>
                                      <p:tavLst>
                                        <p:tav tm="0">
                                          <p:val>
                                            <p:strVal val="#ppt_x"/>
                                          </p:val>
                                        </p:tav>
                                        <p:tav tm="100000">
                                          <p:val>
                                            <p:strVal val="#ppt_x"/>
                                          </p:val>
                                        </p:tav>
                                      </p:tavLst>
                                    </p:anim>
                                    <p:anim calcmode="lin" valueType="num">
                                      <p:cBhvr additive="base">
                                        <p:cTn id="8" dur="500" fill="hold"/>
                                        <p:tgtEl>
                                          <p:spTgt spid="1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207645" y="925830"/>
            <a:ext cx="5830570" cy="4742180"/>
          </a:xfrm>
          <a:prstGeom prst="roundRect">
            <a:avLst>
              <a:gd name="adj" fmla="val 871"/>
            </a:avLst>
          </a:prstGeom>
          <a:solidFill>
            <a:srgbClr val="FEFEFE"/>
          </a:solidFill>
          <a:ln w="15875">
            <a:solidFill>
              <a:srgbClr val="C6D8E3"/>
            </a:solidFill>
            <a:prstDash val="solid"/>
          </a:ln>
        </p:spPr>
      </p:sp>
      <p:sp>
        <p:nvSpPr>
          <p:cNvPr id="5" name="Shape 3"/>
          <p:cNvSpPr/>
          <p:nvPr/>
        </p:nvSpPr>
        <p:spPr>
          <a:xfrm>
            <a:off x="6169025" y="925830"/>
            <a:ext cx="5837555" cy="4742815"/>
          </a:xfrm>
          <a:prstGeom prst="roundRect">
            <a:avLst>
              <a:gd name="adj" fmla="val 871"/>
            </a:avLst>
          </a:prstGeom>
          <a:solidFill>
            <a:srgbClr val="FEFEFE"/>
          </a:solidFill>
          <a:ln w="15875">
            <a:solidFill>
              <a:srgbClr val="C6D8E3"/>
            </a:solidFill>
            <a:prstDash val="solid"/>
          </a:ln>
        </p:spPr>
      </p:sp>
      <p:sp>
        <p:nvSpPr>
          <p:cNvPr id="6" name="Shape 4"/>
          <p:cNvSpPr/>
          <p:nvPr/>
        </p:nvSpPr>
        <p:spPr>
          <a:xfrm>
            <a:off x="346022" y="1610680"/>
            <a:ext cx="947421" cy="2426856"/>
          </a:xfrm>
          <a:prstGeom prst="roundRect">
            <a:avLst>
              <a:gd name="adj" fmla="val 3077"/>
            </a:avLst>
          </a:prstGeom>
          <a:solidFill>
            <a:srgbClr val="F3F7F8"/>
          </a:solidFill>
          <a:ln w="15875">
            <a:solidFill>
              <a:srgbClr val="CAD9E2"/>
            </a:solidFill>
            <a:prstDash val="solid"/>
          </a:ln>
        </p:spPr>
      </p:sp>
      <p:sp>
        <p:nvSpPr>
          <p:cNvPr id="7" name="Shape 5"/>
          <p:cNvSpPr/>
          <p:nvPr/>
        </p:nvSpPr>
        <p:spPr>
          <a:xfrm>
            <a:off x="1402761" y="1610680"/>
            <a:ext cx="3330550" cy="1800100"/>
          </a:xfrm>
          <a:prstGeom prst="roundRect">
            <a:avLst>
              <a:gd name="adj" fmla="val 1619"/>
            </a:avLst>
          </a:prstGeom>
          <a:solidFill>
            <a:srgbClr val="EEF3F7"/>
          </a:solidFill>
          <a:ln w="15875">
            <a:solidFill>
              <a:srgbClr val="B9D0DE"/>
            </a:solidFill>
            <a:prstDash val="dash"/>
          </a:ln>
        </p:spPr>
      </p:sp>
      <p:sp>
        <p:nvSpPr>
          <p:cNvPr id="8" name="Shape 6"/>
          <p:cNvSpPr/>
          <p:nvPr/>
        </p:nvSpPr>
        <p:spPr>
          <a:xfrm>
            <a:off x="1410049" y="3512810"/>
            <a:ext cx="3308686" cy="561165"/>
          </a:xfrm>
          <a:prstGeom prst="rect">
            <a:avLst/>
          </a:prstGeom>
          <a:solidFill>
            <a:srgbClr val="F8FBFC"/>
          </a:solidFill>
          <a:ln w="15875">
            <a:solidFill>
              <a:srgbClr val="B9D0DE"/>
            </a:solidFill>
            <a:prstDash val="dash"/>
          </a:ln>
        </p:spPr>
      </p:sp>
      <p:sp>
        <p:nvSpPr>
          <p:cNvPr id="10" name="Shape 8"/>
          <p:cNvSpPr/>
          <p:nvPr/>
        </p:nvSpPr>
        <p:spPr>
          <a:xfrm>
            <a:off x="346075" y="4212590"/>
            <a:ext cx="2710815" cy="1355725"/>
          </a:xfrm>
          <a:prstGeom prst="roundRect">
            <a:avLst>
              <a:gd name="adj" fmla="val 3670"/>
            </a:avLst>
          </a:prstGeom>
          <a:solidFill>
            <a:srgbClr val="F0F7F9"/>
          </a:solidFill>
          <a:ln w="12700">
            <a:solidFill>
              <a:srgbClr val="F0F7F9">
                <a:alpha val="0"/>
              </a:srgbClr>
            </a:solidFill>
            <a:prstDash val="solid"/>
          </a:ln>
        </p:spPr>
      </p:sp>
      <p:sp>
        <p:nvSpPr>
          <p:cNvPr id="12" name="Shape 10"/>
          <p:cNvSpPr/>
          <p:nvPr/>
        </p:nvSpPr>
        <p:spPr>
          <a:xfrm>
            <a:off x="6343927" y="1603392"/>
            <a:ext cx="1071315" cy="2470583"/>
          </a:xfrm>
          <a:prstGeom prst="roundRect">
            <a:avLst>
              <a:gd name="adj" fmla="val 3414"/>
            </a:avLst>
          </a:prstGeom>
          <a:solidFill>
            <a:srgbClr val="FAFAFA"/>
          </a:solidFill>
          <a:ln w="15875">
            <a:solidFill>
              <a:srgbClr val="CAD9E2"/>
            </a:solidFill>
            <a:prstDash val="solid"/>
          </a:ln>
        </p:spPr>
      </p:sp>
      <p:sp>
        <p:nvSpPr>
          <p:cNvPr id="13" name="Shape 11"/>
          <p:cNvSpPr/>
          <p:nvPr/>
        </p:nvSpPr>
        <p:spPr>
          <a:xfrm>
            <a:off x="7531848" y="1523226"/>
            <a:ext cx="1800100" cy="2609052"/>
          </a:xfrm>
          <a:prstGeom prst="roundRect">
            <a:avLst>
              <a:gd name="adj" fmla="val 2032"/>
            </a:avLst>
          </a:prstGeom>
          <a:solidFill>
            <a:srgbClr val="F9FAFA"/>
          </a:solidFill>
          <a:ln w="9525">
            <a:solidFill>
              <a:srgbClr val="D1D1D1"/>
            </a:solidFill>
            <a:prstDash val="dash"/>
          </a:ln>
        </p:spPr>
      </p:sp>
      <p:sp>
        <p:nvSpPr>
          <p:cNvPr id="14" name="Shape 12"/>
          <p:cNvSpPr/>
          <p:nvPr/>
        </p:nvSpPr>
        <p:spPr>
          <a:xfrm>
            <a:off x="9404827" y="1523226"/>
            <a:ext cx="2492447" cy="2594477"/>
          </a:xfrm>
          <a:prstGeom prst="rect">
            <a:avLst/>
          </a:prstGeom>
          <a:solidFill>
            <a:srgbClr val="F9FAFB"/>
          </a:solidFill>
          <a:ln w="9525">
            <a:solidFill>
              <a:srgbClr val="D1D1D1"/>
            </a:solidFill>
            <a:prstDash val="dash"/>
          </a:ln>
        </p:spPr>
      </p:sp>
      <p:sp>
        <p:nvSpPr>
          <p:cNvPr id="20" name="Shape 18"/>
          <p:cNvSpPr/>
          <p:nvPr/>
        </p:nvSpPr>
        <p:spPr>
          <a:xfrm>
            <a:off x="229417" y="932909"/>
            <a:ext cx="5786557" cy="495574"/>
          </a:xfrm>
          <a:prstGeom prst="roundRect">
            <a:avLst>
              <a:gd name="adj" fmla="val 7353"/>
            </a:avLst>
          </a:prstGeom>
          <a:solidFill>
            <a:srgbClr val="F1F7F9"/>
          </a:solidFill>
          <a:ln w="12700">
            <a:solidFill>
              <a:srgbClr val="F1F7F9">
                <a:alpha val="0"/>
              </a:srgbClr>
            </a:solidFill>
            <a:prstDash val="solid"/>
          </a:ln>
        </p:spPr>
      </p:sp>
      <p:sp>
        <p:nvSpPr>
          <p:cNvPr id="21" name="Shape 19"/>
          <p:cNvSpPr/>
          <p:nvPr/>
        </p:nvSpPr>
        <p:spPr>
          <a:xfrm>
            <a:off x="6183594" y="932909"/>
            <a:ext cx="5808421" cy="495574"/>
          </a:xfrm>
          <a:prstGeom prst="rect">
            <a:avLst/>
          </a:prstGeom>
          <a:solidFill>
            <a:srgbClr val="F2F7FA"/>
          </a:solidFill>
          <a:ln w="12700">
            <a:solidFill>
              <a:srgbClr val="F2F7FA">
                <a:alpha val="0"/>
              </a:srgbClr>
            </a:solidFill>
            <a:prstDash val="solid"/>
          </a:ln>
        </p:spPr>
      </p:sp>
      <p:sp>
        <p:nvSpPr>
          <p:cNvPr id="24" name="Shape 21"/>
          <p:cNvSpPr/>
          <p:nvPr/>
        </p:nvSpPr>
        <p:spPr>
          <a:xfrm>
            <a:off x="1482928" y="1924058"/>
            <a:ext cx="655907" cy="889118"/>
          </a:xfrm>
          <a:prstGeom prst="rect">
            <a:avLst/>
          </a:prstGeom>
          <a:solidFill>
            <a:srgbClr val="FEFEFE"/>
          </a:solidFill>
          <a:ln w="15875">
            <a:solidFill>
              <a:srgbClr val="B7CDDC"/>
            </a:solidFill>
            <a:prstDash val="solid"/>
          </a:ln>
        </p:spPr>
      </p:sp>
      <p:sp>
        <p:nvSpPr>
          <p:cNvPr id="25" name="Shape 22"/>
          <p:cNvSpPr/>
          <p:nvPr/>
        </p:nvSpPr>
        <p:spPr>
          <a:xfrm>
            <a:off x="2240865" y="1924058"/>
            <a:ext cx="706922" cy="889118"/>
          </a:xfrm>
          <a:prstGeom prst="rect">
            <a:avLst/>
          </a:prstGeom>
          <a:solidFill>
            <a:srgbClr val="FEFEFE"/>
          </a:solidFill>
          <a:ln w="15875">
            <a:solidFill>
              <a:srgbClr val="B7CDDC"/>
            </a:solidFill>
            <a:prstDash val="solid"/>
          </a:ln>
        </p:spPr>
      </p:sp>
      <p:sp>
        <p:nvSpPr>
          <p:cNvPr id="26" name="Shape 23"/>
          <p:cNvSpPr/>
          <p:nvPr/>
        </p:nvSpPr>
        <p:spPr>
          <a:xfrm>
            <a:off x="2998802" y="1924058"/>
            <a:ext cx="583028" cy="889118"/>
          </a:xfrm>
          <a:prstGeom prst="roundRect">
            <a:avLst>
              <a:gd name="adj" fmla="val 6150"/>
            </a:avLst>
          </a:prstGeom>
          <a:solidFill>
            <a:srgbClr val="FEFEFE"/>
          </a:solidFill>
          <a:ln w="15875">
            <a:solidFill>
              <a:srgbClr val="B7CDDC"/>
            </a:solidFill>
            <a:prstDash val="solid"/>
          </a:ln>
        </p:spPr>
      </p:sp>
      <p:sp>
        <p:nvSpPr>
          <p:cNvPr id="27" name="Shape 24"/>
          <p:cNvSpPr/>
          <p:nvPr/>
        </p:nvSpPr>
        <p:spPr>
          <a:xfrm>
            <a:off x="3647421" y="1924058"/>
            <a:ext cx="634043" cy="881831"/>
          </a:xfrm>
          <a:prstGeom prst="roundRect">
            <a:avLst>
              <a:gd name="adj" fmla="val 8046"/>
            </a:avLst>
          </a:prstGeom>
          <a:solidFill>
            <a:srgbClr val="FEFEFE"/>
          </a:solidFill>
          <a:ln w="15875">
            <a:solidFill>
              <a:srgbClr val="B7CDDC"/>
            </a:solidFill>
            <a:prstDash val="solid"/>
          </a:ln>
        </p:spPr>
      </p:sp>
      <p:sp>
        <p:nvSpPr>
          <p:cNvPr id="28" name="Shape 25"/>
          <p:cNvSpPr/>
          <p:nvPr/>
        </p:nvSpPr>
        <p:spPr>
          <a:xfrm>
            <a:off x="1468352" y="3031812"/>
            <a:ext cx="3199369" cy="291514"/>
          </a:xfrm>
          <a:prstGeom prst="roundRect">
            <a:avLst>
              <a:gd name="adj" fmla="val 12500"/>
            </a:avLst>
          </a:prstGeom>
          <a:solidFill>
            <a:srgbClr val="CFE3EE"/>
          </a:solidFill>
          <a:ln w="15875">
            <a:solidFill>
              <a:srgbClr val="B4CEDC"/>
            </a:solidFill>
            <a:prstDash val="solid"/>
          </a:ln>
        </p:spPr>
      </p:sp>
      <p:sp>
        <p:nvSpPr>
          <p:cNvPr id="29" name="Shape 26"/>
          <p:cNvSpPr/>
          <p:nvPr/>
        </p:nvSpPr>
        <p:spPr>
          <a:xfrm>
            <a:off x="1461064" y="3571113"/>
            <a:ext cx="3199369" cy="437271"/>
          </a:xfrm>
          <a:prstGeom prst="roundRect">
            <a:avLst>
              <a:gd name="adj" fmla="val 8333"/>
            </a:avLst>
          </a:prstGeom>
          <a:solidFill>
            <a:srgbClr val="E9F3E7"/>
          </a:solidFill>
          <a:ln w="15875">
            <a:solidFill>
              <a:srgbClr val="D0E2CE"/>
            </a:solidFill>
            <a:prstDash val="solid"/>
          </a:ln>
        </p:spPr>
      </p:sp>
      <p:sp>
        <p:nvSpPr>
          <p:cNvPr id="32" name="Shape 29"/>
          <p:cNvSpPr/>
          <p:nvPr/>
        </p:nvSpPr>
        <p:spPr>
          <a:xfrm>
            <a:off x="7575575" y="1916770"/>
            <a:ext cx="1690782" cy="1967721"/>
          </a:xfrm>
          <a:prstGeom prst="roundRect">
            <a:avLst>
              <a:gd name="adj" fmla="val 2163"/>
            </a:avLst>
          </a:prstGeom>
          <a:solidFill>
            <a:srgbClr val="F3F3F3"/>
          </a:solidFill>
          <a:ln w="15875">
            <a:solidFill>
              <a:srgbClr val="D4D4D4"/>
            </a:solidFill>
            <a:prstDash val="solid"/>
          </a:ln>
        </p:spPr>
      </p:sp>
      <p:sp>
        <p:nvSpPr>
          <p:cNvPr id="33" name="Shape 30"/>
          <p:cNvSpPr/>
          <p:nvPr/>
        </p:nvSpPr>
        <p:spPr>
          <a:xfrm>
            <a:off x="9623462" y="1792876"/>
            <a:ext cx="1020300" cy="298802"/>
          </a:xfrm>
          <a:prstGeom prst="roundRect">
            <a:avLst>
              <a:gd name="adj" fmla="val 9756"/>
            </a:avLst>
          </a:prstGeom>
          <a:solidFill>
            <a:srgbClr val="FEFEFE"/>
          </a:solidFill>
          <a:ln w="15875">
            <a:solidFill>
              <a:srgbClr val="79A8C7"/>
            </a:solidFill>
            <a:prstDash val="solid"/>
          </a:ln>
        </p:spPr>
      </p:sp>
      <p:sp>
        <p:nvSpPr>
          <p:cNvPr id="34" name="Shape 31"/>
          <p:cNvSpPr/>
          <p:nvPr/>
        </p:nvSpPr>
        <p:spPr>
          <a:xfrm>
            <a:off x="9630750" y="2230148"/>
            <a:ext cx="1027588" cy="422696"/>
          </a:xfrm>
          <a:prstGeom prst="roundRect">
            <a:avLst>
              <a:gd name="adj" fmla="val 8621"/>
            </a:avLst>
          </a:prstGeom>
          <a:solidFill>
            <a:srgbClr val="FEFEFE"/>
          </a:solidFill>
          <a:ln w="15875">
            <a:solidFill>
              <a:srgbClr val="79A8C7"/>
            </a:solidFill>
            <a:prstDash val="solid"/>
          </a:ln>
        </p:spPr>
      </p:sp>
      <p:sp>
        <p:nvSpPr>
          <p:cNvPr id="35" name="Shape 32"/>
          <p:cNvSpPr/>
          <p:nvPr/>
        </p:nvSpPr>
        <p:spPr>
          <a:xfrm>
            <a:off x="9623462" y="2849615"/>
            <a:ext cx="1034875" cy="415408"/>
          </a:xfrm>
          <a:prstGeom prst="roundRect">
            <a:avLst>
              <a:gd name="adj" fmla="val 8772"/>
            </a:avLst>
          </a:prstGeom>
          <a:solidFill>
            <a:srgbClr val="FEFEFE"/>
          </a:solidFill>
          <a:ln w="15875">
            <a:solidFill>
              <a:srgbClr val="79A8C7"/>
            </a:solidFill>
            <a:prstDash val="solid"/>
          </a:ln>
        </p:spPr>
      </p:sp>
      <p:sp>
        <p:nvSpPr>
          <p:cNvPr id="36" name="Shape 33"/>
          <p:cNvSpPr/>
          <p:nvPr/>
        </p:nvSpPr>
        <p:spPr>
          <a:xfrm>
            <a:off x="9623462" y="3490947"/>
            <a:ext cx="1042163" cy="444559"/>
          </a:xfrm>
          <a:prstGeom prst="roundRect">
            <a:avLst>
              <a:gd name="adj" fmla="val 8197"/>
            </a:avLst>
          </a:prstGeom>
          <a:solidFill>
            <a:srgbClr val="FEFEFE"/>
          </a:solidFill>
          <a:ln w="15875">
            <a:solidFill>
              <a:srgbClr val="79A8C7"/>
            </a:solidFill>
            <a:prstDash val="solid"/>
          </a:ln>
        </p:spPr>
      </p:sp>
      <p:sp>
        <p:nvSpPr>
          <p:cNvPr id="37" name="Shape 34"/>
          <p:cNvSpPr/>
          <p:nvPr/>
        </p:nvSpPr>
        <p:spPr>
          <a:xfrm>
            <a:off x="10876973" y="3476371"/>
            <a:ext cx="961997" cy="466423"/>
          </a:xfrm>
          <a:prstGeom prst="roundRect">
            <a:avLst>
              <a:gd name="adj" fmla="val 6000"/>
            </a:avLst>
          </a:prstGeom>
          <a:solidFill>
            <a:srgbClr val="FEFEFE"/>
          </a:solidFill>
          <a:ln w="15875">
            <a:solidFill>
              <a:srgbClr val="C5C5C5"/>
            </a:solidFill>
            <a:prstDash val="solid"/>
          </a:ln>
        </p:spPr>
      </p:sp>
      <p:sp>
        <p:nvSpPr>
          <p:cNvPr id="42" name="Shape 39"/>
          <p:cNvSpPr/>
          <p:nvPr/>
        </p:nvSpPr>
        <p:spPr>
          <a:xfrm>
            <a:off x="316871" y="1013076"/>
            <a:ext cx="451847" cy="371681"/>
          </a:xfrm>
          <a:prstGeom prst="roundRect">
            <a:avLst>
              <a:gd name="adj" fmla="val 6000"/>
            </a:avLst>
          </a:prstGeom>
          <a:solidFill>
            <a:srgbClr val="294C74"/>
          </a:solidFill>
          <a:ln w="12700">
            <a:solidFill>
              <a:srgbClr val="294C74">
                <a:alpha val="0"/>
              </a:srgbClr>
            </a:solidFill>
            <a:prstDash val="solid"/>
          </a:ln>
        </p:spPr>
      </p:sp>
      <p:sp>
        <p:nvSpPr>
          <p:cNvPr id="43" name="Shape 40"/>
          <p:cNvSpPr/>
          <p:nvPr/>
        </p:nvSpPr>
        <p:spPr>
          <a:xfrm>
            <a:off x="6300200" y="1005788"/>
            <a:ext cx="451847" cy="371681"/>
          </a:xfrm>
          <a:prstGeom prst="roundRect">
            <a:avLst>
              <a:gd name="adj" fmla="val 6000"/>
            </a:avLst>
          </a:prstGeom>
          <a:solidFill>
            <a:srgbClr val="294C74"/>
          </a:solidFill>
          <a:ln w="12700">
            <a:solidFill>
              <a:srgbClr val="294C74">
                <a:alpha val="0"/>
              </a:srgbClr>
            </a:solidFill>
            <a:prstDash val="solid"/>
          </a:ln>
        </p:spPr>
      </p:sp>
      <p:sp>
        <p:nvSpPr>
          <p:cNvPr id="49" name="Shape 46"/>
          <p:cNvSpPr/>
          <p:nvPr/>
        </p:nvSpPr>
        <p:spPr>
          <a:xfrm>
            <a:off x="11248654" y="1093242"/>
            <a:ext cx="575741" cy="240499"/>
          </a:xfrm>
          <a:prstGeom prst="roundRect">
            <a:avLst>
              <a:gd name="adj" fmla="val 5273"/>
            </a:avLst>
          </a:prstGeom>
          <a:solidFill>
            <a:srgbClr val="F7FAFC"/>
          </a:solidFill>
          <a:ln w="12700">
            <a:solidFill>
              <a:srgbClr val="F7FAFC">
                <a:alpha val="0"/>
              </a:srgbClr>
            </a:solidFill>
            <a:prstDash val="solid"/>
          </a:ln>
        </p:spPr>
      </p:sp>
      <p:pic>
        <p:nvPicPr>
          <p:cNvPr id="50" name="Image 1" descr="salvage"/>
          <p:cNvPicPr>
            <a:picLocks noChangeAspect="1"/>
          </p:cNvPicPr>
          <p:nvPr/>
        </p:nvPicPr>
        <p:blipFill>
          <a:blip r:embed="rId1"/>
          <a:stretch>
            <a:fillRect/>
          </a:stretch>
        </p:blipFill>
        <p:spPr>
          <a:xfrm>
            <a:off x="703127" y="3695007"/>
            <a:ext cx="196772" cy="109318"/>
          </a:xfrm>
          <a:prstGeom prst="rect">
            <a:avLst/>
          </a:prstGeom>
        </p:spPr>
      </p:pic>
      <p:pic>
        <p:nvPicPr>
          <p:cNvPr id="51" name="Image 2" descr="salvage"/>
          <p:cNvPicPr>
            <a:picLocks noChangeAspect="1"/>
          </p:cNvPicPr>
          <p:nvPr/>
        </p:nvPicPr>
        <p:blipFill>
          <a:blip r:embed="rId2"/>
          <a:stretch>
            <a:fillRect/>
          </a:stretch>
        </p:blipFill>
        <p:spPr>
          <a:xfrm>
            <a:off x="4398070" y="2222860"/>
            <a:ext cx="189484" cy="123894"/>
          </a:xfrm>
          <a:prstGeom prst="rect">
            <a:avLst/>
          </a:prstGeom>
        </p:spPr>
      </p:pic>
      <p:pic>
        <p:nvPicPr>
          <p:cNvPr id="52" name="Image 3" descr="salvage"/>
          <p:cNvPicPr>
            <a:picLocks noChangeAspect="1"/>
          </p:cNvPicPr>
          <p:nvPr/>
        </p:nvPicPr>
        <p:blipFill>
          <a:blip r:embed="rId3"/>
          <a:stretch>
            <a:fillRect/>
          </a:stretch>
        </p:blipFill>
        <p:spPr>
          <a:xfrm>
            <a:off x="5287188" y="3767885"/>
            <a:ext cx="196772" cy="116606"/>
          </a:xfrm>
          <a:prstGeom prst="rect">
            <a:avLst/>
          </a:prstGeom>
        </p:spPr>
      </p:pic>
      <p:pic>
        <p:nvPicPr>
          <p:cNvPr id="53" name="Image 4" descr="salvage"/>
          <p:cNvPicPr>
            <a:picLocks noChangeAspect="1"/>
          </p:cNvPicPr>
          <p:nvPr/>
        </p:nvPicPr>
        <p:blipFill>
          <a:blip r:embed="rId4"/>
          <a:stretch>
            <a:fillRect/>
          </a:stretch>
        </p:blipFill>
        <p:spPr>
          <a:xfrm>
            <a:off x="6781199" y="3695007"/>
            <a:ext cx="196772" cy="116606"/>
          </a:xfrm>
          <a:prstGeom prst="rect">
            <a:avLst/>
          </a:prstGeom>
        </p:spPr>
      </p:pic>
      <p:pic>
        <p:nvPicPr>
          <p:cNvPr id="54" name="Image 5" descr="icon"/>
          <p:cNvPicPr>
            <a:picLocks noChangeAspect="1"/>
          </p:cNvPicPr>
          <p:nvPr/>
        </p:nvPicPr>
        <p:blipFill>
          <a:blip r:embed="rId5"/>
          <a:stretch>
            <a:fillRect/>
          </a:stretch>
        </p:blipFill>
        <p:spPr>
          <a:xfrm>
            <a:off x="9295509" y="1916770"/>
            <a:ext cx="327953" cy="940133"/>
          </a:xfrm>
          <a:prstGeom prst="rect">
            <a:avLst/>
          </a:prstGeom>
        </p:spPr>
      </p:pic>
      <p:pic>
        <p:nvPicPr>
          <p:cNvPr id="55" name="Image 6" descr="icon"/>
          <p:cNvPicPr>
            <a:picLocks noChangeAspect="1"/>
          </p:cNvPicPr>
          <p:nvPr/>
        </p:nvPicPr>
        <p:blipFill>
          <a:blip r:embed="rId6"/>
          <a:stretch>
            <a:fillRect/>
          </a:stretch>
        </p:blipFill>
        <p:spPr>
          <a:xfrm>
            <a:off x="4704160" y="2405056"/>
            <a:ext cx="160333" cy="109318"/>
          </a:xfrm>
          <a:prstGeom prst="rect">
            <a:avLst/>
          </a:prstGeom>
        </p:spPr>
      </p:pic>
      <p:pic>
        <p:nvPicPr>
          <p:cNvPr id="56" name="Image 7" descr="icon"/>
          <p:cNvPicPr>
            <a:picLocks noChangeAspect="1"/>
          </p:cNvPicPr>
          <p:nvPr/>
        </p:nvPicPr>
        <p:blipFill>
          <a:blip r:embed="rId7"/>
          <a:stretch>
            <a:fillRect/>
          </a:stretch>
        </p:blipFill>
        <p:spPr>
          <a:xfrm>
            <a:off x="1898335" y="3308750"/>
            <a:ext cx="87454" cy="218636"/>
          </a:xfrm>
          <a:prstGeom prst="rect">
            <a:avLst/>
          </a:prstGeom>
        </p:spPr>
      </p:pic>
      <p:pic>
        <p:nvPicPr>
          <p:cNvPr id="57" name="Image 8" descr="icon"/>
          <p:cNvPicPr>
            <a:picLocks noChangeAspect="1"/>
          </p:cNvPicPr>
          <p:nvPr/>
        </p:nvPicPr>
        <p:blipFill>
          <a:blip r:embed="rId8"/>
          <a:stretch>
            <a:fillRect/>
          </a:stretch>
        </p:blipFill>
        <p:spPr>
          <a:xfrm>
            <a:off x="1271580" y="2405056"/>
            <a:ext cx="153045" cy="109318"/>
          </a:xfrm>
          <a:prstGeom prst="rect">
            <a:avLst/>
          </a:prstGeom>
        </p:spPr>
      </p:pic>
      <p:sp>
        <p:nvSpPr>
          <p:cNvPr id="58" name="image2ppt-measured-path-1"/>
          <p:cNvSpPr/>
          <p:nvPr/>
        </p:nvSpPr>
        <p:spPr>
          <a:xfrm>
            <a:off x="10669641" y="3009005"/>
            <a:ext cx="199536" cy="83384"/>
          </a:xfrm>
          <a:custGeom>
            <a:avLst/>
            <a:gdLst/>
            <a:ahLst/>
            <a:cxnLst/>
            <a:rect l="l" t="t" r="r" b="b"/>
            <a:pathLst>
              <a:path w="199536" h="83384" fill="none">
                <a:moveTo>
                  <a:pt x="131204" y="42773"/>
                </a:moveTo>
                <a:lnTo>
                  <a:pt x="0" y="42773"/>
                </a:lnTo>
              </a:path>
              <a:path w="199536" h="83384" stroke="0">
                <a:moveTo>
                  <a:pt x="199536" y="54103"/>
                </a:moveTo>
                <a:lnTo>
                  <a:pt x="126984" y="83384"/>
                </a:lnTo>
                <a:lnTo>
                  <a:pt x="135425" y="0"/>
                </a:lnTo>
                <a:close/>
              </a:path>
            </a:pathLst>
          </a:custGeom>
          <a:solidFill>
            <a:srgbClr val="859CB1"/>
          </a:solidFill>
          <a:ln w="14576">
            <a:solidFill>
              <a:srgbClr val="859CB1"/>
            </a:solidFill>
            <a:prstDash val="solid"/>
          </a:ln>
        </p:spPr>
      </p:sp>
      <p:sp>
        <p:nvSpPr>
          <p:cNvPr id="59" name="image2ppt-measured-path-2"/>
          <p:cNvSpPr/>
          <p:nvPr/>
        </p:nvSpPr>
        <p:spPr>
          <a:xfrm>
            <a:off x="10676676" y="3664752"/>
            <a:ext cx="193000" cy="87208"/>
          </a:xfrm>
          <a:custGeom>
            <a:avLst/>
            <a:gdLst/>
            <a:ahLst/>
            <a:cxnLst/>
            <a:rect l="l" t="t" r="r" b="b"/>
            <a:pathLst>
              <a:path w="193000" h="87208" fill="none">
                <a:moveTo>
                  <a:pt x="0" y="41391"/>
                </a:moveTo>
                <a:lnTo>
                  <a:pt x="123960" y="41391"/>
                </a:lnTo>
              </a:path>
              <a:path w="193000" h="87208" stroke="0">
                <a:moveTo>
                  <a:pt x="193000" y="48793"/>
                </a:moveTo>
                <a:lnTo>
                  <a:pt x="120683" y="87208"/>
                </a:lnTo>
                <a:lnTo>
                  <a:pt x="127237" y="0"/>
                </a:lnTo>
                <a:close/>
              </a:path>
            </a:pathLst>
          </a:custGeom>
          <a:solidFill>
            <a:srgbClr val="59758E"/>
          </a:solidFill>
          <a:ln w="9525">
            <a:solidFill>
              <a:srgbClr val="59758E"/>
            </a:solidFill>
            <a:prstDash val="solid"/>
          </a:ln>
        </p:spPr>
      </p:sp>
      <p:sp>
        <p:nvSpPr>
          <p:cNvPr id="60" name="image2ppt-measured-path-3"/>
          <p:cNvSpPr/>
          <p:nvPr/>
        </p:nvSpPr>
        <p:spPr>
          <a:xfrm>
            <a:off x="1777507" y="2813213"/>
            <a:ext cx="69223" cy="218578"/>
          </a:xfrm>
          <a:custGeom>
            <a:avLst/>
            <a:gdLst/>
            <a:ahLst/>
            <a:cxnLst/>
            <a:rect l="l" t="t" r="r" b="b"/>
            <a:pathLst>
              <a:path w="69223" h="218578" fill="none">
                <a:moveTo>
                  <a:pt x="34311" y="61970"/>
                </a:moveTo>
                <a:lnTo>
                  <a:pt x="34311" y="156675"/>
                </a:lnTo>
              </a:path>
              <a:path w="69223" h="218578" stroke="0">
                <a:moveTo>
                  <a:pt x="35669" y="0"/>
                </a:moveTo>
                <a:lnTo>
                  <a:pt x="67320" y="62539"/>
                </a:lnTo>
                <a:lnTo>
                  <a:pt x="5384" y="61401"/>
                </a:lnTo>
                <a:close/>
              </a:path>
              <a:path w="69223" h="218578" stroke="0">
                <a:moveTo>
                  <a:pt x="31652" y="218578"/>
                </a:moveTo>
                <a:lnTo>
                  <a:pt x="0" y="156039"/>
                </a:lnTo>
                <a:lnTo>
                  <a:pt x="69223" y="157311"/>
                </a:lnTo>
                <a:close/>
              </a:path>
            </a:pathLst>
          </a:custGeom>
          <a:solidFill>
            <a:srgbClr val="002351"/>
          </a:solidFill>
          <a:ln w="21864">
            <a:solidFill>
              <a:srgbClr val="002351"/>
            </a:solidFill>
            <a:prstDash val="solid"/>
          </a:ln>
        </p:spPr>
      </p:sp>
      <p:sp>
        <p:nvSpPr>
          <p:cNvPr id="61" name="image2ppt-measured-path-4"/>
          <p:cNvSpPr/>
          <p:nvPr/>
        </p:nvSpPr>
        <p:spPr>
          <a:xfrm>
            <a:off x="10061146" y="3265010"/>
            <a:ext cx="76522" cy="211362"/>
          </a:xfrm>
          <a:custGeom>
            <a:avLst/>
            <a:gdLst/>
            <a:ahLst/>
            <a:cxnLst/>
            <a:rect l="l" t="t" r="r" b="b"/>
            <a:pathLst>
              <a:path w="76522" h="211362" fill="none">
                <a:moveTo>
                  <a:pt x="41336" y="0"/>
                </a:moveTo>
                <a:lnTo>
                  <a:pt x="41336" y="127544"/>
                </a:lnTo>
              </a:path>
              <a:path w="76522" h="211362" stroke="0">
                <a:moveTo>
                  <a:pt x="43604" y="211362"/>
                </a:moveTo>
                <a:lnTo>
                  <a:pt x="0" y="127487"/>
                </a:lnTo>
                <a:lnTo>
                  <a:pt x="76522" y="127600"/>
                </a:lnTo>
                <a:close/>
              </a:path>
            </a:pathLst>
          </a:custGeom>
          <a:solidFill>
            <a:srgbClr val="1E476E"/>
          </a:solidFill>
          <a:ln w="14576">
            <a:solidFill>
              <a:srgbClr val="1E476E"/>
            </a:solidFill>
            <a:prstDash val="solid"/>
          </a:ln>
        </p:spPr>
      </p:sp>
      <p:sp>
        <p:nvSpPr>
          <p:cNvPr id="62" name="image2ppt-measured-path-5"/>
          <p:cNvSpPr/>
          <p:nvPr/>
        </p:nvSpPr>
        <p:spPr>
          <a:xfrm>
            <a:off x="2518726" y="2813059"/>
            <a:ext cx="62622" cy="218690"/>
          </a:xfrm>
          <a:custGeom>
            <a:avLst/>
            <a:gdLst/>
            <a:ahLst/>
            <a:cxnLst/>
            <a:rect l="l" t="t" r="r" b="b"/>
            <a:pathLst>
              <a:path w="62622" h="218690" fill="none">
                <a:moveTo>
                  <a:pt x="31230" y="61973"/>
                </a:moveTo>
                <a:lnTo>
                  <a:pt x="31230" y="156942"/>
                </a:lnTo>
              </a:path>
              <a:path w="62622" h="218690" stroke="0">
                <a:moveTo>
                  <a:pt x="31568" y="0"/>
                </a:moveTo>
                <a:lnTo>
                  <a:pt x="62622" y="61015"/>
                </a:lnTo>
                <a:lnTo>
                  <a:pt x="705" y="62932"/>
                </a:lnTo>
                <a:close/>
              </a:path>
              <a:path w="62622" h="218690" stroke="0">
                <a:moveTo>
                  <a:pt x="38339" y="218690"/>
                </a:moveTo>
                <a:lnTo>
                  <a:pt x="0" y="157901"/>
                </a:lnTo>
                <a:lnTo>
                  <a:pt x="61917" y="155984"/>
                </a:lnTo>
                <a:close/>
              </a:path>
            </a:pathLst>
          </a:custGeom>
          <a:solidFill>
            <a:srgbClr val="001F4A"/>
          </a:solidFill>
          <a:ln w="25508">
            <a:solidFill>
              <a:srgbClr val="001F4A"/>
            </a:solidFill>
            <a:prstDash val="solid"/>
          </a:ln>
        </p:spPr>
      </p:sp>
      <p:sp>
        <p:nvSpPr>
          <p:cNvPr id="63" name="image2ppt-measured-path-6"/>
          <p:cNvSpPr/>
          <p:nvPr/>
        </p:nvSpPr>
        <p:spPr>
          <a:xfrm>
            <a:off x="7407923" y="2434208"/>
            <a:ext cx="120280" cy="91098"/>
          </a:xfrm>
          <a:custGeom>
            <a:avLst/>
            <a:gdLst/>
            <a:ahLst/>
            <a:cxnLst/>
            <a:rect l="l" t="t" r="r" b="b"/>
            <a:pathLst>
              <a:path w="120280" h="91098" fill="none">
                <a:moveTo>
                  <a:pt x="0" y="47087"/>
                </a:moveTo>
                <a:lnTo>
                  <a:pt x="54690" y="47087"/>
                </a:lnTo>
              </a:path>
              <a:path w="120280" h="91098" stroke="0">
                <a:moveTo>
                  <a:pt x="120280" y="43727"/>
                </a:moveTo>
                <a:lnTo>
                  <a:pt x="54690" y="91098"/>
                </a:lnTo>
                <a:lnTo>
                  <a:pt x="54690" y="0"/>
                </a:lnTo>
                <a:close/>
              </a:path>
            </a:pathLst>
          </a:custGeom>
          <a:solidFill>
            <a:srgbClr val="25547D"/>
          </a:solidFill>
          <a:ln w="10932">
            <a:solidFill>
              <a:srgbClr val="25547D"/>
            </a:solidFill>
            <a:prstDash val="solid"/>
          </a:ln>
        </p:spPr>
      </p:sp>
      <p:sp>
        <p:nvSpPr>
          <p:cNvPr id="64" name="Shape 53"/>
          <p:cNvSpPr/>
          <p:nvPr/>
        </p:nvSpPr>
        <p:spPr>
          <a:xfrm>
            <a:off x="3293790" y="2820524"/>
            <a:ext cx="0" cy="196849"/>
          </a:xfrm>
          <a:prstGeom prst="line">
            <a:avLst/>
          </a:prstGeom>
          <a:noFill/>
          <a:ln w="29152">
            <a:solidFill>
              <a:srgbClr val="00204B"/>
            </a:solidFill>
            <a:prstDash val="solid"/>
          </a:ln>
        </p:spPr>
      </p:sp>
      <p:sp>
        <p:nvSpPr>
          <p:cNvPr id="65" name="image2ppt-measured-path-7"/>
          <p:cNvSpPr/>
          <p:nvPr/>
        </p:nvSpPr>
        <p:spPr>
          <a:xfrm>
            <a:off x="10062369" y="2656510"/>
            <a:ext cx="79991" cy="178586"/>
          </a:xfrm>
          <a:custGeom>
            <a:avLst/>
            <a:gdLst/>
            <a:ahLst/>
            <a:cxnLst/>
            <a:rect l="l" t="t" r="r" b="b"/>
            <a:pathLst>
              <a:path w="79991" h="178586" fill="none">
                <a:moveTo>
                  <a:pt x="38331" y="0"/>
                </a:moveTo>
                <a:lnTo>
                  <a:pt x="38331" y="87688"/>
                </a:lnTo>
              </a:path>
              <a:path w="79991" h="178586" stroke="0">
                <a:moveTo>
                  <a:pt x="33965" y="178586"/>
                </a:moveTo>
                <a:lnTo>
                  <a:pt x="0" y="85034"/>
                </a:lnTo>
                <a:lnTo>
                  <a:pt x="79991" y="90341"/>
                </a:lnTo>
                <a:close/>
              </a:path>
            </a:pathLst>
          </a:custGeom>
          <a:solidFill>
            <a:srgbClr val="18446D"/>
          </a:solidFill>
          <a:ln w="14576">
            <a:solidFill>
              <a:srgbClr val="18446D"/>
            </a:solidFill>
            <a:prstDash val="solid"/>
          </a:ln>
        </p:spPr>
      </p:sp>
      <p:sp>
        <p:nvSpPr>
          <p:cNvPr id="66" name="Shape 55"/>
          <p:cNvSpPr/>
          <p:nvPr/>
        </p:nvSpPr>
        <p:spPr>
          <a:xfrm>
            <a:off x="3934576" y="2820430"/>
            <a:ext cx="0" cy="196902"/>
          </a:xfrm>
          <a:prstGeom prst="line">
            <a:avLst/>
          </a:prstGeom>
          <a:noFill/>
          <a:ln w="29152">
            <a:solidFill>
              <a:srgbClr val="001F4E"/>
            </a:solidFill>
            <a:prstDash val="solid"/>
          </a:ln>
        </p:spPr>
      </p:sp>
      <p:sp>
        <p:nvSpPr>
          <p:cNvPr id="67" name="image2ppt-measured-path-8"/>
          <p:cNvSpPr/>
          <p:nvPr/>
        </p:nvSpPr>
        <p:spPr>
          <a:xfrm>
            <a:off x="3071680" y="3316038"/>
            <a:ext cx="54659" cy="193128"/>
          </a:xfrm>
          <a:custGeom>
            <a:avLst/>
            <a:gdLst/>
            <a:ahLst/>
            <a:cxnLst/>
            <a:rect l="l" t="t" r="r" b="b"/>
            <a:pathLst>
              <a:path w="54659" h="193128" fill="none">
                <a:moveTo>
                  <a:pt x="28260" y="54659"/>
                </a:moveTo>
                <a:lnTo>
                  <a:pt x="28260" y="142113"/>
                </a:lnTo>
              </a:path>
              <a:path w="54659" h="193128" stroke="0">
                <a:moveTo>
                  <a:pt x="29151" y="0"/>
                </a:moveTo>
                <a:lnTo>
                  <a:pt x="54659" y="54659"/>
                </a:lnTo>
                <a:lnTo>
                  <a:pt x="0" y="54659"/>
                </a:lnTo>
                <a:close/>
              </a:path>
              <a:path w="54659" h="193128" stroke="0">
                <a:moveTo>
                  <a:pt x="29151" y="193128"/>
                </a:moveTo>
                <a:lnTo>
                  <a:pt x="0" y="142113"/>
                </a:lnTo>
                <a:lnTo>
                  <a:pt x="54659" y="142113"/>
                </a:lnTo>
                <a:close/>
              </a:path>
            </a:pathLst>
          </a:custGeom>
          <a:solidFill>
            <a:srgbClr val="225175"/>
          </a:solidFill>
          <a:ln w="9525">
            <a:solidFill>
              <a:srgbClr val="225175"/>
            </a:solidFill>
            <a:prstDash val="solid"/>
          </a:ln>
        </p:spPr>
      </p:sp>
      <p:sp>
        <p:nvSpPr>
          <p:cNvPr id="68" name="image2ppt-measured-path-9"/>
          <p:cNvSpPr/>
          <p:nvPr/>
        </p:nvSpPr>
        <p:spPr>
          <a:xfrm>
            <a:off x="4099268" y="3316038"/>
            <a:ext cx="54659" cy="193128"/>
          </a:xfrm>
          <a:custGeom>
            <a:avLst/>
            <a:gdLst/>
            <a:ahLst/>
            <a:cxnLst/>
            <a:rect l="l" t="t" r="r" b="b"/>
            <a:pathLst>
              <a:path w="54659" h="193128" fill="none">
                <a:moveTo>
                  <a:pt x="29060" y="54659"/>
                </a:moveTo>
                <a:lnTo>
                  <a:pt x="29060" y="142113"/>
                </a:lnTo>
              </a:path>
              <a:path w="54659" h="193128" stroke="0">
                <a:moveTo>
                  <a:pt x="29151" y="0"/>
                </a:moveTo>
                <a:lnTo>
                  <a:pt x="54659" y="54659"/>
                </a:lnTo>
                <a:lnTo>
                  <a:pt x="0" y="54659"/>
                </a:lnTo>
                <a:close/>
              </a:path>
              <a:path w="54659" h="193128" stroke="0">
                <a:moveTo>
                  <a:pt x="29151" y="193128"/>
                </a:moveTo>
                <a:lnTo>
                  <a:pt x="0" y="142113"/>
                </a:lnTo>
                <a:lnTo>
                  <a:pt x="54659" y="142113"/>
                </a:lnTo>
                <a:close/>
              </a:path>
            </a:pathLst>
          </a:custGeom>
          <a:solidFill>
            <a:srgbClr val="1F4D6E"/>
          </a:solidFill>
          <a:ln w="9525">
            <a:solidFill>
              <a:srgbClr val="1F4D6E"/>
            </a:solidFill>
            <a:prstDash val="solid"/>
          </a:ln>
        </p:spPr>
      </p:sp>
      <p:sp>
        <p:nvSpPr>
          <p:cNvPr id="69" name="Shape 58"/>
          <p:cNvSpPr/>
          <p:nvPr/>
        </p:nvSpPr>
        <p:spPr>
          <a:xfrm>
            <a:off x="10876973" y="2798600"/>
            <a:ext cx="932846" cy="193128"/>
          </a:xfrm>
          <a:custGeom>
            <a:avLst/>
            <a:gdLst/>
            <a:ahLst/>
            <a:cxnLst/>
            <a:rect l="l" t="t" r="r" b="b"/>
            <a:pathLst>
              <a:path w="932846" h="193128">
                <a:moveTo>
                  <a:pt x="932846" y="0"/>
                </a:moveTo>
                <a:lnTo>
                  <a:pt x="21864" y="0"/>
                </a:lnTo>
                <a:lnTo>
                  <a:pt x="0" y="21864"/>
                </a:lnTo>
                <a:lnTo>
                  <a:pt x="0" y="193128"/>
                </a:lnTo>
              </a:path>
            </a:pathLst>
          </a:custGeom>
          <a:noFill/>
          <a:ln w="9525">
            <a:solidFill>
              <a:srgbClr val="CDCFD3"/>
            </a:solidFill>
            <a:prstDash val="solid"/>
          </a:ln>
        </p:spPr>
      </p:sp>
      <p:sp>
        <p:nvSpPr>
          <p:cNvPr id="70" name="image2ppt-measured-path-10"/>
          <p:cNvSpPr/>
          <p:nvPr/>
        </p:nvSpPr>
        <p:spPr>
          <a:xfrm>
            <a:off x="10063155" y="2095588"/>
            <a:ext cx="72137" cy="126824"/>
          </a:xfrm>
          <a:custGeom>
            <a:avLst/>
            <a:gdLst/>
            <a:ahLst/>
            <a:cxnLst/>
            <a:rect l="l" t="t" r="r" b="b"/>
            <a:pathLst>
              <a:path w="72137" h="126824" fill="none">
                <a:moveTo>
                  <a:pt x="37162" y="0"/>
                </a:moveTo>
                <a:lnTo>
                  <a:pt x="37162" y="65508"/>
                </a:lnTo>
              </a:path>
              <a:path w="72137" h="126824" stroke="0">
                <a:moveTo>
                  <a:pt x="27252" y="126824"/>
                </a:moveTo>
                <a:lnTo>
                  <a:pt x="0" y="60322"/>
                </a:lnTo>
                <a:lnTo>
                  <a:pt x="72137" y="70694"/>
                </a:lnTo>
                <a:close/>
              </a:path>
            </a:pathLst>
          </a:custGeom>
          <a:solidFill>
            <a:srgbClr val="3E698A"/>
          </a:solidFill>
          <a:ln w="14576">
            <a:solidFill>
              <a:srgbClr val="3E698A"/>
            </a:solidFill>
            <a:prstDash val="solid"/>
          </a:ln>
        </p:spPr>
      </p:sp>
      <p:sp>
        <p:nvSpPr>
          <p:cNvPr id="71" name="Shape 60"/>
          <p:cNvSpPr/>
          <p:nvPr/>
        </p:nvSpPr>
        <p:spPr>
          <a:xfrm>
            <a:off x="10971716" y="2813176"/>
            <a:ext cx="666839" cy="0"/>
          </a:xfrm>
          <a:prstGeom prst="line">
            <a:avLst/>
          </a:prstGeom>
          <a:noFill/>
          <a:ln w="10932">
            <a:solidFill>
              <a:srgbClr val="FFFFFF"/>
            </a:solidFill>
            <a:prstDash val="solid"/>
          </a:ln>
        </p:spPr>
      </p:sp>
      <p:pic>
        <p:nvPicPr>
          <p:cNvPr id="72" name="Image 9" descr="image"/>
          <p:cNvPicPr>
            <a:picLocks noChangeAspect="1"/>
          </p:cNvPicPr>
          <p:nvPr/>
        </p:nvPicPr>
        <p:blipFill>
          <a:blip r:embed="rId9"/>
          <a:stretch>
            <a:fillRect/>
          </a:stretch>
        </p:blipFill>
        <p:spPr>
          <a:xfrm>
            <a:off x="7706756" y="2179133"/>
            <a:ext cx="1421132" cy="1326390"/>
          </a:xfrm>
          <a:prstGeom prst="rect">
            <a:avLst/>
          </a:prstGeom>
        </p:spPr>
      </p:pic>
      <p:pic>
        <p:nvPicPr>
          <p:cNvPr id="73" name="Image 10" descr="image"/>
          <p:cNvPicPr>
            <a:picLocks noChangeAspect="1"/>
          </p:cNvPicPr>
          <p:nvPr/>
        </p:nvPicPr>
        <p:blipFill>
          <a:blip r:embed="rId10"/>
          <a:stretch>
            <a:fillRect/>
          </a:stretch>
        </p:blipFill>
        <p:spPr>
          <a:xfrm>
            <a:off x="10898837" y="2208284"/>
            <a:ext cx="932846" cy="488286"/>
          </a:xfrm>
          <a:prstGeom prst="rect">
            <a:avLst/>
          </a:prstGeom>
        </p:spPr>
      </p:pic>
      <p:pic>
        <p:nvPicPr>
          <p:cNvPr id="74" name="Image 11" descr="image"/>
          <p:cNvPicPr>
            <a:picLocks noChangeAspect="1"/>
          </p:cNvPicPr>
          <p:nvPr/>
        </p:nvPicPr>
        <p:blipFill>
          <a:blip r:embed="rId11"/>
          <a:stretch>
            <a:fillRect/>
          </a:stretch>
        </p:blipFill>
        <p:spPr>
          <a:xfrm>
            <a:off x="10855110" y="2813176"/>
            <a:ext cx="983860" cy="488286"/>
          </a:xfrm>
          <a:prstGeom prst="rect">
            <a:avLst/>
          </a:prstGeom>
        </p:spPr>
      </p:pic>
      <p:sp>
        <p:nvSpPr>
          <p:cNvPr id="75" name="image2ppt-measured-path-11"/>
          <p:cNvSpPr/>
          <p:nvPr/>
        </p:nvSpPr>
        <p:spPr>
          <a:xfrm>
            <a:off x="10651058" y="2400462"/>
            <a:ext cx="273376" cy="91074"/>
          </a:xfrm>
          <a:custGeom>
            <a:avLst/>
            <a:gdLst/>
            <a:ahLst/>
            <a:cxnLst/>
            <a:rect l="l" t="t" r="r" b="b"/>
            <a:pathLst>
              <a:path w="273376" h="91074" fill="none">
                <a:moveTo>
                  <a:pt x="0" y="44677"/>
                </a:moveTo>
                <a:lnTo>
                  <a:pt x="185903" y="44677"/>
                </a:lnTo>
              </a:path>
              <a:path w="273376" h="91074" stroke="0">
                <a:moveTo>
                  <a:pt x="273376" y="45722"/>
                </a:moveTo>
                <a:lnTo>
                  <a:pt x="184857" y="91074"/>
                </a:lnTo>
                <a:lnTo>
                  <a:pt x="186948" y="0"/>
                </a:lnTo>
                <a:close/>
              </a:path>
            </a:pathLst>
          </a:custGeom>
          <a:solidFill>
            <a:srgbClr val="08406C"/>
          </a:solidFill>
          <a:ln w="14576">
            <a:solidFill>
              <a:srgbClr val="08406C"/>
            </a:solidFill>
            <a:prstDash val="solid"/>
          </a:ln>
        </p:spPr>
      </p:sp>
      <p:pic>
        <p:nvPicPr>
          <p:cNvPr id="77" name="Image 13" descr="icon"/>
          <p:cNvPicPr>
            <a:picLocks noChangeAspect="1"/>
          </p:cNvPicPr>
          <p:nvPr/>
        </p:nvPicPr>
        <p:blipFill>
          <a:blip r:embed="rId12"/>
          <a:stretch>
            <a:fillRect/>
          </a:stretch>
        </p:blipFill>
        <p:spPr>
          <a:xfrm>
            <a:off x="1606821" y="2004224"/>
            <a:ext cx="422696" cy="466423"/>
          </a:xfrm>
          <a:prstGeom prst="rect">
            <a:avLst/>
          </a:prstGeom>
        </p:spPr>
      </p:pic>
      <p:pic>
        <p:nvPicPr>
          <p:cNvPr id="81" name="Image 17" descr="icon"/>
          <p:cNvPicPr>
            <a:picLocks noChangeAspect="1"/>
          </p:cNvPicPr>
          <p:nvPr/>
        </p:nvPicPr>
        <p:blipFill>
          <a:blip r:embed="rId13"/>
          <a:stretch>
            <a:fillRect/>
          </a:stretch>
        </p:blipFill>
        <p:spPr>
          <a:xfrm>
            <a:off x="2350182" y="2055239"/>
            <a:ext cx="480998" cy="342529"/>
          </a:xfrm>
          <a:prstGeom prst="rect">
            <a:avLst/>
          </a:prstGeom>
        </p:spPr>
      </p:pic>
      <p:pic>
        <p:nvPicPr>
          <p:cNvPr id="82" name="Image 18" descr="icon"/>
          <p:cNvPicPr>
            <a:picLocks noChangeAspect="1"/>
          </p:cNvPicPr>
          <p:nvPr/>
        </p:nvPicPr>
        <p:blipFill>
          <a:blip r:embed="rId14"/>
          <a:stretch>
            <a:fillRect/>
          </a:stretch>
        </p:blipFill>
        <p:spPr>
          <a:xfrm>
            <a:off x="3115407" y="2004224"/>
            <a:ext cx="349817" cy="429983"/>
          </a:xfrm>
          <a:prstGeom prst="rect">
            <a:avLst/>
          </a:prstGeom>
        </p:spPr>
      </p:pic>
      <p:pic>
        <p:nvPicPr>
          <p:cNvPr id="83" name="Image 19" descr="icon"/>
          <p:cNvPicPr>
            <a:picLocks noChangeAspect="1"/>
          </p:cNvPicPr>
          <p:nvPr/>
        </p:nvPicPr>
        <p:blipFill>
          <a:blip r:embed="rId15"/>
          <a:stretch>
            <a:fillRect/>
          </a:stretch>
        </p:blipFill>
        <p:spPr>
          <a:xfrm>
            <a:off x="3764026" y="2062527"/>
            <a:ext cx="393544" cy="342529"/>
          </a:xfrm>
          <a:prstGeom prst="rect">
            <a:avLst/>
          </a:prstGeom>
        </p:spPr>
      </p:pic>
      <p:pic>
        <p:nvPicPr>
          <p:cNvPr id="84" name="Image 20" descr="icon"/>
          <p:cNvPicPr>
            <a:picLocks noChangeAspect="1"/>
          </p:cNvPicPr>
          <p:nvPr/>
        </p:nvPicPr>
        <p:blipFill>
          <a:blip r:embed="rId16"/>
          <a:stretch>
            <a:fillRect/>
          </a:stretch>
        </p:blipFill>
        <p:spPr>
          <a:xfrm>
            <a:off x="6475109" y="1960497"/>
            <a:ext cx="320666" cy="378968"/>
          </a:xfrm>
          <a:prstGeom prst="rect">
            <a:avLst/>
          </a:prstGeom>
        </p:spPr>
      </p:pic>
      <p:pic>
        <p:nvPicPr>
          <p:cNvPr id="85" name="Image 21" descr="icon"/>
          <p:cNvPicPr>
            <a:picLocks noChangeAspect="1"/>
          </p:cNvPicPr>
          <p:nvPr/>
        </p:nvPicPr>
        <p:blipFill>
          <a:blip r:embed="rId17"/>
          <a:stretch>
            <a:fillRect/>
          </a:stretch>
        </p:blipFill>
        <p:spPr>
          <a:xfrm>
            <a:off x="6489684" y="2543526"/>
            <a:ext cx="306090" cy="386256"/>
          </a:xfrm>
          <a:prstGeom prst="rect">
            <a:avLst/>
          </a:prstGeom>
        </p:spPr>
      </p:pic>
      <p:pic>
        <p:nvPicPr>
          <p:cNvPr id="86" name="Image 22" descr="icon"/>
          <p:cNvPicPr>
            <a:picLocks noChangeAspect="1"/>
          </p:cNvPicPr>
          <p:nvPr/>
        </p:nvPicPr>
        <p:blipFill>
          <a:blip r:embed="rId18"/>
          <a:stretch>
            <a:fillRect/>
          </a:stretch>
        </p:blipFill>
        <p:spPr>
          <a:xfrm>
            <a:off x="1614109" y="3607552"/>
            <a:ext cx="306090" cy="357105"/>
          </a:xfrm>
          <a:prstGeom prst="rect">
            <a:avLst/>
          </a:prstGeom>
        </p:spPr>
      </p:pic>
      <p:pic>
        <p:nvPicPr>
          <p:cNvPr id="87" name="Image 23" descr="icon"/>
          <p:cNvPicPr>
            <a:picLocks noChangeAspect="1"/>
          </p:cNvPicPr>
          <p:nvPr/>
        </p:nvPicPr>
        <p:blipFill>
          <a:blip r:embed="rId19"/>
          <a:stretch>
            <a:fillRect/>
          </a:stretch>
        </p:blipFill>
        <p:spPr>
          <a:xfrm>
            <a:off x="6504260" y="3155705"/>
            <a:ext cx="306090" cy="357105"/>
          </a:xfrm>
          <a:prstGeom prst="rect">
            <a:avLst/>
          </a:prstGeom>
        </p:spPr>
      </p:pic>
      <p:pic>
        <p:nvPicPr>
          <p:cNvPr id="88" name="Image 24" descr="icon"/>
          <p:cNvPicPr>
            <a:picLocks noChangeAspect="1"/>
          </p:cNvPicPr>
          <p:nvPr/>
        </p:nvPicPr>
        <p:blipFill>
          <a:blip r:embed="rId20"/>
          <a:stretch>
            <a:fillRect/>
          </a:stretch>
        </p:blipFill>
        <p:spPr>
          <a:xfrm>
            <a:off x="9689053" y="3549250"/>
            <a:ext cx="313378" cy="335241"/>
          </a:xfrm>
          <a:prstGeom prst="rect">
            <a:avLst/>
          </a:prstGeom>
        </p:spPr>
      </p:pic>
      <p:pic>
        <p:nvPicPr>
          <p:cNvPr id="89" name="Image 25" descr="icon"/>
          <p:cNvPicPr>
            <a:picLocks noChangeAspect="1"/>
          </p:cNvPicPr>
          <p:nvPr/>
        </p:nvPicPr>
        <p:blipFill>
          <a:blip r:embed="rId21"/>
          <a:stretch>
            <a:fillRect/>
          </a:stretch>
        </p:blipFill>
        <p:spPr>
          <a:xfrm>
            <a:off x="4922795" y="3228584"/>
            <a:ext cx="291514" cy="357105"/>
          </a:xfrm>
          <a:prstGeom prst="rect">
            <a:avLst/>
          </a:prstGeom>
        </p:spPr>
      </p:pic>
      <p:pic>
        <p:nvPicPr>
          <p:cNvPr id="90" name="Image 26" descr="icon"/>
          <p:cNvPicPr>
            <a:picLocks noChangeAspect="1"/>
          </p:cNvPicPr>
          <p:nvPr/>
        </p:nvPicPr>
        <p:blipFill>
          <a:blip r:embed="rId22"/>
          <a:stretch>
            <a:fillRect/>
          </a:stretch>
        </p:blipFill>
        <p:spPr>
          <a:xfrm>
            <a:off x="469916" y="3148418"/>
            <a:ext cx="291514" cy="306090"/>
          </a:xfrm>
          <a:prstGeom prst="rect">
            <a:avLst/>
          </a:prstGeom>
        </p:spPr>
      </p:pic>
      <p:pic>
        <p:nvPicPr>
          <p:cNvPr id="91" name="Image 27" descr="icon"/>
          <p:cNvPicPr>
            <a:picLocks noChangeAspect="1"/>
          </p:cNvPicPr>
          <p:nvPr/>
        </p:nvPicPr>
        <p:blipFill>
          <a:blip r:embed="rId23"/>
          <a:stretch>
            <a:fillRect/>
          </a:stretch>
        </p:blipFill>
        <p:spPr>
          <a:xfrm>
            <a:off x="469916" y="2601828"/>
            <a:ext cx="284226" cy="284226"/>
          </a:xfrm>
          <a:prstGeom prst="rect">
            <a:avLst/>
          </a:prstGeom>
        </p:spPr>
      </p:pic>
      <p:pic>
        <p:nvPicPr>
          <p:cNvPr id="92" name="Image 28" descr="icon"/>
          <p:cNvPicPr>
            <a:picLocks noChangeAspect="1"/>
          </p:cNvPicPr>
          <p:nvPr/>
        </p:nvPicPr>
        <p:blipFill>
          <a:blip r:embed="rId24"/>
          <a:stretch>
            <a:fillRect/>
          </a:stretch>
        </p:blipFill>
        <p:spPr>
          <a:xfrm>
            <a:off x="4937371" y="2062527"/>
            <a:ext cx="255075" cy="313378"/>
          </a:xfrm>
          <a:prstGeom prst="rect">
            <a:avLst/>
          </a:prstGeom>
        </p:spPr>
      </p:pic>
      <p:pic>
        <p:nvPicPr>
          <p:cNvPr id="93" name="Image 29" descr="icon"/>
          <p:cNvPicPr>
            <a:picLocks noChangeAspect="1"/>
          </p:cNvPicPr>
          <p:nvPr/>
        </p:nvPicPr>
        <p:blipFill>
          <a:blip r:embed="rId25"/>
          <a:stretch>
            <a:fillRect/>
          </a:stretch>
        </p:blipFill>
        <p:spPr>
          <a:xfrm>
            <a:off x="506355" y="2011512"/>
            <a:ext cx="247787" cy="306090"/>
          </a:xfrm>
          <a:prstGeom prst="rect">
            <a:avLst/>
          </a:prstGeom>
        </p:spPr>
      </p:pic>
      <p:pic>
        <p:nvPicPr>
          <p:cNvPr id="94" name="Image 30" descr="icon"/>
          <p:cNvPicPr>
            <a:picLocks noChangeAspect="1"/>
          </p:cNvPicPr>
          <p:nvPr/>
        </p:nvPicPr>
        <p:blipFill>
          <a:blip r:embed="rId26"/>
          <a:stretch>
            <a:fillRect/>
          </a:stretch>
        </p:blipFill>
        <p:spPr>
          <a:xfrm>
            <a:off x="4937371" y="2674707"/>
            <a:ext cx="276939" cy="269651"/>
          </a:xfrm>
          <a:prstGeom prst="rect">
            <a:avLst/>
          </a:prstGeom>
        </p:spPr>
      </p:pic>
      <p:pic>
        <p:nvPicPr>
          <p:cNvPr id="95" name="Image 31" descr="icon"/>
          <p:cNvPicPr>
            <a:picLocks noChangeAspect="1"/>
          </p:cNvPicPr>
          <p:nvPr/>
        </p:nvPicPr>
        <p:blipFill>
          <a:blip r:embed="rId27"/>
          <a:stretch>
            <a:fillRect/>
          </a:stretch>
        </p:blipFill>
        <p:spPr>
          <a:xfrm>
            <a:off x="10935276" y="3563825"/>
            <a:ext cx="240499" cy="284226"/>
          </a:xfrm>
          <a:prstGeom prst="rect">
            <a:avLst/>
          </a:prstGeom>
        </p:spPr>
      </p:pic>
      <p:pic>
        <p:nvPicPr>
          <p:cNvPr id="96" name="Image 32" descr="icon"/>
          <p:cNvPicPr>
            <a:picLocks noChangeAspect="1"/>
          </p:cNvPicPr>
          <p:nvPr/>
        </p:nvPicPr>
        <p:blipFill>
          <a:blip r:embed="rId28"/>
          <a:stretch>
            <a:fillRect/>
          </a:stretch>
        </p:blipFill>
        <p:spPr>
          <a:xfrm>
            <a:off x="9740068" y="2310314"/>
            <a:ext cx="262363" cy="269651"/>
          </a:xfrm>
          <a:prstGeom prst="rect">
            <a:avLst/>
          </a:prstGeom>
        </p:spPr>
      </p:pic>
      <p:pic>
        <p:nvPicPr>
          <p:cNvPr id="97" name="Image 33" descr="icon"/>
          <p:cNvPicPr>
            <a:picLocks noChangeAspect="1"/>
          </p:cNvPicPr>
          <p:nvPr/>
        </p:nvPicPr>
        <p:blipFill>
          <a:blip r:embed="rId29"/>
          <a:stretch>
            <a:fillRect/>
          </a:stretch>
        </p:blipFill>
        <p:spPr>
          <a:xfrm>
            <a:off x="9732780" y="2915206"/>
            <a:ext cx="233211" cy="284226"/>
          </a:xfrm>
          <a:prstGeom prst="rect">
            <a:avLst/>
          </a:prstGeom>
        </p:spPr>
      </p:pic>
      <p:pic>
        <p:nvPicPr>
          <p:cNvPr id="98" name="Image 34" descr="icon"/>
          <p:cNvPicPr>
            <a:picLocks noChangeAspect="1"/>
          </p:cNvPicPr>
          <p:nvPr/>
        </p:nvPicPr>
        <p:blipFill>
          <a:blip r:embed="rId30"/>
          <a:stretch>
            <a:fillRect/>
          </a:stretch>
        </p:blipFill>
        <p:spPr>
          <a:xfrm>
            <a:off x="9718204" y="1822028"/>
            <a:ext cx="218636" cy="233211"/>
          </a:xfrm>
          <a:prstGeom prst="rect">
            <a:avLst/>
          </a:prstGeom>
        </p:spPr>
      </p:pic>
      <p:sp>
        <p:nvSpPr>
          <p:cNvPr id="99" name="Text 62"/>
          <p:cNvSpPr txBox="1"/>
          <p:nvPr/>
        </p:nvSpPr>
        <p:spPr>
          <a:xfrm>
            <a:off x="848884" y="1034803"/>
            <a:ext cx="2091888" cy="328227"/>
          </a:xfrm>
          <a:prstGeom prst="rect">
            <a:avLst/>
          </a:prstGeom>
          <a:noFill/>
        </p:spPr>
        <p:txBody>
          <a:bodyPr wrap="none" lIns="0" tIns="0" rIns="0" bIns="0" rtlCol="0" anchor="ctr"/>
          <a:lstStyle/>
          <a:p>
            <a:pPr marL="0" indent="0" algn="l">
              <a:buNone/>
            </a:pPr>
            <a:r>
              <a:rPr lang="en-US" sz="1750" b="1" dirty="0">
                <a:solidFill>
                  <a:srgbClr val="00143F"/>
                </a:solidFill>
                <a:latin typeface="微软雅黑" panose="020B0503020204020204" pitchFamily="34" charset="-122"/>
                <a:ea typeface="微软雅黑" panose="020B0503020204020204" pitchFamily="34" charset="-122"/>
                <a:cs typeface="微软雅黑" panose="020B0503020204020204" pitchFamily="34" charset="-120"/>
              </a:rPr>
              <a:t>多智能体协同分析</a:t>
            </a:r>
            <a:endParaRPr lang="en-US" sz="1750" dirty="0"/>
          </a:p>
        </p:txBody>
      </p:sp>
      <p:sp>
        <p:nvSpPr>
          <p:cNvPr id="104" name="Text 67"/>
          <p:cNvSpPr txBox="1"/>
          <p:nvPr/>
        </p:nvSpPr>
        <p:spPr>
          <a:xfrm>
            <a:off x="477204" y="1668846"/>
            <a:ext cx="670483" cy="182470"/>
          </a:xfrm>
          <a:prstGeom prst="rect">
            <a:avLst/>
          </a:prstGeom>
          <a:noFill/>
        </p:spPr>
        <p:txBody>
          <a:bodyPr wrap="none" lIns="0" tIns="0" rIns="0" bIns="0" rtlCol="0" anchor="ctr"/>
          <a:lstStyle/>
          <a:p>
            <a:pPr marL="0" indent="0" algn="ctr">
              <a:buNone/>
            </a:pPr>
            <a:r>
              <a:rPr lang="en-US" sz="890" b="1" dirty="0">
                <a:solidFill>
                  <a:srgbClr val="101010"/>
                </a:solidFill>
                <a:latin typeface="Arial" panose="020B0604020202020204" pitchFamily="34" charset="0"/>
                <a:ea typeface="Arial" panose="020B0604020202020204" pitchFamily="34" charset="-122"/>
                <a:cs typeface="Arial" panose="020B0604020202020204" pitchFamily="34" charset="-120"/>
              </a:rPr>
              <a:t>Patient EHR</a:t>
            </a:r>
            <a:endParaRPr lang="en-US" sz="890" dirty="0"/>
          </a:p>
        </p:txBody>
      </p:sp>
      <p:sp>
        <p:nvSpPr>
          <p:cNvPr id="105" name="Text 68"/>
          <p:cNvSpPr txBox="1"/>
          <p:nvPr/>
        </p:nvSpPr>
        <p:spPr>
          <a:xfrm>
            <a:off x="812445" y="2033376"/>
            <a:ext cx="386530" cy="306363"/>
          </a:xfrm>
          <a:prstGeom prst="rect">
            <a:avLst/>
          </a:prstGeom>
          <a:noFill/>
        </p:spPr>
        <p:txBody>
          <a:bodyPr wrap="none" lIns="0" tIns="0" rIns="0" bIns="0" rtlCol="0" anchor="t"/>
          <a:lstStyle/>
          <a:p>
            <a:pPr marL="0" indent="0" algn="l">
              <a:lnSpc>
                <a:spcPts val="1150"/>
              </a:lnSpc>
              <a:buNone/>
            </a:pPr>
            <a:r>
              <a:rPr lang="en-US" sz="680" dirty="0">
                <a:solidFill>
                  <a:srgbClr val="17243A"/>
                </a:solidFill>
                <a:latin typeface="Arial" panose="020B0604020202020204" pitchFamily="34" charset="0"/>
                <a:ea typeface="Arial" panose="020B0604020202020204" pitchFamily="34" charset="-122"/>
                <a:cs typeface="Arial" panose="020B0604020202020204" pitchFamily="34" charset="-120"/>
              </a:rPr>
              <a:t>Clinical</a:t>
            </a:r>
            <a:endParaRPr lang="en-US" sz="680" dirty="0"/>
          </a:p>
          <a:p>
            <a:pPr marL="0" indent="0" algn="l">
              <a:lnSpc>
                <a:spcPts val="1150"/>
              </a:lnSpc>
              <a:buNone/>
            </a:pPr>
            <a:r>
              <a:rPr lang="en-US" sz="680" dirty="0">
                <a:solidFill>
                  <a:srgbClr val="17243A"/>
                </a:solidFill>
                <a:latin typeface="Arial" panose="020B0604020202020204" pitchFamily="34" charset="0"/>
                <a:ea typeface="Arial" panose="020B0604020202020204" pitchFamily="34" charset="-122"/>
                <a:cs typeface="Arial" panose="020B0604020202020204" pitchFamily="34" charset="-120"/>
              </a:rPr>
              <a:t>notes</a:t>
            </a:r>
            <a:endParaRPr lang="en-US" sz="680" dirty="0"/>
          </a:p>
        </p:txBody>
      </p:sp>
      <p:sp>
        <p:nvSpPr>
          <p:cNvPr id="106" name="Text 69"/>
          <p:cNvSpPr txBox="1"/>
          <p:nvPr/>
        </p:nvSpPr>
        <p:spPr>
          <a:xfrm>
            <a:off x="2364758" y="1654270"/>
            <a:ext cx="1442995" cy="218909"/>
          </a:xfrm>
          <a:prstGeom prst="rect">
            <a:avLst/>
          </a:prstGeom>
          <a:noFill/>
        </p:spPr>
        <p:txBody>
          <a:bodyPr wrap="none" lIns="0" tIns="0" rIns="0" bIns="0" rtlCol="0" anchor="ctr"/>
          <a:lstStyle/>
          <a:p>
            <a:pPr marL="0" indent="0" algn="ctr">
              <a:buNone/>
            </a:pPr>
            <a:r>
              <a:rPr lang="en-US" sz="920" b="1" dirty="0">
                <a:solidFill>
                  <a:srgbClr val="00092D"/>
                </a:solidFill>
                <a:latin typeface="Arial" panose="020B0604020202020204" pitchFamily="34" charset="0"/>
                <a:ea typeface="Arial" panose="020B0604020202020204" pitchFamily="34" charset="-122"/>
                <a:cs typeface="Arial" panose="020B0604020202020204" pitchFamily="34" charset="-120"/>
              </a:rPr>
              <a:t>Multi-agent Collaboration</a:t>
            </a:r>
            <a:endParaRPr lang="en-US" sz="920" dirty="0"/>
          </a:p>
        </p:txBody>
      </p:sp>
      <p:sp>
        <p:nvSpPr>
          <p:cNvPr id="107" name="Text 70"/>
          <p:cNvSpPr txBox="1"/>
          <p:nvPr/>
        </p:nvSpPr>
        <p:spPr>
          <a:xfrm>
            <a:off x="5134143" y="1661558"/>
            <a:ext cx="459135" cy="211621"/>
          </a:xfrm>
          <a:prstGeom prst="rect">
            <a:avLst/>
          </a:prstGeom>
          <a:noFill/>
        </p:spPr>
        <p:txBody>
          <a:bodyPr wrap="none" lIns="0" tIns="0" rIns="0" bIns="0" rtlCol="0" anchor="ctr"/>
          <a:lstStyle/>
          <a:p>
            <a:pPr marL="0" indent="0" algn="ctr">
              <a:buNone/>
            </a:pPr>
            <a:r>
              <a:rPr lang="en-US" sz="920" b="1" dirty="0">
                <a:solidFill>
                  <a:srgbClr val="101010"/>
                </a:solidFill>
                <a:latin typeface="Arial" panose="020B0604020202020204" pitchFamily="34" charset="0"/>
                <a:ea typeface="Arial" panose="020B0604020202020204" pitchFamily="34" charset="-122"/>
                <a:cs typeface="Arial" panose="020B0604020202020204" pitchFamily="34" charset="-120"/>
              </a:rPr>
              <a:t>Outputs</a:t>
            </a:r>
            <a:endParaRPr lang="en-US" sz="920" dirty="0"/>
          </a:p>
        </p:txBody>
      </p:sp>
      <p:sp>
        <p:nvSpPr>
          <p:cNvPr id="108" name="Text 71"/>
          <p:cNvSpPr txBox="1"/>
          <p:nvPr/>
        </p:nvSpPr>
        <p:spPr>
          <a:xfrm>
            <a:off x="316871" y="976500"/>
            <a:ext cx="451847" cy="444833"/>
          </a:xfrm>
          <a:prstGeom prst="rect">
            <a:avLst/>
          </a:prstGeom>
          <a:noFill/>
        </p:spPr>
        <p:txBody>
          <a:bodyPr wrap="none" lIns="0" tIns="0" rIns="0" bIns="0" rtlCol="0" anchor="ctr"/>
          <a:lstStyle/>
          <a:p>
            <a:pPr marL="0" indent="0" algn="ctr">
              <a:buNone/>
            </a:pPr>
            <a:r>
              <a:rPr lang="en-US" sz="2420" b="1" dirty="0">
                <a:solidFill>
                  <a:srgbClr val="FFFFFF"/>
                </a:solidFill>
                <a:latin typeface="Arial" panose="020B0604020202020204" pitchFamily="34" charset="0"/>
                <a:ea typeface="Arial" panose="020B0604020202020204" pitchFamily="34" charset="-122"/>
                <a:cs typeface="Arial" panose="020B0604020202020204" pitchFamily="34" charset="-120"/>
              </a:rPr>
              <a:t>01</a:t>
            </a:r>
            <a:endParaRPr lang="en-US" sz="2420" dirty="0"/>
          </a:p>
        </p:txBody>
      </p:sp>
      <p:sp>
        <p:nvSpPr>
          <p:cNvPr id="109" name="Text 72"/>
          <p:cNvSpPr txBox="1"/>
          <p:nvPr/>
        </p:nvSpPr>
        <p:spPr>
          <a:xfrm>
            <a:off x="6846789" y="1027515"/>
            <a:ext cx="2201206" cy="328227"/>
          </a:xfrm>
          <a:prstGeom prst="rect">
            <a:avLst/>
          </a:prstGeom>
          <a:noFill/>
        </p:spPr>
        <p:txBody>
          <a:bodyPr wrap="none" lIns="0" tIns="0" rIns="0" bIns="0" rtlCol="0" anchor="ctr"/>
          <a:lstStyle/>
          <a:p>
            <a:pPr marL="0" indent="0" algn="l">
              <a:buNone/>
            </a:pPr>
            <a:r>
              <a:rPr lang="en-US" sz="1720" b="1" dirty="0">
                <a:solidFill>
                  <a:srgbClr val="00163F"/>
                </a:solidFill>
                <a:latin typeface="微软雅黑" panose="020B0503020204020204" pitchFamily="34" charset="-122"/>
                <a:ea typeface="微软雅黑" panose="020B0503020204020204" pitchFamily="34" charset="-122"/>
                <a:cs typeface="微软雅黑" panose="020B0503020204020204" pitchFamily="34" charset="-120"/>
              </a:rPr>
              <a:t>医学知识图谱与 RAG</a:t>
            </a:r>
            <a:endParaRPr lang="en-US" sz="1720" dirty="0"/>
          </a:p>
        </p:txBody>
      </p:sp>
      <p:sp>
        <p:nvSpPr>
          <p:cNvPr id="113" name="Text 76"/>
          <p:cNvSpPr txBox="1"/>
          <p:nvPr/>
        </p:nvSpPr>
        <p:spPr>
          <a:xfrm>
            <a:off x="6300200" y="969212"/>
            <a:ext cx="451847" cy="444833"/>
          </a:xfrm>
          <a:prstGeom prst="rect">
            <a:avLst/>
          </a:prstGeom>
          <a:noFill/>
        </p:spPr>
        <p:txBody>
          <a:bodyPr wrap="none" lIns="0" tIns="0" rIns="0" bIns="0" rtlCol="0" anchor="ctr"/>
          <a:lstStyle/>
          <a:p>
            <a:pPr marL="0" indent="0" algn="ctr">
              <a:buNone/>
            </a:pPr>
            <a:r>
              <a:rPr lang="en-US" sz="2420" b="1" dirty="0">
                <a:solidFill>
                  <a:srgbClr val="FFFFFF"/>
                </a:solidFill>
                <a:latin typeface="Arial" panose="020B0604020202020204" pitchFamily="34" charset="0"/>
                <a:ea typeface="Arial" panose="020B0604020202020204" pitchFamily="34" charset="-122"/>
                <a:cs typeface="Arial" panose="020B0604020202020204" pitchFamily="34" charset="-120"/>
              </a:rPr>
              <a:t>02</a:t>
            </a:r>
            <a:endParaRPr lang="en-US" sz="2420" dirty="0"/>
          </a:p>
        </p:txBody>
      </p:sp>
      <p:sp>
        <p:nvSpPr>
          <p:cNvPr id="114" name="Text 77"/>
          <p:cNvSpPr txBox="1"/>
          <p:nvPr/>
        </p:nvSpPr>
        <p:spPr>
          <a:xfrm>
            <a:off x="6402230" y="1654270"/>
            <a:ext cx="925558" cy="175182"/>
          </a:xfrm>
          <a:prstGeom prst="rect">
            <a:avLst/>
          </a:prstGeom>
          <a:noFill/>
        </p:spPr>
        <p:txBody>
          <a:bodyPr wrap="none" lIns="0" tIns="0" rIns="0" bIns="0" rtlCol="0" anchor="ctr"/>
          <a:lstStyle/>
          <a:p>
            <a:pPr marL="0" indent="0" algn="ctr">
              <a:buNone/>
            </a:pPr>
            <a:r>
              <a:rPr lang="en-US" sz="750" b="1" dirty="0">
                <a:solidFill>
                  <a:srgbClr val="101010"/>
                </a:solidFill>
                <a:latin typeface="Arial" panose="020B0604020202020204" pitchFamily="34" charset="0"/>
                <a:ea typeface="Arial" panose="020B0604020202020204" pitchFamily="34" charset="-122"/>
                <a:cs typeface="Arial" panose="020B0604020202020204" pitchFamily="34" charset="-120"/>
              </a:rPr>
              <a:t>Medical Documents</a:t>
            </a:r>
            <a:endParaRPr lang="en-US" sz="750" dirty="0"/>
          </a:p>
        </p:txBody>
      </p:sp>
      <p:sp>
        <p:nvSpPr>
          <p:cNvPr id="115" name="Text 78"/>
          <p:cNvSpPr txBox="1"/>
          <p:nvPr/>
        </p:nvSpPr>
        <p:spPr>
          <a:xfrm>
            <a:off x="7772347" y="1544953"/>
            <a:ext cx="1530723" cy="211621"/>
          </a:xfrm>
          <a:prstGeom prst="rect">
            <a:avLst/>
          </a:prstGeom>
          <a:noFill/>
        </p:spPr>
        <p:txBody>
          <a:bodyPr wrap="none" lIns="0" tIns="0" rIns="0" bIns="0" rtlCol="0" anchor="ctr"/>
          <a:lstStyle/>
          <a:p>
            <a:pPr marL="0" indent="0" algn="l">
              <a:buNone/>
            </a:pPr>
            <a:r>
              <a:rPr lang="en-US" sz="800" b="1" dirty="0">
                <a:solidFill>
                  <a:srgbClr val="101010"/>
                </a:solidFill>
                <a:latin typeface="Arial" panose="020B0604020202020204" pitchFamily="34" charset="0"/>
                <a:ea typeface="Arial" panose="020B0604020202020204" pitchFamily="34" charset="-122"/>
                <a:cs typeface="Arial" panose="020B0604020202020204" pitchFamily="34" charset="-120"/>
              </a:rPr>
              <a:t>Medical Knowledge Graph</a:t>
            </a:r>
            <a:endParaRPr lang="en-US" sz="800" dirty="0"/>
          </a:p>
        </p:txBody>
      </p:sp>
      <p:sp>
        <p:nvSpPr>
          <p:cNvPr id="116" name="Text 79"/>
          <p:cNvSpPr txBox="1"/>
          <p:nvPr/>
        </p:nvSpPr>
        <p:spPr>
          <a:xfrm>
            <a:off x="8107588" y="1712573"/>
            <a:ext cx="801938" cy="167894"/>
          </a:xfrm>
          <a:prstGeom prst="rect">
            <a:avLst/>
          </a:prstGeom>
          <a:noFill/>
        </p:spPr>
        <p:txBody>
          <a:bodyPr wrap="none" lIns="0" tIns="0" rIns="0" bIns="0" rtlCol="0" anchor="ctr"/>
          <a:lstStyle/>
          <a:p>
            <a:pPr marL="0" indent="0" algn="l">
              <a:buNone/>
            </a:pPr>
            <a:r>
              <a:rPr lang="en-US" sz="800" b="1" dirty="0">
                <a:solidFill>
                  <a:srgbClr val="101010"/>
                </a:solidFill>
                <a:latin typeface="Arial" panose="020B0604020202020204" pitchFamily="34" charset="0"/>
                <a:ea typeface="Arial" panose="020B0604020202020204" pitchFamily="34" charset="-122"/>
                <a:cs typeface="Arial" panose="020B0604020202020204" pitchFamily="34" charset="-120"/>
              </a:rPr>
              <a:t>Construction</a:t>
            </a:r>
            <a:endParaRPr lang="en-US" sz="800" dirty="0"/>
          </a:p>
        </p:txBody>
      </p:sp>
      <p:sp>
        <p:nvSpPr>
          <p:cNvPr id="117" name="Text 80"/>
          <p:cNvSpPr txBox="1"/>
          <p:nvPr/>
        </p:nvSpPr>
        <p:spPr>
          <a:xfrm>
            <a:off x="9667189" y="1537665"/>
            <a:ext cx="1843827" cy="226197"/>
          </a:xfrm>
          <a:prstGeom prst="rect">
            <a:avLst/>
          </a:prstGeom>
          <a:noFill/>
        </p:spPr>
        <p:txBody>
          <a:bodyPr wrap="none" lIns="0" tIns="0" rIns="0" bIns="0" rtlCol="0" anchor="ctr"/>
          <a:lstStyle/>
          <a:p>
            <a:pPr marL="0" indent="0" algn="ctr">
              <a:buNone/>
            </a:pPr>
            <a:r>
              <a:rPr lang="en-US" sz="810" b="1" dirty="0">
                <a:solidFill>
                  <a:srgbClr val="101010"/>
                </a:solidFill>
                <a:latin typeface="Arial" panose="020B0604020202020204" pitchFamily="34" charset="0"/>
                <a:ea typeface="Arial" panose="020B0604020202020204" pitchFamily="34" charset="-122"/>
                <a:cs typeface="Arial" panose="020B0604020202020204" pitchFamily="34" charset="-120"/>
              </a:rPr>
              <a:t>Knowledge Retrieval and Generation</a:t>
            </a:r>
            <a:endParaRPr lang="en-US" sz="810" dirty="0"/>
          </a:p>
        </p:txBody>
      </p:sp>
      <p:sp>
        <p:nvSpPr>
          <p:cNvPr id="118" name="Text 81"/>
          <p:cNvSpPr txBox="1"/>
          <p:nvPr/>
        </p:nvSpPr>
        <p:spPr>
          <a:xfrm>
            <a:off x="10097173" y="1858330"/>
            <a:ext cx="276939" cy="175182"/>
          </a:xfrm>
          <a:prstGeom prst="rect">
            <a:avLst/>
          </a:prstGeom>
          <a:noFill/>
        </p:spPr>
        <p:txBody>
          <a:bodyPr wrap="none" lIns="0" tIns="0" rIns="0" bIns="0" rtlCol="0" anchor="ctr"/>
          <a:lstStyle/>
          <a:p>
            <a:pPr marL="0" indent="0" algn="ctr">
              <a:buNone/>
            </a:pPr>
            <a:r>
              <a:rPr lang="en-US" sz="710" b="1" dirty="0">
                <a:solidFill>
                  <a:srgbClr val="111111"/>
                </a:solidFill>
                <a:latin typeface="Arial" panose="020B0604020202020204" pitchFamily="34" charset="0"/>
                <a:ea typeface="Arial" panose="020B0604020202020204" pitchFamily="34" charset="-122"/>
                <a:cs typeface="Arial" panose="020B0604020202020204" pitchFamily="34" charset="-120"/>
              </a:rPr>
              <a:t>Query</a:t>
            </a:r>
            <a:endParaRPr lang="en-US" sz="710" dirty="0"/>
          </a:p>
        </p:txBody>
      </p:sp>
      <p:sp>
        <p:nvSpPr>
          <p:cNvPr id="119" name="Text 82"/>
          <p:cNvSpPr txBox="1"/>
          <p:nvPr/>
        </p:nvSpPr>
        <p:spPr>
          <a:xfrm>
            <a:off x="5272613" y="2106254"/>
            <a:ext cx="554150" cy="320939"/>
          </a:xfrm>
          <a:prstGeom prst="rect">
            <a:avLst/>
          </a:prstGeom>
          <a:noFill/>
        </p:spPr>
        <p:txBody>
          <a:bodyPr wrap="none" lIns="0" tIns="0" rIns="0" bIns="0" rtlCol="0" anchor="t"/>
          <a:lstStyle/>
          <a:p>
            <a:pPr marL="0" indent="0" algn="l">
              <a:lnSpc>
                <a:spcPts val="1090"/>
              </a:lnSpc>
              <a:buNone/>
            </a:pPr>
            <a:r>
              <a:rPr lang="en-US" sz="710" dirty="0">
                <a:solidFill>
                  <a:srgbClr val="17243A"/>
                </a:solidFill>
                <a:latin typeface="Arial" panose="020B0604020202020204" pitchFamily="34" charset="0"/>
                <a:ea typeface="Arial" panose="020B0604020202020204" pitchFamily="34" charset="-122"/>
                <a:cs typeface="Arial" panose="020B0604020202020204" pitchFamily="34" charset="-120"/>
              </a:rPr>
              <a:t>Diagnosis</a:t>
            </a:r>
            <a:endParaRPr lang="en-US" sz="710" dirty="0"/>
          </a:p>
          <a:p>
            <a:pPr marL="0" indent="0" algn="l">
              <a:lnSpc>
                <a:spcPts val="1090"/>
              </a:lnSpc>
              <a:buNone/>
            </a:pPr>
            <a:r>
              <a:rPr lang="en-US" sz="710" dirty="0">
                <a:solidFill>
                  <a:srgbClr val="17243A"/>
                </a:solidFill>
                <a:latin typeface="Arial" panose="020B0604020202020204" pitchFamily="34" charset="0"/>
                <a:ea typeface="Arial" panose="020B0604020202020204" pitchFamily="34" charset="-122"/>
                <a:cs typeface="Arial" panose="020B0604020202020204" pitchFamily="34" charset="-120"/>
              </a:rPr>
              <a:t>suggestion</a:t>
            </a:r>
            <a:endParaRPr lang="en-US" sz="710" dirty="0"/>
          </a:p>
        </p:txBody>
      </p:sp>
      <p:sp>
        <p:nvSpPr>
          <p:cNvPr id="120" name="Text 83"/>
          <p:cNvSpPr txBox="1"/>
          <p:nvPr/>
        </p:nvSpPr>
        <p:spPr>
          <a:xfrm>
            <a:off x="6897804" y="2004088"/>
            <a:ext cx="393818" cy="160606"/>
          </a:xfrm>
          <a:prstGeom prst="rect">
            <a:avLst/>
          </a:prstGeom>
          <a:noFill/>
        </p:spPr>
        <p:txBody>
          <a:bodyPr wrap="none" lIns="0" tIns="0" rIns="0" bIns="0" rtlCol="0" anchor="ctr"/>
          <a:lstStyle/>
          <a:p>
            <a:pPr marL="0" indent="0" algn="l">
              <a:buNone/>
            </a:pPr>
            <a:r>
              <a:rPr lang="en-US" sz="700" dirty="0">
                <a:solidFill>
                  <a:srgbClr val="17243A"/>
                </a:solidFill>
                <a:latin typeface="Arial" panose="020B0604020202020204" pitchFamily="34" charset="0"/>
                <a:ea typeface="Arial" panose="020B0604020202020204" pitchFamily="34" charset="-122"/>
                <a:cs typeface="Arial" panose="020B0604020202020204" pitchFamily="34" charset="-120"/>
              </a:rPr>
              <a:t>Clinical</a:t>
            </a:r>
            <a:endParaRPr lang="en-US" sz="700" dirty="0"/>
          </a:p>
        </p:txBody>
      </p:sp>
      <p:sp>
        <p:nvSpPr>
          <p:cNvPr id="121" name="Text 84"/>
          <p:cNvSpPr txBox="1"/>
          <p:nvPr/>
        </p:nvSpPr>
        <p:spPr>
          <a:xfrm>
            <a:off x="6875941" y="2127981"/>
            <a:ext cx="539575" cy="197046"/>
          </a:xfrm>
          <a:prstGeom prst="rect">
            <a:avLst/>
          </a:prstGeom>
          <a:noFill/>
        </p:spPr>
        <p:txBody>
          <a:bodyPr wrap="none" lIns="0" tIns="0" rIns="0" bIns="0" rtlCol="0" anchor="ctr"/>
          <a:lstStyle/>
          <a:p>
            <a:pPr marL="0" indent="0" algn="l">
              <a:buNone/>
            </a:pPr>
            <a:r>
              <a:rPr lang="en-US" sz="700" dirty="0">
                <a:solidFill>
                  <a:srgbClr val="17243A"/>
                </a:solidFill>
                <a:latin typeface="Arial" panose="020B0604020202020204" pitchFamily="34" charset="0"/>
                <a:ea typeface="Arial" panose="020B0604020202020204" pitchFamily="34" charset="-122"/>
                <a:cs typeface="Arial" panose="020B0604020202020204" pitchFamily="34" charset="-120"/>
              </a:rPr>
              <a:t>guidelines</a:t>
            </a:r>
            <a:endParaRPr lang="en-US" sz="700" dirty="0"/>
          </a:p>
        </p:txBody>
      </p:sp>
      <p:sp>
        <p:nvSpPr>
          <p:cNvPr id="122" name="Text 85"/>
          <p:cNvSpPr txBox="1"/>
          <p:nvPr/>
        </p:nvSpPr>
        <p:spPr>
          <a:xfrm>
            <a:off x="8078437" y="2018663"/>
            <a:ext cx="429983" cy="175182"/>
          </a:xfrm>
          <a:prstGeom prst="rect">
            <a:avLst/>
          </a:prstGeom>
          <a:noFill/>
        </p:spPr>
        <p:txBody>
          <a:bodyPr wrap="none" lIns="0" tIns="0" rIns="0" bIns="0" rtlCol="0" anchor="ctr"/>
          <a:lstStyle/>
          <a:p>
            <a:pPr marL="0" indent="0" algn="ctr">
              <a:buNone/>
            </a:pPr>
            <a:r>
              <a:rPr lang="en-US" sz="710" b="1" dirty="0">
                <a:solidFill>
                  <a:srgbClr val="125515"/>
                </a:solidFill>
                <a:latin typeface="Arial" panose="020B0604020202020204" pitchFamily="34" charset="0"/>
                <a:ea typeface="Arial" panose="020B0604020202020204" pitchFamily="34" charset="-122"/>
                <a:cs typeface="Arial" panose="020B0604020202020204" pitchFamily="34" charset="-120"/>
              </a:rPr>
              <a:t>Symptom</a:t>
            </a:r>
            <a:endParaRPr lang="en-US" sz="710" dirty="0"/>
          </a:p>
        </p:txBody>
      </p:sp>
      <p:sp>
        <p:nvSpPr>
          <p:cNvPr id="123" name="Text 86"/>
          <p:cNvSpPr txBox="1"/>
          <p:nvPr/>
        </p:nvSpPr>
        <p:spPr>
          <a:xfrm>
            <a:off x="8952980" y="2186284"/>
            <a:ext cx="240499" cy="189758"/>
          </a:xfrm>
          <a:prstGeom prst="rect">
            <a:avLst/>
          </a:prstGeom>
          <a:noFill/>
        </p:spPr>
        <p:txBody>
          <a:bodyPr wrap="none" lIns="0" tIns="0" rIns="0" bIns="0" rtlCol="0" anchor="ctr"/>
          <a:lstStyle/>
          <a:p>
            <a:pPr marL="0" indent="0" algn="ctr">
              <a:buNone/>
            </a:pPr>
            <a:r>
              <a:rPr lang="en-US" sz="710" b="1" dirty="0">
                <a:solidFill>
                  <a:srgbClr val="4A2B78"/>
                </a:solidFill>
                <a:latin typeface="Arial" panose="020B0604020202020204" pitchFamily="34" charset="0"/>
                <a:ea typeface="Arial" panose="020B0604020202020204" pitchFamily="34" charset="-122"/>
                <a:cs typeface="Arial" panose="020B0604020202020204" pitchFamily="34" charset="-120"/>
              </a:rPr>
              <a:t>Drug</a:t>
            </a:r>
            <a:endParaRPr lang="en-US" sz="710" dirty="0"/>
          </a:p>
        </p:txBody>
      </p:sp>
      <p:sp>
        <p:nvSpPr>
          <p:cNvPr id="124" name="Text 87"/>
          <p:cNvSpPr txBox="1"/>
          <p:nvPr/>
        </p:nvSpPr>
        <p:spPr>
          <a:xfrm>
            <a:off x="10119036" y="2346753"/>
            <a:ext cx="459408" cy="284500"/>
          </a:xfrm>
          <a:prstGeom prst="rect">
            <a:avLst/>
          </a:prstGeom>
          <a:noFill/>
        </p:spPr>
        <p:txBody>
          <a:bodyPr wrap="none" lIns="0" tIns="0" rIns="0" bIns="0" rtlCol="0" anchor="t"/>
          <a:lstStyle/>
          <a:p>
            <a:pPr marL="0" indent="0" algn="l">
              <a:lnSpc>
                <a:spcPts val="860"/>
              </a:lnSpc>
              <a:buNone/>
            </a:pPr>
            <a:r>
              <a:rPr lang="en-US" sz="720" dirty="0">
                <a:solidFill>
                  <a:srgbClr val="111827"/>
                </a:solidFill>
                <a:latin typeface="Arial" panose="020B0604020202020204" pitchFamily="34" charset="0"/>
                <a:ea typeface="Arial" panose="020B0604020202020204" pitchFamily="34" charset="-122"/>
                <a:cs typeface="Arial" panose="020B0604020202020204" pitchFamily="34" charset="-120"/>
              </a:rPr>
              <a:t>Graph</a:t>
            </a:r>
            <a:endParaRPr lang="en-US" sz="720" dirty="0"/>
          </a:p>
          <a:p>
            <a:pPr marL="0" indent="0" algn="l">
              <a:lnSpc>
                <a:spcPts val="860"/>
              </a:lnSpc>
              <a:buNone/>
            </a:pPr>
            <a:r>
              <a:rPr lang="en-US" sz="720" dirty="0">
                <a:solidFill>
                  <a:srgbClr val="111827"/>
                </a:solidFill>
                <a:latin typeface="Arial" panose="020B0604020202020204" pitchFamily="34" charset="0"/>
                <a:ea typeface="Arial" panose="020B0604020202020204" pitchFamily="34" charset="-122"/>
                <a:cs typeface="Arial" panose="020B0604020202020204" pitchFamily="34" charset="-120"/>
              </a:rPr>
              <a:t>Retrieval</a:t>
            </a:r>
            <a:endParaRPr lang="en-US" sz="720" dirty="0"/>
          </a:p>
        </p:txBody>
      </p:sp>
      <p:sp>
        <p:nvSpPr>
          <p:cNvPr id="125" name="Text 88"/>
          <p:cNvSpPr txBox="1"/>
          <p:nvPr/>
        </p:nvSpPr>
        <p:spPr>
          <a:xfrm>
            <a:off x="805157" y="2630980"/>
            <a:ext cx="517711" cy="299076"/>
          </a:xfrm>
          <a:prstGeom prst="rect">
            <a:avLst/>
          </a:prstGeom>
          <a:noFill/>
        </p:spPr>
        <p:txBody>
          <a:bodyPr wrap="none" lIns="0" tIns="0" rIns="0" bIns="0" rtlCol="0" anchor="t"/>
          <a:lstStyle/>
          <a:p>
            <a:pPr marL="0" indent="0" algn="l">
              <a:lnSpc>
                <a:spcPts val="1035"/>
              </a:lnSpc>
              <a:buNone/>
            </a:pPr>
            <a:r>
              <a:rPr lang="en-US" sz="660" dirty="0">
                <a:solidFill>
                  <a:srgbClr val="17243A"/>
                </a:solidFill>
                <a:latin typeface="Arial" panose="020B0604020202020204" pitchFamily="34" charset="0"/>
                <a:ea typeface="Arial" panose="020B0604020202020204" pitchFamily="34" charset="-122"/>
                <a:cs typeface="Arial" panose="020B0604020202020204" pitchFamily="34" charset="-120"/>
              </a:rPr>
              <a:t>Laboratory</a:t>
            </a:r>
            <a:endParaRPr lang="en-US" sz="660" dirty="0"/>
          </a:p>
          <a:p>
            <a:pPr marL="0" indent="0" algn="l">
              <a:lnSpc>
                <a:spcPts val="1035"/>
              </a:lnSpc>
              <a:buNone/>
            </a:pPr>
            <a:r>
              <a:rPr lang="en-US" sz="660" dirty="0">
                <a:solidFill>
                  <a:srgbClr val="17243A"/>
                </a:solidFill>
                <a:latin typeface="Arial" panose="020B0604020202020204" pitchFamily="34" charset="0"/>
                <a:ea typeface="Arial" panose="020B0604020202020204" pitchFamily="34" charset="-122"/>
                <a:cs typeface="Arial" panose="020B0604020202020204" pitchFamily="34" charset="-120"/>
              </a:rPr>
              <a:t>tests</a:t>
            </a:r>
            <a:endParaRPr lang="en-US" sz="660" dirty="0"/>
          </a:p>
        </p:txBody>
      </p:sp>
      <p:sp>
        <p:nvSpPr>
          <p:cNvPr id="126" name="Text 89"/>
          <p:cNvSpPr txBox="1"/>
          <p:nvPr/>
        </p:nvSpPr>
        <p:spPr>
          <a:xfrm>
            <a:off x="1599533" y="2499798"/>
            <a:ext cx="429983" cy="299076"/>
          </a:xfrm>
          <a:prstGeom prst="rect">
            <a:avLst/>
          </a:prstGeom>
          <a:noFill/>
        </p:spPr>
        <p:txBody>
          <a:bodyPr wrap="none" lIns="0" tIns="0" rIns="0" bIns="0" rtlCol="0" anchor="t"/>
          <a:lstStyle/>
          <a:p>
            <a:pPr marL="0" indent="0" algn="ctr">
              <a:lnSpc>
                <a:spcPts val="1035"/>
              </a:lnSpc>
              <a:buNone/>
            </a:pPr>
            <a:r>
              <a:rPr lang="en-US" sz="670" b="1" dirty="0">
                <a:solidFill>
                  <a:srgbClr val="111111"/>
                </a:solidFill>
                <a:latin typeface="Arial" panose="020B0604020202020204" pitchFamily="34" charset="0"/>
                <a:ea typeface="Arial" panose="020B0604020202020204" pitchFamily="34" charset="-122"/>
                <a:cs typeface="Arial" panose="020B0604020202020204" pitchFamily="34" charset="-120"/>
              </a:rPr>
              <a:t>Physician</a:t>
            </a:r>
            <a:endParaRPr lang="en-US" sz="670" dirty="0"/>
          </a:p>
          <a:p>
            <a:pPr marL="0" indent="0" algn="ctr">
              <a:lnSpc>
                <a:spcPts val="1035"/>
              </a:lnSpc>
              <a:buNone/>
            </a:pPr>
            <a:r>
              <a:rPr lang="en-US" sz="670" b="1" dirty="0">
                <a:solidFill>
                  <a:srgbClr val="111111"/>
                </a:solidFill>
                <a:latin typeface="Arial" panose="020B0604020202020204" pitchFamily="34" charset="0"/>
                <a:ea typeface="Arial" panose="020B0604020202020204" pitchFamily="34" charset="-122"/>
                <a:cs typeface="Arial" panose="020B0604020202020204" pitchFamily="34" charset="-120"/>
              </a:rPr>
              <a:t>Agent</a:t>
            </a:r>
            <a:endParaRPr lang="en-US" sz="670" dirty="0"/>
          </a:p>
        </p:txBody>
      </p:sp>
      <p:sp>
        <p:nvSpPr>
          <p:cNvPr id="127" name="Text 90"/>
          <p:cNvSpPr txBox="1"/>
          <p:nvPr/>
        </p:nvSpPr>
        <p:spPr>
          <a:xfrm>
            <a:off x="2357470" y="2492511"/>
            <a:ext cx="466423" cy="313651"/>
          </a:xfrm>
          <a:prstGeom prst="rect">
            <a:avLst/>
          </a:prstGeom>
          <a:noFill/>
        </p:spPr>
        <p:txBody>
          <a:bodyPr wrap="none" lIns="0" tIns="0" rIns="0" bIns="0" rtlCol="0" anchor="t"/>
          <a:lstStyle/>
          <a:p>
            <a:pPr marL="0" indent="0" algn="ctr">
              <a:lnSpc>
                <a:spcPts val="975"/>
              </a:lnSpc>
              <a:buNone/>
            </a:pPr>
            <a:r>
              <a:rPr lang="en-US" sz="670" b="1" dirty="0">
                <a:solidFill>
                  <a:srgbClr val="111111"/>
                </a:solidFill>
                <a:latin typeface="Arial" panose="020B0604020202020204" pitchFamily="34" charset="0"/>
                <a:ea typeface="Arial" panose="020B0604020202020204" pitchFamily="34" charset="-122"/>
                <a:cs typeface="Arial" panose="020B0604020202020204" pitchFamily="34" charset="-120"/>
              </a:rPr>
              <a:t>Radiology</a:t>
            </a:r>
            <a:endParaRPr lang="en-US" sz="670" dirty="0"/>
          </a:p>
          <a:p>
            <a:pPr marL="0" indent="0" algn="ctr">
              <a:lnSpc>
                <a:spcPts val="975"/>
              </a:lnSpc>
              <a:buNone/>
            </a:pPr>
            <a:r>
              <a:rPr lang="en-US" sz="670" b="1" dirty="0">
                <a:solidFill>
                  <a:srgbClr val="111111"/>
                </a:solidFill>
                <a:latin typeface="Arial" panose="020B0604020202020204" pitchFamily="34" charset="0"/>
                <a:ea typeface="Arial" panose="020B0604020202020204" pitchFamily="34" charset="-122"/>
                <a:cs typeface="Arial" panose="020B0604020202020204" pitchFamily="34" charset="-120"/>
              </a:rPr>
              <a:t>Agent</a:t>
            </a:r>
            <a:endParaRPr lang="en-US" sz="670" dirty="0"/>
          </a:p>
        </p:txBody>
      </p:sp>
      <p:sp>
        <p:nvSpPr>
          <p:cNvPr id="128" name="Text 91"/>
          <p:cNvSpPr txBox="1"/>
          <p:nvPr/>
        </p:nvSpPr>
        <p:spPr>
          <a:xfrm>
            <a:off x="3115407" y="2499798"/>
            <a:ext cx="371681" cy="313651"/>
          </a:xfrm>
          <a:prstGeom prst="rect">
            <a:avLst/>
          </a:prstGeom>
          <a:noFill/>
        </p:spPr>
        <p:txBody>
          <a:bodyPr wrap="none" lIns="0" tIns="0" rIns="0" bIns="0" rtlCol="0" anchor="t"/>
          <a:lstStyle/>
          <a:p>
            <a:pPr marL="0" indent="0" algn="ctr">
              <a:lnSpc>
                <a:spcPts val="920"/>
              </a:lnSpc>
              <a:buNone/>
            </a:pPr>
            <a:r>
              <a:rPr lang="en-US" sz="680" b="1" dirty="0">
                <a:solidFill>
                  <a:srgbClr val="111111"/>
                </a:solidFill>
                <a:latin typeface="Arial" panose="020B0604020202020204" pitchFamily="34" charset="0"/>
                <a:ea typeface="Arial" panose="020B0604020202020204" pitchFamily="34" charset="-122"/>
                <a:cs typeface="Arial" panose="020B0604020202020204" pitchFamily="34" charset="-120"/>
              </a:rPr>
              <a:t>Nursing</a:t>
            </a:r>
            <a:endParaRPr lang="en-US" sz="680" dirty="0"/>
          </a:p>
          <a:p>
            <a:pPr marL="0" indent="0" algn="ctr">
              <a:lnSpc>
                <a:spcPts val="920"/>
              </a:lnSpc>
              <a:buNone/>
            </a:pPr>
            <a:r>
              <a:rPr lang="en-US" sz="680" b="1" dirty="0">
                <a:solidFill>
                  <a:srgbClr val="111111"/>
                </a:solidFill>
                <a:latin typeface="Arial" panose="020B0604020202020204" pitchFamily="34" charset="0"/>
                <a:ea typeface="Arial" panose="020B0604020202020204" pitchFamily="34" charset="-122"/>
                <a:cs typeface="Arial" panose="020B0604020202020204" pitchFamily="34" charset="-120"/>
              </a:rPr>
              <a:t>Agent</a:t>
            </a:r>
            <a:endParaRPr lang="en-US" sz="680" dirty="0"/>
          </a:p>
        </p:txBody>
      </p:sp>
      <p:sp>
        <p:nvSpPr>
          <p:cNvPr id="129" name="Text 92"/>
          <p:cNvSpPr txBox="1"/>
          <p:nvPr/>
        </p:nvSpPr>
        <p:spPr>
          <a:xfrm>
            <a:off x="3734875" y="2492511"/>
            <a:ext cx="459135" cy="306363"/>
          </a:xfrm>
          <a:prstGeom prst="rect">
            <a:avLst/>
          </a:prstGeom>
          <a:noFill/>
        </p:spPr>
        <p:txBody>
          <a:bodyPr wrap="none" lIns="0" tIns="0" rIns="0" bIns="0" rtlCol="0" anchor="t"/>
          <a:lstStyle/>
          <a:p>
            <a:pPr marL="0" indent="0" algn="ctr">
              <a:lnSpc>
                <a:spcPts val="1090"/>
              </a:lnSpc>
              <a:buNone/>
            </a:pPr>
            <a:r>
              <a:rPr lang="en-US" sz="680" b="1" dirty="0">
                <a:solidFill>
                  <a:srgbClr val="111111"/>
                </a:solidFill>
                <a:latin typeface="Arial" panose="020B0604020202020204" pitchFamily="34" charset="0"/>
                <a:ea typeface="Arial" panose="020B0604020202020204" pitchFamily="34" charset="-122"/>
                <a:cs typeface="Arial" panose="020B0604020202020204" pitchFamily="34" charset="-120"/>
              </a:rPr>
              <a:t>Pharmacy</a:t>
            </a:r>
            <a:endParaRPr lang="en-US" sz="680" dirty="0"/>
          </a:p>
          <a:p>
            <a:pPr marL="0" indent="0" algn="ctr">
              <a:lnSpc>
                <a:spcPts val="1090"/>
              </a:lnSpc>
              <a:buNone/>
            </a:pPr>
            <a:r>
              <a:rPr lang="en-US" sz="680" b="1" dirty="0">
                <a:solidFill>
                  <a:srgbClr val="111111"/>
                </a:solidFill>
                <a:latin typeface="Arial" panose="020B0604020202020204" pitchFamily="34" charset="0"/>
                <a:ea typeface="Arial" panose="020B0604020202020204" pitchFamily="34" charset="-122"/>
                <a:cs typeface="Arial" panose="020B0604020202020204" pitchFamily="34" charset="-120"/>
              </a:rPr>
              <a:t>Agent</a:t>
            </a:r>
            <a:endParaRPr lang="en-US" sz="680" dirty="0"/>
          </a:p>
        </p:txBody>
      </p:sp>
      <p:sp>
        <p:nvSpPr>
          <p:cNvPr id="130" name="Text 93"/>
          <p:cNvSpPr txBox="1"/>
          <p:nvPr/>
        </p:nvSpPr>
        <p:spPr>
          <a:xfrm>
            <a:off x="7684893" y="2514237"/>
            <a:ext cx="349817" cy="182470"/>
          </a:xfrm>
          <a:prstGeom prst="rect">
            <a:avLst/>
          </a:prstGeom>
          <a:noFill/>
        </p:spPr>
        <p:txBody>
          <a:bodyPr wrap="none" lIns="0" tIns="0" rIns="0" bIns="0" rtlCol="0" anchor="ctr"/>
          <a:lstStyle/>
          <a:p>
            <a:pPr marL="0" indent="0" algn="ctr">
              <a:buNone/>
            </a:pPr>
            <a:r>
              <a:rPr lang="en-US" sz="700" b="1" dirty="0">
                <a:solidFill>
                  <a:srgbClr val="062E6D"/>
                </a:solidFill>
                <a:latin typeface="Arial" panose="020B0604020202020204" pitchFamily="34" charset="0"/>
                <a:ea typeface="Arial" panose="020B0604020202020204" pitchFamily="34" charset="-122"/>
                <a:cs typeface="Arial" panose="020B0604020202020204" pitchFamily="34" charset="-120"/>
              </a:rPr>
              <a:t>Disease</a:t>
            </a:r>
            <a:endParaRPr lang="en-US" sz="700" dirty="0"/>
          </a:p>
        </p:txBody>
      </p:sp>
      <p:sp>
        <p:nvSpPr>
          <p:cNvPr id="131" name="Text 94"/>
          <p:cNvSpPr txBox="1"/>
          <p:nvPr/>
        </p:nvSpPr>
        <p:spPr>
          <a:xfrm>
            <a:off x="6868653" y="2616404"/>
            <a:ext cx="415408" cy="306363"/>
          </a:xfrm>
          <a:prstGeom prst="rect">
            <a:avLst/>
          </a:prstGeom>
          <a:noFill/>
        </p:spPr>
        <p:txBody>
          <a:bodyPr wrap="none" lIns="0" tIns="0" rIns="0" bIns="0" rtlCol="0" anchor="t"/>
          <a:lstStyle/>
          <a:p>
            <a:pPr marL="0" indent="0" algn="ctr">
              <a:lnSpc>
                <a:spcPts val="1150"/>
              </a:lnSpc>
              <a:buNone/>
            </a:pPr>
            <a:r>
              <a:rPr lang="en-US" sz="670" dirty="0">
                <a:solidFill>
                  <a:srgbClr val="17243A"/>
                </a:solidFill>
                <a:latin typeface="Arial" panose="020B0604020202020204" pitchFamily="34" charset="0"/>
                <a:ea typeface="Arial" panose="020B0604020202020204" pitchFamily="34" charset="-122"/>
                <a:cs typeface="Arial" panose="020B0604020202020204" pitchFamily="34" charset="-120"/>
              </a:rPr>
              <a:t>Research</a:t>
            </a:r>
            <a:endParaRPr lang="en-US" sz="670" dirty="0"/>
          </a:p>
          <a:p>
            <a:pPr marL="0" indent="0" algn="ctr">
              <a:lnSpc>
                <a:spcPts val="1150"/>
              </a:lnSpc>
              <a:buNone/>
            </a:pPr>
            <a:r>
              <a:rPr lang="en-US" sz="670" dirty="0">
                <a:solidFill>
                  <a:srgbClr val="17243A"/>
                </a:solidFill>
                <a:latin typeface="Arial" panose="020B0604020202020204" pitchFamily="34" charset="0"/>
                <a:ea typeface="Arial" panose="020B0604020202020204" pitchFamily="34" charset="-122"/>
                <a:cs typeface="Arial" panose="020B0604020202020204" pitchFamily="34" charset="-120"/>
              </a:rPr>
              <a:t>literature</a:t>
            </a:r>
            <a:endParaRPr lang="en-US" sz="670" dirty="0"/>
          </a:p>
        </p:txBody>
      </p:sp>
      <p:sp>
        <p:nvSpPr>
          <p:cNvPr id="132" name="Text 95"/>
          <p:cNvSpPr txBox="1"/>
          <p:nvPr/>
        </p:nvSpPr>
        <p:spPr>
          <a:xfrm>
            <a:off x="5272613" y="2718297"/>
            <a:ext cx="634043" cy="175182"/>
          </a:xfrm>
          <a:prstGeom prst="rect">
            <a:avLst/>
          </a:prstGeom>
          <a:noFill/>
        </p:spPr>
        <p:txBody>
          <a:bodyPr wrap="none" lIns="0" tIns="0" rIns="0" bIns="0" rtlCol="0" anchor="ctr"/>
          <a:lstStyle/>
          <a:p>
            <a:pPr marL="0" indent="0" algn="ctr">
              <a:buNone/>
            </a:pPr>
            <a:r>
              <a:rPr lang="en-US" sz="640" dirty="0">
                <a:solidFill>
                  <a:srgbClr val="17243A"/>
                </a:solidFill>
                <a:latin typeface="Arial" panose="020B0604020202020204" pitchFamily="34" charset="0"/>
                <a:ea typeface="Arial" panose="020B0604020202020204" pitchFamily="34" charset="-122"/>
                <a:cs typeface="Arial" panose="020B0604020202020204" pitchFamily="34" charset="-120"/>
              </a:rPr>
              <a:t>Risk assessment</a:t>
            </a:r>
            <a:endParaRPr lang="en-US" sz="640" dirty="0"/>
          </a:p>
        </p:txBody>
      </p:sp>
      <p:sp>
        <p:nvSpPr>
          <p:cNvPr id="133" name="Text 96"/>
          <p:cNvSpPr txBox="1"/>
          <p:nvPr/>
        </p:nvSpPr>
        <p:spPr>
          <a:xfrm>
            <a:off x="812445" y="3170281"/>
            <a:ext cx="408393" cy="328227"/>
          </a:xfrm>
          <a:prstGeom prst="rect">
            <a:avLst/>
          </a:prstGeom>
          <a:noFill/>
        </p:spPr>
        <p:txBody>
          <a:bodyPr wrap="none" lIns="0" tIns="0" rIns="0" bIns="0" rtlCol="0" anchor="t"/>
          <a:lstStyle/>
          <a:p>
            <a:pPr marL="0" indent="0" algn="l">
              <a:lnSpc>
                <a:spcPts val="1150"/>
              </a:lnSpc>
              <a:buNone/>
            </a:pPr>
            <a:r>
              <a:rPr lang="en-US" sz="700" dirty="0">
                <a:solidFill>
                  <a:srgbClr val="17243A"/>
                </a:solidFill>
                <a:latin typeface="Arial" panose="020B0604020202020204" pitchFamily="34" charset="0"/>
                <a:ea typeface="Arial" panose="020B0604020202020204" pitchFamily="34" charset="-122"/>
                <a:cs typeface="Arial" panose="020B0604020202020204" pitchFamily="34" charset="-120"/>
              </a:rPr>
              <a:t>Medical</a:t>
            </a:r>
            <a:endParaRPr lang="en-US" sz="700" dirty="0"/>
          </a:p>
          <a:p>
            <a:pPr marL="0" indent="0" algn="l">
              <a:lnSpc>
                <a:spcPts val="1150"/>
              </a:lnSpc>
              <a:buNone/>
            </a:pPr>
            <a:r>
              <a:rPr lang="en-US" sz="700" dirty="0">
                <a:solidFill>
                  <a:srgbClr val="17243A"/>
                </a:solidFill>
                <a:latin typeface="Arial" panose="020B0604020202020204" pitchFamily="34" charset="0"/>
                <a:ea typeface="Arial" panose="020B0604020202020204" pitchFamily="34" charset="-122"/>
                <a:cs typeface="Arial" panose="020B0604020202020204" pitchFamily="34" charset="-120"/>
              </a:rPr>
              <a:t>images</a:t>
            </a:r>
            <a:endParaRPr lang="en-US" sz="700" dirty="0"/>
          </a:p>
        </p:txBody>
      </p:sp>
      <p:sp>
        <p:nvSpPr>
          <p:cNvPr id="135" name="Text 98"/>
          <p:cNvSpPr txBox="1"/>
          <p:nvPr/>
        </p:nvSpPr>
        <p:spPr>
          <a:xfrm>
            <a:off x="2175274" y="3060827"/>
            <a:ext cx="1756373" cy="233485"/>
          </a:xfrm>
          <a:prstGeom prst="rect">
            <a:avLst/>
          </a:prstGeom>
          <a:noFill/>
        </p:spPr>
        <p:txBody>
          <a:bodyPr wrap="none" lIns="0" tIns="0" rIns="0" bIns="0" rtlCol="0" anchor="ctr"/>
          <a:lstStyle/>
          <a:p>
            <a:pPr marL="0" indent="0" algn="ctr">
              <a:buNone/>
            </a:pPr>
            <a:r>
              <a:rPr lang="en-US" sz="840" b="1" dirty="0">
                <a:solidFill>
                  <a:srgbClr val="01183E"/>
                </a:solidFill>
                <a:latin typeface="Arial" panose="020B0604020202020204" pitchFamily="34" charset="0"/>
                <a:ea typeface="Arial" panose="020B0604020202020204" pitchFamily="34" charset="-122"/>
                <a:cs typeface="Arial" panose="020B0604020202020204" pitchFamily="34" charset="-120"/>
              </a:rPr>
              <a:t>Discussion &amp; Information Sharing</a:t>
            </a:r>
            <a:endParaRPr lang="en-US" sz="840" dirty="0"/>
          </a:p>
        </p:txBody>
      </p:sp>
      <p:sp>
        <p:nvSpPr>
          <p:cNvPr id="136" name="Text 99"/>
          <p:cNvSpPr txBox="1"/>
          <p:nvPr/>
        </p:nvSpPr>
        <p:spPr>
          <a:xfrm>
            <a:off x="2044093" y="3592840"/>
            <a:ext cx="998710" cy="204333"/>
          </a:xfrm>
          <a:prstGeom prst="rect">
            <a:avLst/>
          </a:prstGeom>
          <a:noFill/>
        </p:spPr>
        <p:txBody>
          <a:bodyPr wrap="none" lIns="0" tIns="0" rIns="0" bIns="0" rtlCol="0" anchor="ctr"/>
          <a:lstStyle/>
          <a:p>
            <a:pPr marL="0" indent="0" algn="l">
              <a:buNone/>
            </a:pPr>
            <a:r>
              <a:rPr lang="en-US" sz="730" b="1" dirty="0">
                <a:solidFill>
                  <a:srgbClr val="0C1F1C"/>
                </a:solidFill>
                <a:latin typeface="Arial" panose="020B0604020202020204" pitchFamily="34" charset="0"/>
                <a:ea typeface="Arial" panose="020B0604020202020204" pitchFamily="34" charset="-122"/>
                <a:cs typeface="Arial" panose="020B0604020202020204" pitchFamily="34" charset="-120"/>
              </a:rPr>
              <a:t>Medical Knowledge</a:t>
            </a:r>
            <a:endParaRPr lang="en-US" sz="730" dirty="0"/>
          </a:p>
        </p:txBody>
      </p:sp>
      <p:sp>
        <p:nvSpPr>
          <p:cNvPr id="137" name="Text 100"/>
          <p:cNvSpPr txBox="1"/>
          <p:nvPr/>
        </p:nvSpPr>
        <p:spPr>
          <a:xfrm>
            <a:off x="2044093" y="3775036"/>
            <a:ext cx="2004434" cy="189758"/>
          </a:xfrm>
          <a:prstGeom prst="rect">
            <a:avLst/>
          </a:prstGeom>
          <a:noFill/>
        </p:spPr>
        <p:txBody>
          <a:bodyPr wrap="none" lIns="0" tIns="0" rIns="0" bIns="0" rtlCol="0" anchor="ctr"/>
          <a:lstStyle/>
          <a:p>
            <a:pPr marL="0" indent="0" algn="l">
              <a:buNone/>
            </a:pPr>
            <a:r>
              <a:rPr lang="en-US" sz="730" dirty="0">
                <a:solidFill>
                  <a:srgbClr val="30463E"/>
                </a:solidFill>
                <a:latin typeface="Arial" panose="020B0604020202020204" pitchFamily="34" charset="0"/>
                <a:ea typeface="Arial" panose="020B0604020202020204" pitchFamily="34" charset="-122"/>
                <a:cs typeface="Arial" panose="020B0604020202020204" pitchFamily="34" charset="-120"/>
              </a:rPr>
              <a:t>Guidelines | Textbooks | Literature | RAG</a:t>
            </a:r>
            <a:endParaRPr lang="en-US" sz="730" dirty="0"/>
          </a:p>
        </p:txBody>
      </p:sp>
      <p:sp>
        <p:nvSpPr>
          <p:cNvPr id="139" name="Text 102"/>
          <p:cNvSpPr txBox="1"/>
          <p:nvPr/>
        </p:nvSpPr>
        <p:spPr>
          <a:xfrm>
            <a:off x="10002431" y="2937070"/>
            <a:ext cx="612180" cy="313651"/>
          </a:xfrm>
          <a:prstGeom prst="rect">
            <a:avLst/>
          </a:prstGeom>
          <a:noFill/>
        </p:spPr>
        <p:txBody>
          <a:bodyPr wrap="none" lIns="0" tIns="0" rIns="0" bIns="0" rtlCol="0" anchor="t"/>
          <a:lstStyle/>
          <a:p>
            <a:pPr marL="0" indent="0" algn="ctr">
              <a:lnSpc>
                <a:spcPts val="1090"/>
              </a:lnSpc>
              <a:buNone/>
            </a:pPr>
            <a:r>
              <a:rPr lang="en-US" sz="680" dirty="0">
                <a:solidFill>
                  <a:srgbClr val="111111"/>
                </a:solidFill>
                <a:latin typeface="Arial" panose="020B0604020202020204" pitchFamily="34" charset="0"/>
                <a:ea typeface="Arial" panose="020B0604020202020204" pitchFamily="34" charset="-122"/>
                <a:cs typeface="Arial" panose="020B0604020202020204" pitchFamily="34" charset="-120"/>
              </a:rPr>
              <a:t>Evidence</a:t>
            </a:r>
            <a:endParaRPr lang="en-US" sz="680" dirty="0"/>
          </a:p>
          <a:p>
            <a:pPr marL="0" indent="0" algn="ctr">
              <a:lnSpc>
                <a:spcPts val="1090"/>
              </a:lnSpc>
              <a:buNone/>
            </a:pPr>
            <a:r>
              <a:rPr lang="en-US" sz="680" dirty="0">
                <a:solidFill>
                  <a:srgbClr val="111111"/>
                </a:solidFill>
                <a:latin typeface="Arial" panose="020B0604020202020204" pitchFamily="34" charset="0"/>
                <a:ea typeface="Arial" panose="020B0604020202020204" pitchFamily="34" charset="-122"/>
                <a:cs typeface="Arial" panose="020B0604020202020204" pitchFamily="34" charset="-120"/>
              </a:rPr>
              <a:t>Augmentation</a:t>
            </a:r>
            <a:endParaRPr lang="en-US" sz="680" dirty="0"/>
          </a:p>
        </p:txBody>
      </p:sp>
      <p:sp>
        <p:nvSpPr>
          <p:cNvPr id="140" name="Text 103"/>
          <p:cNvSpPr txBox="1"/>
          <p:nvPr/>
        </p:nvSpPr>
        <p:spPr>
          <a:xfrm>
            <a:off x="6868653" y="3243023"/>
            <a:ext cx="517711" cy="167894"/>
          </a:xfrm>
          <a:prstGeom prst="rect">
            <a:avLst/>
          </a:prstGeom>
          <a:noFill/>
        </p:spPr>
        <p:txBody>
          <a:bodyPr wrap="none" lIns="0" tIns="0" rIns="0" bIns="0" rtlCol="0" anchor="ctr"/>
          <a:lstStyle/>
          <a:p>
            <a:pPr marL="0" indent="0" algn="l">
              <a:buNone/>
            </a:pPr>
            <a:r>
              <a:rPr lang="en-US" sz="740" dirty="0">
                <a:solidFill>
                  <a:srgbClr val="17243A"/>
                </a:solidFill>
                <a:latin typeface="Arial" panose="020B0604020202020204" pitchFamily="34" charset="0"/>
                <a:ea typeface="Arial" panose="020B0604020202020204" pitchFamily="34" charset="-122"/>
                <a:cs typeface="Arial" panose="020B0604020202020204" pitchFamily="34" charset="-120"/>
              </a:rPr>
              <a:t>Textbooks</a:t>
            </a:r>
            <a:endParaRPr lang="en-US" sz="740" dirty="0"/>
          </a:p>
        </p:txBody>
      </p:sp>
      <p:sp>
        <p:nvSpPr>
          <p:cNvPr id="141" name="Text 104"/>
          <p:cNvSpPr txBox="1"/>
          <p:nvPr/>
        </p:nvSpPr>
        <p:spPr>
          <a:xfrm>
            <a:off x="5272613" y="3315902"/>
            <a:ext cx="634043" cy="204333"/>
          </a:xfrm>
          <a:prstGeom prst="rect">
            <a:avLst/>
          </a:prstGeom>
          <a:noFill/>
        </p:spPr>
        <p:txBody>
          <a:bodyPr wrap="none" lIns="0" tIns="0" rIns="0" bIns="0" rtlCol="0" anchor="ctr"/>
          <a:lstStyle/>
          <a:p>
            <a:pPr marL="0" indent="0" algn="ctr">
              <a:buNone/>
            </a:pPr>
            <a:r>
              <a:rPr lang="en-US" sz="730" dirty="0">
                <a:solidFill>
                  <a:srgbClr val="17243A"/>
                </a:solidFill>
                <a:latin typeface="Arial" panose="020B0604020202020204" pitchFamily="34" charset="0"/>
                <a:ea typeface="Arial" panose="020B0604020202020204" pitchFamily="34" charset="-122"/>
                <a:cs typeface="Arial" panose="020B0604020202020204" pitchFamily="34" charset="-120"/>
              </a:rPr>
              <a:t>Treatment plan</a:t>
            </a:r>
            <a:endParaRPr lang="en-US" sz="730" dirty="0"/>
          </a:p>
        </p:txBody>
      </p:sp>
      <p:sp>
        <p:nvSpPr>
          <p:cNvPr id="142" name="Text 105"/>
          <p:cNvSpPr txBox="1"/>
          <p:nvPr/>
        </p:nvSpPr>
        <p:spPr>
          <a:xfrm>
            <a:off x="8799935" y="3345053"/>
            <a:ext cx="466423" cy="175182"/>
          </a:xfrm>
          <a:prstGeom prst="rect">
            <a:avLst/>
          </a:prstGeom>
          <a:noFill/>
        </p:spPr>
        <p:txBody>
          <a:bodyPr wrap="none" lIns="0" tIns="0" rIns="0" bIns="0" rtlCol="0" anchor="ctr"/>
          <a:lstStyle/>
          <a:p>
            <a:pPr marL="0" indent="0" algn="ctr">
              <a:buNone/>
            </a:pPr>
            <a:r>
              <a:rPr lang="en-US" sz="580" b="1" dirty="0">
                <a:solidFill>
                  <a:srgbClr val="20252A"/>
                </a:solidFill>
                <a:latin typeface="Arial" panose="020B0604020202020204" pitchFamily="34" charset="0"/>
                <a:ea typeface="Arial" panose="020B0604020202020204" pitchFamily="34" charset="-122"/>
                <a:cs typeface="Arial" panose="020B0604020202020204" pitchFamily="34" charset="-120"/>
              </a:rPr>
              <a:t>Organization</a:t>
            </a:r>
            <a:endParaRPr lang="en-US" sz="580" dirty="0"/>
          </a:p>
        </p:txBody>
      </p:sp>
      <p:sp>
        <p:nvSpPr>
          <p:cNvPr id="143" name="Text 106"/>
          <p:cNvSpPr txBox="1"/>
          <p:nvPr/>
        </p:nvSpPr>
        <p:spPr>
          <a:xfrm>
            <a:off x="8209618" y="3432507"/>
            <a:ext cx="444559" cy="160606"/>
          </a:xfrm>
          <a:prstGeom prst="rect">
            <a:avLst/>
          </a:prstGeom>
          <a:noFill/>
        </p:spPr>
        <p:txBody>
          <a:bodyPr wrap="none" lIns="0" tIns="0" rIns="0" bIns="0" rtlCol="0" anchor="ctr"/>
          <a:lstStyle/>
          <a:p>
            <a:pPr marL="0" indent="0" algn="ctr">
              <a:buNone/>
            </a:pPr>
            <a:r>
              <a:rPr lang="en-US" sz="710" b="1" dirty="0">
                <a:solidFill>
                  <a:srgbClr val="A81113"/>
                </a:solidFill>
                <a:latin typeface="Arial" panose="020B0604020202020204" pitchFamily="34" charset="0"/>
                <a:ea typeface="Arial" panose="020B0604020202020204" pitchFamily="34" charset="-122"/>
                <a:cs typeface="Arial" panose="020B0604020202020204" pitchFamily="34" charset="-120"/>
              </a:rPr>
              <a:t>Treatment</a:t>
            </a:r>
            <a:endParaRPr lang="en-US" sz="710" dirty="0"/>
          </a:p>
        </p:txBody>
      </p:sp>
      <p:sp>
        <p:nvSpPr>
          <p:cNvPr id="144" name="Text 107"/>
          <p:cNvSpPr txBox="1"/>
          <p:nvPr/>
        </p:nvSpPr>
        <p:spPr>
          <a:xfrm>
            <a:off x="7728620" y="3505386"/>
            <a:ext cx="182196" cy="153318"/>
          </a:xfrm>
          <a:prstGeom prst="rect">
            <a:avLst/>
          </a:prstGeom>
          <a:noFill/>
        </p:spPr>
        <p:txBody>
          <a:bodyPr wrap="none" lIns="0" tIns="0" rIns="0" bIns="0" rtlCol="0" anchor="ctr"/>
          <a:lstStyle/>
          <a:p>
            <a:pPr marL="0" indent="0" algn="ctr">
              <a:buNone/>
            </a:pPr>
            <a:r>
              <a:rPr lang="en-US" sz="710" b="1" dirty="0">
                <a:solidFill>
                  <a:srgbClr val="D47A10"/>
                </a:solidFill>
                <a:latin typeface="Arial" panose="020B0604020202020204" pitchFamily="34" charset="0"/>
                <a:ea typeface="Arial" panose="020B0604020202020204" pitchFamily="34" charset="-122"/>
                <a:cs typeface="Arial" panose="020B0604020202020204" pitchFamily="34" charset="-120"/>
              </a:rPr>
              <a:t>Test</a:t>
            </a:r>
            <a:endParaRPr lang="en-US" sz="710" dirty="0"/>
          </a:p>
        </p:txBody>
      </p:sp>
      <p:sp>
        <p:nvSpPr>
          <p:cNvPr id="145" name="Text 108"/>
          <p:cNvSpPr txBox="1"/>
          <p:nvPr/>
        </p:nvSpPr>
        <p:spPr>
          <a:xfrm>
            <a:off x="10075309" y="3578264"/>
            <a:ext cx="291788" cy="160606"/>
          </a:xfrm>
          <a:prstGeom prst="rect">
            <a:avLst/>
          </a:prstGeom>
          <a:noFill/>
        </p:spPr>
        <p:txBody>
          <a:bodyPr wrap="none" lIns="0" tIns="0" rIns="0" bIns="0" rtlCol="0" anchor="ctr"/>
          <a:lstStyle/>
          <a:p>
            <a:pPr marL="0" indent="0" algn="l">
              <a:buNone/>
            </a:pPr>
            <a:r>
              <a:rPr lang="en-US" sz="780" b="1" dirty="0">
                <a:solidFill>
                  <a:srgbClr val="111111"/>
                </a:solidFill>
                <a:latin typeface="Arial" panose="020B0604020202020204" pitchFamily="34" charset="0"/>
                <a:ea typeface="Arial" panose="020B0604020202020204" pitchFamily="34" charset="-122"/>
                <a:cs typeface="Arial" panose="020B0604020202020204" pitchFamily="34" charset="-120"/>
              </a:rPr>
              <a:t>LLM</a:t>
            </a:r>
            <a:endParaRPr lang="en-US" sz="780" dirty="0"/>
          </a:p>
        </p:txBody>
      </p:sp>
      <p:sp>
        <p:nvSpPr>
          <p:cNvPr id="146" name="Text 109"/>
          <p:cNvSpPr txBox="1"/>
          <p:nvPr/>
        </p:nvSpPr>
        <p:spPr>
          <a:xfrm>
            <a:off x="10082597" y="3694870"/>
            <a:ext cx="634317" cy="189758"/>
          </a:xfrm>
          <a:prstGeom prst="rect">
            <a:avLst/>
          </a:prstGeom>
          <a:noFill/>
        </p:spPr>
        <p:txBody>
          <a:bodyPr wrap="none" lIns="0" tIns="0" rIns="0" bIns="0" rtlCol="0" anchor="ctr"/>
          <a:lstStyle/>
          <a:p>
            <a:pPr marL="0" indent="0" algn="l">
              <a:buNone/>
            </a:pPr>
            <a:r>
              <a:rPr lang="en-US" sz="780" dirty="0">
                <a:solidFill>
                  <a:srgbClr val="111111"/>
                </a:solidFill>
                <a:latin typeface="Arial" panose="020B0604020202020204" pitchFamily="34" charset="0"/>
                <a:ea typeface="Arial" panose="020B0604020202020204" pitchFamily="34" charset="-122"/>
                <a:cs typeface="Arial" panose="020B0604020202020204" pitchFamily="34" charset="-120"/>
              </a:rPr>
              <a:t>Generation</a:t>
            </a:r>
            <a:endParaRPr lang="en-US" sz="780" dirty="0"/>
          </a:p>
        </p:txBody>
      </p:sp>
      <p:sp>
        <p:nvSpPr>
          <p:cNvPr id="147" name="Text 110"/>
          <p:cNvSpPr txBox="1"/>
          <p:nvPr/>
        </p:nvSpPr>
        <p:spPr>
          <a:xfrm>
            <a:off x="11197639" y="3549113"/>
            <a:ext cx="495848" cy="167894"/>
          </a:xfrm>
          <a:prstGeom prst="rect">
            <a:avLst/>
          </a:prstGeom>
          <a:noFill/>
        </p:spPr>
        <p:txBody>
          <a:bodyPr wrap="none" lIns="0" tIns="0" rIns="0" bIns="0" rtlCol="0" anchor="ctr"/>
          <a:lstStyle/>
          <a:p>
            <a:pPr marL="0" indent="0" algn="l">
              <a:buNone/>
            </a:pPr>
            <a:r>
              <a:rPr lang="en-US" sz="650" b="1" dirty="0">
                <a:solidFill>
                  <a:srgbClr val="111111"/>
                </a:solidFill>
                <a:latin typeface="Arial" panose="020B0604020202020204" pitchFamily="34" charset="0"/>
                <a:ea typeface="Arial" panose="020B0604020202020204" pitchFamily="34" charset="-122"/>
                <a:cs typeface="Arial" panose="020B0604020202020204" pitchFamily="34" charset="-120"/>
              </a:rPr>
              <a:t>Response</a:t>
            </a:r>
            <a:endParaRPr lang="en-US" sz="650" dirty="0"/>
          </a:p>
        </p:txBody>
      </p:sp>
      <p:sp>
        <p:nvSpPr>
          <p:cNvPr id="148" name="Text 111"/>
          <p:cNvSpPr txBox="1"/>
          <p:nvPr/>
        </p:nvSpPr>
        <p:spPr>
          <a:xfrm>
            <a:off x="11197639" y="3651143"/>
            <a:ext cx="729059" cy="182470"/>
          </a:xfrm>
          <a:prstGeom prst="rect">
            <a:avLst/>
          </a:prstGeom>
          <a:noFill/>
        </p:spPr>
        <p:txBody>
          <a:bodyPr wrap="none" lIns="0" tIns="0" rIns="0" bIns="0" rtlCol="0" anchor="ctr"/>
          <a:lstStyle/>
          <a:p>
            <a:pPr marL="0" indent="0" algn="l">
              <a:buNone/>
            </a:pPr>
            <a:r>
              <a:rPr lang="en-US" sz="650" b="1" dirty="0">
                <a:solidFill>
                  <a:srgbClr val="111111"/>
                </a:solidFill>
                <a:latin typeface="Arial" panose="020B0604020202020204" pitchFamily="34" charset="0"/>
                <a:ea typeface="Arial" panose="020B0604020202020204" pitchFamily="34" charset="-122"/>
                <a:cs typeface="Arial" panose="020B0604020202020204" pitchFamily="34" charset="-120"/>
              </a:rPr>
              <a:t>(with references)</a:t>
            </a:r>
            <a:endParaRPr lang="en-US" sz="650" dirty="0"/>
          </a:p>
        </p:txBody>
      </p:sp>
      <p:sp>
        <p:nvSpPr>
          <p:cNvPr id="169" name="Text 132"/>
          <p:cNvSpPr txBox="1"/>
          <p:nvPr/>
        </p:nvSpPr>
        <p:spPr>
          <a:xfrm>
            <a:off x="404325" y="5589712"/>
            <a:ext cx="313378" cy="320939"/>
          </a:xfrm>
          <a:prstGeom prst="rect">
            <a:avLst/>
          </a:prstGeom>
          <a:noFill/>
        </p:spPr>
        <p:txBody>
          <a:bodyPr wrap="none" lIns="0" tIns="0" rIns="0" bIns="0" rtlCol="0" anchor="ctr"/>
          <a:lstStyle/>
          <a:p>
            <a:pPr marL="0" indent="0" algn="ctr">
              <a:buNone/>
            </a:pPr>
            <a:r>
              <a:rPr lang="en-US" sz="2290" b="1" dirty="0">
                <a:solidFill>
                  <a:srgbClr val="FFFFFF"/>
                </a:solidFill>
                <a:latin typeface="Arial" panose="020B0604020202020204" pitchFamily="34" charset="0"/>
                <a:ea typeface="Arial" panose="020B0604020202020204" pitchFamily="34" charset="-122"/>
                <a:cs typeface="Arial" panose="020B0604020202020204" pitchFamily="34" charset="-120"/>
              </a:rPr>
              <a:t>03</a:t>
            </a:r>
            <a:endParaRPr lang="en-US" sz="2290" dirty="0"/>
          </a:p>
        </p:txBody>
      </p:sp>
      <p:sp>
        <p:nvSpPr>
          <p:cNvPr id="171" name="Text 134"/>
          <p:cNvSpPr txBox="1"/>
          <p:nvPr/>
        </p:nvSpPr>
        <p:spPr>
          <a:xfrm>
            <a:off x="5768187" y="5567849"/>
            <a:ext cx="284226" cy="299076"/>
          </a:xfrm>
          <a:prstGeom prst="rect">
            <a:avLst/>
          </a:prstGeom>
          <a:noFill/>
        </p:spPr>
        <p:txBody>
          <a:bodyPr wrap="none" lIns="0" tIns="0" rIns="0" bIns="0" rtlCol="0" anchor="ctr"/>
          <a:lstStyle/>
          <a:p>
            <a:pPr marL="0" indent="0" algn="ctr">
              <a:buNone/>
            </a:pPr>
            <a:endParaRPr lang="en-US" sz="3000" dirty="0"/>
          </a:p>
        </p:txBody>
      </p:sp>
      <p:pic>
        <p:nvPicPr>
          <p:cNvPr id="174" name="图片 173"/>
          <p:cNvPicPr>
            <a:picLocks noChangeAspect="1"/>
          </p:cNvPicPr>
          <p:nvPr>
            <p:custDataLst>
              <p:tags r:id="rId31"/>
            </p:custDataLst>
          </p:nvPr>
        </p:nvPicPr>
        <p:blipFill>
          <a:blip r:embed="rId32"/>
          <a:srcRect t="69576" b="21479"/>
          <a:stretch>
            <a:fillRect/>
          </a:stretch>
        </p:blipFill>
        <p:spPr>
          <a:xfrm>
            <a:off x="0" y="-22860"/>
            <a:ext cx="12192000" cy="681355"/>
          </a:xfrm>
          <a:prstGeom prst="rect">
            <a:avLst/>
          </a:prstGeom>
        </p:spPr>
      </p:pic>
      <p:sp>
        <p:nvSpPr>
          <p:cNvPr id="175" name="矩形 174"/>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76" name="图片 175" descr="华科大"/>
          <p:cNvPicPr>
            <a:picLocks noChangeAspect="1"/>
          </p:cNvPicPr>
          <p:nvPr>
            <p:custDataLst>
              <p:tags r:id="rId33"/>
            </p:custDataLst>
          </p:nvPr>
        </p:nvPicPr>
        <p:blipFill>
          <a:blip r:embed="rId34"/>
          <a:stretch>
            <a:fillRect/>
          </a:stretch>
        </p:blipFill>
        <p:spPr>
          <a:xfrm>
            <a:off x="635" y="-97790"/>
            <a:ext cx="2354580" cy="824230"/>
          </a:xfrm>
          <a:prstGeom prst="rect">
            <a:avLst/>
          </a:prstGeom>
        </p:spPr>
      </p:pic>
      <p:pic>
        <p:nvPicPr>
          <p:cNvPr id="177" name="图片 176"/>
          <p:cNvPicPr>
            <a:picLocks noChangeAspect="1"/>
          </p:cNvPicPr>
          <p:nvPr>
            <p:custDataLst>
              <p:tags r:id="rId35"/>
            </p:custDataLst>
          </p:nvPr>
        </p:nvPicPr>
        <p:blipFill>
          <a:blip r:embed="rId32"/>
          <a:srcRect t="69576" b="21479"/>
          <a:stretch>
            <a:fillRect/>
          </a:stretch>
        </p:blipFill>
        <p:spPr>
          <a:xfrm>
            <a:off x="0" y="-22860"/>
            <a:ext cx="12192000" cy="681355"/>
          </a:xfrm>
          <a:prstGeom prst="rect">
            <a:avLst/>
          </a:prstGeom>
        </p:spPr>
      </p:pic>
      <p:sp>
        <p:nvSpPr>
          <p:cNvPr id="178" name="矩形 177"/>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9" name="矩形 178"/>
          <p:cNvSpPr/>
          <p:nvPr>
            <p:custDataLst>
              <p:tags r:id="rId36"/>
            </p:custDataLst>
          </p:nvPr>
        </p:nvSpPr>
        <p:spPr>
          <a:xfrm>
            <a:off x="3797964" y="-24015"/>
            <a:ext cx="1859281" cy="676679"/>
          </a:xfrm>
          <a:prstGeom prst="rect">
            <a:avLst/>
          </a:prstGeom>
          <a:solidFill>
            <a:srgbClr val="02549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0" name="文本框 179"/>
          <p:cNvSpPr txBox="1"/>
          <p:nvPr/>
        </p:nvSpPr>
        <p:spPr>
          <a:xfrm>
            <a:off x="2125374" y="67915"/>
            <a:ext cx="16725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研究背景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81" name="文本框 180"/>
          <p:cNvSpPr txBox="1"/>
          <p:nvPr/>
        </p:nvSpPr>
        <p:spPr>
          <a:xfrm>
            <a:off x="3762124" y="80122"/>
            <a:ext cx="178165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研究现状</a:t>
            </a:r>
            <a:endParaRPr lang="zh-CN" altLang="en-US" sz="2400" b="1" dirty="0">
              <a:solidFill>
                <a:schemeClr val="bg1"/>
              </a:solidFill>
            </a:endParaRPr>
          </a:p>
        </p:txBody>
      </p:sp>
      <p:sp>
        <p:nvSpPr>
          <p:cNvPr id="182" name="文本框 181"/>
          <p:cNvSpPr txBox="1"/>
          <p:nvPr/>
        </p:nvSpPr>
        <p:spPr>
          <a:xfrm>
            <a:off x="5394826" y="86984"/>
            <a:ext cx="183705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系统架构</a:t>
            </a:r>
            <a:endParaRPr lang="zh-CN" altLang="en-US" sz="2400" b="1" dirty="0">
              <a:solidFill>
                <a:schemeClr val="bg1"/>
              </a:solidFill>
            </a:endParaRPr>
          </a:p>
        </p:txBody>
      </p:sp>
      <p:sp>
        <p:nvSpPr>
          <p:cNvPr id="183" name="文本框 182"/>
          <p:cNvSpPr txBox="1"/>
          <p:nvPr/>
        </p:nvSpPr>
        <p:spPr>
          <a:xfrm>
            <a:off x="7005125" y="86983"/>
            <a:ext cx="185928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图谱算法</a:t>
            </a:r>
            <a:endParaRPr lang="zh-CN" altLang="en-US" sz="2400" b="1" dirty="0">
              <a:solidFill>
                <a:schemeClr val="bg1"/>
              </a:solidFill>
            </a:endParaRPr>
          </a:p>
        </p:txBody>
      </p:sp>
      <p:sp>
        <p:nvSpPr>
          <p:cNvPr id="184" name="文本框 183"/>
          <p:cNvSpPr txBox="1"/>
          <p:nvPr/>
        </p:nvSpPr>
        <p:spPr>
          <a:xfrm>
            <a:off x="8667692" y="88396"/>
            <a:ext cx="1736725" cy="429895"/>
          </a:xfrm>
          <a:prstGeom prst="rect">
            <a:avLst/>
          </a:prstGeom>
          <a:noFill/>
        </p:spPr>
        <p:txBody>
          <a:bodyPr wrap="square" rtlCol="0">
            <a:spAutoFit/>
          </a:bodyPr>
          <a:lstStyle/>
          <a:p>
            <a:r>
              <a:rPr lang="en-US" altLang="zh-CN" sz="2200" b="1" dirty="0">
                <a:solidFill>
                  <a:schemeClr val="bg1"/>
                </a:solidFill>
                <a:sym typeface="+mn-ea"/>
              </a:rPr>
              <a:t>  </a:t>
            </a:r>
            <a:r>
              <a:rPr lang="zh-CN" altLang="en-US" sz="2200" b="1" dirty="0">
                <a:solidFill>
                  <a:schemeClr val="bg1"/>
                </a:solidFill>
                <a:latin typeface="微软雅黑" panose="020B0503020204020204" pitchFamily="34" charset="-122"/>
                <a:ea typeface="微软雅黑" panose="020B0503020204020204" pitchFamily="34" charset="-122"/>
                <a:sym typeface="+mn-ea"/>
              </a:rPr>
              <a:t>实验设计</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185" name="图片 184" descr="华科大"/>
          <p:cNvPicPr>
            <a:picLocks noChangeAspect="1"/>
          </p:cNvPicPr>
          <p:nvPr>
            <p:custDataLst>
              <p:tags r:id="rId37"/>
            </p:custDataLst>
          </p:nvPr>
        </p:nvPicPr>
        <p:blipFill>
          <a:blip r:embed="rId34"/>
          <a:stretch>
            <a:fillRect/>
          </a:stretch>
        </p:blipFill>
        <p:spPr>
          <a:xfrm>
            <a:off x="-156383" y="-97790"/>
            <a:ext cx="2354580" cy="824230"/>
          </a:xfrm>
          <a:prstGeom prst="rect">
            <a:avLst/>
          </a:prstGeom>
        </p:spPr>
      </p:pic>
      <p:sp>
        <p:nvSpPr>
          <p:cNvPr id="187" name="文本框 186"/>
          <p:cNvSpPr txBox="1"/>
          <p:nvPr/>
        </p:nvSpPr>
        <p:spPr>
          <a:xfrm>
            <a:off x="360680" y="4307205"/>
            <a:ext cx="2710815" cy="1198880"/>
          </a:xfrm>
          <a:prstGeom prst="rect">
            <a:avLst/>
          </a:prstGeom>
          <a:noFill/>
        </p:spPr>
        <p:txBody>
          <a:bodyPr wrap="square" rtlCol="0">
            <a:spAutoFit/>
          </a:bodyPr>
          <a:p>
            <a:r>
              <a:rPr lang="en-US" altLang="zh-CN" sz="1200"/>
              <a:t>ColaCare, 2025</a:t>
            </a:r>
            <a:r>
              <a:rPr lang="zh-CN" altLang="en-US" sz="1200"/>
              <a:t>的工作将处理结构化病历的专用预测模型与 </a:t>
            </a:r>
            <a:r>
              <a:rPr lang="en-US" altLang="zh-CN" sz="1200"/>
              <a:t>LLM </a:t>
            </a:r>
            <a:r>
              <a:rPr lang="zh-CN" altLang="en-US" sz="1200"/>
              <a:t>结合，由医生智能体和统筹智能体进行协同分析，并通过 </a:t>
            </a:r>
            <a:r>
              <a:rPr lang="en-US" altLang="zh-CN" sz="1200"/>
              <a:t>RAG </a:t>
            </a:r>
            <a:r>
              <a:rPr lang="zh-CN" altLang="en-US" sz="1200"/>
              <a:t>检索医学指南提供证据，在多组电子病历数据上验证死亡风险预测效果</a:t>
            </a:r>
            <a:endParaRPr lang="zh-CN" altLang="en-US" sz="1200"/>
          </a:p>
        </p:txBody>
      </p:sp>
      <p:sp>
        <p:nvSpPr>
          <p:cNvPr id="188" name="Shape 8"/>
          <p:cNvSpPr/>
          <p:nvPr/>
        </p:nvSpPr>
        <p:spPr>
          <a:xfrm>
            <a:off x="3195955" y="4234180"/>
            <a:ext cx="2710815" cy="1355725"/>
          </a:xfrm>
          <a:prstGeom prst="roundRect">
            <a:avLst>
              <a:gd name="adj" fmla="val 3670"/>
            </a:avLst>
          </a:prstGeom>
          <a:solidFill>
            <a:srgbClr val="F0F7F9"/>
          </a:solidFill>
          <a:ln w="12700">
            <a:solidFill>
              <a:srgbClr val="F0F7F9">
                <a:alpha val="0"/>
              </a:srgbClr>
            </a:solidFill>
            <a:prstDash val="solid"/>
          </a:ln>
        </p:spPr>
      </p:sp>
      <p:sp>
        <p:nvSpPr>
          <p:cNvPr id="189" name="文本框 188"/>
          <p:cNvSpPr txBox="1"/>
          <p:nvPr/>
        </p:nvSpPr>
        <p:spPr>
          <a:xfrm>
            <a:off x="3195955" y="4307205"/>
            <a:ext cx="2710815" cy="1198880"/>
          </a:xfrm>
          <a:prstGeom prst="rect">
            <a:avLst/>
          </a:prstGeom>
          <a:noFill/>
        </p:spPr>
        <p:txBody>
          <a:bodyPr wrap="square" rtlCol="0">
            <a:spAutoFit/>
          </a:bodyPr>
          <a:p>
            <a:r>
              <a:rPr lang="en-US" altLang="zh-CN" sz="1200"/>
              <a:t>MedAgent-Pro, 2025</a:t>
            </a:r>
            <a:r>
              <a:rPr lang="zh-CN" altLang="en-US" sz="1200"/>
              <a:t>依据检索到的临床诊断标准生成疾病分析计划，再由多个工具智能体处理多模态资料并逐项分析诊断指标，综合定量结果与定性证据形成诊断，支持二维和三维医学影像任务</a:t>
            </a:r>
            <a:endParaRPr lang="zh-CN" altLang="en-US" sz="1200"/>
          </a:p>
        </p:txBody>
      </p:sp>
      <p:sp>
        <p:nvSpPr>
          <p:cNvPr id="191" name="Shape 8"/>
          <p:cNvSpPr/>
          <p:nvPr/>
        </p:nvSpPr>
        <p:spPr>
          <a:xfrm>
            <a:off x="6300470" y="4234180"/>
            <a:ext cx="2710815" cy="1355725"/>
          </a:xfrm>
          <a:prstGeom prst="roundRect">
            <a:avLst>
              <a:gd name="adj" fmla="val 3670"/>
            </a:avLst>
          </a:prstGeom>
          <a:solidFill>
            <a:srgbClr val="F0F7F9"/>
          </a:solidFill>
          <a:ln w="12700">
            <a:solidFill>
              <a:srgbClr val="F0F7F9">
                <a:alpha val="0"/>
              </a:srgbClr>
            </a:solidFill>
            <a:prstDash val="solid"/>
          </a:ln>
        </p:spPr>
      </p:sp>
      <p:sp>
        <p:nvSpPr>
          <p:cNvPr id="192" name="Shape 8"/>
          <p:cNvSpPr/>
          <p:nvPr/>
        </p:nvSpPr>
        <p:spPr>
          <a:xfrm>
            <a:off x="9186545" y="4234180"/>
            <a:ext cx="2710815" cy="1355725"/>
          </a:xfrm>
          <a:prstGeom prst="roundRect">
            <a:avLst>
              <a:gd name="adj" fmla="val 3670"/>
            </a:avLst>
          </a:prstGeom>
          <a:solidFill>
            <a:srgbClr val="F0F7F9"/>
          </a:solidFill>
          <a:ln w="12700">
            <a:solidFill>
              <a:srgbClr val="F0F7F9">
                <a:alpha val="0"/>
              </a:srgbClr>
            </a:solidFill>
            <a:prstDash val="solid"/>
          </a:ln>
        </p:spPr>
      </p:sp>
      <p:sp>
        <p:nvSpPr>
          <p:cNvPr id="193" name="文本框 192"/>
          <p:cNvSpPr txBox="1"/>
          <p:nvPr/>
        </p:nvSpPr>
        <p:spPr>
          <a:xfrm>
            <a:off x="6337300" y="4290695"/>
            <a:ext cx="2710815" cy="1198880"/>
          </a:xfrm>
          <a:prstGeom prst="rect">
            <a:avLst/>
          </a:prstGeom>
          <a:noFill/>
        </p:spPr>
        <p:txBody>
          <a:bodyPr wrap="square" rtlCol="0">
            <a:spAutoFit/>
          </a:bodyPr>
          <a:p>
            <a:r>
              <a:rPr lang="en-US" altLang="zh-CN" sz="1200"/>
              <a:t>MedGraphRAG, 2025</a:t>
            </a:r>
            <a:r>
              <a:rPr lang="zh-CN" altLang="en-US" sz="1200"/>
              <a:t>通过构建连接患者文档、医学文献和标准医学术语的三层图结构，结合自上而下的精准检索与自下而上的回答优化，为 </a:t>
            </a:r>
            <a:r>
              <a:rPr lang="en-US" altLang="zh-CN" sz="1200"/>
              <a:t>LLM </a:t>
            </a:r>
            <a:r>
              <a:rPr lang="zh-CN" altLang="en-US" sz="1200"/>
              <a:t>提供可追溯的医学证据，并在医学问答等任务中验证效果</a:t>
            </a:r>
            <a:endParaRPr lang="zh-CN" altLang="en-US" sz="1200"/>
          </a:p>
        </p:txBody>
      </p:sp>
      <p:sp>
        <p:nvSpPr>
          <p:cNvPr id="194" name="文本框 193"/>
          <p:cNvSpPr txBox="1"/>
          <p:nvPr/>
        </p:nvSpPr>
        <p:spPr>
          <a:xfrm>
            <a:off x="9186545" y="4307205"/>
            <a:ext cx="2710815" cy="1014730"/>
          </a:xfrm>
          <a:prstGeom prst="rect">
            <a:avLst/>
          </a:prstGeom>
          <a:noFill/>
        </p:spPr>
        <p:txBody>
          <a:bodyPr wrap="square" rtlCol="0">
            <a:spAutoFit/>
          </a:bodyPr>
          <a:p>
            <a:r>
              <a:rPr lang="en-US" altLang="zh-CN" sz="1200"/>
              <a:t>MedRAG, 2025</a:t>
            </a:r>
            <a:r>
              <a:rPr lang="zh-CN" altLang="en-US" sz="1200"/>
              <a:t>构建四层诊断知识图谱，编码相似疾病之间的关键鉴别特征，并将这些知识与检索到的相似病历共同输入 </a:t>
            </a:r>
            <a:r>
              <a:rPr lang="en-US" altLang="zh-CN" sz="1200"/>
              <a:t>LLM，</a:t>
            </a:r>
            <a:r>
              <a:rPr lang="zh-CN" altLang="en-US" sz="1200"/>
              <a:t>为症状相近疾病提供更具体的诊断建议和后续补问  </a:t>
            </a:r>
            <a:endParaRPr lang="zh-CN" altLang="en-US" sz="1200"/>
          </a:p>
        </p:txBody>
      </p:sp>
      <p:sp>
        <p:nvSpPr>
          <p:cNvPr id="195" name="Shape 8"/>
          <p:cNvSpPr/>
          <p:nvPr/>
        </p:nvSpPr>
        <p:spPr>
          <a:xfrm>
            <a:off x="257810" y="5819140"/>
            <a:ext cx="11640185" cy="824230"/>
          </a:xfrm>
          <a:prstGeom prst="roundRect">
            <a:avLst>
              <a:gd name="adj" fmla="val 3670"/>
            </a:avLst>
          </a:prstGeom>
          <a:solidFill>
            <a:srgbClr val="F0F7F9"/>
          </a:solidFill>
          <a:ln w="12700">
            <a:solidFill>
              <a:srgbClr val="F0F7F9">
                <a:alpha val="0"/>
              </a:srgbClr>
            </a:solidFill>
            <a:prstDash val="solid"/>
          </a:ln>
        </p:spPr>
      </p:sp>
      <p:sp>
        <p:nvSpPr>
          <p:cNvPr id="196" name="文本框 195"/>
          <p:cNvSpPr txBox="1"/>
          <p:nvPr/>
        </p:nvSpPr>
        <p:spPr>
          <a:xfrm>
            <a:off x="360680" y="5866765"/>
            <a:ext cx="11449050" cy="737235"/>
          </a:xfrm>
          <a:prstGeom prst="rect">
            <a:avLst/>
          </a:prstGeom>
          <a:noFill/>
        </p:spPr>
        <p:txBody>
          <a:bodyPr wrap="square" rtlCol="0">
            <a:spAutoFit/>
          </a:bodyPr>
          <a:p>
            <a:r>
              <a:rPr lang="en-US" altLang="zh-CN" sz="1400"/>
              <a:t>MedCoRAG, 2026 </a:t>
            </a:r>
            <a:r>
              <a:rPr lang="zh-CN" altLang="en-US" sz="1400"/>
              <a:t>面向肝病辅助诊断，从患者的标准化异常表现出发生成候选诊断，联合检索并筛选 </a:t>
            </a:r>
            <a:r>
              <a:rPr lang="en-US" altLang="zh-CN" sz="1400"/>
              <a:t>UMLS </a:t>
            </a:r>
            <a:r>
              <a:rPr lang="zh-CN" altLang="en-US" sz="1400"/>
              <a:t>知识图谱中的关联路径与临床指南，构建针对当前患者的证据集合，再由路由智能体根据病例复杂度组织相关专科智能体开展多轮分析与讨论，并在需要时触发定向再检索以补充依据，最终由综合智能体整合各方判断和支持证据，形成可追溯的共识诊断，并在 </a:t>
            </a:r>
            <a:r>
              <a:rPr lang="en-US" altLang="zh-CN" sz="1400"/>
              <a:t>MIMIC-IV </a:t>
            </a:r>
            <a:r>
              <a:rPr lang="zh-CN" altLang="en-US" sz="1400"/>
              <a:t>肝病病例上评估诊断准确性与推理可解释性。</a:t>
            </a:r>
            <a:endParaRPr lang="zh-CN" altLang="en-US" sz="1400"/>
          </a:p>
        </p:txBody>
      </p:sp>
      <p:sp>
        <p:nvSpPr>
          <p:cNvPr id="197" name="文本框 196"/>
          <p:cNvSpPr txBox="1"/>
          <p:nvPr/>
        </p:nvSpPr>
        <p:spPr>
          <a:xfrm>
            <a:off x="10176646" y="88234"/>
            <a:ext cx="2015375" cy="460375"/>
          </a:xfrm>
          <a:prstGeom prst="rect">
            <a:avLst/>
          </a:prstGeom>
          <a:noFill/>
        </p:spPr>
        <p:txBody>
          <a:bodyPr wrap="squar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研究</a:t>
            </a:r>
            <a:r>
              <a:rPr lang="zh-CN" altLang="en-US" sz="2400" b="1" dirty="0">
                <a:solidFill>
                  <a:schemeClr val="bg1"/>
                </a:solidFill>
                <a:latin typeface="微软雅黑" panose="020B0503020204020204" pitchFamily="34" charset="-122"/>
                <a:ea typeface="微软雅黑" panose="020B0503020204020204" pitchFamily="34" charset="-122"/>
              </a:rPr>
              <a:t>计划</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image"/>
          <p:cNvPicPr>
            <a:picLocks noChangeAspect="1"/>
          </p:cNvPicPr>
          <p:nvPr/>
        </p:nvPicPr>
        <p:blipFill>
          <a:blip r:embed="rId1"/>
          <a:stretch>
            <a:fillRect/>
          </a:stretch>
        </p:blipFill>
        <p:spPr>
          <a:xfrm>
            <a:off x="2590682" y="2062527"/>
            <a:ext cx="2594477" cy="1945857"/>
          </a:xfrm>
          <a:prstGeom prst="rect">
            <a:avLst/>
          </a:prstGeom>
        </p:spPr>
      </p:pic>
      <p:sp>
        <p:nvSpPr>
          <p:cNvPr id="4" name="Shape 0"/>
          <p:cNvSpPr/>
          <p:nvPr/>
        </p:nvSpPr>
        <p:spPr>
          <a:xfrm>
            <a:off x="5228885" y="2091679"/>
            <a:ext cx="4146790" cy="1894842"/>
          </a:xfrm>
          <a:prstGeom prst="roundRect">
            <a:avLst>
              <a:gd name="adj" fmla="val 1930"/>
            </a:avLst>
          </a:prstGeom>
          <a:solidFill>
            <a:srgbClr val="FBFDFE"/>
          </a:solidFill>
          <a:ln w="15875">
            <a:solidFill>
              <a:srgbClr val="D1E4F8"/>
            </a:solidFill>
            <a:prstDash val="solid"/>
          </a:ln>
        </p:spPr>
      </p:sp>
      <p:sp>
        <p:nvSpPr>
          <p:cNvPr id="5" name="Shape 1"/>
          <p:cNvSpPr/>
          <p:nvPr/>
        </p:nvSpPr>
        <p:spPr>
          <a:xfrm>
            <a:off x="9747885" y="2032000"/>
            <a:ext cx="2237105" cy="4559935"/>
          </a:xfrm>
          <a:prstGeom prst="roundRect">
            <a:avLst>
              <a:gd name="adj" fmla="val 1635"/>
            </a:avLst>
          </a:prstGeom>
          <a:solidFill>
            <a:srgbClr val="FEFEFE"/>
          </a:solidFill>
          <a:ln w="15875">
            <a:solidFill>
              <a:srgbClr val="A9C9E8"/>
            </a:solidFill>
            <a:prstDash val="solid"/>
          </a:ln>
          <a:effectLst>
            <a:outerShdw blurRad="50800" dist="25400" dir="2700000" algn="bl" rotWithShape="0">
              <a:srgbClr val="000000">
                <a:alpha val="35000"/>
              </a:srgbClr>
            </a:outerShdw>
          </a:effectLst>
        </p:spPr>
      </p:sp>
      <p:sp>
        <p:nvSpPr>
          <p:cNvPr id="6" name="Shape 2"/>
          <p:cNvSpPr/>
          <p:nvPr/>
        </p:nvSpPr>
        <p:spPr>
          <a:xfrm>
            <a:off x="236704" y="2652843"/>
            <a:ext cx="1902130" cy="925558"/>
          </a:xfrm>
          <a:prstGeom prst="roundRect">
            <a:avLst>
              <a:gd name="adj" fmla="val 3150"/>
            </a:avLst>
          </a:prstGeom>
          <a:solidFill>
            <a:srgbClr val="FDFEFE"/>
          </a:solidFill>
          <a:ln w="15875">
            <a:solidFill>
              <a:srgbClr val="1688F5"/>
            </a:solidFill>
            <a:prstDash val="solid"/>
          </a:ln>
        </p:spPr>
      </p:sp>
      <p:sp>
        <p:nvSpPr>
          <p:cNvPr id="7" name="Shape 3"/>
          <p:cNvSpPr/>
          <p:nvPr/>
        </p:nvSpPr>
        <p:spPr>
          <a:xfrm>
            <a:off x="236704" y="3643992"/>
            <a:ext cx="1902130" cy="925558"/>
          </a:xfrm>
          <a:prstGeom prst="roundRect">
            <a:avLst>
              <a:gd name="adj" fmla="val 3952"/>
            </a:avLst>
          </a:prstGeom>
          <a:solidFill>
            <a:srgbClr val="FEFDFD"/>
          </a:solidFill>
          <a:ln w="15875">
            <a:solidFill>
              <a:srgbClr val="FF7A22"/>
            </a:solidFill>
            <a:prstDash val="solid"/>
          </a:ln>
        </p:spPr>
      </p:sp>
      <p:sp>
        <p:nvSpPr>
          <p:cNvPr id="8" name="Shape 4"/>
          <p:cNvSpPr/>
          <p:nvPr/>
        </p:nvSpPr>
        <p:spPr>
          <a:xfrm>
            <a:off x="229417" y="4642428"/>
            <a:ext cx="1909418" cy="874543"/>
          </a:xfrm>
          <a:prstGeom prst="roundRect">
            <a:avLst>
              <a:gd name="adj" fmla="val 4182"/>
            </a:avLst>
          </a:prstGeom>
          <a:solidFill>
            <a:srgbClr val="FDFEFE"/>
          </a:solidFill>
          <a:ln w="15875">
            <a:solidFill>
              <a:srgbClr val="19B879"/>
            </a:solidFill>
            <a:prstDash val="solid"/>
          </a:ln>
        </p:spPr>
      </p:sp>
      <p:sp>
        <p:nvSpPr>
          <p:cNvPr id="9" name="Shape 5"/>
          <p:cNvSpPr/>
          <p:nvPr/>
        </p:nvSpPr>
        <p:spPr>
          <a:xfrm>
            <a:off x="229417" y="5589849"/>
            <a:ext cx="1909418" cy="961997"/>
          </a:xfrm>
          <a:prstGeom prst="roundRect">
            <a:avLst>
              <a:gd name="adj" fmla="val 3802"/>
            </a:avLst>
          </a:prstGeom>
          <a:solidFill>
            <a:srgbClr val="FDFEFE"/>
          </a:solidFill>
          <a:ln w="15875">
            <a:solidFill>
              <a:srgbClr val="1688F5"/>
            </a:solidFill>
            <a:prstDash val="solid"/>
          </a:ln>
        </p:spPr>
      </p:sp>
      <p:pic>
        <p:nvPicPr>
          <p:cNvPr id="10" name="Image 2" descr="image"/>
          <p:cNvPicPr>
            <a:picLocks noChangeAspect="1"/>
          </p:cNvPicPr>
          <p:nvPr/>
        </p:nvPicPr>
        <p:blipFill>
          <a:blip r:embed="rId2"/>
          <a:stretch>
            <a:fillRect/>
          </a:stretch>
        </p:blipFill>
        <p:spPr>
          <a:xfrm>
            <a:off x="5549551" y="4030248"/>
            <a:ext cx="838103" cy="648619"/>
          </a:xfrm>
          <a:prstGeom prst="rect">
            <a:avLst/>
          </a:prstGeom>
        </p:spPr>
      </p:pic>
      <p:sp>
        <p:nvSpPr>
          <p:cNvPr id="11" name="Shape 6"/>
          <p:cNvSpPr/>
          <p:nvPr/>
        </p:nvSpPr>
        <p:spPr>
          <a:xfrm>
            <a:off x="4427221" y="4460232"/>
            <a:ext cx="787088" cy="604892"/>
          </a:xfrm>
          <a:prstGeom prst="ellipse">
            <a:avLst/>
          </a:prstGeom>
          <a:solidFill>
            <a:srgbClr val="FFF2E9"/>
          </a:solidFill>
          <a:ln w="15875">
            <a:solidFill>
              <a:srgbClr val="FF701A"/>
            </a:solidFill>
            <a:prstDash val="solid"/>
          </a:ln>
        </p:spPr>
      </p:sp>
      <p:sp>
        <p:nvSpPr>
          <p:cNvPr id="12" name="Shape 7"/>
          <p:cNvSpPr/>
          <p:nvPr/>
        </p:nvSpPr>
        <p:spPr>
          <a:xfrm>
            <a:off x="6744759" y="4445656"/>
            <a:ext cx="794376" cy="612180"/>
          </a:xfrm>
          <a:prstGeom prst="ellipse">
            <a:avLst/>
          </a:prstGeom>
          <a:solidFill>
            <a:srgbClr val="CEF4E8"/>
          </a:solidFill>
          <a:ln w="15875">
            <a:solidFill>
              <a:srgbClr val="19A977"/>
            </a:solidFill>
            <a:prstDash val="solid"/>
          </a:ln>
        </p:spPr>
      </p:sp>
      <p:pic>
        <p:nvPicPr>
          <p:cNvPr id="13" name="Image 3" descr="image"/>
          <p:cNvPicPr>
            <a:picLocks noChangeAspect="1"/>
          </p:cNvPicPr>
          <p:nvPr/>
        </p:nvPicPr>
        <p:blipFill>
          <a:blip r:embed="rId3"/>
          <a:stretch>
            <a:fillRect/>
          </a:stretch>
        </p:blipFill>
        <p:spPr>
          <a:xfrm>
            <a:off x="5571415" y="4657004"/>
            <a:ext cx="830816" cy="750649"/>
          </a:xfrm>
          <a:prstGeom prst="rect">
            <a:avLst/>
          </a:prstGeom>
        </p:spPr>
      </p:pic>
      <p:sp>
        <p:nvSpPr>
          <p:cNvPr id="14" name="Shape 8"/>
          <p:cNvSpPr/>
          <p:nvPr/>
        </p:nvSpPr>
        <p:spPr>
          <a:xfrm>
            <a:off x="4536539" y="5079699"/>
            <a:ext cx="867255" cy="583028"/>
          </a:xfrm>
          <a:prstGeom prst="ellipse">
            <a:avLst/>
          </a:prstGeom>
          <a:solidFill>
            <a:srgbClr val="ECE7FE"/>
          </a:solidFill>
          <a:ln w="15875">
            <a:solidFill>
              <a:srgbClr val="7A45F5"/>
            </a:solidFill>
            <a:prstDash val="solid"/>
          </a:ln>
        </p:spPr>
      </p:sp>
      <p:sp>
        <p:nvSpPr>
          <p:cNvPr id="15" name="Shape 9"/>
          <p:cNvSpPr/>
          <p:nvPr/>
        </p:nvSpPr>
        <p:spPr>
          <a:xfrm>
            <a:off x="6620866" y="5057836"/>
            <a:ext cx="779801" cy="597604"/>
          </a:xfrm>
          <a:prstGeom prst="ellipse">
            <a:avLst/>
          </a:prstGeom>
          <a:solidFill>
            <a:srgbClr val="FED4DA"/>
          </a:solidFill>
          <a:ln w="15875">
            <a:solidFill>
              <a:srgbClr val="EF263A"/>
            </a:solidFill>
            <a:prstDash val="solid"/>
          </a:ln>
        </p:spPr>
      </p:sp>
      <p:sp>
        <p:nvSpPr>
          <p:cNvPr id="16" name="Shape 10"/>
          <p:cNvSpPr/>
          <p:nvPr/>
        </p:nvSpPr>
        <p:spPr>
          <a:xfrm>
            <a:off x="3436073" y="6143726"/>
            <a:ext cx="1566889" cy="386256"/>
          </a:xfrm>
          <a:prstGeom prst="roundRect">
            <a:avLst>
              <a:gd name="adj" fmla="val 6000"/>
            </a:avLst>
          </a:prstGeom>
          <a:solidFill>
            <a:srgbClr val="ECF5FE"/>
          </a:solidFill>
          <a:ln w="15875">
            <a:solidFill>
              <a:srgbClr val="8ABDF1"/>
            </a:solidFill>
            <a:prstDash val="solid"/>
          </a:ln>
        </p:spPr>
      </p:sp>
      <p:sp>
        <p:nvSpPr>
          <p:cNvPr id="17" name="Shape 11"/>
          <p:cNvSpPr/>
          <p:nvPr/>
        </p:nvSpPr>
        <p:spPr>
          <a:xfrm>
            <a:off x="2619833" y="5750182"/>
            <a:ext cx="6755842" cy="881831"/>
          </a:xfrm>
          <a:prstGeom prst="roundRect">
            <a:avLst>
              <a:gd name="adj" fmla="val 5785"/>
            </a:avLst>
          </a:prstGeom>
          <a:noFill/>
          <a:ln w="15875">
            <a:solidFill>
              <a:srgbClr val="D4E7F8"/>
            </a:solidFill>
            <a:prstDash val="solid"/>
          </a:ln>
        </p:spPr>
      </p:sp>
      <p:pic>
        <p:nvPicPr>
          <p:cNvPr id="18" name="Image 4" descr="image"/>
          <p:cNvPicPr>
            <a:picLocks noChangeAspect="1"/>
          </p:cNvPicPr>
          <p:nvPr/>
        </p:nvPicPr>
        <p:blipFill>
          <a:blip r:embed="rId4"/>
          <a:stretch>
            <a:fillRect/>
          </a:stretch>
        </p:blipFill>
        <p:spPr>
          <a:xfrm>
            <a:off x="5104992" y="5670016"/>
            <a:ext cx="1464859" cy="1064027"/>
          </a:xfrm>
          <a:prstGeom prst="rect">
            <a:avLst/>
          </a:prstGeom>
        </p:spPr>
      </p:pic>
      <p:pic>
        <p:nvPicPr>
          <p:cNvPr id="19" name="Image 5" descr="image"/>
          <p:cNvPicPr>
            <a:picLocks noChangeAspect="1"/>
          </p:cNvPicPr>
          <p:nvPr/>
        </p:nvPicPr>
        <p:blipFill>
          <a:blip r:embed="rId5"/>
          <a:stretch>
            <a:fillRect/>
          </a:stretch>
        </p:blipFill>
        <p:spPr>
          <a:xfrm>
            <a:off x="6599002" y="6114575"/>
            <a:ext cx="1238935" cy="451847"/>
          </a:xfrm>
          <a:prstGeom prst="rect">
            <a:avLst/>
          </a:prstGeom>
        </p:spPr>
      </p:pic>
      <p:sp>
        <p:nvSpPr>
          <p:cNvPr id="20" name="Shape 12"/>
          <p:cNvSpPr/>
          <p:nvPr/>
        </p:nvSpPr>
        <p:spPr>
          <a:xfrm>
            <a:off x="7881665" y="6143726"/>
            <a:ext cx="1311814" cy="386256"/>
          </a:xfrm>
          <a:prstGeom prst="roundRect">
            <a:avLst>
              <a:gd name="adj" fmla="val 6000"/>
            </a:avLst>
          </a:prstGeom>
          <a:solidFill>
            <a:srgbClr val="F0FCFA"/>
          </a:solidFill>
          <a:ln w="15875">
            <a:solidFill>
              <a:srgbClr val="6DCDB2"/>
            </a:solidFill>
            <a:prstDash val="solid"/>
          </a:ln>
        </p:spPr>
      </p:sp>
      <p:sp>
        <p:nvSpPr>
          <p:cNvPr id="22" name="Shape 14"/>
          <p:cNvSpPr/>
          <p:nvPr/>
        </p:nvSpPr>
        <p:spPr>
          <a:xfrm>
            <a:off x="2510790" y="1959610"/>
            <a:ext cx="6959600" cy="4745355"/>
          </a:xfrm>
          <a:prstGeom prst="roundRect">
            <a:avLst>
              <a:gd name="adj" fmla="val 1101"/>
            </a:avLst>
          </a:prstGeom>
          <a:noFill/>
          <a:ln w="15875">
            <a:solidFill>
              <a:srgbClr val="8CC8F6"/>
            </a:solidFill>
            <a:prstDash val="dash"/>
          </a:ln>
        </p:spPr>
      </p:sp>
      <p:sp>
        <p:nvSpPr>
          <p:cNvPr id="24" name="Shape 16"/>
          <p:cNvSpPr/>
          <p:nvPr/>
        </p:nvSpPr>
        <p:spPr>
          <a:xfrm>
            <a:off x="113030" y="1959610"/>
            <a:ext cx="2186305" cy="4723130"/>
          </a:xfrm>
          <a:prstGeom prst="roundRect">
            <a:avLst>
              <a:gd name="adj" fmla="val 1333"/>
            </a:avLst>
          </a:prstGeom>
          <a:noFill/>
          <a:ln w="15875">
            <a:solidFill>
              <a:srgbClr val="B9D8F5"/>
            </a:solidFill>
            <a:prstDash val="dash"/>
          </a:ln>
        </p:spPr>
      </p:sp>
      <p:pic>
        <p:nvPicPr>
          <p:cNvPr id="25" name="Image 6" descr="image"/>
          <p:cNvPicPr>
            <a:picLocks noChangeAspect="1"/>
          </p:cNvPicPr>
          <p:nvPr/>
        </p:nvPicPr>
        <p:blipFill>
          <a:blip r:embed="rId6"/>
          <a:stretch>
            <a:fillRect/>
          </a:stretch>
        </p:blipFill>
        <p:spPr>
          <a:xfrm>
            <a:off x="2146123" y="2929782"/>
            <a:ext cx="408120" cy="218636"/>
          </a:xfrm>
          <a:prstGeom prst="rect">
            <a:avLst/>
          </a:prstGeom>
        </p:spPr>
      </p:pic>
      <p:pic>
        <p:nvPicPr>
          <p:cNvPr id="26" name="Image 7" descr="image"/>
          <p:cNvPicPr>
            <a:picLocks noChangeAspect="1"/>
          </p:cNvPicPr>
          <p:nvPr/>
        </p:nvPicPr>
        <p:blipFill>
          <a:blip r:embed="rId7"/>
          <a:stretch>
            <a:fillRect/>
          </a:stretch>
        </p:blipFill>
        <p:spPr>
          <a:xfrm>
            <a:off x="2146123" y="3957370"/>
            <a:ext cx="393544" cy="247787"/>
          </a:xfrm>
          <a:prstGeom prst="rect">
            <a:avLst/>
          </a:prstGeom>
        </p:spPr>
      </p:pic>
      <p:pic>
        <p:nvPicPr>
          <p:cNvPr id="27" name="Image 8" descr="image"/>
          <p:cNvPicPr>
            <a:picLocks noChangeAspect="1"/>
          </p:cNvPicPr>
          <p:nvPr/>
        </p:nvPicPr>
        <p:blipFill>
          <a:blip r:embed="rId8"/>
          <a:stretch>
            <a:fillRect/>
          </a:stretch>
        </p:blipFill>
        <p:spPr>
          <a:xfrm>
            <a:off x="2146123" y="4963094"/>
            <a:ext cx="393544" cy="247787"/>
          </a:xfrm>
          <a:prstGeom prst="rect">
            <a:avLst/>
          </a:prstGeom>
        </p:spPr>
      </p:pic>
      <p:pic>
        <p:nvPicPr>
          <p:cNvPr id="28" name="Image 9" descr="image"/>
          <p:cNvPicPr>
            <a:picLocks noChangeAspect="1"/>
          </p:cNvPicPr>
          <p:nvPr/>
        </p:nvPicPr>
        <p:blipFill>
          <a:blip r:embed="rId9"/>
          <a:stretch>
            <a:fillRect/>
          </a:stretch>
        </p:blipFill>
        <p:spPr>
          <a:xfrm>
            <a:off x="2146123" y="5939666"/>
            <a:ext cx="393544" cy="247787"/>
          </a:xfrm>
          <a:prstGeom prst="rect">
            <a:avLst/>
          </a:prstGeom>
        </p:spPr>
      </p:pic>
      <p:sp>
        <p:nvSpPr>
          <p:cNvPr id="29" name="Shape 17"/>
          <p:cNvSpPr/>
          <p:nvPr/>
        </p:nvSpPr>
        <p:spPr>
          <a:xfrm>
            <a:off x="9652635" y="1944370"/>
            <a:ext cx="2426970" cy="4745355"/>
          </a:xfrm>
          <a:prstGeom prst="roundRect">
            <a:avLst>
              <a:gd name="adj" fmla="val 1802"/>
            </a:avLst>
          </a:prstGeom>
          <a:noFill/>
          <a:ln w="15875">
            <a:solidFill>
              <a:srgbClr val="B9D8F5"/>
            </a:solidFill>
            <a:prstDash val="dash"/>
          </a:ln>
        </p:spPr>
      </p:sp>
      <p:pic>
        <p:nvPicPr>
          <p:cNvPr id="30" name="Image 10" descr="image"/>
          <p:cNvPicPr>
            <a:picLocks noChangeAspect="1"/>
          </p:cNvPicPr>
          <p:nvPr/>
        </p:nvPicPr>
        <p:blipFill>
          <a:blip r:embed="rId10"/>
          <a:stretch>
            <a:fillRect/>
          </a:stretch>
        </p:blipFill>
        <p:spPr>
          <a:xfrm>
            <a:off x="9433978" y="5939666"/>
            <a:ext cx="364393" cy="247787"/>
          </a:xfrm>
          <a:prstGeom prst="rect">
            <a:avLst/>
          </a:prstGeom>
        </p:spPr>
      </p:pic>
      <p:sp>
        <p:nvSpPr>
          <p:cNvPr id="31" name="Shape 18"/>
          <p:cNvSpPr/>
          <p:nvPr/>
        </p:nvSpPr>
        <p:spPr>
          <a:xfrm>
            <a:off x="2619833" y="4052112"/>
            <a:ext cx="6755842" cy="1625192"/>
          </a:xfrm>
          <a:prstGeom prst="roundRect">
            <a:avLst>
              <a:gd name="adj" fmla="val 3139"/>
            </a:avLst>
          </a:prstGeom>
          <a:noFill/>
          <a:ln w="15875">
            <a:solidFill>
              <a:srgbClr val="D4E7F8"/>
            </a:solidFill>
            <a:prstDash val="solid"/>
          </a:ln>
        </p:spPr>
      </p:sp>
      <p:pic>
        <p:nvPicPr>
          <p:cNvPr id="32" name="Image 11" descr="image"/>
          <p:cNvPicPr>
            <a:picLocks noChangeAspect="1"/>
          </p:cNvPicPr>
          <p:nvPr/>
        </p:nvPicPr>
        <p:blipFill>
          <a:blip r:embed="rId11"/>
          <a:stretch>
            <a:fillRect/>
          </a:stretch>
        </p:blipFill>
        <p:spPr>
          <a:xfrm>
            <a:off x="5549551" y="5589849"/>
            <a:ext cx="218636" cy="276939"/>
          </a:xfrm>
          <a:prstGeom prst="rect">
            <a:avLst/>
          </a:prstGeom>
        </p:spPr>
      </p:pic>
      <p:pic>
        <p:nvPicPr>
          <p:cNvPr id="33" name="Image 12" descr="image"/>
          <p:cNvPicPr>
            <a:picLocks noChangeAspect="1"/>
          </p:cNvPicPr>
          <p:nvPr/>
        </p:nvPicPr>
        <p:blipFill>
          <a:blip r:embed="rId12"/>
          <a:stretch>
            <a:fillRect/>
          </a:stretch>
        </p:blipFill>
        <p:spPr>
          <a:xfrm>
            <a:off x="5841065" y="5589849"/>
            <a:ext cx="233211" cy="262363"/>
          </a:xfrm>
          <a:prstGeom prst="rect">
            <a:avLst/>
          </a:prstGeom>
        </p:spPr>
      </p:pic>
      <p:sp>
        <p:nvSpPr>
          <p:cNvPr id="34" name="Shape 19"/>
          <p:cNvSpPr/>
          <p:nvPr/>
        </p:nvSpPr>
        <p:spPr>
          <a:xfrm>
            <a:off x="9885854" y="2098634"/>
            <a:ext cx="1996872" cy="852679"/>
          </a:xfrm>
          <a:prstGeom prst="roundRect">
            <a:avLst>
              <a:gd name="adj" fmla="val 3419"/>
            </a:avLst>
          </a:prstGeom>
          <a:solidFill>
            <a:srgbClr val="EFF7FD"/>
          </a:solidFill>
          <a:ln w="12700">
            <a:solidFill>
              <a:srgbClr val="EFF7FD">
                <a:alpha val="0"/>
              </a:srgbClr>
            </a:solidFill>
            <a:prstDash val="solid"/>
          </a:ln>
        </p:spPr>
        <p:txBody>
          <a:bodyPr/>
          <a:p>
            <a:endParaRPr lang="zh-CN" altLang="en-US"/>
          </a:p>
        </p:txBody>
      </p:sp>
      <p:sp>
        <p:nvSpPr>
          <p:cNvPr id="35" name="Shape 20"/>
          <p:cNvSpPr/>
          <p:nvPr/>
        </p:nvSpPr>
        <p:spPr>
          <a:xfrm>
            <a:off x="9885884" y="3008951"/>
            <a:ext cx="2004160" cy="1071315"/>
          </a:xfrm>
          <a:prstGeom prst="roundRect">
            <a:avLst>
              <a:gd name="adj" fmla="val 3414"/>
            </a:avLst>
          </a:prstGeom>
          <a:solidFill>
            <a:srgbClr val="EDF6FE"/>
          </a:solidFill>
          <a:ln w="12700">
            <a:solidFill>
              <a:srgbClr val="EDF6FE">
                <a:alpha val="0"/>
              </a:srgbClr>
            </a:solidFill>
            <a:prstDash val="solid"/>
          </a:ln>
        </p:spPr>
      </p:sp>
      <p:pic>
        <p:nvPicPr>
          <p:cNvPr id="36" name="Image 13" descr="image"/>
          <p:cNvPicPr>
            <a:picLocks noChangeAspect="1"/>
          </p:cNvPicPr>
          <p:nvPr/>
        </p:nvPicPr>
        <p:blipFill>
          <a:blip r:embed="rId13"/>
          <a:stretch>
            <a:fillRect/>
          </a:stretch>
        </p:blipFill>
        <p:spPr>
          <a:xfrm>
            <a:off x="9849689" y="4088101"/>
            <a:ext cx="2033312" cy="619468"/>
          </a:xfrm>
          <a:prstGeom prst="rect">
            <a:avLst/>
          </a:prstGeom>
        </p:spPr>
      </p:pic>
      <p:pic>
        <p:nvPicPr>
          <p:cNvPr id="37" name="Image 14" descr="image"/>
          <p:cNvPicPr>
            <a:picLocks noChangeAspect="1"/>
          </p:cNvPicPr>
          <p:nvPr/>
        </p:nvPicPr>
        <p:blipFill>
          <a:blip r:embed="rId14"/>
          <a:stretch>
            <a:fillRect/>
          </a:stretch>
        </p:blipFill>
        <p:spPr>
          <a:xfrm>
            <a:off x="9849386" y="4685617"/>
            <a:ext cx="2040600" cy="648619"/>
          </a:xfrm>
          <a:prstGeom prst="rect">
            <a:avLst/>
          </a:prstGeom>
        </p:spPr>
      </p:pic>
      <p:pic>
        <p:nvPicPr>
          <p:cNvPr id="38" name="Image 15" descr="image"/>
          <p:cNvPicPr>
            <a:picLocks noChangeAspect="1"/>
          </p:cNvPicPr>
          <p:nvPr/>
        </p:nvPicPr>
        <p:blipFill>
          <a:blip r:embed="rId15"/>
          <a:stretch>
            <a:fillRect/>
          </a:stretch>
        </p:blipFill>
        <p:spPr>
          <a:xfrm>
            <a:off x="9849689" y="5334178"/>
            <a:ext cx="2026024" cy="619468"/>
          </a:xfrm>
          <a:prstGeom prst="rect">
            <a:avLst/>
          </a:prstGeom>
        </p:spPr>
      </p:pic>
      <p:pic>
        <p:nvPicPr>
          <p:cNvPr id="39" name="Image 16" descr="image"/>
          <p:cNvPicPr>
            <a:picLocks noChangeAspect="1"/>
          </p:cNvPicPr>
          <p:nvPr/>
        </p:nvPicPr>
        <p:blipFill>
          <a:blip r:embed="rId16"/>
          <a:stretch>
            <a:fillRect/>
          </a:stretch>
        </p:blipFill>
        <p:spPr>
          <a:xfrm>
            <a:off x="9842704" y="5953558"/>
            <a:ext cx="2033312" cy="619468"/>
          </a:xfrm>
          <a:prstGeom prst="rect">
            <a:avLst/>
          </a:prstGeom>
        </p:spPr>
      </p:pic>
      <p:sp>
        <p:nvSpPr>
          <p:cNvPr id="40" name="Shape 21"/>
          <p:cNvSpPr/>
          <p:nvPr/>
        </p:nvSpPr>
        <p:spPr>
          <a:xfrm>
            <a:off x="4070116" y="2310314"/>
            <a:ext cx="903694" cy="284226"/>
          </a:xfrm>
          <a:prstGeom prst="roundRect">
            <a:avLst>
              <a:gd name="adj" fmla="val 15385"/>
            </a:avLst>
          </a:prstGeom>
          <a:solidFill>
            <a:srgbClr val="EEF8FE"/>
          </a:solidFill>
          <a:ln w="15875">
            <a:solidFill>
              <a:srgbClr val="378FE7"/>
            </a:solidFill>
            <a:prstDash val="solid"/>
          </a:ln>
        </p:spPr>
      </p:sp>
      <p:sp>
        <p:nvSpPr>
          <p:cNvPr id="41" name="Shape 22"/>
          <p:cNvSpPr/>
          <p:nvPr/>
        </p:nvSpPr>
        <p:spPr>
          <a:xfrm>
            <a:off x="4062829" y="2652843"/>
            <a:ext cx="918270" cy="276939"/>
          </a:xfrm>
          <a:prstGeom prst="roundRect">
            <a:avLst>
              <a:gd name="adj" fmla="val 15789"/>
            </a:avLst>
          </a:prstGeom>
          <a:solidFill>
            <a:srgbClr val="FEF4EC"/>
          </a:solidFill>
          <a:ln w="15875">
            <a:solidFill>
              <a:srgbClr val="FF762A"/>
            </a:solidFill>
            <a:prstDash val="solid"/>
          </a:ln>
        </p:spPr>
      </p:sp>
      <p:sp>
        <p:nvSpPr>
          <p:cNvPr id="42" name="Shape 23"/>
          <p:cNvSpPr/>
          <p:nvPr/>
        </p:nvSpPr>
        <p:spPr>
          <a:xfrm>
            <a:off x="4062829" y="2995373"/>
            <a:ext cx="903694" cy="284226"/>
          </a:xfrm>
          <a:prstGeom prst="roundRect">
            <a:avLst>
              <a:gd name="adj" fmla="val 10256"/>
            </a:avLst>
          </a:prstGeom>
          <a:solidFill>
            <a:srgbClr val="E5F9F4"/>
          </a:solidFill>
          <a:ln w="15875">
            <a:solidFill>
              <a:srgbClr val="20B987"/>
            </a:solidFill>
            <a:prstDash val="solid"/>
          </a:ln>
        </p:spPr>
      </p:sp>
      <p:sp>
        <p:nvSpPr>
          <p:cNvPr id="43" name="Shape 24"/>
          <p:cNvSpPr/>
          <p:nvPr/>
        </p:nvSpPr>
        <p:spPr>
          <a:xfrm>
            <a:off x="4062829" y="3345190"/>
            <a:ext cx="910982" cy="291514"/>
          </a:xfrm>
          <a:prstGeom prst="roundRect">
            <a:avLst>
              <a:gd name="adj" fmla="val 15000"/>
            </a:avLst>
          </a:prstGeom>
          <a:solidFill>
            <a:srgbClr val="F0F3F7"/>
          </a:solidFill>
          <a:ln w="15875">
            <a:solidFill>
              <a:srgbClr val="8298B4"/>
            </a:solidFill>
            <a:prstDash val="solid"/>
          </a:ln>
        </p:spPr>
      </p:sp>
      <p:pic>
        <p:nvPicPr>
          <p:cNvPr id="44" name="Image 17" descr="image"/>
          <p:cNvPicPr>
            <a:picLocks noChangeAspect="1"/>
          </p:cNvPicPr>
          <p:nvPr/>
        </p:nvPicPr>
        <p:blipFill>
          <a:blip r:embed="rId17"/>
          <a:stretch>
            <a:fillRect/>
          </a:stretch>
        </p:blipFill>
        <p:spPr>
          <a:xfrm>
            <a:off x="4121131" y="3454507"/>
            <a:ext cx="211348" cy="87454"/>
          </a:xfrm>
          <a:prstGeom prst="rect">
            <a:avLst/>
          </a:prstGeom>
        </p:spPr>
      </p:pic>
      <p:pic>
        <p:nvPicPr>
          <p:cNvPr id="45" name="Image 18" descr="image"/>
          <p:cNvPicPr>
            <a:picLocks noChangeAspect="1"/>
          </p:cNvPicPr>
          <p:nvPr/>
        </p:nvPicPr>
        <p:blipFill>
          <a:blip r:embed="rId18"/>
          <a:stretch>
            <a:fillRect/>
          </a:stretch>
        </p:blipFill>
        <p:spPr>
          <a:xfrm>
            <a:off x="8151315" y="2441496"/>
            <a:ext cx="1144193" cy="524726"/>
          </a:xfrm>
          <a:prstGeom prst="rect">
            <a:avLst/>
          </a:prstGeom>
        </p:spPr>
      </p:pic>
      <p:sp>
        <p:nvSpPr>
          <p:cNvPr id="46" name="Shape 25"/>
          <p:cNvSpPr/>
          <p:nvPr/>
        </p:nvSpPr>
        <p:spPr>
          <a:xfrm>
            <a:off x="8187755" y="2988085"/>
            <a:ext cx="1071315" cy="415408"/>
          </a:xfrm>
          <a:prstGeom prst="roundRect">
            <a:avLst>
              <a:gd name="adj" fmla="val 6000"/>
            </a:avLst>
          </a:prstGeom>
          <a:solidFill>
            <a:srgbClr val="FFFFFF"/>
          </a:solidFill>
          <a:ln w="15875">
            <a:solidFill>
              <a:srgbClr val="A8D4F8"/>
            </a:solidFill>
            <a:prstDash val="solid"/>
          </a:ln>
        </p:spPr>
      </p:sp>
      <p:pic>
        <p:nvPicPr>
          <p:cNvPr id="47" name="Image 19" descr="image"/>
          <p:cNvPicPr>
            <a:picLocks noChangeAspect="1"/>
          </p:cNvPicPr>
          <p:nvPr/>
        </p:nvPicPr>
        <p:blipFill>
          <a:blip r:embed="rId19"/>
          <a:stretch>
            <a:fillRect/>
          </a:stretch>
        </p:blipFill>
        <p:spPr>
          <a:xfrm>
            <a:off x="8260633" y="3286887"/>
            <a:ext cx="284226" cy="87454"/>
          </a:xfrm>
          <a:prstGeom prst="rect">
            <a:avLst/>
          </a:prstGeom>
        </p:spPr>
      </p:pic>
      <p:pic>
        <p:nvPicPr>
          <p:cNvPr id="48" name="Image 20" descr="image"/>
          <p:cNvPicPr>
            <a:picLocks noChangeAspect="1"/>
          </p:cNvPicPr>
          <p:nvPr/>
        </p:nvPicPr>
        <p:blipFill>
          <a:blip r:embed="rId20"/>
          <a:stretch>
            <a:fillRect/>
          </a:stretch>
        </p:blipFill>
        <p:spPr>
          <a:xfrm>
            <a:off x="8151315" y="3432644"/>
            <a:ext cx="1180633" cy="495574"/>
          </a:xfrm>
          <a:prstGeom prst="rect">
            <a:avLst/>
          </a:prstGeom>
        </p:spPr>
      </p:pic>
      <p:pic>
        <p:nvPicPr>
          <p:cNvPr id="49" name="Image 21" descr="image"/>
          <p:cNvPicPr>
            <a:picLocks noChangeAspect="1"/>
          </p:cNvPicPr>
          <p:nvPr/>
        </p:nvPicPr>
        <p:blipFill>
          <a:blip r:embed="rId21"/>
          <a:stretch>
            <a:fillRect/>
          </a:stretch>
        </p:blipFill>
        <p:spPr>
          <a:xfrm>
            <a:off x="6132579" y="2397768"/>
            <a:ext cx="553877" cy="510150"/>
          </a:xfrm>
          <a:prstGeom prst="rect">
            <a:avLst/>
          </a:prstGeom>
        </p:spPr>
      </p:pic>
      <p:pic>
        <p:nvPicPr>
          <p:cNvPr id="50" name="Image 22" descr="image"/>
          <p:cNvPicPr>
            <a:picLocks noChangeAspect="1"/>
          </p:cNvPicPr>
          <p:nvPr/>
        </p:nvPicPr>
        <p:blipFill>
          <a:blip r:embed="rId22"/>
          <a:stretch>
            <a:fillRect/>
          </a:stretch>
        </p:blipFill>
        <p:spPr>
          <a:xfrm>
            <a:off x="7182031" y="2375905"/>
            <a:ext cx="575741" cy="575741"/>
          </a:xfrm>
          <a:prstGeom prst="rect">
            <a:avLst/>
          </a:prstGeom>
        </p:spPr>
      </p:pic>
      <p:pic>
        <p:nvPicPr>
          <p:cNvPr id="51" name="Image 23" descr="image"/>
          <p:cNvPicPr>
            <a:picLocks noChangeAspect="1"/>
          </p:cNvPicPr>
          <p:nvPr/>
        </p:nvPicPr>
        <p:blipFill>
          <a:blip r:embed="rId23"/>
          <a:stretch>
            <a:fillRect/>
          </a:stretch>
        </p:blipFill>
        <p:spPr>
          <a:xfrm>
            <a:off x="6606290" y="2725722"/>
            <a:ext cx="641331" cy="590316"/>
          </a:xfrm>
          <a:prstGeom prst="rect">
            <a:avLst/>
          </a:prstGeom>
        </p:spPr>
      </p:pic>
      <p:sp>
        <p:nvSpPr>
          <p:cNvPr id="52" name="Shape 26"/>
          <p:cNvSpPr/>
          <p:nvPr/>
        </p:nvSpPr>
        <p:spPr>
          <a:xfrm>
            <a:off x="9958977" y="2441349"/>
            <a:ext cx="1821964" cy="0"/>
          </a:xfrm>
          <a:prstGeom prst="line">
            <a:avLst/>
          </a:prstGeom>
          <a:noFill/>
          <a:ln w="9525">
            <a:solidFill>
              <a:srgbClr val="D9E7F3"/>
            </a:solidFill>
            <a:prstDash val="solid"/>
          </a:ln>
        </p:spPr>
      </p:sp>
      <p:sp>
        <p:nvSpPr>
          <p:cNvPr id="53" name="Shape 27"/>
          <p:cNvSpPr/>
          <p:nvPr/>
        </p:nvSpPr>
        <p:spPr>
          <a:xfrm>
            <a:off x="5892080" y="2980797"/>
            <a:ext cx="612180" cy="612180"/>
          </a:xfrm>
          <a:prstGeom prst="ellipse">
            <a:avLst/>
          </a:prstGeom>
          <a:solidFill>
            <a:srgbClr val="D1F5EA"/>
          </a:solidFill>
          <a:ln w="15875">
            <a:solidFill>
              <a:srgbClr val="14A879"/>
            </a:solidFill>
            <a:prstDash val="solid"/>
          </a:ln>
        </p:spPr>
      </p:sp>
      <p:pic>
        <p:nvPicPr>
          <p:cNvPr id="54" name="Image 24" descr="image"/>
          <p:cNvPicPr>
            <a:picLocks noChangeAspect="1"/>
          </p:cNvPicPr>
          <p:nvPr/>
        </p:nvPicPr>
        <p:blipFill>
          <a:blip r:embed="rId24"/>
          <a:stretch>
            <a:fillRect/>
          </a:stretch>
        </p:blipFill>
        <p:spPr>
          <a:xfrm>
            <a:off x="6059701" y="3039100"/>
            <a:ext cx="291514" cy="291514"/>
          </a:xfrm>
          <a:prstGeom prst="rect">
            <a:avLst/>
          </a:prstGeom>
        </p:spPr>
      </p:pic>
      <p:sp>
        <p:nvSpPr>
          <p:cNvPr id="55" name="Shape 28"/>
          <p:cNvSpPr/>
          <p:nvPr/>
        </p:nvSpPr>
        <p:spPr>
          <a:xfrm>
            <a:off x="5833777" y="2215572"/>
            <a:ext cx="1975009" cy="1705358"/>
          </a:xfrm>
          <a:prstGeom prst="roundRect">
            <a:avLst>
              <a:gd name="adj" fmla="val 1709"/>
            </a:avLst>
          </a:prstGeom>
          <a:noFill/>
          <a:ln w="15875">
            <a:solidFill>
              <a:srgbClr val="D9EEFE"/>
            </a:solidFill>
            <a:prstDash val="solid"/>
          </a:ln>
        </p:spPr>
      </p:sp>
      <p:sp>
        <p:nvSpPr>
          <p:cNvPr id="56" name="Shape 29"/>
          <p:cNvSpPr/>
          <p:nvPr/>
        </p:nvSpPr>
        <p:spPr>
          <a:xfrm>
            <a:off x="7327788" y="3031812"/>
            <a:ext cx="488286" cy="488286"/>
          </a:xfrm>
          <a:prstGeom prst="ellipse">
            <a:avLst/>
          </a:prstGeom>
          <a:solidFill>
            <a:srgbClr val="FDCED5"/>
          </a:solidFill>
          <a:ln w="15875">
            <a:solidFill>
              <a:srgbClr val="F02636"/>
            </a:solidFill>
            <a:prstDash val="solid"/>
          </a:ln>
        </p:spPr>
      </p:sp>
      <p:pic>
        <p:nvPicPr>
          <p:cNvPr id="57" name="Image 25" descr="image"/>
          <p:cNvPicPr>
            <a:picLocks noChangeAspect="1"/>
          </p:cNvPicPr>
          <p:nvPr/>
        </p:nvPicPr>
        <p:blipFill>
          <a:blip r:embed="rId25"/>
          <a:stretch>
            <a:fillRect/>
          </a:stretch>
        </p:blipFill>
        <p:spPr>
          <a:xfrm>
            <a:off x="6599002" y="3337902"/>
            <a:ext cx="590316" cy="590316"/>
          </a:xfrm>
          <a:prstGeom prst="rect">
            <a:avLst/>
          </a:prstGeom>
        </p:spPr>
      </p:pic>
      <p:pic>
        <p:nvPicPr>
          <p:cNvPr id="58" name="Image 26" descr="salvage"/>
          <p:cNvPicPr>
            <a:picLocks noChangeAspect="1"/>
          </p:cNvPicPr>
          <p:nvPr/>
        </p:nvPicPr>
        <p:blipFill>
          <a:blip r:embed="rId26"/>
          <a:stretch>
            <a:fillRect/>
          </a:stretch>
        </p:blipFill>
        <p:spPr>
          <a:xfrm>
            <a:off x="4128419" y="2375905"/>
            <a:ext cx="204060" cy="204060"/>
          </a:xfrm>
          <a:prstGeom prst="rect">
            <a:avLst/>
          </a:prstGeom>
        </p:spPr>
      </p:pic>
      <p:pic>
        <p:nvPicPr>
          <p:cNvPr id="59" name="Image 27" descr="salvage"/>
          <p:cNvPicPr>
            <a:picLocks noChangeAspect="1"/>
          </p:cNvPicPr>
          <p:nvPr/>
        </p:nvPicPr>
        <p:blipFill>
          <a:blip r:embed="rId27"/>
          <a:stretch>
            <a:fillRect/>
          </a:stretch>
        </p:blipFill>
        <p:spPr>
          <a:xfrm>
            <a:off x="557370" y="5699167"/>
            <a:ext cx="466423" cy="706922"/>
          </a:xfrm>
          <a:prstGeom prst="rect">
            <a:avLst/>
          </a:prstGeom>
        </p:spPr>
      </p:pic>
      <p:pic>
        <p:nvPicPr>
          <p:cNvPr id="60" name="Image 28" descr="icon"/>
          <p:cNvPicPr>
            <a:picLocks noChangeAspect="1"/>
          </p:cNvPicPr>
          <p:nvPr/>
        </p:nvPicPr>
        <p:blipFill>
          <a:blip r:embed="rId28"/>
          <a:stretch>
            <a:fillRect/>
          </a:stretch>
        </p:blipFill>
        <p:spPr>
          <a:xfrm>
            <a:off x="6394942" y="4212444"/>
            <a:ext cx="1683495" cy="561165"/>
          </a:xfrm>
          <a:prstGeom prst="rect">
            <a:avLst/>
          </a:prstGeom>
        </p:spPr>
      </p:pic>
      <p:pic>
        <p:nvPicPr>
          <p:cNvPr id="61" name="Image 29" descr="icon"/>
          <p:cNvPicPr>
            <a:picLocks noChangeAspect="1"/>
          </p:cNvPicPr>
          <p:nvPr/>
        </p:nvPicPr>
        <p:blipFill>
          <a:blip r:embed="rId29"/>
          <a:stretch>
            <a:fillRect/>
          </a:stretch>
        </p:blipFill>
        <p:spPr>
          <a:xfrm>
            <a:off x="3982662" y="4212444"/>
            <a:ext cx="1603328" cy="553877"/>
          </a:xfrm>
          <a:prstGeom prst="rect">
            <a:avLst/>
          </a:prstGeom>
        </p:spPr>
      </p:pic>
      <p:pic>
        <p:nvPicPr>
          <p:cNvPr id="62" name="Image 30" descr="icon"/>
          <p:cNvPicPr>
            <a:picLocks noChangeAspect="1"/>
          </p:cNvPicPr>
          <p:nvPr/>
        </p:nvPicPr>
        <p:blipFill>
          <a:blip r:embed="rId30"/>
          <a:stretch>
            <a:fillRect/>
          </a:stretch>
        </p:blipFill>
        <p:spPr>
          <a:xfrm>
            <a:off x="5207022" y="4737170"/>
            <a:ext cx="408120" cy="174909"/>
          </a:xfrm>
          <a:prstGeom prst="rect">
            <a:avLst/>
          </a:prstGeom>
        </p:spPr>
      </p:pic>
      <p:pic>
        <p:nvPicPr>
          <p:cNvPr id="63" name="Image 31" descr="icon"/>
          <p:cNvPicPr>
            <a:picLocks noChangeAspect="1"/>
          </p:cNvPicPr>
          <p:nvPr/>
        </p:nvPicPr>
        <p:blipFill>
          <a:blip r:embed="rId31"/>
          <a:stretch>
            <a:fillRect/>
          </a:stretch>
        </p:blipFill>
        <p:spPr>
          <a:xfrm>
            <a:off x="7407954" y="5035972"/>
            <a:ext cx="670483" cy="444559"/>
          </a:xfrm>
          <a:prstGeom prst="rect">
            <a:avLst/>
          </a:prstGeom>
        </p:spPr>
      </p:pic>
      <p:pic>
        <p:nvPicPr>
          <p:cNvPr id="64" name="Image 32" descr="icon"/>
          <p:cNvPicPr>
            <a:picLocks noChangeAspect="1"/>
          </p:cNvPicPr>
          <p:nvPr/>
        </p:nvPicPr>
        <p:blipFill>
          <a:blip r:embed="rId32"/>
          <a:stretch>
            <a:fillRect/>
          </a:stretch>
        </p:blipFill>
        <p:spPr>
          <a:xfrm>
            <a:off x="3917071" y="5021396"/>
            <a:ext cx="612180" cy="451847"/>
          </a:xfrm>
          <a:prstGeom prst="rect">
            <a:avLst/>
          </a:prstGeom>
        </p:spPr>
      </p:pic>
      <p:pic>
        <p:nvPicPr>
          <p:cNvPr id="65" name="Image 33" descr="icon"/>
          <p:cNvPicPr>
            <a:picLocks noChangeAspect="1"/>
          </p:cNvPicPr>
          <p:nvPr/>
        </p:nvPicPr>
        <p:blipFill>
          <a:blip r:embed="rId33"/>
          <a:stretch>
            <a:fillRect/>
          </a:stretch>
        </p:blipFill>
        <p:spPr>
          <a:xfrm>
            <a:off x="6322064" y="5458668"/>
            <a:ext cx="284226" cy="109318"/>
          </a:xfrm>
          <a:prstGeom prst="rect">
            <a:avLst/>
          </a:prstGeom>
        </p:spPr>
      </p:pic>
      <p:pic>
        <p:nvPicPr>
          <p:cNvPr id="66" name="Image 34" descr="icon"/>
          <p:cNvPicPr>
            <a:picLocks noChangeAspect="1"/>
          </p:cNvPicPr>
          <p:nvPr/>
        </p:nvPicPr>
        <p:blipFill>
          <a:blip r:embed="rId34"/>
          <a:stretch>
            <a:fillRect/>
          </a:stretch>
        </p:blipFill>
        <p:spPr>
          <a:xfrm>
            <a:off x="6198170" y="5604425"/>
            <a:ext cx="167621" cy="189484"/>
          </a:xfrm>
          <a:prstGeom prst="rect">
            <a:avLst/>
          </a:prstGeom>
        </p:spPr>
      </p:pic>
      <p:sp>
        <p:nvSpPr>
          <p:cNvPr id="67" name="image2ppt-measured-path-1"/>
          <p:cNvSpPr/>
          <p:nvPr/>
        </p:nvSpPr>
        <p:spPr>
          <a:xfrm>
            <a:off x="3568774" y="2415654"/>
            <a:ext cx="450321" cy="405530"/>
          </a:xfrm>
          <a:custGeom>
            <a:avLst/>
            <a:gdLst/>
            <a:ahLst/>
            <a:cxnLst/>
            <a:rect l="l" t="t" r="r" b="b"/>
            <a:pathLst>
              <a:path w="450321" h="405530" fill="none">
                <a:moveTo>
                  <a:pt x="381140" y="33077"/>
                </a:moveTo>
                <a:lnTo>
                  <a:pt x="253536" y="33077"/>
                </a:lnTo>
                <a:cubicBezTo>
                  <a:pt x="180352" y="33745"/>
                  <a:pt x="123237" y="314573"/>
                  <a:pt x="75732" y="368370"/>
                </a:cubicBezTo>
                <a:cubicBezTo>
                  <a:pt x="60600" y="385506"/>
                  <a:pt x="40325" y="389656"/>
                  <a:pt x="20344" y="397522"/>
                </a:cubicBezTo>
                <a:lnTo>
                  <a:pt x="0" y="405530"/>
                </a:lnTo>
              </a:path>
              <a:path w="450321" h="405530" stroke="0">
                <a:moveTo>
                  <a:pt x="450321" y="32162"/>
                </a:moveTo>
                <a:lnTo>
                  <a:pt x="381489" y="76519"/>
                </a:lnTo>
                <a:lnTo>
                  <a:pt x="380790" y="0"/>
                </a:lnTo>
                <a:close/>
              </a:path>
            </a:pathLst>
          </a:custGeom>
          <a:solidFill>
            <a:srgbClr val="6E82A3"/>
          </a:solidFill>
          <a:ln w="10932">
            <a:solidFill>
              <a:srgbClr val="6E82A3"/>
            </a:solidFill>
            <a:prstDash val="solid"/>
          </a:ln>
        </p:spPr>
      </p:sp>
      <p:sp>
        <p:nvSpPr>
          <p:cNvPr id="68" name="image2ppt-measured-path-2"/>
          <p:cNvSpPr/>
          <p:nvPr/>
        </p:nvSpPr>
        <p:spPr>
          <a:xfrm>
            <a:off x="3567382" y="3153779"/>
            <a:ext cx="448075" cy="391827"/>
          </a:xfrm>
          <a:custGeom>
            <a:avLst/>
            <a:gdLst/>
            <a:ahLst/>
            <a:cxnLst/>
            <a:rect l="l" t="t" r="r" b="b"/>
            <a:pathLst>
              <a:path w="448075" h="391827" fill="none">
                <a:moveTo>
                  <a:pt x="0" y="0"/>
                </a:moveTo>
                <a:cubicBezTo>
                  <a:pt x="144504" y="19267"/>
                  <a:pt x="131933" y="236967"/>
                  <a:pt x="201017" y="322592"/>
                </a:cubicBezTo>
                <a:cubicBezTo>
                  <a:pt x="235708" y="365590"/>
                  <a:pt x="327575" y="351743"/>
                  <a:pt x="367909" y="351743"/>
                </a:cubicBezTo>
              </a:path>
              <a:path w="448075" h="391827" stroke="0">
                <a:moveTo>
                  <a:pt x="448075" y="351743"/>
                </a:moveTo>
                <a:lnTo>
                  <a:pt x="367909" y="391827"/>
                </a:lnTo>
                <a:lnTo>
                  <a:pt x="367909" y="308016"/>
                </a:lnTo>
                <a:close/>
              </a:path>
            </a:pathLst>
          </a:custGeom>
          <a:solidFill>
            <a:srgbClr val="6A7B9C"/>
          </a:solidFill>
          <a:ln w="10932">
            <a:solidFill>
              <a:srgbClr val="6A7B9C"/>
            </a:solidFill>
            <a:prstDash val="solid"/>
          </a:ln>
        </p:spPr>
      </p:sp>
      <p:sp>
        <p:nvSpPr>
          <p:cNvPr id="69" name="image2ppt-measured-path-3"/>
          <p:cNvSpPr/>
          <p:nvPr/>
        </p:nvSpPr>
        <p:spPr>
          <a:xfrm>
            <a:off x="6496978" y="5918832"/>
            <a:ext cx="1676193" cy="105674"/>
          </a:xfrm>
          <a:custGeom>
            <a:avLst/>
            <a:gdLst/>
            <a:ahLst/>
            <a:cxnLst/>
            <a:rect l="l" t="t" r="r" b="b"/>
            <a:pathLst>
              <a:path w="1676193" h="105674" fill="none">
                <a:moveTo>
                  <a:pt x="61936" y="49181"/>
                </a:moveTo>
                <a:lnTo>
                  <a:pt x="1676193" y="49181"/>
                </a:lnTo>
              </a:path>
              <a:path w="1676193" h="105674" stroke="0">
                <a:moveTo>
                  <a:pt x="0" y="47245"/>
                </a:moveTo>
                <a:lnTo>
                  <a:pt x="62043" y="0"/>
                </a:lnTo>
                <a:lnTo>
                  <a:pt x="61828" y="105674"/>
                </a:lnTo>
                <a:close/>
              </a:path>
            </a:pathLst>
          </a:custGeom>
          <a:solidFill>
            <a:srgbClr val="6FA7DE"/>
          </a:solidFill>
          <a:ln w="43728">
            <a:solidFill>
              <a:srgbClr val="6FA7DE"/>
            </a:solidFill>
            <a:prstDash val="solid"/>
          </a:ln>
        </p:spPr>
      </p:sp>
      <p:sp>
        <p:nvSpPr>
          <p:cNvPr id="70" name="image2ppt-measured-path-4"/>
          <p:cNvSpPr/>
          <p:nvPr/>
        </p:nvSpPr>
        <p:spPr>
          <a:xfrm>
            <a:off x="3986262" y="5920334"/>
            <a:ext cx="1453912" cy="98384"/>
          </a:xfrm>
          <a:custGeom>
            <a:avLst/>
            <a:gdLst/>
            <a:ahLst/>
            <a:cxnLst/>
            <a:rect l="l" t="t" r="r" b="b"/>
            <a:pathLst>
              <a:path w="1453912" h="98384" fill="none">
                <a:moveTo>
                  <a:pt x="1384743" y="46297"/>
                </a:moveTo>
                <a:lnTo>
                  <a:pt x="0" y="46297"/>
                </a:lnTo>
              </a:path>
              <a:path w="1453912" h="98384" stroke="0">
                <a:moveTo>
                  <a:pt x="1453912" y="39596"/>
                </a:moveTo>
                <a:lnTo>
                  <a:pt x="1385088" y="98384"/>
                </a:lnTo>
                <a:lnTo>
                  <a:pt x="1384397" y="0"/>
                </a:lnTo>
                <a:close/>
              </a:path>
            </a:pathLst>
          </a:custGeom>
          <a:solidFill>
            <a:srgbClr val="86B9E7"/>
          </a:solidFill>
          <a:ln w="43728">
            <a:solidFill>
              <a:srgbClr val="86B9E7"/>
            </a:solidFill>
            <a:prstDash val="solid"/>
          </a:ln>
        </p:spPr>
      </p:sp>
      <p:sp>
        <p:nvSpPr>
          <p:cNvPr id="71" name="image2ppt-measured-path-5"/>
          <p:cNvSpPr/>
          <p:nvPr/>
        </p:nvSpPr>
        <p:spPr>
          <a:xfrm>
            <a:off x="3567254" y="2743533"/>
            <a:ext cx="466400" cy="171673"/>
          </a:xfrm>
          <a:custGeom>
            <a:avLst/>
            <a:gdLst/>
            <a:ahLst/>
            <a:cxnLst/>
            <a:rect l="l" t="t" r="r" b="b"/>
            <a:pathLst>
              <a:path w="466400" h="171673" fill="none">
                <a:moveTo>
                  <a:pt x="382842" y="25537"/>
                </a:moveTo>
                <a:lnTo>
                  <a:pt x="298769" y="25537"/>
                </a:lnTo>
                <a:cubicBezTo>
                  <a:pt x="252590" y="26401"/>
                  <a:pt x="243761" y="171673"/>
                  <a:pt x="21864" y="171673"/>
                </a:cubicBezTo>
                <a:lnTo>
                  <a:pt x="0" y="171673"/>
                </a:lnTo>
              </a:path>
              <a:path w="466400" h="171673" stroke="0">
                <a:moveTo>
                  <a:pt x="466400" y="23937"/>
                </a:moveTo>
                <a:lnTo>
                  <a:pt x="383557" y="76509"/>
                </a:lnTo>
                <a:lnTo>
                  <a:pt x="382127" y="0"/>
                </a:lnTo>
                <a:close/>
              </a:path>
            </a:pathLst>
          </a:custGeom>
          <a:solidFill>
            <a:srgbClr val="7687A7"/>
          </a:solidFill>
          <a:ln w="10932">
            <a:solidFill>
              <a:srgbClr val="7687A7"/>
            </a:solidFill>
            <a:prstDash val="solid"/>
          </a:ln>
        </p:spPr>
      </p:sp>
      <p:sp>
        <p:nvSpPr>
          <p:cNvPr id="72" name="image2ppt-measured-path-6"/>
          <p:cNvSpPr/>
          <p:nvPr/>
        </p:nvSpPr>
        <p:spPr>
          <a:xfrm>
            <a:off x="3567254" y="3022200"/>
            <a:ext cx="455491" cy="159013"/>
          </a:xfrm>
          <a:custGeom>
            <a:avLst/>
            <a:gdLst/>
            <a:ahLst/>
            <a:cxnLst/>
            <a:rect l="l" t="t" r="r" b="b"/>
            <a:pathLst>
              <a:path w="455491" h="159013" fill="none">
                <a:moveTo>
                  <a:pt x="0" y="9611"/>
                </a:moveTo>
                <a:lnTo>
                  <a:pt x="21864" y="9611"/>
                </a:lnTo>
                <a:cubicBezTo>
                  <a:pt x="114811" y="9611"/>
                  <a:pt x="152785" y="0"/>
                  <a:pt x="225924" y="67914"/>
                </a:cubicBezTo>
                <a:cubicBezTo>
                  <a:pt x="246288" y="86825"/>
                  <a:pt x="256926" y="104026"/>
                  <a:pt x="284226" y="114557"/>
                </a:cubicBezTo>
                <a:cubicBezTo>
                  <a:pt x="302773" y="121710"/>
                  <a:pt x="363315" y="118929"/>
                  <a:pt x="382612" y="118929"/>
                </a:cubicBezTo>
              </a:path>
              <a:path w="455491" h="159013" stroke="0">
                <a:moveTo>
                  <a:pt x="455491" y="118929"/>
                </a:moveTo>
                <a:lnTo>
                  <a:pt x="382612" y="159013"/>
                </a:lnTo>
                <a:lnTo>
                  <a:pt x="382612" y="82490"/>
                </a:lnTo>
                <a:close/>
              </a:path>
            </a:pathLst>
          </a:custGeom>
          <a:solidFill>
            <a:srgbClr val="7083A2"/>
          </a:solidFill>
          <a:ln w="10932">
            <a:solidFill>
              <a:srgbClr val="7083A2"/>
            </a:solidFill>
            <a:prstDash val="solid"/>
          </a:ln>
        </p:spPr>
      </p:sp>
      <p:sp>
        <p:nvSpPr>
          <p:cNvPr id="73" name="image2ppt-measured-path-7"/>
          <p:cNvSpPr/>
          <p:nvPr/>
        </p:nvSpPr>
        <p:spPr>
          <a:xfrm>
            <a:off x="4995686" y="3061908"/>
            <a:ext cx="845405" cy="76521"/>
          </a:xfrm>
          <a:custGeom>
            <a:avLst/>
            <a:gdLst/>
            <a:ahLst/>
            <a:cxnLst/>
            <a:rect l="l" t="t" r="r" b="b"/>
            <a:pathLst>
              <a:path w="845405" h="76521" fill="none">
                <a:moveTo>
                  <a:pt x="761585" y="42783"/>
                </a:moveTo>
                <a:lnTo>
                  <a:pt x="0" y="42783"/>
                </a:lnTo>
              </a:path>
              <a:path w="845405" h="76521" stroke="0">
                <a:moveTo>
                  <a:pt x="845405" y="39557"/>
                </a:moveTo>
                <a:lnTo>
                  <a:pt x="761825" y="76521"/>
                </a:lnTo>
                <a:lnTo>
                  <a:pt x="761346" y="0"/>
                </a:lnTo>
                <a:close/>
              </a:path>
            </a:pathLst>
          </a:custGeom>
          <a:solidFill>
            <a:srgbClr val="66799D"/>
          </a:solidFill>
          <a:ln w="14576">
            <a:solidFill>
              <a:srgbClr val="66799D"/>
            </a:solidFill>
            <a:prstDash val="solid"/>
          </a:ln>
        </p:spPr>
      </p:sp>
      <p:sp>
        <p:nvSpPr>
          <p:cNvPr id="74" name="image2ppt-measured-path-8"/>
          <p:cNvSpPr/>
          <p:nvPr/>
        </p:nvSpPr>
        <p:spPr>
          <a:xfrm>
            <a:off x="5105000" y="2689816"/>
            <a:ext cx="743329" cy="83808"/>
          </a:xfrm>
          <a:custGeom>
            <a:avLst/>
            <a:gdLst/>
            <a:ahLst/>
            <a:cxnLst/>
            <a:rect l="l" t="t" r="r" b="b"/>
            <a:pathLst>
              <a:path w="743329" h="83808" fill="none">
                <a:moveTo>
                  <a:pt x="652246" y="43032"/>
                </a:moveTo>
                <a:lnTo>
                  <a:pt x="0" y="43032"/>
                </a:lnTo>
              </a:path>
              <a:path w="743329" h="83808" stroke="0">
                <a:moveTo>
                  <a:pt x="743329" y="39429"/>
                </a:moveTo>
                <a:lnTo>
                  <a:pt x="652547" y="83808"/>
                </a:lnTo>
                <a:lnTo>
                  <a:pt x="651946" y="0"/>
                </a:lnTo>
                <a:close/>
              </a:path>
            </a:pathLst>
          </a:custGeom>
          <a:solidFill>
            <a:srgbClr val="7385A7"/>
          </a:solidFill>
          <a:ln w="14576">
            <a:solidFill>
              <a:srgbClr val="7385A7"/>
            </a:solidFill>
            <a:prstDash val="solid"/>
          </a:ln>
        </p:spPr>
      </p:sp>
      <p:sp>
        <p:nvSpPr>
          <p:cNvPr id="75" name="image2ppt-measured-path-9"/>
          <p:cNvSpPr/>
          <p:nvPr/>
        </p:nvSpPr>
        <p:spPr>
          <a:xfrm>
            <a:off x="6358317" y="4736284"/>
            <a:ext cx="377551" cy="143834"/>
          </a:xfrm>
          <a:custGeom>
            <a:avLst/>
            <a:gdLst/>
            <a:ahLst/>
            <a:cxnLst/>
            <a:rect l="l" t="t" r="r" b="b"/>
            <a:pathLst>
              <a:path w="377551" h="143834" fill="none">
                <a:moveTo>
                  <a:pt x="301558" y="32145"/>
                </a:moveTo>
                <a:lnTo>
                  <a:pt x="69243" y="105205"/>
                </a:lnTo>
              </a:path>
              <a:path w="377551" h="143834" stroke="0">
                <a:moveTo>
                  <a:pt x="377551" y="6715"/>
                </a:moveTo>
                <a:lnTo>
                  <a:pt x="315706" y="76328"/>
                </a:lnTo>
                <a:lnTo>
                  <a:pt x="291196" y="0"/>
                </a:lnTo>
                <a:close/>
              </a:path>
              <a:path w="377551" h="143834" stroke="0">
                <a:moveTo>
                  <a:pt x="0" y="127952"/>
                </a:moveTo>
                <a:lnTo>
                  <a:pt x="57134" y="67506"/>
                </a:lnTo>
                <a:lnTo>
                  <a:pt x="81644" y="143834"/>
                </a:lnTo>
                <a:close/>
              </a:path>
            </a:pathLst>
          </a:custGeom>
          <a:solidFill>
            <a:srgbClr val="3C5388"/>
          </a:solidFill>
          <a:ln w="14576">
            <a:solidFill>
              <a:srgbClr val="3C5388"/>
            </a:solidFill>
            <a:prstDash val="solid"/>
          </a:ln>
        </p:spPr>
      </p:sp>
      <p:sp>
        <p:nvSpPr>
          <p:cNvPr id="76" name="image2ppt-measured-path-10"/>
          <p:cNvSpPr/>
          <p:nvPr/>
        </p:nvSpPr>
        <p:spPr>
          <a:xfrm>
            <a:off x="6368386" y="5066318"/>
            <a:ext cx="322025" cy="126456"/>
          </a:xfrm>
          <a:custGeom>
            <a:avLst/>
            <a:gdLst/>
            <a:ahLst/>
            <a:cxnLst/>
            <a:rect l="l" t="t" r="r" b="b"/>
            <a:pathLst>
              <a:path w="322025" h="126456" fill="none">
                <a:moveTo>
                  <a:pt x="64509" y="36724"/>
                </a:moveTo>
                <a:lnTo>
                  <a:pt x="249250" y="86556"/>
                </a:lnTo>
              </a:path>
              <a:path w="322025" h="126456" stroke="0">
                <a:moveTo>
                  <a:pt x="0" y="10755"/>
                </a:moveTo>
                <a:lnTo>
                  <a:pt x="75851" y="0"/>
                </a:lnTo>
                <a:lnTo>
                  <a:pt x="54207" y="69591"/>
                </a:lnTo>
                <a:close/>
              </a:path>
              <a:path w="322025" h="126456" stroke="0">
                <a:moveTo>
                  <a:pt x="322025" y="110907"/>
                </a:moveTo>
                <a:lnTo>
                  <a:pt x="237051" y="126456"/>
                </a:lnTo>
                <a:lnTo>
                  <a:pt x="258695" y="56865"/>
                </a:lnTo>
                <a:close/>
              </a:path>
            </a:pathLst>
          </a:custGeom>
          <a:solidFill>
            <a:srgbClr val="3D5283"/>
          </a:solidFill>
          <a:ln w="14576">
            <a:solidFill>
              <a:srgbClr val="3D5283"/>
            </a:solidFill>
            <a:prstDash val="solid"/>
          </a:ln>
        </p:spPr>
      </p:sp>
      <p:sp>
        <p:nvSpPr>
          <p:cNvPr id="77" name="image2ppt-measured-path-11"/>
          <p:cNvSpPr/>
          <p:nvPr/>
        </p:nvSpPr>
        <p:spPr>
          <a:xfrm>
            <a:off x="5310584" y="5072984"/>
            <a:ext cx="291049" cy="121584"/>
          </a:xfrm>
          <a:custGeom>
            <a:avLst/>
            <a:gdLst/>
            <a:ahLst/>
            <a:cxnLst/>
            <a:rect l="l" t="t" r="r" b="b"/>
            <a:pathLst>
              <a:path w="291049" h="121584" fill="none">
                <a:moveTo>
                  <a:pt x="215444" y="38312"/>
                </a:moveTo>
                <a:lnTo>
                  <a:pt x="58131" y="79122"/>
                </a:lnTo>
              </a:path>
              <a:path w="291049" h="121584" stroke="0">
                <a:moveTo>
                  <a:pt x="291049" y="10879"/>
                </a:moveTo>
                <a:lnTo>
                  <a:pt x="225393" y="69564"/>
                </a:lnTo>
                <a:lnTo>
                  <a:pt x="203664" y="0"/>
                </a:lnTo>
                <a:close/>
              </a:path>
              <a:path w="291049" h="121584" stroke="0">
                <a:moveTo>
                  <a:pt x="0" y="101794"/>
                </a:moveTo>
                <a:lnTo>
                  <a:pt x="48264" y="48542"/>
                </a:lnTo>
                <a:lnTo>
                  <a:pt x="71080" y="121584"/>
                </a:lnTo>
                <a:close/>
              </a:path>
            </a:pathLst>
          </a:custGeom>
          <a:solidFill>
            <a:srgbClr val="3A5387"/>
          </a:solidFill>
          <a:ln w="14576">
            <a:solidFill>
              <a:srgbClr val="3A5387"/>
            </a:solidFill>
            <a:prstDash val="solid"/>
          </a:ln>
        </p:spPr>
      </p:sp>
      <p:sp>
        <p:nvSpPr>
          <p:cNvPr id="78" name="image2ppt-measured-path-12"/>
          <p:cNvSpPr/>
          <p:nvPr/>
        </p:nvSpPr>
        <p:spPr>
          <a:xfrm>
            <a:off x="7823362" y="2944358"/>
            <a:ext cx="295158" cy="127537"/>
          </a:xfrm>
          <a:custGeom>
            <a:avLst/>
            <a:gdLst/>
            <a:ahLst/>
            <a:cxnLst/>
            <a:rect l="l" t="t" r="r" b="b"/>
            <a:pathLst>
              <a:path w="295158" h="127537" fill="none">
                <a:moveTo>
                  <a:pt x="76522" y="68483"/>
                </a:moveTo>
                <a:lnTo>
                  <a:pt x="214992" y="68483"/>
                </a:lnTo>
              </a:path>
              <a:path w="295158" h="127537" stroke="0">
                <a:moveTo>
                  <a:pt x="0" y="65591"/>
                </a:moveTo>
                <a:lnTo>
                  <a:pt x="76522" y="7288"/>
                </a:lnTo>
                <a:lnTo>
                  <a:pt x="76522" y="127537"/>
                </a:lnTo>
                <a:close/>
              </a:path>
              <a:path w="295158" h="127537" stroke="0">
                <a:moveTo>
                  <a:pt x="295158" y="65591"/>
                </a:moveTo>
                <a:lnTo>
                  <a:pt x="214992" y="127537"/>
                </a:lnTo>
                <a:lnTo>
                  <a:pt x="214992" y="0"/>
                </a:lnTo>
                <a:close/>
              </a:path>
            </a:pathLst>
          </a:custGeom>
          <a:solidFill>
            <a:srgbClr val="5FA1DF"/>
          </a:solidFill>
          <a:ln w="51016">
            <a:solidFill>
              <a:srgbClr val="5FA1DF"/>
            </a:solidFill>
            <a:prstDash val="solid"/>
          </a:ln>
        </p:spPr>
      </p:sp>
      <p:sp>
        <p:nvSpPr>
          <p:cNvPr id="79" name="image2ppt-measured-path-13"/>
          <p:cNvSpPr/>
          <p:nvPr/>
        </p:nvSpPr>
        <p:spPr>
          <a:xfrm>
            <a:off x="7128377" y="3095121"/>
            <a:ext cx="217191" cy="97053"/>
          </a:xfrm>
          <a:custGeom>
            <a:avLst/>
            <a:gdLst/>
            <a:ahLst/>
            <a:cxnLst/>
            <a:rect l="l" t="t" r="r" b="b"/>
            <a:pathLst>
              <a:path w="217191" h="97053" fill="none">
                <a:moveTo>
                  <a:pt x="54396" y="25043"/>
                </a:moveTo>
                <a:lnTo>
                  <a:pt x="160750" y="71233"/>
                </a:lnTo>
              </a:path>
              <a:path w="217191" h="97053" stroke="0">
                <a:moveTo>
                  <a:pt x="0" y="3831"/>
                </a:moveTo>
                <a:lnTo>
                  <a:pt x="62150" y="0"/>
                </a:lnTo>
                <a:lnTo>
                  <a:pt x="47209" y="48778"/>
                </a:lnTo>
                <a:close/>
              </a:path>
              <a:path w="217191" h="97053" stroke="0">
                <a:moveTo>
                  <a:pt x="217191" y="96847"/>
                </a:moveTo>
                <a:lnTo>
                  <a:pt x="148728" y="97053"/>
                </a:lnTo>
                <a:lnTo>
                  <a:pt x="171853" y="47527"/>
                </a:lnTo>
                <a:close/>
              </a:path>
            </a:pathLst>
          </a:custGeom>
          <a:solidFill>
            <a:srgbClr val="394F84"/>
          </a:solidFill>
          <a:ln w="10932">
            <a:solidFill>
              <a:srgbClr val="394F84"/>
            </a:solidFill>
            <a:prstDash val="solid"/>
          </a:ln>
        </p:spPr>
      </p:sp>
      <p:sp>
        <p:nvSpPr>
          <p:cNvPr id="80" name="image2ppt-measured-path-14"/>
          <p:cNvSpPr/>
          <p:nvPr/>
        </p:nvSpPr>
        <p:spPr>
          <a:xfrm>
            <a:off x="6482397" y="3848052"/>
            <a:ext cx="98386" cy="251431"/>
          </a:xfrm>
          <a:custGeom>
            <a:avLst/>
            <a:gdLst/>
            <a:ahLst/>
            <a:cxnLst/>
            <a:rect l="l" t="t" r="r" b="b"/>
            <a:pathLst>
              <a:path w="98386" h="251431" fill="none">
                <a:moveTo>
                  <a:pt x="50685" y="91098"/>
                </a:moveTo>
                <a:lnTo>
                  <a:pt x="50685" y="171265"/>
                </a:lnTo>
              </a:path>
              <a:path w="98386" h="251431" stroke="0">
                <a:moveTo>
                  <a:pt x="51015" y="0"/>
                </a:moveTo>
                <a:lnTo>
                  <a:pt x="91098" y="91098"/>
                </a:lnTo>
                <a:lnTo>
                  <a:pt x="7288" y="91098"/>
                </a:lnTo>
                <a:close/>
              </a:path>
              <a:path w="98386" h="251431" stroke="0">
                <a:moveTo>
                  <a:pt x="51015" y="251431"/>
                </a:moveTo>
                <a:lnTo>
                  <a:pt x="0" y="171265"/>
                </a:lnTo>
                <a:lnTo>
                  <a:pt x="98386" y="171265"/>
                </a:lnTo>
                <a:close/>
              </a:path>
            </a:pathLst>
          </a:custGeom>
          <a:solidFill>
            <a:srgbClr val="347DD6"/>
          </a:solidFill>
          <a:ln w="36440">
            <a:solidFill>
              <a:srgbClr val="347DD6"/>
            </a:solidFill>
            <a:prstDash val="solid"/>
          </a:ln>
        </p:spPr>
      </p:sp>
      <p:sp>
        <p:nvSpPr>
          <p:cNvPr id="81" name="Shape 44"/>
          <p:cNvSpPr/>
          <p:nvPr/>
        </p:nvSpPr>
        <p:spPr>
          <a:xfrm>
            <a:off x="8818550" y="3186537"/>
            <a:ext cx="320270" cy="23960"/>
          </a:xfrm>
          <a:custGeom>
            <a:avLst/>
            <a:gdLst/>
            <a:ahLst/>
            <a:cxnLst/>
            <a:rect l="l" t="t" r="r" b="b"/>
            <a:pathLst>
              <a:path w="320270" h="23960">
                <a:moveTo>
                  <a:pt x="320270" y="5607"/>
                </a:moveTo>
                <a:lnTo>
                  <a:pt x="294762" y="5607"/>
                </a:lnTo>
                <a:cubicBezTo>
                  <a:pt x="197827" y="5607"/>
                  <a:pt x="113070" y="0"/>
                  <a:pt x="17824" y="20183"/>
                </a:cubicBezTo>
                <a:lnTo>
                  <a:pt x="0" y="23960"/>
                </a:lnTo>
              </a:path>
            </a:pathLst>
          </a:custGeom>
          <a:noFill/>
          <a:ln w="25508">
            <a:solidFill>
              <a:srgbClr val="CED7E2"/>
            </a:solidFill>
            <a:prstDash val="solid"/>
          </a:ln>
        </p:spPr>
      </p:sp>
      <p:sp>
        <p:nvSpPr>
          <p:cNvPr id="82" name="image2ppt-measured-path-15"/>
          <p:cNvSpPr/>
          <p:nvPr/>
        </p:nvSpPr>
        <p:spPr>
          <a:xfrm>
            <a:off x="6220112" y="3855346"/>
            <a:ext cx="94108" cy="240489"/>
          </a:xfrm>
          <a:custGeom>
            <a:avLst/>
            <a:gdLst/>
            <a:ahLst/>
            <a:cxnLst/>
            <a:rect l="l" t="t" r="r" b="b"/>
            <a:pathLst>
              <a:path w="94108" h="240489" fill="none">
                <a:moveTo>
                  <a:pt x="47692" y="76534"/>
                </a:moveTo>
                <a:lnTo>
                  <a:pt x="47692" y="164008"/>
                </a:lnTo>
              </a:path>
              <a:path w="94108" h="240489" stroke="0">
                <a:moveTo>
                  <a:pt x="49830" y="0"/>
                </a:moveTo>
                <a:lnTo>
                  <a:pt x="94108" y="76205"/>
                </a:lnTo>
                <a:lnTo>
                  <a:pt x="3013" y="76862"/>
                </a:lnTo>
                <a:close/>
              </a:path>
              <a:path w="94108" h="240489" stroke="0">
                <a:moveTo>
                  <a:pt x="51566" y="240489"/>
                </a:moveTo>
                <a:lnTo>
                  <a:pt x="0" y="164337"/>
                </a:lnTo>
                <a:lnTo>
                  <a:pt x="91096" y="163680"/>
                </a:lnTo>
                <a:close/>
              </a:path>
            </a:pathLst>
          </a:custGeom>
          <a:solidFill>
            <a:srgbClr val="3C81D4"/>
          </a:solidFill>
          <a:ln w="40084">
            <a:solidFill>
              <a:srgbClr val="3C81D4"/>
            </a:solidFill>
            <a:prstDash val="solid"/>
          </a:ln>
        </p:spPr>
      </p:sp>
      <p:sp>
        <p:nvSpPr>
          <p:cNvPr id="83" name="Shape 46"/>
          <p:cNvSpPr/>
          <p:nvPr/>
        </p:nvSpPr>
        <p:spPr>
          <a:xfrm>
            <a:off x="8289815" y="3227803"/>
            <a:ext cx="750595" cy="0"/>
          </a:xfrm>
          <a:prstGeom prst="line">
            <a:avLst/>
          </a:prstGeom>
          <a:noFill/>
          <a:ln w="25508">
            <a:solidFill>
              <a:srgbClr val="FBFCFD"/>
            </a:solidFill>
            <a:prstDash val="solid"/>
          </a:ln>
        </p:spPr>
      </p:sp>
      <p:sp>
        <p:nvSpPr>
          <p:cNvPr id="84" name="Shape 47"/>
          <p:cNvSpPr/>
          <p:nvPr/>
        </p:nvSpPr>
        <p:spPr>
          <a:xfrm flipH="1">
            <a:off x="6480648" y="3106431"/>
            <a:ext cx="169181" cy="69121"/>
          </a:xfrm>
          <a:prstGeom prst="line">
            <a:avLst/>
          </a:prstGeom>
          <a:noFill/>
          <a:ln w="14576">
            <a:solidFill>
              <a:srgbClr val="394C81"/>
            </a:solidFill>
            <a:prstDash val="solid"/>
          </a:ln>
        </p:spPr>
      </p:sp>
      <p:sp>
        <p:nvSpPr>
          <p:cNvPr id="85" name="Shape 48"/>
          <p:cNvSpPr/>
          <p:nvPr/>
        </p:nvSpPr>
        <p:spPr>
          <a:xfrm flipH="1">
            <a:off x="10447290" y="6273123"/>
            <a:ext cx="998437" cy="0"/>
          </a:xfrm>
          <a:prstGeom prst="line">
            <a:avLst/>
          </a:prstGeom>
          <a:noFill/>
          <a:ln w="46990">
            <a:solidFill>
              <a:srgbClr val="FEF0F0"/>
            </a:solidFill>
            <a:prstDash val="solid"/>
          </a:ln>
        </p:spPr>
      </p:sp>
      <p:sp>
        <p:nvSpPr>
          <p:cNvPr id="86" name="Shape 49"/>
          <p:cNvSpPr/>
          <p:nvPr/>
        </p:nvSpPr>
        <p:spPr>
          <a:xfrm>
            <a:off x="11066760" y="6272153"/>
            <a:ext cx="0" cy="89681"/>
          </a:xfrm>
          <a:prstGeom prst="line">
            <a:avLst/>
          </a:prstGeom>
          <a:noFill/>
          <a:ln w="21864">
            <a:solidFill>
              <a:srgbClr val="FDEAEF"/>
            </a:solidFill>
            <a:prstDash val="solid"/>
          </a:ln>
        </p:spPr>
      </p:sp>
      <p:sp>
        <p:nvSpPr>
          <p:cNvPr id="87" name="Shape 50"/>
          <p:cNvSpPr/>
          <p:nvPr/>
        </p:nvSpPr>
        <p:spPr>
          <a:xfrm>
            <a:off x="8122164" y="2208284"/>
            <a:ext cx="1166057" cy="1719934"/>
          </a:xfrm>
          <a:prstGeom prst="roundRect">
            <a:avLst>
              <a:gd name="adj" fmla="val 2500"/>
            </a:avLst>
          </a:prstGeom>
          <a:noFill/>
          <a:ln w="15875">
            <a:solidFill>
              <a:srgbClr val="C4E2FB"/>
            </a:solidFill>
            <a:prstDash val="solid"/>
          </a:ln>
        </p:spPr>
      </p:sp>
      <p:sp>
        <p:nvSpPr>
          <p:cNvPr id="88" name="Shape 51"/>
          <p:cNvSpPr/>
          <p:nvPr/>
        </p:nvSpPr>
        <p:spPr>
          <a:xfrm>
            <a:off x="5578702" y="4686155"/>
            <a:ext cx="801664" cy="619468"/>
          </a:xfrm>
          <a:prstGeom prst="ellipse">
            <a:avLst/>
          </a:prstGeom>
          <a:noFill/>
          <a:ln w="15875">
            <a:solidFill>
              <a:srgbClr val="3171DE"/>
            </a:solidFill>
            <a:prstDash val="dash"/>
          </a:ln>
        </p:spPr>
      </p:sp>
      <p:pic>
        <p:nvPicPr>
          <p:cNvPr id="90" name="Image 36" descr="image"/>
          <p:cNvPicPr>
            <a:picLocks noChangeAspect="1"/>
          </p:cNvPicPr>
          <p:nvPr/>
        </p:nvPicPr>
        <p:blipFill>
          <a:blip r:embed="rId35"/>
          <a:stretch>
            <a:fillRect/>
          </a:stretch>
        </p:blipFill>
        <p:spPr>
          <a:xfrm>
            <a:off x="273144" y="4708019"/>
            <a:ext cx="954709" cy="765225"/>
          </a:xfrm>
          <a:prstGeom prst="rect">
            <a:avLst/>
          </a:prstGeom>
        </p:spPr>
      </p:pic>
      <p:pic>
        <p:nvPicPr>
          <p:cNvPr id="91" name="Image 37" descr="image"/>
          <p:cNvPicPr>
            <a:picLocks noChangeAspect="1"/>
          </p:cNvPicPr>
          <p:nvPr/>
        </p:nvPicPr>
        <p:blipFill>
          <a:blip r:embed="rId36"/>
          <a:stretch>
            <a:fillRect/>
          </a:stretch>
        </p:blipFill>
        <p:spPr>
          <a:xfrm>
            <a:off x="9835084" y="3236115"/>
            <a:ext cx="743361" cy="801664"/>
          </a:xfrm>
          <a:prstGeom prst="rect">
            <a:avLst/>
          </a:prstGeom>
        </p:spPr>
      </p:pic>
      <p:pic>
        <p:nvPicPr>
          <p:cNvPr id="92" name="Image 38" descr="image"/>
          <p:cNvPicPr>
            <a:picLocks noChangeAspect="1"/>
          </p:cNvPicPr>
          <p:nvPr/>
        </p:nvPicPr>
        <p:blipFill>
          <a:blip r:embed="rId37"/>
          <a:stretch>
            <a:fillRect/>
          </a:stretch>
        </p:blipFill>
        <p:spPr>
          <a:xfrm>
            <a:off x="10447234" y="3227860"/>
            <a:ext cx="830816" cy="801664"/>
          </a:xfrm>
          <a:prstGeom prst="rect">
            <a:avLst/>
          </a:prstGeom>
        </p:spPr>
      </p:pic>
      <p:pic>
        <p:nvPicPr>
          <p:cNvPr id="93" name="Image 39" descr="image"/>
          <p:cNvPicPr>
            <a:picLocks noChangeAspect="1"/>
          </p:cNvPicPr>
          <p:nvPr/>
        </p:nvPicPr>
        <p:blipFill>
          <a:blip r:embed="rId38"/>
          <a:stretch>
            <a:fillRect/>
          </a:stretch>
        </p:blipFill>
        <p:spPr>
          <a:xfrm>
            <a:off x="11145598" y="3206905"/>
            <a:ext cx="699634" cy="801664"/>
          </a:xfrm>
          <a:prstGeom prst="rect">
            <a:avLst/>
          </a:prstGeom>
        </p:spPr>
      </p:pic>
      <p:pic>
        <p:nvPicPr>
          <p:cNvPr id="94" name="Image 40" descr="icon"/>
          <p:cNvPicPr>
            <a:picLocks noChangeAspect="1"/>
          </p:cNvPicPr>
          <p:nvPr/>
        </p:nvPicPr>
        <p:blipFill>
          <a:blip r:embed="rId39"/>
          <a:stretch>
            <a:fillRect/>
          </a:stretch>
        </p:blipFill>
        <p:spPr>
          <a:xfrm>
            <a:off x="2758302" y="2579965"/>
            <a:ext cx="750649" cy="925558"/>
          </a:xfrm>
          <a:prstGeom prst="rect">
            <a:avLst/>
          </a:prstGeom>
        </p:spPr>
      </p:pic>
      <p:pic>
        <p:nvPicPr>
          <p:cNvPr id="95" name="Image 41" descr="icon"/>
          <p:cNvPicPr>
            <a:picLocks noChangeAspect="1"/>
          </p:cNvPicPr>
          <p:nvPr/>
        </p:nvPicPr>
        <p:blipFill>
          <a:blip r:embed="rId40"/>
          <a:stretch>
            <a:fillRect/>
          </a:stretch>
        </p:blipFill>
        <p:spPr>
          <a:xfrm>
            <a:off x="9922206" y="5458433"/>
            <a:ext cx="371681" cy="386256"/>
          </a:xfrm>
          <a:prstGeom prst="rect">
            <a:avLst/>
          </a:prstGeom>
        </p:spPr>
      </p:pic>
      <p:pic>
        <p:nvPicPr>
          <p:cNvPr id="100" name="Image 46" descr="icon"/>
          <p:cNvPicPr>
            <a:picLocks noChangeAspect="1"/>
          </p:cNvPicPr>
          <p:nvPr/>
        </p:nvPicPr>
        <p:blipFill>
          <a:blip r:embed="rId41"/>
          <a:stretch>
            <a:fillRect/>
          </a:stretch>
        </p:blipFill>
        <p:spPr>
          <a:xfrm>
            <a:off x="9944734" y="4802194"/>
            <a:ext cx="357105" cy="335241"/>
          </a:xfrm>
          <a:prstGeom prst="rect">
            <a:avLst/>
          </a:prstGeom>
        </p:spPr>
      </p:pic>
      <p:pic>
        <p:nvPicPr>
          <p:cNvPr id="101" name="Image 47" descr="icon"/>
          <p:cNvPicPr>
            <a:picLocks noChangeAspect="1"/>
          </p:cNvPicPr>
          <p:nvPr/>
        </p:nvPicPr>
        <p:blipFill>
          <a:blip r:embed="rId42"/>
          <a:stretch>
            <a:fillRect/>
          </a:stretch>
        </p:blipFill>
        <p:spPr>
          <a:xfrm>
            <a:off x="382461" y="2754873"/>
            <a:ext cx="502862" cy="685058"/>
          </a:xfrm>
          <a:prstGeom prst="rect">
            <a:avLst/>
          </a:prstGeom>
        </p:spPr>
      </p:pic>
      <p:pic>
        <p:nvPicPr>
          <p:cNvPr id="102" name="Image 48" descr="icon"/>
          <p:cNvPicPr>
            <a:picLocks noChangeAspect="1"/>
          </p:cNvPicPr>
          <p:nvPr/>
        </p:nvPicPr>
        <p:blipFill>
          <a:blip r:embed="rId43"/>
          <a:stretch>
            <a:fillRect/>
          </a:stretch>
        </p:blipFill>
        <p:spPr>
          <a:xfrm>
            <a:off x="382461" y="3782461"/>
            <a:ext cx="510150" cy="655907"/>
          </a:xfrm>
          <a:prstGeom prst="rect">
            <a:avLst/>
          </a:prstGeom>
        </p:spPr>
      </p:pic>
      <p:pic>
        <p:nvPicPr>
          <p:cNvPr id="103" name="Image 49" descr="icon"/>
          <p:cNvPicPr>
            <a:picLocks noChangeAspect="1"/>
          </p:cNvPicPr>
          <p:nvPr/>
        </p:nvPicPr>
        <p:blipFill>
          <a:blip r:embed="rId44"/>
          <a:stretch>
            <a:fillRect/>
          </a:stretch>
        </p:blipFill>
        <p:spPr>
          <a:xfrm>
            <a:off x="5746323" y="5844924"/>
            <a:ext cx="444559" cy="386256"/>
          </a:xfrm>
          <a:prstGeom prst="rect">
            <a:avLst/>
          </a:prstGeom>
        </p:spPr>
      </p:pic>
      <p:pic>
        <p:nvPicPr>
          <p:cNvPr id="104" name="Image 50" descr="icon"/>
          <p:cNvPicPr>
            <a:picLocks noChangeAspect="1"/>
          </p:cNvPicPr>
          <p:nvPr/>
        </p:nvPicPr>
        <p:blipFill>
          <a:blip r:embed="rId45"/>
          <a:stretch>
            <a:fillRect/>
          </a:stretch>
        </p:blipFill>
        <p:spPr>
          <a:xfrm>
            <a:off x="9959006" y="4205039"/>
            <a:ext cx="335241" cy="386256"/>
          </a:xfrm>
          <a:prstGeom prst="rect">
            <a:avLst/>
          </a:prstGeom>
        </p:spPr>
      </p:pic>
      <p:pic>
        <p:nvPicPr>
          <p:cNvPr id="105" name="Image 51" descr="icon"/>
          <p:cNvPicPr>
            <a:picLocks noChangeAspect="1"/>
          </p:cNvPicPr>
          <p:nvPr/>
        </p:nvPicPr>
        <p:blipFill>
          <a:blip r:embed="rId46"/>
          <a:stretch>
            <a:fillRect/>
          </a:stretch>
        </p:blipFill>
        <p:spPr>
          <a:xfrm>
            <a:off x="9959006" y="6085042"/>
            <a:ext cx="357105" cy="349817"/>
          </a:xfrm>
          <a:prstGeom prst="rect">
            <a:avLst/>
          </a:prstGeom>
        </p:spPr>
      </p:pic>
      <p:pic>
        <p:nvPicPr>
          <p:cNvPr id="106" name="Image 52" descr="icon"/>
          <p:cNvPicPr>
            <a:picLocks noChangeAspect="1"/>
          </p:cNvPicPr>
          <p:nvPr/>
        </p:nvPicPr>
        <p:blipFill>
          <a:blip r:embed="rId47"/>
          <a:stretch>
            <a:fillRect/>
          </a:stretch>
        </p:blipFill>
        <p:spPr>
          <a:xfrm>
            <a:off x="375174" y="5830348"/>
            <a:ext cx="211348" cy="590316"/>
          </a:xfrm>
          <a:prstGeom prst="rect">
            <a:avLst/>
          </a:prstGeom>
        </p:spPr>
      </p:pic>
      <p:pic>
        <p:nvPicPr>
          <p:cNvPr id="107" name="Image 53" descr="icon"/>
          <p:cNvPicPr>
            <a:picLocks noChangeAspect="1"/>
          </p:cNvPicPr>
          <p:nvPr/>
        </p:nvPicPr>
        <p:blipFill>
          <a:blip r:embed="rId48"/>
          <a:stretch>
            <a:fillRect/>
          </a:stretch>
        </p:blipFill>
        <p:spPr>
          <a:xfrm>
            <a:off x="3705724" y="6194741"/>
            <a:ext cx="269651" cy="291514"/>
          </a:xfrm>
          <a:prstGeom prst="rect">
            <a:avLst/>
          </a:prstGeom>
        </p:spPr>
      </p:pic>
      <p:pic>
        <p:nvPicPr>
          <p:cNvPr id="108" name="Image 54" descr="icon"/>
          <p:cNvPicPr>
            <a:picLocks noChangeAspect="1"/>
          </p:cNvPicPr>
          <p:nvPr/>
        </p:nvPicPr>
        <p:blipFill>
          <a:blip r:embed="rId49"/>
          <a:stretch>
            <a:fillRect/>
          </a:stretch>
        </p:blipFill>
        <p:spPr>
          <a:xfrm>
            <a:off x="8005558" y="6194741"/>
            <a:ext cx="269651" cy="298802"/>
          </a:xfrm>
          <a:prstGeom prst="rect">
            <a:avLst/>
          </a:prstGeom>
        </p:spPr>
      </p:pic>
      <p:pic>
        <p:nvPicPr>
          <p:cNvPr id="109" name="Image 55" descr="icon"/>
          <p:cNvPicPr>
            <a:picLocks noChangeAspect="1"/>
          </p:cNvPicPr>
          <p:nvPr/>
        </p:nvPicPr>
        <p:blipFill>
          <a:blip r:embed="rId50"/>
          <a:stretch>
            <a:fillRect/>
          </a:stretch>
        </p:blipFill>
        <p:spPr>
          <a:xfrm>
            <a:off x="9921571" y="2602219"/>
            <a:ext cx="255075" cy="291514"/>
          </a:xfrm>
          <a:prstGeom prst="rect">
            <a:avLst/>
          </a:prstGeom>
        </p:spPr>
      </p:pic>
      <p:pic>
        <p:nvPicPr>
          <p:cNvPr id="110" name="Image 56" descr="icon"/>
          <p:cNvPicPr>
            <a:picLocks noChangeAspect="1"/>
          </p:cNvPicPr>
          <p:nvPr/>
        </p:nvPicPr>
        <p:blipFill>
          <a:blip r:embed="rId51"/>
          <a:stretch>
            <a:fillRect/>
          </a:stretch>
        </p:blipFill>
        <p:spPr>
          <a:xfrm>
            <a:off x="6861365" y="5123426"/>
            <a:ext cx="306090" cy="225924"/>
          </a:xfrm>
          <a:prstGeom prst="rect">
            <a:avLst/>
          </a:prstGeom>
        </p:spPr>
      </p:pic>
      <p:pic>
        <p:nvPicPr>
          <p:cNvPr id="111" name="Image 57" descr="icon"/>
          <p:cNvPicPr>
            <a:picLocks noChangeAspect="1"/>
          </p:cNvPicPr>
          <p:nvPr/>
        </p:nvPicPr>
        <p:blipFill>
          <a:blip r:embed="rId52"/>
          <a:stretch>
            <a:fillRect/>
          </a:stretch>
        </p:blipFill>
        <p:spPr>
          <a:xfrm>
            <a:off x="5848353" y="4744458"/>
            <a:ext cx="262363" cy="269651"/>
          </a:xfrm>
          <a:prstGeom prst="rect">
            <a:avLst/>
          </a:prstGeom>
        </p:spPr>
      </p:pic>
      <p:pic>
        <p:nvPicPr>
          <p:cNvPr id="112" name="Image 58" descr="icon"/>
          <p:cNvPicPr>
            <a:picLocks noChangeAspect="1"/>
          </p:cNvPicPr>
          <p:nvPr/>
        </p:nvPicPr>
        <p:blipFill>
          <a:blip r:embed="rId53"/>
          <a:stretch>
            <a:fillRect/>
          </a:stretch>
        </p:blipFill>
        <p:spPr>
          <a:xfrm>
            <a:off x="6715608" y="6202029"/>
            <a:ext cx="255075" cy="269651"/>
          </a:xfrm>
          <a:prstGeom prst="rect">
            <a:avLst/>
          </a:prstGeom>
        </p:spPr>
      </p:pic>
      <p:pic>
        <p:nvPicPr>
          <p:cNvPr id="113" name="Image 59" descr="icon"/>
          <p:cNvPicPr>
            <a:picLocks noChangeAspect="1"/>
          </p:cNvPicPr>
          <p:nvPr/>
        </p:nvPicPr>
        <p:blipFill>
          <a:blip r:embed="rId54"/>
          <a:stretch>
            <a:fillRect/>
          </a:stretch>
        </p:blipFill>
        <p:spPr>
          <a:xfrm>
            <a:off x="10039173" y="2135346"/>
            <a:ext cx="225924" cy="269651"/>
          </a:xfrm>
          <a:prstGeom prst="rect">
            <a:avLst/>
          </a:prstGeom>
        </p:spPr>
      </p:pic>
      <p:pic>
        <p:nvPicPr>
          <p:cNvPr id="114" name="Image 60" descr="icon"/>
          <p:cNvPicPr>
            <a:picLocks noChangeAspect="1"/>
          </p:cNvPicPr>
          <p:nvPr/>
        </p:nvPicPr>
        <p:blipFill>
          <a:blip r:embed="rId55"/>
          <a:stretch>
            <a:fillRect/>
          </a:stretch>
        </p:blipFill>
        <p:spPr>
          <a:xfrm>
            <a:off x="4689584" y="4533110"/>
            <a:ext cx="269651" cy="211348"/>
          </a:xfrm>
          <a:prstGeom prst="rect">
            <a:avLst/>
          </a:prstGeom>
        </p:spPr>
      </p:pic>
      <p:pic>
        <p:nvPicPr>
          <p:cNvPr id="115" name="Image 61" descr="icon"/>
          <p:cNvPicPr>
            <a:picLocks noChangeAspect="1"/>
          </p:cNvPicPr>
          <p:nvPr/>
        </p:nvPicPr>
        <p:blipFill>
          <a:blip r:embed="rId56"/>
          <a:stretch>
            <a:fillRect/>
          </a:stretch>
        </p:blipFill>
        <p:spPr>
          <a:xfrm>
            <a:off x="7043561" y="4511247"/>
            <a:ext cx="211348" cy="255075"/>
          </a:xfrm>
          <a:prstGeom prst="rect">
            <a:avLst/>
          </a:prstGeom>
        </p:spPr>
      </p:pic>
      <p:pic>
        <p:nvPicPr>
          <p:cNvPr id="116" name="Image 62" descr="icon"/>
          <p:cNvPicPr>
            <a:picLocks noChangeAspect="1"/>
          </p:cNvPicPr>
          <p:nvPr/>
        </p:nvPicPr>
        <p:blipFill>
          <a:blip r:embed="rId57"/>
          <a:stretch>
            <a:fillRect/>
          </a:stretch>
        </p:blipFill>
        <p:spPr>
          <a:xfrm>
            <a:off x="4849917" y="5138002"/>
            <a:ext cx="233211" cy="233211"/>
          </a:xfrm>
          <a:prstGeom prst="rect">
            <a:avLst/>
          </a:prstGeom>
        </p:spPr>
      </p:pic>
      <p:pic>
        <p:nvPicPr>
          <p:cNvPr id="117" name="Image 63" descr="icon"/>
          <p:cNvPicPr>
            <a:picLocks noChangeAspect="1"/>
          </p:cNvPicPr>
          <p:nvPr/>
        </p:nvPicPr>
        <p:blipFill>
          <a:blip r:embed="rId58"/>
          <a:stretch>
            <a:fillRect/>
          </a:stretch>
        </p:blipFill>
        <p:spPr>
          <a:xfrm>
            <a:off x="4113844" y="2689283"/>
            <a:ext cx="211348" cy="211348"/>
          </a:xfrm>
          <a:prstGeom prst="rect">
            <a:avLst/>
          </a:prstGeom>
        </p:spPr>
      </p:pic>
      <p:pic>
        <p:nvPicPr>
          <p:cNvPr id="118" name="Image 64" descr="icon"/>
          <p:cNvPicPr>
            <a:picLocks noChangeAspect="1"/>
          </p:cNvPicPr>
          <p:nvPr/>
        </p:nvPicPr>
        <p:blipFill>
          <a:blip r:embed="rId59"/>
          <a:stretch>
            <a:fillRect/>
          </a:stretch>
        </p:blipFill>
        <p:spPr>
          <a:xfrm>
            <a:off x="7495408" y="3097403"/>
            <a:ext cx="174909" cy="196772"/>
          </a:xfrm>
          <a:prstGeom prst="rect">
            <a:avLst/>
          </a:prstGeom>
        </p:spPr>
      </p:pic>
      <p:sp>
        <p:nvSpPr>
          <p:cNvPr id="122" name="Text 55"/>
          <p:cNvSpPr txBox="1"/>
          <p:nvPr/>
        </p:nvSpPr>
        <p:spPr>
          <a:xfrm>
            <a:off x="1060232" y="2703722"/>
            <a:ext cx="415408" cy="291788"/>
          </a:xfrm>
          <a:prstGeom prst="rect">
            <a:avLst/>
          </a:prstGeom>
          <a:noFill/>
        </p:spPr>
        <p:txBody>
          <a:bodyPr wrap="none" lIns="0" tIns="0" rIns="0" bIns="0" rtlCol="0" anchor="ctr"/>
          <a:lstStyle/>
          <a:p>
            <a:pPr marL="0" indent="0" algn="ctr">
              <a:buNone/>
            </a:pPr>
            <a:r>
              <a:rPr lang="en-US" sz="1520" b="1" dirty="0">
                <a:solidFill>
                  <a:srgbClr val="000A65"/>
                </a:solidFill>
                <a:latin typeface="微软雅黑" panose="020B0503020204020204" pitchFamily="34" charset="-122"/>
                <a:ea typeface="微软雅黑" panose="020B0503020204020204" pitchFamily="34" charset="-122"/>
                <a:cs typeface="微软雅黑" panose="020B0503020204020204" pitchFamily="34" charset="-120"/>
              </a:rPr>
              <a:t>病史</a:t>
            </a:r>
            <a:endParaRPr lang="en-US" sz="1520" dirty="0"/>
          </a:p>
        </p:txBody>
      </p:sp>
      <p:sp>
        <p:nvSpPr>
          <p:cNvPr id="123" name="Text 56"/>
          <p:cNvSpPr txBox="1"/>
          <p:nvPr/>
        </p:nvSpPr>
        <p:spPr>
          <a:xfrm>
            <a:off x="1089383" y="3024524"/>
            <a:ext cx="991422" cy="532287"/>
          </a:xfrm>
          <a:prstGeom prst="rect">
            <a:avLst/>
          </a:prstGeom>
          <a:noFill/>
        </p:spPr>
        <p:txBody>
          <a:bodyPr wrap="none" lIns="0" tIns="0" rIns="0" bIns="0" rtlCol="0" anchor="t"/>
          <a:lstStyle/>
          <a:p>
            <a:pPr marL="0" indent="0" algn="l">
              <a:lnSpc>
                <a:spcPts val="1320"/>
              </a:lnSpc>
              <a:buNone/>
            </a:pPr>
            <a:r>
              <a:rPr lang="en-US" sz="930" dirty="0">
                <a:solidFill>
                  <a:srgbClr val="102A70"/>
                </a:solidFill>
                <a:latin typeface="微软雅黑" panose="020B0503020204020204" pitchFamily="34" charset="-122"/>
                <a:ea typeface="微软雅黑" panose="020B0503020204020204" pitchFamily="34" charset="-122"/>
                <a:cs typeface="微软雅黑" panose="020B0503020204020204" pitchFamily="34" charset="-120"/>
              </a:rPr>
              <a:t>主诉、现病史、</a:t>
            </a:r>
            <a:endParaRPr lang="en-US" sz="930" dirty="0"/>
          </a:p>
          <a:p>
            <a:pPr marL="0" indent="0" algn="l">
              <a:lnSpc>
                <a:spcPts val="1320"/>
              </a:lnSpc>
              <a:buNone/>
            </a:pPr>
            <a:r>
              <a:rPr lang="en-US" sz="930" dirty="0">
                <a:solidFill>
                  <a:srgbClr val="102A70"/>
                </a:solidFill>
                <a:latin typeface="微软雅黑" panose="020B0503020204020204" pitchFamily="34" charset="-122"/>
                <a:ea typeface="微软雅黑" panose="020B0503020204020204" pitchFamily="34" charset="-122"/>
                <a:cs typeface="微软雅黑" panose="020B0503020204020204" pitchFamily="34" charset="-120"/>
              </a:rPr>
              <a:t>既往史、用药史、</a:t>
            </a:r>
            <a:endParaRPr lang="en-US" sz="930" dirty="0"/>
          </a:p>
          <a:p>
            <a:pPr marL="0" indent="0" algn="l">
              <a:lnSpc>
                <a:spcPts val="1320"/>
              </a:lnSpc>
              <a:buNone/>
            </a:pPr>
            <a:r>
              <a:rPr lang="en-US" sz="930" dirty="0">
                <a:solidFill>
                  <a:srgbClr val="102A70"/>
                </a:solidFill>
                <a:latin typeface="微软雅黑" panose="020B0503020204020204" pitchFamily="34" charset="-122"/>
                <a:ea typeface="微软雅黑" panose="020B0503020204020204" pitchFamily="34" charset="-122"/>
                <a:cs typeface="微软雅黑" panose="020B0503020204020204" pitchFamily="34" charset="-120"/>
              </a:rPr>
              <a:t>家族史等</a:t>
            </a:r>
            <a:endParaRPr lang="en-US" sz="930" dirty="0"/>
          </a:p>
        </p:txBody>
      </p:sp>
      <p:sp>
        <p:nvSpPr>
          <p:cNvPr id="124" name="Text 57"/>
          <p:cNvSpPr txBox="1"/>
          <p:nvPr/>
        </p:nvSpPr>
        <p:spPr>
          <a:xfrm>
            <a:off x="1074808" y="3724021"/>
            <a:ext cx="415408" cy="277212"/>
          </a:xfrm>
          <a:prstGeom prst="rect">
            <a:avLst/>
          </a:prstGeom>
          <a:noFill/>
        </p:spPr>
        <p:txBody>
          <a:bodyPr wrap="none" lIns="0" tIns="0" rIns="0" bIns="0" rtlCol="0" anchor="ctr"/>
          <a:lstStyle/>
          <a:p>
            <a:pPr marL="0" indent="0" algn="ctr">
              <a:buNone/>
            </a:pPr>
            <a:r>
              <a:rPr lang="en-US" sz="1400" b="1" dirty="0">
                <a:solidFill>
                  <a:srgbClr val="B52B10"/>
                </a:solidFill>
                <a:latin typeface="微软雅黑" panose="020B0503020204020204" pitchFamily="34" charset="-122"/>
                <a:ea typeface="微软雅黑" panose="020B0503020204020204" pitchFamily="34" charset="-122"/>
                <a:cs typeface="微软雅黑" panose="020B0503020204020204" pitchFamily="34" charset="-120"/>
              </a:rPr>
              <a:t>量表</a:t>
            </a:r>
            <a:endParaRPr lang="en-US" sz="1400" dirty="0"/>
          </a:p>
        </p:txBody>
      </p:sp>
      <p:sp>
        <p:nvSpPr>
          <p:cNvPr id="125" name="Text 58"/>
          <p:cNvSpPr txBox="1"/>
          <p:nvPr/>
        </p:nvSpPr>
        <p:spPr>
          <a:xfrm>
            <a:off x="1089383" y="4037536"/>
            <a:ext cx="699908" cy="532287"/>
          </a:xfrm>
          <a:prstGeom prst="rect">
            <a:avLst/>
          </a:prstGeom>
          <a:noFill/>
        </p:spPr>
        <p:txBody>
          <a:bodyPr wrap="none" lIns="0" tIns="0" rIns="0" bIns="0" rtlCol="0" anchor="t"/>
          <a:lstStyle/>
          <a:p>
            <a:pPr marL="0" indent="0" algn="l">
              <a:lnSpc>
                <a:spcPts val="1260"/>
              </a:lnSpc>
              <a:buNone/>
            </a:pPr>
            <a:r>
              <a:rPr lang="en-US" sz="930" dirty="0">
                <a:solidFill>
                  <a:srgbClr val="102A70"/>
                </a:solidFill>
                <a:latin typeface="宋体" panose="02010600030101010101" pitchFamily="2" charset="-122"/>
                <a:ea typeface="宋体" panose="02010600030101010101" pitchFamily="2" charset="-122"/>
                <a:cs typeface="宋体" panose="02010600030101010101" pitchFamily="34" charset="-120"/>
              </a:rPr>
              <a:t>认知量表</a:t>
            </a:r>
            <a:endParaRPr lang="en-US" sz="930" dirty="0"/>
          </a:p>
          <a:p>
            <a:pPr marL="0" indent="0" algn="l">
              <a:lnSpc>
                <a:spcPts val="1260"/>
              </a:lnSpc>
              <a:buNone/>
            </a:pPr>
            <a:r>
              <a:rPr lang="en-US" sz="930" dirty="0">
                <a:solidFill>
                  <a:srgbClr val="102A70"/>
                </a:solidFill>
                <a:latin typeface="宋体" panose="02010600030101010101" pitchFamily="2" charset="-122"/>
                <a:ea typeface="宋体" panose="02010600030101010101" pitchFamily="2" charset="-122"/>
                <a:cs typeface="宋体" panose="02010600030101010101" pitchFamily="34" charset="-120"/>
              </a:rPr>
              <a:t>情绪量表</a:t>
            </a:r>
            <a:endParaRPr lang="en-US" sz="930" dirty="0"/>
          </a:p>
          <a:p>
            <a:pPr marL="0" indent="0" algn="l">
              <a:lnSpc>
                <a:spcPts val="1260"/>
              </a:lnSpc>
              <a:buNone/>
            </a:pPr>
            <a:r>
              <a:rPr lang="en-US" sz="930" dirty="0">
                <a:solidFill>
                  <a:srgbClr val="102A70"/>
                </a:solidFill>
                <a:latin typeface="宋体" panose="02010600030101010101" pitchFamily="2" charset="-122"/>
                <a:ea typeface="宋体" panose="02010600030101010101" pitchFamily="2" charset="-122"/>
                <a:cs typeface="宋体" panose="02010600030101010101" pitchFamily="34" charset="-120"/>
              </a:rPr>
              <a:t>功能评估等</a:t>
            </a:r>
            <a:endParaRPr lang="en-US" sz="930" dirty="0"/>
          </a:p>
        </p:txBody>
      </p:sp>
      <p:sp>
        <p:nvSpPr>
          <p:cNvPr id="126" name="Text 59"/>
          <p:cNvSpPr txBox="1"/>
          <p:nvPr/>
        </p:nvSpPr>
        <p:spPr>
          <a:xfrm>
            <a:off x="1249716" y="4744321"/>
            <a:ext cx="400832" cy="284500"/>
          </a:xfrm>
          <a:prstGeom prst="rect">
            <a:avLst/>
          </a:prstGeom>
          <a:noFill/>
        </p:spPr>
        <p:txBody>
          <a:bodyPr wrap="none" lIns="0" tIns="0" rIns="0" bIns="0" rtlCol="0" anchor="ctr"/>
          <a:lstStyle/>
          <a:p>
            <a:pPr marL="0" indent="0" algn="ctr">
              <a:buNone/>
            </a:pPr>
            <a:r>
              <a:rPr lang="en-US" sz="1460" b="1" dirty="0">
                <a:solidFill>
                  <a:srgbClr val="023936"/>
                </a:solidFill>
                <a:latin typeface="微软雅黑" panose="020B0503020204020204" pitchFamily="34" charset="-122"/>
                <a:ea typeface="微软雅黑" panose="020B0503020204020204" pitchFamily="34" charset="-122"/>
                <a:cs typeface="微软雅黑" panose="020B0503020204020204" pitchFamily="34" charset="-120"/>
              </a:rPr>
              <a:t>影像</a:t>
            </a:r>
            <a:endParaRPr lang="en-US" sz="1460" dirty="0"/>
          </a:p>
        </p:txBody>
      </p:sp>
      <p:sp>
        <p:nvSpPr>
          <p:cNvPr id="127" name="Text 60"/>
          <p:cNvSpPr txBox="1"/>
          <p:nvPr/>
        </p:nvSpPr>
        <p:spPr>
          <a:xfrm>
            <a:off x="1264292" y="5057836"/>
            <a:ext cx="889392" cy="364666"/>
          </a:xfrm>
          <a:prstGeom prst="rect">
            <a:avLst/>
          </a:prstGeom>
          <a:noFill/>
        </p:spPr>
        <p:txBody>
          <a:bodyPr wrap="none" lIns="0" tIns="0" rIns="0" bIns="0" rtlCol="0" anchor="t"/>
          <a:lstStyle/>
          <a:p>
            <a:pPr marL="0" indent="0" algn="l">
              <a:lnSpc>
                <a:spcPts val="1260"/>
              </a:lnSpc>
              <a:buNone/>
            </a:pPr>
            <a:r>
              <a:rPr lang="en-US" sz="920" dirty="0">
                <a:solidFill>
                  <a:srgbClr val="102A70"/>
                </a:solidFill>
                <a:latin typeface="微软雅黑" panose="020B0503020204020204" pitchFamily="34" charset="-122"/>
                <a:ea typeface="微软雅黑" panose="020B0503020204020204" pitchFamily="34" charset="-122"/>
                <a:cs typeface="微软雅黑" panose="020B0503020204020204" pitchFamily="34" charset="-120"/>
              </a:rPr>
              <a:t>MRI、 PET、</a:t>
            </a:r>
            <a:endParaRPr lang="en-US" sz="920" dirty="0"/>
          </a:p>
          <a:p>
            <a:pPr marL="0" indent="0" algn="l">
              <a:lnSpc>
                <a:spcPts val="1260"/>
              </a:lnSpc>
              <a:buNone/>
            </a:pPr>
            <a:r>
              <a:rPr lang="en-US" sz="920" dirty="0">
                <a:solidFill>
                  <a:srgbClr val="102A70"/>
                </a:solidFill>
                <a:latin typeface="微软雅黑" panose="020B0503020204020204" pitchFamily="34" charset="-122"/>
                <a:ea typeface="微软雅黑" panose="020B0503020204020204" pitchFamily="34" charset="-122"/>
                <a:cs typeface="微软雅黑" panose="020B0503020204020204" pitchFamily="34" charset="-120"/>
              </a:rPr>
              <a:t>CT等影像数据</a:t>
            </a:r>
            <a:endParaRPr lang="en-US" sz="920" dirty="0"/>
          </a:p>
        </p:txBody>
      </p:sp>
      <p:sp>
        <p:nvSpPr>
          <p:cNvPr id="128" name="Text 61"/>
          <p:cNvSpPr txBox="1"/>
          <p:nvPr/>
        </p:nvSpPr>
        <p:spPr>
          <a:xfrm>
            <a:off x="1125823" y="5648015"/>
            <a:ext cx="408120" cy="284500"/>
          </a:xfrm>
          <a:prstGeom prst="rect">
            <a:avLst/>
          </a:prstGeom>
          <a:noFill/>
        </p:spPr>
        <p:txBody>
          <a:bodyPr wrap="none" lIns="0" tIns="0" rIns="0" bIns="0" rtlCol="0" anchor="ctr"/>
          <a:lstStyle/>
          <a:p>
            <a:pPr marL="0" indent="0" algn="ctr">
              <a:buNone/>
            </a:pPr>
            <a:r>
              <a:rPr lang="en-US" sz="1480" b="1" dirty="0">
                <a:solidFill>
                  <a:srgbClr val="00065B"/>
                </a:solidFill>
                <a:latin typeface="微软雅黑" panose="020B0503020204020204" pitchFamily="34" charset="-122"/>
                <a:ea typeface="微软雅黑" panose="020B0503020204020204" pitchFamily="34" charset="-122"/>
                <a:cs typeface="微软雅黑" panose="020B0503020204020204" pitchFamily="34" charset="-120"/>
              </a:rPr>
              <a:t>检验</a:t>
            </a:r>
            <a:endParaRPr lang="en-US" sz="1480" dirty="0"/>
          </a:p>
        </p:txBody>
      </p:sp>
      <p:sp>
        <p:nvSpPr>
          <p:cNvPr id="129" name="Text 62"/>
          <p:cNvSpPr txBox="1"/>
          <p:nvPr/>
        </p:nvSpPr>
        <p:spPr>
          <a:xfrm>
            <a:off x="1154974" y="5961530"/>
            <a:ext cx="911255" cy="546863"/>
          </a:xfrm>
          <a:prstGeom prst="rect">
            <a:avLst/>
          </a:prstGeom>
          <a:noFill/>
        </p:spPr>
        <p:txBody>
          <a:bodyPr wrap="none" lIns="0" tIns="0" rIns="0" bIns="0" rtlCol="0" anchor="t"/>
          <a:lstStyle/>
          <a:p>
            <a:pPr marL="0" indent="0" algn="l">
              <a:lnSpc>
                <a:spcPts val="1375"/>
              </a:lnSpc>
              <a:buNone/>
            </a:pPr>
            <a:r>
              <a:rPr lang="en-US" sz="960" dirty="0">
                <a:solidFill>
                  <a:srgbClr val="102A70"/>
                </a:solidFill>
                <a:latin typeface="宋体" panose="02010600030101010101" pitchFamily="2" charset="-122"/>
                <a:ea typeface="宋体" panose="02010600030101010101" pitchFamily="2" charset="-122"/>
                <a:cs typeface="宋体" panose="02010600030101010101" pitchFamily="34" charset="-120"/>
              </a:rPr>
              <a:t>血液、脑脊液、</a:t>
            </a:r>
            <a:endParaRPr lang="en-US" sz="960" dirty="0"/>
          </a:p>
          <a:p>
            <a:pPr marL="0" indent="0" algn="l">
              <a:lnSpc>
                <a:spcPts val="1375"/>
              </a:lnSpc>
              <a:buNone/>
            </a:pPr>
            <a:r>
              <a:rPr lang="en-US" sz="960" dirty="0">
                <a:solidFill>
                  <a:srgbClr val="102A70"/>
                </a:solidFill>
                <a:latin typeface="宋体" panose="02010600030101010101" pitchFamily="2" charset="-122"/>
                <a:ea typeface="宋体" panose="02010600030101010101" pitchFamily="2" charset="-122"/>
                <a:cs typeface="宋体" panose="02010600030101010101" pitchFamily="34" charset="-120"/>
              </a:rPr>
              <a:t>基因检测、</a:t>
            </a:r>
            <a:endParaRPr lang="en-US" sz="960" dirty="0"/>
          </a:p>
          <a:p>
            <a:pPr marL="0" indent="0" algn="l">
              <a:lnSpc>
                <a:spcPts val="1375"/>
              </a:lnSpc>
              <a:buNone/>
            </a:pPr>
            <a:r>
              <a:rPr lang="en-US" sz="960" dirty="0">
                <a:solidFill>
                  <a:srgbClr val="102A70"/>
                </a:solidFill>
                <a:latin typeface="宋体" panose="02010600030101010101" pitchFamily="2" charset="-122"/>
                <a:ea typeface="宋体" panose="02010600030101010101" pitchFamily="2" charset="-122"/>
                <a:cs typeface="宋体" panose="02010600030101010101" pitchFamily="34" charset="-120"/>
              </a:rPr>
              <a:t>生化指标等</a:t>
            </a:r>
            <a:endParaRPr lang="en-US" sz="960" dirty="0"/>
          </a:p>
        </p:txBody>
      </p:sp>
      <p:sp>
        <p:nvSpPr>
          <p:cNvPr id="139" name="Text 72"/>
          <p:cNvSpPr txBox="1"/>
          <p:nvPr/>
        </p:nvSpPr>
        <p:spPr>
          <a:xfrm>
            <a:off x="2707287" y="2106118"/>
            <a:ext cx="860240" cy="299076"/>
          </a:xfrm>
          <a:prstGeom prst="rect">
            <a:avLst/>
          </a:prstGeom>
          <a:noFill/>
        </p:spPr>
        <p:txBody>
          <a:bodyPr wrap="none" lIns="0" tIns="0" rIns="0" bIns="0" rtlCol="0" anchor="ctr"/>
          <a:lstStyle/>
          <a:p>
            <a:pPr marL="0" indent="0" algn="l">
              <a:buNone/>
            </a:pPr>
            <a:r>
              <a:rPr lang="en-US" sz="1510" dirty="0">
                <a:solidFill>
                  <a:srgbClr val="000651"/>
                </a:solidFill>
                <a:latin typeface="华文中宋" pitchFamily="34" charset="0"/>
                <a:ea typeface="华文中宋" pitchFamily="34" charset="-122"/>
                <a:cs typeface="华文中宋" pitchFamily="34" charset="-120"/>
              </a:rPr>
              <a:t>文档解析</a:t>
            </a:r>
            <a:endParaRPr lang="en-US" sz="1510" dirty="0"/>
          </a:p>
        </p:txBody>
      </p:sp>
      <p:sp>
        <p:nvSpPr>
          <p:cNvPr id="140" name="Text 73"/>
          <p:cNvSpPr txBox="1"/>
          <p:nvPr/>
        </p:nvSpPr>
        <p:spPr>
          <a:xfrm>
            <a:off x="4405358" y="2339329"/>
            <a:ext cx="276939" cy="218909"/>
          </a:xfrm>
          <a:prstGeom prst="rect">
            <a:avLst/>
          </a:prstGeom>
          <a:noFill/>
        </p:spPr>
        <p:txBody>
          <a:bodyPr wrap="none" lIns="0" tIns="0" rIns="0" bIns="0" rtlCol="0" anchor="ctr"/>
          <a:lstStyle/>
          <a:p>
            <a:pPr marL="0" indent="0" algn="ctr">
              <a:buNone/>
            </a:pPr>
            <a:r>
              <a:rPr lang="en-US" sz="1050" b="1" dirty="0">
                <a:solidFill>
                  <a:srgbClr val="02095E"/>
                </a:solidFill>
                <a:latin typeface="微软雅黑" panose="020B0503020204020204" pitchFamily="34" charset="-122"/>
                <a:ea typeface="微软雅黑" panose="020B0503020204020204" pitchFamily="34" charset="-122"/>
                <a:cs typeface="微软雅黑" panose="020B0503020204020204" pitchFamily="34" charset="-120"/>
              </a:rPr>
              <a:t>正文</a:t>
            </a:r>
            <a:endParaRPr lang="en-US" sz="1050" dirty="0"/>
          </a:p>
        </p:txBody>
      </p:sp>
      <p:sp>
        <p:nvSpPr>
          <p:cNvPr id="141" name="Text 74"/>
          <p:cNvSpPr txBox="1"/>
          <p:nvPr/>
        </p:nvSpPr>
        <p:spPr>
          <a:xfrm>
            <a:off x="4419933" y="2689146"/>
            <a:ext cx="269651" cy="204333"/>
          </a:xfrm>
          <a:prstGeom prst="rect">
            <a:avLst/>
          </a:prstGeom>
          <a:noFill/>
        </p:spPr>
        <p:txBody>
          <a:bodyPr wrap="none" lIns="0" tIns="0" rIns="0" bIns="0" rtlCol="0" anchor="ctr"/>
          <a:lstStyle/>
          <a:p>
            <a:pPr marL="0" indent="0" algn="ctr">
              <a:buNone/>
            </a:pPr>
            <a:r>
              <a:rPr lang="en-US" sz="930" b="1" dirty="0">
                <a:solidFill>
                  <a:srgbClr val="102A70"/>
                </a:solidFill>
                <a:latin typeface="微软雅黑" panose="020B0503020204020204" pitchFamily="34" charset="-122"/>
                <a:ea typeface="微软雅黑" panose="020B0503020204020204" pitchFamily="34" charset="-122"/>
                <a:cs typeface="微软雅黑" panose="020B0503020204020204" pitchFamily="34" charset="-120"/>
              </a:rPr>
              <a:t>表格</a:t>
            </a:r>
            <a:endParaRPr lang="en-US" sz="930" dirty="0"/>
          </a:p>
        </p:txBody>
      </p:sp>
      <p:sp>
        <p:nvSpPr>
          <p:cNvPr id="142" name="Text 75"/>
          <p:cNvSpPr txBox="1"/>
          <p:nvPr/>
        </p:nvSpPr>
        <p:spPr>
          <a:xfrm>
            <a:off x="4135707" y="3024387"/>
            <a:ext cx="539301" cy="218909"/>
          </a:xfrm>
          <a:prstGeom prst="rect">
            <a:avLst/>
          </a:prstGeom>
          <a:noFill/>
        </p:spPr>
        <p:txBody>
          <a:bodyPr wrap="none" lIns="0" tIns="0" rIns="0" bIns="0" rtlCol="0" anchor="ctr"/>
          <a:lstStyle/>
          <a:p>
            <a:pPr marL="0" indent="0" algn="ctr">
              <a:buNone/>
            </a:pPr>
            <a:r>
              <a:rPr lang="en-US" sz="960" b="1" dirty="0">
                <a:solidFill>
                  <a:srgbClr val="087B73"/>
                </a:solidFill>
                <a:latin typeface="微软雅黑" panose="020B0503020204020204" pitchFamily="34" charset="-122"/>
                <a:ea typeface="微软雅黑" panose="020B0503020204020204" pitchFamily="34" charset="-122"/>
                <a:cs typeface="微软雅黑" panose="020B0503020204020204" pitchFamily="34" charset="-120"/>
              </a:rPr>
              <a:t>[1] </a:t>
            </a:r>
            <a:r>
              <a:rPr lang="en-US" sz="960" b="1" dirty="0">
                <a:solidFill>
                  <a:srgbClr val="010C48"/>
                </a:solidFill>
                <a:latin typeface="微软雅黑" panose="020B0503020204020204" pitchFamily="34" charset="-122"/>
                <a:ea typeface="微软雅黑" panose="020B0503020204020204" pitchFamily="34" charset="-122"/>
                <a:cs typeface="微软雅黑" panose="020B0503020204020204" pitchFamily="34" charset="-120"/>
              </a:rPr>
              <a:t>角标</a:t>
            </a:r>
            <a:endParaRPr lang="en-US" sz="960" dirty="0"/>
          </a:p>
        </p:txBody>
      </p:sp>
      <p:sp>
        <p:nvSpPr>
          <p:cNvPr id="143" name="Text 76"/>
          <p:cNvSpPr txBox="1"/>
          <p:nvPr/>
        </p:nvSpPr>
        <p:spPr>
          <a:xfrm>
            <a:off x="4412646" y="3381492"/>
            <a:ext cx="276939" cy="211621"/>
          </a:xfrm>
          <a:prstGeom prst="rect">
            <a:avLst/>
          </a:prstGeom>
          <a:noFill/>
        </p:spPr>
        <p:txBody>
          <a:bodyPr wrap="none" lIns="0" tIns="0" rIns="0" bIns="0" rtlCol="0" anchor="ctr"/>
          <a:lstStyle/>
          <a:p>
            <a:pPr marL="0" indent="0" algn="ctr">
              <a:buNone/>
            </a:pPr>
            <a:r>
              <a:rPr lang="en-US" sz="980" b="1" dirty="0">
                <a:solidFill>
                  <a:srgbClr val="09266B"/>
                </a:solidFill>
                <a:latin typeface="Arial" panose="020B0604020202020204" pitchFamily="34" charset="0"/>
                <a:ea typeface="黑体" panose="02010609060101010101" pitchFamily="34" charset="-122"/>
                <a:cs typeface="黑体" panose="02010609060101010101" pitchFamily="34" charset="-120"/>
              </a:rPr>
              <a:t>脚注</a:t>
            </a:r>
            <a:endParaRPr lang="en-US" sz="980" dirty="0"/>
          </a:p>
        </p:txBody>
      </p:sp>
      <p:sp>
        <p:nvSpPr>
          <p:cNvPr id="144" name="Text 77"/>
          <p:cNvSpPr txBox="1"/>
          <p:nvPr/>
        </p:nvSpPr>
        <p:spPr>
          <a:xfrm>
            <a:off x="2809317" y="3519961"/>
            <a:ext cx="663468" cy="218909"/>
          </a:xfrm>
          <a:prstGeom prst="rect">
            <a:avLst/>
          </a:prstGeom>
          <a:noFill/>
        </p:spPr>
        <p:txBody>
          <a:bodyPr wrap="none" lIns="0" tIns="0" rIns="0" bIns="0" rtlCol="0" anchor="ctr"/>
          <a:lstStyle/>
          <a:p>
            <a:pPr marL="0" indent="0" algn="l">
              <a:buNone/>
            </a:pPr>
            <a:r>
              <a:rPr lang="en-US" sz="1080" dirty="0">
                <a:solidFill>
                  <a:srgbClr val="080D50"/>
                </a:solidFill>
                <a:latin typeface="华文中宋" pitchFamily="34" charset="0"/>
                <a:ea typeface="华文中宋" pitchFamily="34" charset="-122"/>
                <a:cs typeface="华文中宋" pitchFamily="34" charset="-120"/>
              </a:rPr>
              <a:t>医学文档</a:t>
            </a:r>
            <a:endParaRPr lang="en-US" sz="1080" dirty="0"/>
          </a:p>
        </p:txBody>
      </p:sp>
      <p:sp>
        <p:nvSpPr>
          <p:cNvPr id="145" name="Text 78"/>
          <p:cNvSpPr txBox="1"/>
          <p:nvPr/>
        </p:nvSpPr>
        <p:spPr>
          <a:xfrm>
            <a:off x="5287188" y="2113405"/>
            <a:ext cx="860240" cy="284500"/>
          </a:xfrm>
          <a:prstGeom prst="rect">
            <a:avLst/>
          </a:prstGeom>
          <a:noFill/>
        </p:spPr>
        <p:txBody>
          <a:bodyPr wrap="none" lIns="0" tIns="0" rIns="0" bIns="0" rtlCol="0" anchor="ctr"/>
          <a:lstStyle/>
          <a:p>
            <a:pPr marL="0" indent="0" algn="l">
              <a:buNone/>
            </a:pPr>
            <a:r>
              <a:rPr lang="en-US" sz="1520" dirty="0">
                <a:solidFill>
                  <a:srgbClr val="000754"/>
                </a:solidFill>
                <a:latin typeface="华文中宋" pitchFamily="34" charset="0"/>
                <a:ea typeface="华文中宋" pitchFamily="34" charset="-122"/>
                <a:cs typeface="华文中宋" pitchFamily="34" charset="-120"/>
              </a:rPr>
              <a:t>知识构建</a:t>
            </a:r>
            <a:endParaRPr lang="en-US" sz="1520" dirty="0"/>
          </a:p>
        </p:txBody>
      </p:sp>
      <p:sp>
        <p:nvSpPr>
          <p:cNvPr id="146" name="Text 79"/>
          <p:cNvSpPr txBox="1"/>
          <p:nvPr/>
        </p:nvSpPr>
        <p:spPr>
          <a:xfrm>
            <a:off x="6606290" y="2208147"/>
            <a:ext cx="677771" cy="233485"/>
          </a:xfrm>
          <a:prstGeom prst="rect">
            <a:avLst/>
          </a:prstGeom>
          <a:noFill/>
        </p:spPr>
        <p:txBody>
          <a:bodyPr wrap="none" lIns="0" tIns="0" rIns="0" bIns="0" rtlCol="0" anchor="ctr"/>
          <a:lstStyle/>
          <a:p>
            <a:pPr marL="0" indent="0" algn="ctr">
              <a:buNone/>
            </a:pPr>
            <a:r>
              <a:rPr lang="en-US" sz="1180" dirty="0">
                <a:solidFill>
                  <a:srgbClr val="000151"/>
                </a:solidFill>
                <a:latin typeface="华文中宋" pitchFamily="34" charset="0"/>
                <a:ea typeface="华文中宋" pitchFamily="34" charset="-122"/>
                <a:cs typeface="华文中宋" pitchFamily="34" charset="-120"/>
              </a:rPr>
              <a:t>知识图谱</a:t>
            </a:r>
            <a:endParaRPr lang="en-US" sz="1180" dirty="0"/>
          </a:p>
        </p:txBody>
      </p:sp>
      <p:sp>
        <p:nvSpPr>
          <p:cNvPr id="147" name="Text 80"/>
          <p:cNvSpPr txBox="1"/>
          <p:nvPr/>
        </p:nvSpPr>
        <p:spPr>
          <a:xfrm>
            <a:off x="6271049" y="2543389"/>
            <a:ext cx="247787" cy="189758"/>
          </a:xfrm>
          <a:prstGeom prst="rect">
            <a:avLst/>
          </a:prstGeom>
          <a:noFill/>
        </p:spPr>
        <p:txBody>
          <a:bodyPr wrap="none" lIns="0" tIns="0" rIns="0" bIns="0" rtlCol="0" anchor="ctr"/>
          <a:lstStyle/>
          <a:p>
            <a:pPr marL="0" indent="0" algn="ctr">
              <a:buNone/>
            </a:pPr>
            <a:r>
              <a:rPr lang="en-US" sz="850" b="1" dirty="0">
                <a:solidFill>
                  <a:srgbClr val="09266B"/>
                </a:solidFill>
                <a:latin typeface="Arial" panose="020B0604020202020204" pitchFamily="34" charset="0"/>
                <a:ea typeface="黑体" panose="02010609060101010101" pitchFamily="34" charset="-122"/>
                <a:cs typeface="黑体" panose="02010609060101010101" pitchFamily="34" charset="-120"/>
              </a:rPr>
              <a:t>症状</a:t>
            </a:r>
            <a:endParaRPr lang="en-US" sz="850" dirty="0"/>
          </a:p>
        </p:txBody>
      </p:sp>
      <p:sp>
        <p:nvSpPr>
          <p:cNvPr id="148" name="Text 81"/>
          <p:cNvSpPr txBox="1"/>
          <p:nvPr/>
        </p:nvSpPr>
        <p:spPr>
          <a:xfrm>
            <a:off x="7276773" y="2645419"/>
            <a:ext cx="393544" cy="182470"/>
          </a:xfrm>
          <a:prstGeom prst="rect">
            <a:avLst/>
          </a:prstGeom>
          <a:noFill/>
        </p:spPr>
        <p:txBody>
          <a:bodyPr wrap="none" lIns="0" tIns="0" rIns="0" bIns="0" rtlCol="0" anchor="ctr"/>
          <a:lstStyle/>
          <a:p>
            <a:pPr marL="0" indent="0" algn="ctr">
              <a:buNone/>
            </a:pPr>
            <a:r>
              <a:rPr lang="en-US" sz="750" dirty="0">
                <a:solidFill>
                  <a:srgbClr val="09266B"/>
                </a:solidFill>
                <a:latin typeface="华文中宋" pitchFamily="34" charset="0"/>
                <a:ea typeface="华文中宋" pitchFamily="34" charset="-122"/>
                <a:cs typeface="华文中宋" pitchFamily="34" charset="-120"/>
              </a:rPr>
              <a:t>影像表现</a:t>
            </a:r>
            <a:endParaRPr lang="en-US" sz="750" dirty="0"/>
          </a:p>
        </p:txBody>
      </p:sp>
      <p:sp>
        <p:nvSpPr>
          <p:cNvPr id="149" name="Text 82"/>
          <p:cNvSpPr txBox="1"/>
          <p:nvPr/>
        </p:nvSpPr>
        <p:spPr>
          <a:xfrm>
            <a:off x="6752047" y="2907782"/>
            <a:ext cx="298802" cy="211621"/>
          </a:xfrm>
          <a:prstGeom prst="rect">
            <a:avLst/>
          </a:prstGeom>
          <a:noFill/>
        </p:spPr>
        <p:txBody>
          <a:bodyPr wrap="none" lIns="0" tIns="0" rIns="0" bIns="0" rtlCol="0" anchor="ctr"/>
          <a:lstStyle/>
          <a:p>
            <a:pPr marL="0" indent="0" algn="ctr">
              <a:buNone/>
            </a:pPr>
            <a:r>
              <a:rPr lang="en-US" sz="850" b="1" dirty="0">
                <a:solidFill>
                  <a:srgbClr val="09266B"/>
                </a:solidFill>
                <a:latin typeface="Arial" panose="020B0604020202020204" pitchFamily="34" charset="0"/>
                <a:ea typeface="黑体" panose="02010609060101010101" pitchFamily="34" charset="-122"/>
                <a:cs typeface="黑体" panose="02010609060101010101" pitchFamily="34" charset="-120"/>
              </a:rPr>
              <a:t>诊断</a:t>
            </a:r>
            <a:endParaRPr lang="en-US" sz="850" dirty="0"/>
          </a:p>
        </p:txBody>
      </p:sp>
      <p:sp>
        <p:nvSpPr>
          <p:cNvPr id="150" name="Text 83"/>
          <p:cNvSpPr txBox="1"/>
          <p:nvPr/>
        </p:nvSpPr>
        <p:spPr>
          <a:xfrm>
            <a:off x="5943095" y="3294038"/>
            <a:ext cx="502862" cy="182470"/>
          </a:xfrm>
          <a:prstGeom prst="rect">
            <a:avLst/>
          </a:prstGeom>
          <a:noFill/>
        </p:spPr>
        <p:txBody>
          <a:bodyPr wrap="none" lIns="0" tIns="0" rIns="0" bIns="0" rtlCol="0" anchor="ctr"/>
          <a:lstStyle/>
          <a:p>
            <a:pPr marL="0" indent="0" algn="ctr">
              <a:buNone/>
            </a:pPr>
            <a:r>
              <a:rPr lang="en-US" sz="750" b="1" dirty="0">
                <a:solidFill>
                  <a:srgbClr val="0D284F"/>
                </a:solidFill>
                <a:latin typeface="Arial" panose="020B0604020202020204" pitchFamily="34" charset="0"/>
                <a:ea typeface="黑体" panose="02010609060101010101" pitchFamily="34" charset="-122"/>
                <a:cs typeface="黑体" panose="02010609060101010101" pitchFamily="34" charset="-120"/>
              </a:rPr>
              <a:t>生物标志物</a:t>
            </a:r>
            <a:endParaRPr lang="en-US" sz="750" dirty="0"/>
          </a:p>
        </p:txBody>
      </p:sp>
      <p:sp>
        <p:nvSpPr>
          <p:cNvPr id="151" name="Text 84"/>
          <p:cNvSpPr txBox="1"/>
          <p:nvPr/>
        </p:nvSpPr>
        <p:spPr>
          <a:xfrm>
            <a:off x="7437106" y="3286750"/>
            <a:ext cx="269651" cy="197046"/>
          </a:xfrm>
          <a:prstGeom prst="rect">
            <a:avLst/>
          </a:prstGeom>
          <a:noFill/>
        </p:spPr>
        <p:txBody>
          <a:bodyPr wrap="none" lIns="0" tIns="0" rIns="0" bIns="0" rtlCol="0" anchor="ctr"/>
          <a:lstStyle/>
          <a:p>
            <a:pPr marL="0" indent="0" algn="ctr">
              <a:buNone/>
            </a:pPr>
            <a:r>
              <a:rPr lang="en-US" sz="850" b="1" dirty="0">
                <a:solidFill>
                  <a:srgbClr val="09266B"/>
                </a:solidFill>
                <a:latin typeface="Arial" panose="020B0604020202020204" pitchFamily="34" charset="0"/>
                <a:ea typeface="黑体" panose="02010609060101010101" pitchFamily="34" charset="-122"/>
                <a:cs typeface="黑体" panose="02010609060101010101" pitchFamily="34" charset="-120"/>
              </a:rPr>
              <a:t>来源</a:t>
            </a:r>
            <a:endParaRPr lang="en-US" sz="850" dirty="0"/>
          </a:p>
        </p:txBody>
      </p:sp>
      <p:sp>
        <p:nvSpPr>
          <p:cNvPr id="152" name="Text 85"/>
          <p:cNvSpPr txBox="1"/>
          <p:nvPr/>
        </p:nvSpPr>
        <p:spPr>
          <a:xfrm>
            <a:off x="6752047" y="3621991"/>
            <a:ext cx="262363" cy="211621"/>
          </a:xfrm>
          <a:prstGeom prst="rect">
            <a:avLst/>
          </a:prstGeom>
          <a:noFill/>
        </p:spPr>
        <p:txBody>
          <a:bodyPr wrap="none" lIns="0" tIns="0" rIns="0" bIns="0" rtlCol="0" anchor="ctr"/>
          <a:lstStyle/>
          <a:p>
            <a:pPr marL="0" indent="0" algn="ctr">
              <a:buNone/>
            </a:pPr>
            <a:r>
              <a:rPr lang="en-US" sz="850" b="1" dirty="0">
                <a:solidFill>
                  <a:srgbClr val="09266B"/>
                </a:solidFill>
                <a:latin typeface="Arial" panose="020B0604020202020204" pitchFamily="34" charset="0"/>
                <a:ea typeface="黑体" panose="02010609060101010101" pitchFamily="34" charset="-122"/>
                <a:cs typeface="黑体" panose="02010609060101010101" pitchFamily="34" charset="-120"/>
              </a:rPr>
              <a:t>条件</a:t>
            </a:r>
            <a:endParaRPr lang="en-US" sz="850" dirty="0"/>
          </a:p>
        </p:txBody>
      </p:sp>
      <p:sp>
        <p:nvSpPr>
          <p:cNvPr id="153" name="Text 86"/>
          <p:cNvSpPr txBox="1"/>
          <p:nvPr/>
        </p:nvSpPr>
        <p:spPr>
          <a:xfrm>
            <a:off x="8508420" y="2215435"/>
            <a:ext cx="459135" cy="233485"/>
          </a:xfrm>
          <a:prstGeom prst="rect">
            <a:avLst/>
          </a:prstGeom>
          <a:noFill/>
        </p:spPr>
        <p:txBody>
          <a:bodyPr wrap="none" lIns="0" tIns="0" rIns="0" bIns="0" rtlCol="0" anchor="ctr"/>
          <a:lstStyle/>
          <a:p>
            <a:pPr marL="0" indent="0" algn="ctr">
              <a:buNone/>
            </a:pPr>
            <a:r>
              <a:rPr lang="en-US" sz="1150" b="1" dirty="0">
                <a:solidFill>
                  <a:srgbClr val="09266B"/>
                </a:solidFill>
                <a:latin typeface="Arial" panose="020B0604020202020204" pitchFamily="34" charset="0"/>
                <a:ea typeface="黑体" panose="02010609060101010101" pitchFamily="34" charset="-122"/>
                <a:cs typeface="黑体" panose="02010609060101010101" pitchFamily="34" charset="-120"/>
              </a:rPr>
              <a:t>知识库</a:t>
            </a:r>
            <a:endParaRPr lang="en-US" sz="1150" dirty="0"/>
          </a:p>
        </p:txBody>
      </p:sp>
      <p:sp>
        <p:nvSpPr>
          <p:cNvPr id="154" name="Text 87"/>
          <p:cNvSpPr txBox="1"/>
          <p:nvPr/>
        </p:nvSpPr>
        <p:spPr>
          <a:xfrm>
            <a:off x="8260633" y="2485086"/>
            <a:ext cx="736347" cy="189758"/>
          </a:xfrm>
          <a:prstGeom prst="rect">
            <a:avLst/>
          </a:prstGeom>
          <a:noFill/>
        </p:spPr>
        <p:txBody>
          <a:bodyPr wrap="none" lIns="0" tIns="0" rIns="0" bIns="0" rtlCol="0" anchor="ctr"/>
          <a:lstStyle/>
          <a:p>
            <a:pPr marL="0" indent="0" algn="l">
              <a:buNone/>
            </a:pPr>
            <a:r>
              <a:rPr lang="en-US" sz="840" dirty="0">
                <a:solidFill>
                  <a:srgbClr val="09266B"/>
                </a:solidFill>
                <a:latin typeface="华文中宋" pitchFamily="34" charset="0"/>
                <a:ea typeface="华文中宋" pitchFamily="34" charset="-122"/>
                <a:cs typeface="华文中宋" pitchFamily="34" charset="-120"/>
              </a:rPr>
              <a:t>临床指南片段</a:t>
            </a:r>
            <a:endParaRPr lang="en-US" sz="840" dirty="0"/>
          </a:p>
        </p:txBody>
      </p:sp>
      <p:sp>
        <p:nvSpPr>
          <p:cNvPr id="155" name="Text 88"/>
          <p:cNvSpPr txBox="1"/>
          <p:nvPr/>
        </p:nvSpPr>
        <p:spPr>
          <a:xfrm>
            <a:off x="8260633" y="2987948"/>
            <a:ext cx="758210" cy="197046"/>
          </a:xfrm>
          <a:prstGeom prst="rect">
            <a:avLst/>
          </a:prstGeom>
          <a:noFill/>
        </p:spPr>
        <p:txBody>
          <a:bodyPr wrap="none" lIns="0" tIns="0" rIns="0" bIns="0" rtlCol="0" anchor="ctr"/>
          <a:lstStyle/>
          <a:p>
            <a:pPr marL="0" indent="0" algn="l">
              <a:buNone/>
            </a:pPr>
            <a:r>
              <a:rPr lang="en-US" sz="850" dirty="0">
                <a:solidFill>
                  <a:srgbClr val="09266B"/>
                </a:solidFill>
                <a:latin typeface="华文中宋" pitchFamily="34" charset="0"/>
                <a:ea typeface="华文中宋" pitchFamily="34" charset="-122"/>
                <a:cs typeface="华文中宋" pitchFamily="34" charset="-120"/>
              </a:rPr>
              <a:t>文献证据片段</a:t>
            </a:r>
            <a:endParaRPr lang="en-US" sz="850" dirty="0"/>
          </a:p>
        </p:txBody>
      </p:sp>
      <p:sp>
        <p:nvSpPr>
          <p:cNvPr id="156" name="Text 89"/>
          <p:cNvSpPr txBox="1"/>
          <p:nvPr/>
        </p:nvSpPr>
        <p:spPr>
          <a:xfrm>
            <a:off x="8260633" y="3454371"/>
            <a:ext cx="743635" cy="197046"/>
          </a:xfrm>
          <a:prstGeom prst="rect">
            <a:avLst/>
          </a:prstGeom>
          <a:noFill/>
        </p:spPr>
        <p:txBody>
          <a:bodyPr wrap="none" lIns="0" tIns="0" rIns="0" bIns="0" rtlCol="0" anchor="ctr"/>
          <a:lstStyle/>
          <a:p>
            <a:pPr marL="0" indent="0" algn="l">
              <a:buNone/>
            </a:pPr>
            <a:r>
              <a:rPr lang="en-US" sz="850" dirty="0">
                <a:solidFill>
                  <a:srgbClr val="09266B"/>
                </a:solidFill>
                <a:latin typeface="华文中宋" pitchFamily="34" charset="0"/>
                <a:ea typeface="华文中宋" pitchFamily="34" charset="-122"/>
                <a:cs typeface="华文中宋" pitchFamily="34" charset="-120"/>
              </a:rPr>
              <a:t>诊断标准片段</a:t>
            </a:r>
            <a:endParaRPr lang="en-US" sz="850" dirty="0"/>
          </a:p>
        </p:txBody>
      </p:sp>
      <p:sp>
        <p:nvSpPr>
          <p:cNvPr id="157" name="Text 90"/>
          <p:cNvSpPr txBox="1"/>
          <p:nvPr/>
        </p:nvSpPr>
        <p:spPr>
          <a:xfrm>
            <a:off x="2692712" y="4066551"/>
            <a:ext cx="1603602" cy="299076"/>
          </a:xfrm>
          <a:prstGeom prst="rect">
            <a:avLst/>
          </a:prstGeom>
          <a:noFill/>
        </p:spPr>
        <p:txBody>
          <a:bodyPr wrap="none" lIns="0" tIns="0" rIns="0" bIns="0" rtlCol="0" anchor="ctr"/>
          <a:lstStyle/>
          <a:p>
            <a:pPr marL="0" indent="0" algn="l">
              <a:buNone/>
            </a:pPr>
            <a:r>
              <a:rPr lang="en-US" sz="1480" dirty="0">
                <a:solidFill>
                  <a:srgbClr val="000453"/>
                </a:solidFill>
                <a:latin typeface="华文中宋" pitchFamily="34" charset="0"/>
                <a:ea typeface="华文中宋" pitchFamily="34" charset="-122"/>
                <a:cs typeface="华文中宋" pitchFamily="34" charset="-120"/>
              </a:rPr>
              <a:t>多智能体协作检索</a:t>
            </a:r>
            <a:endParaRPr lang="en-US" sz="1480" dirty="0"/>
          </a:p>
        </p:txBody>
      </p:sp>
      <p:sp>
        <p:nvSpPr>
          <p:cNvPr id="158" name="Text 91"/>
          <p:cNvSpPr txBox="1"/>
          <p:nvPr/>
        </p:nvSpPr>
        <p:spPr>
          <a:xfrm>
            <a:off x="5680732" y="4321626"/>
            <a:ext cx="597604" cy="197046"/>
          </a:xfrm>
          <a:prstGeom prst="rect">
            <a:avLst/>
          </a:prstGeom>
          <a:noFill/>
        </p:spPr>
        <p:txBody>
          <a:bodyPr wrap="none" lIns="0" tIns="0" rIns="0" bIns="0" rtlCol="0" anchor="ctr"/>
          <a:lstStyle/>
          <a:p>
            <a:pPr marL="0" indent="0" algn="ctr">
              <a:buNone/>
            </a:pPr>
            <a:r>
              <a:rPr lang="en-US" sz="900" dirty="0">
                <a:solidFill>
                  <a:srgbClr val="031259"/>
                </a:solidFill>
                <a:latin typeface="华文中宋" pitchFamily="34" charset="0"/>
                <a:ea typeface="华文中宋" pitchFamily="34" charset="-122"/>
                <a:cs typeface="华文中宋" pitchFamily="34" charset="-120"/>
              </a:rPr>
              <a:t>影像智能体</a:t>
            </a:r>
            <a:endParaRPr lang="en-US" sz="900" dirty="0"/>
          </a:p>
        </p:txBody>
      </p:sp>
      <p:sp>
        <p:nvSpPr>
          <p:cNvPr id="159" name="Text 92"/>
          <p:cNvSpPr txBox="1"/>
          <p:nvPr/>
        </p:nvSpPr>
        <p:spPr>
          <a:xfrm>
            <a:off x="4521963" y="4744321"/>
            <a:ext cx="604892" cy="197046"/>
          </a:xfrm>
          <a:prstGeom prst="rect">
            <a:avLst/>
          </a:prstGeom>
          <a:noFill/>
        </p:spPr>
        <p:txBody>
          <a:bodyPr wrap="none" lIns="0" tIns="0" rIns="0" bIns="0" rtlCol="0" anchor="ctr"/>
          <a:lstStyle/>
          <a:p>
            <a:pPr marL="0" indent="0" algn="ctr">
              <a:buNone/>
            </a:pPr>
            <a:r>
              <a:rPr lang="en-US" sz="900" dirty="0">
                <a:solidFill>
                  <a:srgbClr val="080D35"/>
                </a:solidFill>
                <a:latin typeface="华文中宋" pitchFamily="34" charset="0"/>
                <a:ea typeface="华文中宋" pitchFamily="34" charset="-122"/>
                <a:cs typeface="华文中宋" pitchFamily="34" charset="-120"/>
              </a:rPr>
              <a:t>知识智能体</a:t>
            </a:r>
            <a:endParaRPr lang="en-US" sz="900" dirty="0"/>
          </a:p>
        </p:txBody>
      </p:sp>
      <p:sp>
        <p:nvSpPr>
          <p:cNvPr id="160" name="Text 93"/>
          <p:cNvSpPr txBox="1"/>
          <p:nvPr/>
        </p:nvSpPr>
        <p:spPr>
          <a:xfrm>
            <a:off x="6861365" y="4744321"/>
            <a:ext cx="583028" cy="197046"/>
          </a:xfrm>
          <a:prstGeom prst="rect">
            <a:avLst/>
          </a:prstGeom>
          <a:noFill/>
        </p:spPr>
        <p:txBody>
          <a:bodyPr wrap="none" lIns="0" tIns="0" rIns="0" bIns="0" rtlCol="0" anchor="ctr"/>
          <a:lstStyle/>
          <a:p>
            <a:pPr marL="0" indent="0" algn="ctr">
              <a:buNone/>
            </a:pPr>
            <a:r>
              <a:rPr lang="en-US" sz="890" dirty="0">
                <a:solidFill>
                  <a:srgbClr val="00123B"/>
                </a:solidFill>
                <a:latin typeface="华文中宋" pitchFamily="34" charset="0"/>
                <a:ea typeface="华文中宋" pitchFamily="34" charset="-122"/>
                <a:cs typeface="华文中宋" pitchFamily="34" charset="-120"/>
              </a:rPr>
              <a:t>认知智能体</a:t>
            </a:r>
            <a:endParaRPr lang="en-US" sz="890" dirty="0"/>
          </a:p>
        </p:txBody>
      </p:sp>
      <p:sp>
        <p:nvSpPr>
          <p:cNvPr id="161" name="Text 94"/>
          <p:cNvSpPr txBox="1"/>
          <p:nvPr/>
        </p:nvSpPr>
        <p:spPr>
          <a:xfrm>
            <a:off x="3661996" y="4788048"/>
            <a:ext cx="568453" cy="218909"/>
          </a:xfrm>
          <a:prstGeom prst="rect">
            <a:avLst/>
          </a:prstGeom>
          <a:noFill/>
        </p:spPr>
        <p:txBody>
          <a:bodyPr wrap="none" lIns="0" tIns="0" rIns="0" bIns="0" rtlCol="0" anchor="ctr"/>
          <a:lstStyle/>
          <a:p>
            <a:pPr marL="0" indent="0" algn="ctr">
              <a:buNone/>
            </a:pPr>
            <a:r>
              <a:rPr lang="en-US" sz="1070" dirty="0">
                <a:solidFill>
                  <a:srgbClr val="000351"/>
                </a:solidFill>
                <a:latin typeface="华文中宋" pitchFamily="34" charset="0"/>
                <a:ea typeface="华文中宋" pitchFamily="34" charset="-122"/>
                <a:cs typeface="华文中宋" pitchFamily="34" charset="-120"/>
              </a:rPr>
              <a:t>提出问题</a:t>
            </a:r>
            <a:endParaRPr lang="en-US" sz="1070" dirty="0"/>
          </a:p>
        </p:txBody>
      </p:sp>
      <p:sp>
        <p:nvSpPr>
          <p:cNvPr id="162" name="Text 95"/>
          <p:cNvSpPr txBox="1"/>
          <p:nvPr/>
        </p:nvSpPr>
        <p:spPr>
          <a:xfrm>
            <a:off x="7808786" y="4788048"/>
            <a:ext cx="568453" cy="218909"/>
          </a:xfrm>
          <a:prstGeom prst="rect">
            <a:avLst/>
          </a:prstGeom>
          <a:noFill/>
        </p:spPr>
        <p:txBody>
          <a:bodyPr wrap="none" lIns="0" tIns="0" rIns="0" bIns="0" rtlCol="0" anchor="ctr"/>
          <a:lstStyle/>
          <a:p>
            <a:pPr marL="0" indent="0" algn="ctr">
              <a:buNone/>
            </a:pPr>
            <a:r>
              <a:rPr lang="en-US" sz="1070" b="1" dirty="0">
                <a:solidFill>
                  <a:srgbClr val="09266B"/>
                </a:solidFill>
                <a:latin typeface="Arial" panose="020B0604020202020204" pitchFamily="34" charset="0"/>
                <a:ea typeface="黑体" panose="02010609060101010101" pitchFamily="34" charset="-122"/>
                <a:cs typeface="黑体" panose="02010609060101010101" pitchFamily="34" charset="-120"/>
              </a:rPr>
              <a:t>检索证据</a:t>
            </a:r>
            <a:endParaRPr lang="en-US" sz="1070" dirty="0"/>
          </a:p>
        </p:txBody>
      </p:sp>
      <p:sp>
        <p:nvSpPr>
          <p:cNvPr id="163" name="Text 96"/>
          <p:cNvSpPr txBox="1"/>
          <p:nvPr/>
        </p:nvSpPr>
        <p:spPr>
          <a:xfrm>
            <a:off x="5717172" y="4977533"/>
            <a:ext cx="561165" cy="218909"/>
          </a:xfrm>
          <a:prstGeom prst="rect">
            <a:avLst/>
          </a:prstGeom>
          <a:noFill/>
        </p:spPr>
        <p:txBody>
          <a:bodyPr wrap="none" lIns="0" tIns="0" rIns="0" bIns="0" rtlCol="0" anchor="ctr"/>
          <a:lstStyle/>
          <a:p>
            <a:pPr marL="0" indent="0" algn="ctr">
              <a:buNone/>
            </a:pPr>
            <a:r>
              <a:rPr lang="en-US" sz="1030" b="1" dirty="0">
                <a:solidFill>
                  <a:srgbClr val="00024C"/>
                </a:solidFill>
                <a:latin typeface="Arial" panose="020B0604020202020204" pitchFamily="34" charset="0"/>
                <a:ea typeface="黑体" panose="02010609060101010101" pitchFamily="34" charset="-122"/>
                <a:cs typeface="黑体" panose="02010609060101010101" pitchFamily="34" charset="-120"/>
              </a:rPr>
              <a:t>协作分析</a:t>
            </a:r>
            <a:endParaRPr lang="en-US" sz="1030" dirty="0"/>
          </a:p>
        </p:txBody>
      </p:sp>
      <p:sp>
        <p:nvSpPr>
          <p:cNvPr id="164" name="Text 97"/>
          <p:cNvSpPr txBox="1"/>
          <p:nvPr/>
        </p:nvSpPr>
        <p:spPr>
          <a:xfrm>
            <a:off x="4660433" y="5349213"/>
            <a:ext cx="612180" cy="211621"/>
          </a:xfrm>
          <a:prstGeom prst="rect">
            <a:avLst/>
          </a:prstGeom>
          <a:noFill/>
        </p:spPr>
        <p:txBody>
          <a:bodyPr wrap="none" lIns="0" tIns="0" rIns="0" bIns="0" rtlCol="0" anchor="ctr"/>
          <a:lstStyle/>
          <a:p>
            <a:pPr marL="0" indent="0" algn="ctr">
              <a:buNone/>
            </a:pPr>
            <a:r>
              <a:rPr lang="en-US" sz="900" dirty="0">
                <a:solidFill>
                  <a:srgbClr val="09266B"/>
                </a:solidFill>
                <a:latin typeface="华文中宋" pitchFamily="34" charset="0"/>
                <a:ea typeface="华文中宋" pitchFamily="34" charset="-122"/>
                <a:cs typeface="华文中宋" pitchFamily="34" charset="-120"/>
              </a:rPr>
              <a:t>检验智能体</a:t>
            </a:r>
            <a:endParaRPr lang="en-US" sz="900" dirty="0"/>
          </a:p>
        </p:txBody>
      </p:sp>
      <p:sp>
        <p:nvSpPr>
          <p:cNvPr id="165" name="Text 98"/>
          <p:cNvSpPr txBox="1"/>
          <p:nvPr/>
        </p:nvSpPr>
        <p:spPr>
          <a:xfrm>
            <a:off x="5717172" y="5371077"/>
            <a:ext cx="561165" cy="218909"/>
          </a:xfrm>
          <a:prstGeom prst="rect">
            <a:avLst/>
          </a:prstGeom>
          <a:noFill/>
        </p:spPr>
        <p:txBody>
          <a:bodyPr wrap="none" lIns="0" tIns="0" rIns="0" bIns="0" rtlCol="0" anchor="ctr"/>
          <a:lstStyle/>
          <a:p>
            <a:pPr marL="0" indent="0" algn="ctr">
              <a:buNone/>
            </a:pPr>
            <a:r>
              <a:rPr lang="en-US" sz="1070" b="1" dirty="0">
                <a:solidFill>
                  <a:srgbClr val="020652"/>
                </a:solidFill>
                <a:latin typeface="Arial" panose="020B0604020202020204" pitchFamily="34" charset="0"/>
                <a:ea typeface="黑体" panose="02010609060101010101" pitchFamily="34" charset="-122"/>
                <a:cs typeface="黑体" panose="02010609060101010101" pitchFamily="34" charset="-120"/>
              </a:rPr>
              <a:t>更新判断</a:t>
            </a:r>
            <a:endParaRPr lang="en-US" sz="1070" dirty="0"/>
          </a:p>
        </p:txBody>
      </p:sp>
      <p:sp>
        <p:nvSpPr>
          <p:cNvPr id="166" name="Text 99"/>
          <p:cNvSpPr txBox="1"/>
          <p:nvPr/>
        </p:nvSpPr>
        <p:spPr>
          <a:xfrm>
            <a:off x="6715608" y="5334637"/>
            <a:ext cx="612180" cy="204333"/>
          </a:xfrm>
          <a:prstGeom prst="rect">
            <a:avLst/>
          </a:prstGeom>
          <a:noFill/>
        </p:spPr>
        <p:txBody>
          <a:bodyPr wrap="none" lIns="0" tIns="0" rIns="0" bIns="0" rtlCol="0" anchor="ctr"/>
          <a:lstStyle/>
          <a:p>
            <a:pPr marL="0" indent="0" algn="ctr">
              <a:buNone/>
            </a:pPr>
            <a:r>
              <a:rPr lang="en-US" sz="900" dirty="0">
                <a:solidFill>
                  <a:srgbClr val="09266B"/>
                </a:solidFill>
                <a:latin typeface="华文中宋" pitchFamily="34" charset="0"/>
                <a:ea typeface="华文中宋" pitchFamily="34" charset="-122"/>
                <a:cs typeface="华文中宋" pitchFamily="34" charset="-120"/>
              </a:rPr>
              <a:t>随访智能体</a:t>
            </a:r>
            <a:endParaRPr lang="en-US" sz="900" dirty="0"/>
          </a:p>
        </p:txBody>
      </p:sp>
      <p:sp>
        <p:nvSpPr>
          <p:cNvPr id="167" name="Text 100"/>
          <p:cNvSpPr txBox="1"/>
          <p:nvPr/>
        </p:nvSpPr>
        <p:spPr>
          <a:xfrm>
            <a:off x="2685424" y="5771909"/>
            <a:ext cx="1195482" cy="284500"/>
          </a:xfrm>
          <a:prstGeom prst="rect">
            <a:avLst/>
          </a:prstGeom>
          <a:noFill/>
        </p:spPr>
        <p:txBody>
          <a:bodyPr wrap="none" lIns="0" tIns="0" rIns="0" bIns="0" rtlCol="0" anchor="ctr"/>
          <a:lstStyle/>
          <a:p>
            <a:pPr marL="0" indent="0" algn="l">
              <a:buNone/>
            </a:pPr>
            <a:r>
              <a:rPr lang="en-US" sz="1430" dirty="0">
                <a:solidFill>
                  <a:srgbClr val="0B1F60"/>
                </a:solidFill>
                <a:latin typeface="华文中宋" pitchFamily="34" charset="0"/>
                <a:ea typeface="华文中宋" pitchFamily="34" charset="-122"/>
                <a:cs typeface="华文中宋" pitchFamily="34" charset="-120"/>
              </a:rPr>
              <a:t>主智能体判读</a:t>
            </a:r>
            <a:endParaRPr lang="en-US" sz="1430" dirty="0"/>
          </a:p>
        </p:txBody>
      </p:sp>
      <p:sp>
        <p:nvSpPr>
          <p:cNvPr id="168" name="Text 101"/>
          <p:cNvSpPr txBox="1"/>
          <p:nvPr/>
        </p:nvSpPr>
        <p:spPr>
          <a:xfrm>
            <a:off x="4106556" y="6238332"/>
            <a:ext cx="502862" cy="197046"/>
          </a:xfrm>
          <a:prstGeom prst="rect">
            <a:avLst/>
          </a:prstGeom>
          <a:noFill/>
        </p:spPr>
        <p:txBody>
          <a:bodyPr wrap="none" lIns="0" tIns="0" rIns="0" bIns="0" rtlCol="0" anchor="ctr"/>
          <a:lstStyle/>
          <a:p>
            <a:pPr marL="0" indent="0" algn="ctr">
              <a:buNone/>
            </a:pPr>
            <a:r>
              <a:rPr lang="en-US" sz="900" b="1" dirty="0">
                <a:solidFill>
                  <a:srgbClr val="0B1F60"/>
                </a:solidFill>
                <a:latin typeface="Arial" panose="020B0604020202020204" pitchFamily="34" charset="0"/>
                <a:ea typeface="黑体" panose="02010609060101010101" pitchFamily="34" charset="-122"/>
                <a:cs typeface="黑体" panose="02010609060101010101" pitchFamily="34" charset="-120"/>
              </a:rPr>
              <a:t>证据汇总</a:t>
            </a:r>
            <a:endParaRPr lang="en-US" sz="900" dirty="0"/>
          </a:p>
        </p:txBody>
      </p:sp>
      <p:sp>
        <p:nvSpPr>
          <p:cNvPr id="169" name="Text 102"/>
          <p:cNvSpPr txBox="1"/>
          <p:nvPr/>
        </p:nvSpPr>
        <p:spPr>
          <a:xfrm>
            <a:off x="5556839" y="6209180"/>
            <a:ext cx="830816" cy="218909"/>
          </a:xfrm>
          <a:prstGeom prst="rect">
            <a:avLst/>
          </a:prstGeom>
          <a:noFill/>
        </p:spPr>
        <p:txBody>
          <a:bodyPr wrap="none" lIns="0" tIns="0" rIns="0" bIns="0" rtlCol="0" anchor="ctr"/>
          <a:lstStyle/>
          <a:p>
            <a:pPr marL="0" indent="0" algn="ctr">
              <a:buNone/>
            </a:pPr>
            <a:r>
              <a:rPr lang="en-US" sz="1070" dirty="0">
                <a:solidFill>
                  <a:srgbClr val="0B1F60"/>
                </a:solidFill>
                <a:latin typeface="华文中宋" pitchFamily="34" charset="0"/>
                <a:ea typeface="华文中宋" pitchFamily="34" charset="-122"/>
                <a:cs typeface="华文中宋" pitchFamily="34" charset="-120"/>
              </a:rPr>
              <a:t>医学主智能体</a:t>
            </a:r>
            <a:endParaRPr lang="en-US" sz="1070" dirty="0"/>
          </a:p>
        </p:txBody>
      </p:sp>
      <p:sp>
        <p:nvSpPr>
          <p:cNvPr id="170" name="Text 103"/>
          <p:cNvSpPr txBox="1"/>
          <p:nvPr/>
        </p:nvSpPr>
        <p:spPr>
          <a:xfrm>
            <a:off x="7087289" y="6223756"/>
            <a:ext cx="510150" cy="218909"/>
          </a:xfrm>
          <a:prstGeom prst="rect">
            <a:avLst/>
          </a:prstGeom>
          <a:noFill/>
        </p:spPr>
        <p:txBody>
          <a:bodyPr wrap="none" lIns="0" tIns="0" rIns="0" bIns="0" rtlCol="0" anchor="ctr"/>
          <a:lstStyle/>
          <a:p>
            <a:pPr marL="0" indent="0" algn="ctr">
              <a:buNone/>
            </a:pPr>
            <a:r>
              <a:rPr lang="en-US" sz="970" b="1" dirty="0">
                <a:solidFill>
                  <a:srgbClr val="0B1F60"/>
                </a:solidFill>
                <a:latin typeface="Arial" panose="020B0604020202020204" pitchFamily="34" charset="0"/>
                <a:ea typeface="黑体" panose="02010609060101010101" pitchFamily="34" charset="-122"/>
                <a:cs typeface="黑体" panose="02010609060101010101" pitchFamily="34" charset="-120"/>
              </a:rPr>
              <a:t>综合判读</a:t>
            </a:r>
            <a:endParaRPr lang="en-US" sz="970" dirty="0"/>
          </a:p>
        </p:txBody>
      </p:sp>
      <p:sp>
        <p:nvSpPr>
          <p:cNvPr id="171" name="Text 104"/>
          <p:cNvSpPr txBox="1"/>
          <p:nvPr/>
        </p:nvSpPr>
        <p:spPr>
          <a:xfrm>
            <a:off x="8442830" y="6238332"/>
            <a:ext cx="495574" cy="204333"/>
          </a:xfrm>
          <a:prstGeom prst="rect">
            <a:avLst/>
          </a:prstGeom>
          <a:noFill/>
        </p:spPr>
        <p:txBody>
          <a:bodyPr wrap="none" lIns="0" tIns="0" rIns="0" bIns="0" rtlCol="0" anchor="ctr"/>
          <a:lstStyle/>
          <a:p>
            <a:pPr marL="0" indent="0" algn="ctr">
              <a:buNone/>
            </a:pPr>
            <a:r>
              <a:rPr lang="en-US" sz="940" b="1" dirty="0">
                <a:solidFill>
                  <a:srgbClr val="0B1F60"/>
                </a:solidFill>
                <a:latin typeface="Arial" panose="020B0604020202020204" pitchFamily="34" charset="0"/>
                <a:ea typeface="黑体" panose="02010609060101010101" pitchFamily="34" charset="-122"/>
                <a:cs typeface="黑体" panose="02010609060101010101" pitchFamily="34" charset="-120"/>
              </a:rPr>
              <a:t>结论整合</a:t>
            </a:r>
            <a:endParaRPr lang="en-US" sz="940" dirty="0"/>
          </a:p>
        </p:txBody>
      </p:sp>
      <p:sp>
        <p:nvSpPr>
          <p:cNvPr id="173" name="Text 106"/>
          <p:cNvSpPr txBox="1"/>
          <p:nvPr/>
        </p:nvSpPr>
        <p:spPr>
          <a:xfrm>
            <a:off x="10359839" y="2127922"/>
            <a:ext cx="1034875" cy="277212"/>
          </a:xfrm>
          <a:prstGeom prst="rect">
            <a:avLst/>
          </a:prstGeom>
          <a:noFill/>
        </p:spPr>
        <p:txBody>
          <a:bodyPr wrap="none" lIns="0" tIns="0" rIns="0" bIns="0" rtlCol="0" anchor="ctr"/>
          <a:lstStyle/>
          <a:p>
            <a:pPr marL="0" indent="0" algn="ctr">
              <a:buNone/>
            </a:pPr>
            <a:r>
              <a:rPr lang="en-US" sz="1320" dirty="0">
                <a:solidFill>
                  <a:srgbClr val="0B1F60"/>
                </a:solidFill>
                <a:latin typeface="华文中宋" pitchFamily="34" charset="0"/>
                <a:ea typeface="华文中宋" pitchFamily="34" charset="-122"/>
                <a:cs typeface="华文中宋" pitchFamily="34" charset="-120"/>
              </a:rPr>
              <a:t>辅助诊疗报告</a:t>
            </a:r>
            <a:endParaRPr lang="en-US" sz="1320" dirty="0"/>
          </a:p>
        </p:txBody>
      </p:sp>
      <p:sp>
        <p:nvSpPr>
          <p:cNvPr id="174" name="Text 107"/>
          <p:cNvSpPr txBox="1"/>
          <p:nvPr/>
        </p:nvSpPr>
        <p:spPr>
          <a:xfrm>
            <a:off x="10265399" y="2514120"/>
            <a:ext cx="1435708" cy="189758"/>
          </a:xfrm>
          <a:prstGeom prst="rect">
            <a:avLst/>
          </a:prstGeom>
          <a:noFill/>
        </p:spPr>
        <p:txBody>
          <a:bodyPr wrap="none" lIns="0" tIns="0" rIns="0" bIns="0" rtlCol="0" anchor="ctr"/>
          <a:lstStyle/>
          <a:p>
            <a:pPr marL="0" indent="0" algn="ctr">
              <a:buNone/>
            </a:pPr>
            <a:r>
              <a:rPr lang="en-US" sz="820" dirty="0">
                <a:solidFill>
                  <a:srgbClr val="263F72"/>
                </a:solidFill>
                <a:latin typeface="微软雅黑" panose="020B0503020204020204" pitchFamily="34" charset="-122"/>
                <a:ea typeface="微软雅黑" panose="020B0503020204020204" pitchFamily="34" charset="-122"/>
                <a:cs typeface="微软雅黑" panose="020B0503020204020204" pitchFamily="34" charset="-120"/>
              </a:rPr>
              <a:t>患者：张某某年龄：72岁</a:t>
            </a:r>
            <a:endParaRPr lang="en-US" sz="820" dirty="0"/>
          </a:p>
        </p:txBody>
      </p:sp>
      <p:sp>
        <p:nvSpPr>
          <p:cNvPr id="175" name="Text 108"/>
          <p:cNvSpPr txBox="1"/>
          <p:nvPr/>
        </p:nvSpPr>
        <p:spPr>
          <a:xfrm>
            <a:off x="10316199" y="2710647"/>
            <a:ext cx="1180633" cy="197046"/>
          </a:xfrm>
          <a:prstGeom prst="rect">
            <a:avLst/>
          </a:prstGeom>
          <a:noFill/>
        </p:spPr>
        <p:txBody>
          <a:bodyPr wrap="none" lIns="0" tIns="0" rIns="0" bIns="0" rtlCol="0" anchor="ctr"/>
          <a:lstStyle/>
          <a:p>
            <a:pPr marL="0" indent="0" algn="ctr">
              <a:buNone/>
            </a:pPr>
            <a:r>
              <a:rPr lang="en-US" sz="760" dirty="0">
                <a:solidFill>
                  <a:srgbClr val="263F72"/>
                </a:solidFill>
                <a:latin typeface="微软雅黑" panose="020B0503020204020204" pitchFamily="34" charset="-122"/>
                <a:ea typeface="微软雅黑" panose="020B0503020204020204" pitchFamily="34" charset="-122"/>
                <a:cs typeface="微软雅黑" panose="020B0503020204020204" pitchFamily="34" charset="-120"/>
              </a:rPr>
              <a:t>检查日期：2024-05-20</a:t>
            </a:r>
            <a:endParaRPr lang="en-US" sz="760" dirty="0"/>
          </a:p>
        </p:txBody>
      </p:sp>
      <p:sp>
        <p:nvSpPr>
          <p:cNvPr id="176" name="Text 109"/>
          <p:cNvSpPr txBox="1"/>
          <p:nvPr/>
        </p:nvSpPr>
        <p:spPr>
          <a:xfrm>
            <a:off x="9959006" y="3060826"/>
            <a:ext cx="619741" cy="218909"/>
          </a:xfrm>
          <a:prstGeom prst="rect">
            <a:avLst/>
          </a:prstGeom>
          <a:noFill/>
        </p:spPr>
        <p:txBody>
          <a:bodyPr wrap="none" lIns="0" tIns="0" rIns="0" bIns="0" rtlCol="0" anchor="ctr"/>
          <a:lstStyle/>
          <a:p>
            <a:pPr marL="0" indent="0" algn="l">
              <a:buNone/>
            </a:pPr>
            <a:r>
              <a:rPr lang="en-US" sz="1030" b="1" dirty="0">
                <a:solidFill>
                  <a:srgbClr val="0B1F60"/>
                </a:solidFill>
                <a:latin typeface="Arial" panose="020B0604020202020204" pitchFamily="34" charset="0"/>
                <a:ea typeface="黑体" panose="02010609060101010101" pitchFamily="34" charset="-122"/>
                <a:cs typeface="黑体" panose="02010609060101010101" pitchFamily="34" charset="-120"/>
              </a:rPr>
              <a:t>影像结果</a:t>
            </a:r>
            <a:endParaRPr lang="en-US" sz="1030" dirty="0"/>
          </a:p>
        </p:txBody>
      </p:sp>
      <p:sp>
        <p:nvSpPr>
          <p:cNvPr id="177" name="Text 110"/>
          <p:cNvSpPr txBox="1"/>
          <p:nvPr/>
        </p:nvSpPr>
        <p:spPr>
          <a:xfrm>
            <a:off x="10439096" y="4131633"/>
            <a:ext cx="612180" cy="233485"/>
          </a:xfrm>
          <a:prstGeom prst="rect">
            <a:avLst/>
          </a:prstGeom>
          <a:noFill/>
        </p:spPr>
        <p:txBody>
          <a:bodyPr wrap="none" lIns="0" tIns="0" rIns="0" bIns="0" rtlCol="0" anchor="ctr"/>
          <a:lstStyle/>
          <a:p>
            <a:pPr marL="0" indent="0" algn="ctr">
              <a:buNone/>
            </a:pPr>
            <a:r>
              <a:rPr lang="en-US" sz="1140" b="1" dirty="0">
                <a:solidFill>
                  <a:srgbClr val="0B1F60"/>
                </a:solidFill>
                <a:latin typeface="Arial" panose="020B0604020202020204" pitchFamily="34" charset="0"/>
                <a:ea typeface="黑体" panose="02010609060101010101" pitchFamily="34" charset="-122"/>
                <a:cs typeface="黑体" panose="02010609060101010101" pitchFamily="34" charset="-120"/>
              </a:rPr>
              <a:t>辅助判读</a:t>
            </a:r>
            <a:endParaRPr lang="en-US" sz="1140" dirty="0"/>
          </a:p>
        </p:txBody>
      </p:sp>
      <p:sp>
        <p:nvSpPr>
          <p:cNvPr id="178" name="Text 111"/>
          <p:cNvSpPr txBox="1"/>
          <p:nvPr/>
        </p:nvSpPr>
        <p:spPr>
          <a:xfrm>
            <a:off x="10425126" y="4737072"/>
            <a:ext cx="612180" cy="233485"/>
          </a:xfrm>
          <a:prstGeom prst="rect">
            <a:avLst/>
          </a:prstGeom>
          <a:noFill/>
        </p:spPr>
        <p:txBody>
          <a:bodyPr wrap="none" lIns="0" tIns="0" rIns="0" bIns="0" rtlCol="0" anchor="ctr"/>
          <a:lstStyle/>
          <a:p>
            <a:pPr marL="0" indent="0" algn="ctr">
              <a:buNone/>
            </a:pPr>
            <a:r>
              <a:rPr lang="en-US" sz="1140" b="1" dirty="0">
                <a:solidFill>
                  <a:srgbClr val="B00501"/>
                </a:solidFill>
                <a:latin typeface="Arial" panose="020B0604020202020204" pitchFamily="34" charset="0"/>
                <a:ea typeface="黑体" panose="02010609060101010101" pitchFamily="34" charset="-122"/>
                <a:cs typeface="黑体" panose="02010609060101010101" pitchFamily="34" charset="-120"/>
              </a:rPr>
              <a:t>关键证据</a:t>
            </a:r>
            <a:endParaRPr lang="en-US" sz="1140" dirty="0"/>
          </a:p>
        </p:txBody>
      </p:sp>
      <p:sp>
        <p:nvSpPr>
          <p:cNvPr id="179" name="Text 112"/>
          <p:cNvSpPr txBox="1"/>
          <p:nvPr/>
        </p:nvSpPr>
        <p:spPr>
          <a:xfrm>
            <a:off x="10432111" y="5370725"/>
            <a:ext cx="619468" cy="226197"/>
          </a:xfrm>
          <a:prstGeom prst="rect">
            <a:avLst/>
          </a:prstGeom>
          <a:noFill/>
        </p:spPr>
        <p:txBody>
          <a:bodyPr wrap="none" lIns="0" tIns="0" rIns="0" bIns="0" rtlCol="0" anchor="ctr"/>
          <a:lstStyle/>
          <a:p>
            <a:pPr marL="0" indent="0" algn="ctr">
              <a:buNone/>
            </a:pPr>
            <a:r>
              <a:rPr lang="en-US" sz="1140" b="1" dirty="0">
                <a:solidFill>
                  <a:srgbClr val="00342D"/>
                </a:solidFill>
                <a:latin typeface="Arial" panose="020B0604020202020204" pitchFamily="34" charset="0"/>
                <a:ea typeface="黑体" panose="02010609060101010101" pitchFamily="34" charset="-122"/>
                <a:cs typeface="黑体" panose="02010609060101010101" pitchFamily="34" charset="-120"/>
              </a:rPr>
              <a:t>推理依据</a:t>
            </a:r>
            <a:endParaRPr lang="en-US" sz="1140" dirty="0"/>
          </a:p>
        </p:txBody>
      </p:sp>
      <p:sp>
        <p:nvSpPr>
          <p:cNvPr id="180" name="Text 113"/>
          <p:cNvSpPr txBox="1"/>
          <p:nvPr/>
        </p:nvSpPr>
        <p:spPr>
          <a:xfrm>
            <a:off x="10432414" y="6011997"/>
            <a:ext cx="604892" cy="226197"/>
          </a:xfrm>
          <a:prstGeom prst="rect">
            <a:avLst/>
          </a:prstGeom>
          <a:noFill/>
        </p:spPr>
        <p:txBody>
          <a:bodyPr wrap="none" lIns="0" tIns="0" rIns="0" bIns="0" rtlCol="0" anchor="ctr"/>
          <a:lstStyle/>
          <a:p>
            <a:pPr marL="0" indent="0" algn="ctr">
              <a:buNone/>
            </a:pPr>
            <a:r>
              <a:rPr lang="en-US" sz="1140" b="1" dirty="0">
                <a:solidFill>
                  <a:srgbClr val="B70304"/>
                </a:solidFill>
                <a:latin typeface="Arial" panose="020B0604020202020204" pitchFamily="34" charset="0"/>
                <a:ea typeface="黑体" panose="02010609060101010101" pitchFamily="34" charset="-122"/>
                <a:cs typeface="黑体" panose="02010609060101010101" pitchFamily="34" charset="-120"/>
              </a:rPr>
              <a:t>风险建议</a:t>
            </a:r>
            <a:endParaRPr lang="en-US" sz="1140" dirty="0"/>
          </a:p>
        </p:txBody>
      </p:sp>
      <p:pic>
        <p:nvPicPr>
          <p:cNvPr id="181" name="图片 180"/>
          <p:cNvPicPr>
            <a:picLocks noChangeAspect="1"/>
          </p:cNvPicPr>
          <p:nvPr>
            <p:custDataLst>
              <p:tags r:id="rId60"/>
            </p:custDataLst>
          </p:nvPr>
        </p:nvPicPr>
        <p:blipFill>
          <a:blip r:embed="rId61"/>
          <a:srcRect t="69576" b="21479"/>
          <a:stretch>
            <a:fillRect/>
          </a:stretch>
        </p:blipFill>
        <p:spPr>
          <a:xfrm>
            <a:off x="0" y="-22860"/>
            <a:ext cx="12192000" cy="681355"/>
          </a:xfrm>
          <a:prstGeom prst="rect">
            <a:avLst/>
          </a:prstGeom>
        </p:spPr>
      </p:pic>
      <p:sp>
        <p:nvSpPr>
          <p:cNvPr id="182" name="矩形 181"/>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83" name="图片 182" descr="华科大"/>
          <p:cNvPicPr>
            <a:picLocks noChangeAspect="1"/>
          </p:cNvPicPr>
          <p:nvPr>
            <p:custDataLst>
              <p:tags r:id="rId62"/>
            </p:custDataLst>
          </p:nvPr>
        </p:nvPicPr>
        <p:blipFill>
          <a:blip r:embed="rId63"/>
          <a:stretch>
            <a:fillRect/>
          </a:stretch>
        </p:blipFill>
        <p:spPr>
          <a:xfrm>
            <a:off x="635" y="-97790"/>
            <a:ext cx="2354580" cy="824230"/>
          </a:xfrm>
          <a:prstGeom prst="rect">
            <a:avLst/>
          </a:prstGeom>
        </p:spPr>
      </p:pic>
      <p:pic>
        <p:nvPicPr>
          <p:cNvPr id="184" name="图片 183"/>
          <p:cNvPicPr>
            <a:picLocks noChangeAspect="1"/>
          </p:cNvPicPr>
          <p:nvPr>
            <p:custDataLst>
              <p:tags r:id="rId64"/>
            </p:custDataLst>
          </p:nvPr>
        </p:nvPicPr>
        <p:blipFill>
          <a:blip r:embed="rId61"/>
          <a:srcRect t="69576" b="21479"/>
          <a:stretch>
            <a:fillRect/>
          </a:stretch>
        </p:blipFill>
        <p:spPr>
          <a:xfrm>
            <a:off x="0" y="-22860"/>
            <a:ext cx="12192000" cy="681355"/>
          </a:xfrm>
          <a:prstGeom prst="rect">
            <a:avLst/>
          </a:prstGeom>
        </p:spPr>
      </p:pic>
      <p:sp>
        <p:nvSpPr>
          <p:cNvPr id="185" name="矩形 184"/>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6" name="矩形 185"/>
          <p:cNvSpPr/>
          <p:nvPr>
            <p:custDataLst>
              <p:tags r:id="rId65"/>
            </p:custDataLst>
          </p:nvPr>
        </p:nvSpPr>
        <p:spPr>
          <a:xfrm>
            <a:off x="5434994" y="-20840"/>
            <a:ext cx="1859281" cy="676679"/>
          </a:xfrm>
          <a:prstGeom prst="rect">
            <a:avLst/>
          </a:prstGeom>
          <a:solidFill>
            <a:srgbClr val="02549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7" name="文本框 186"/>
          <p:cNvSpPr txBox="1"/>
          <p:nvPr/>
        </p:nvSpPr>
        <p:spPr>
          <a:xfrm>
            <a:off x="2125374" y="67915"/>
            <a:ext cx="16725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研究背景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88" name="文本框 187"/>
          <p:cNvSpPr txBox="1"/>
          <p:nvPr/>
        </p:nvSpPr>
        <p:spPr>
          <a:xfrm>
            <a:off x="3762124" y="80122"/>
            <a:ext cx="178165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研究现状</a:t>
            </a:r>
            <a:endParaRPr lang="zh-CN" altLang="en-US" sz="2400" b="1" dirty="0">
              <a:solidFill>
                <a:schemeClr val="bg1"/>
              </a:solidFill>
            </a:endParaRPr>
          </a:p>
        </p:txBody>
      </p:sp>
      <p:sp>
        <p:nvSpPr>
          <p:cNvPr id="189" name="文本框 188"/>
          <p:cNvSpPr txBox="1"/>
          <p:nvPr/>
        </p:nvSpPr>
        <p:spPr>
          <a:xfrm>
            <a:off x="5394826" y="86984"/>
            <a:ext cx="183705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系统架构</a:t>
            </a:r>
            <a:endParaRPr lang="zh-CN" altLang="en-US" sz="2400" b="1" dirty="0">
              <a:solidFill>
                <a:schemeClr val="bg1"/>
              </a:solidFill>
            </a:endParaRPr>
          </a:p>
        </p:txBody>
      </p:sp>
      <p:sp>
        <p:nvSpPr>
          <p:cNvPr id="190" name="文本框 189"/>
          <p:cNvSpPr txBox="1"/>
          <p:nvPr/>
        </p:nvSpPr>
        <p:spPr>
          <a:xfrm>
            <a:off x="7005125" y="86983"/>
            <a:ext cx="185928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图谱算法</a:t>
            </a:r>
            <a:endParaRPr lang="zh-CN" altLang="en-US" sz="2400" b="1" dirty="0">
              <a:solidFill>
                <a:schemeClr val="bg1"/>
              </a:solidFill>
            </a:endParaRPr>
          </a:p>
        </p:txBody>
      </p:sp>
      <p:sp>
        <p:nvSpPr>
          <p:cNvPr id="191" name="文本框 190"/>
          <p:cNvSpPr txBox="1"/>
          <p:nvPr/>
        </p:nvSpPr>
        <p:spPr>
          <a:xfrm>
            <a:off x="8667692" y="88396"/>
            <a:ext cx="1736725" cy="429895"/>
          </a:xfrm>
          <a:prstGeom prst="rect">
            <a:avLst/>
          </a:prstGeom>
          <a:noFill/>
        </p:spPr>
        <p:txBody>
          <a:bodyPr wrap="square" rtlCol="0">
            <a:spAutoFit/>
          </a:bodyPr>
          <a:lstStyle/>
          <a:p>
            <a:r>
              <a:rPr lang="en-US" altLang="zh-CN" sz="2200" b="1" dirty="0">
                <a:solidFill>
                  <a:schemeClr val="bg1"/>
                </a:solidFill>
                <a:sym typeface="+mn-ea"/>
              </a:rPr>
              <a:t>  </a:t>
            </a:r>
            <a:r>
              <a:rPr lang="zh-CN" altLang="en-US" sz="2200" b="1" dirty="0">
                <a:solidFill>
                  <a:schemeClr val="bg1"/>
                </a:solidFill>
                <a:latin typeface="微软雅黑" panose="020B0503020204020204" pitchFamily="34" charset="-122"/>
                <a:ea typeface="微软雅黑" panose="020B0503020204020204" pitchFamily="34" charset="-122"/>
                <a:sym typeface="+mn-ea"/>
              </a:rPr>
              <a:t>实验设计</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192" name="图片 191" descr="华科大"/>
          <p:cNvPicPr>
            <a:picLocks noChangeAspect="1"/>
          </p:cNvPicPr>
          <p:nvPr>
            <p:custDataLst>
              <p:tags r:id="rId66"/>
            </p:custDataLst>
          </p:nvPr>
        </p:nvPicPr>
        <p:blipFill>
          <a:blip r:embed="rId63"/>
          <a:stretch>
            <a:fillRect/>
          </a:stretch>
        </p:blipFill>
        <p:spPr>
          <a:xfrm>
            <a:off x="-156383" y="-97790"/>
            <a:ext cx="2354580" cy="824230"/>
          </a:xfrm>
          <a:prstGeom prst="rect">
            <a:avLst/>
          </a:prstGeom>
        </p:spPr>
      </p:pic>
      <p:sp>
        <p:nvSpPr>
          <p:cNvPr id="194" name="Text 72"/>
          <p:cNvSpPr txBox="1"/>
          <p:nvPr/>
        </p:nvSpPr>
        <p:spPr>
          <a:xfrm>
            <a:off x="587022" y="2106118"/>
            <a:ext cx="860240" cy="299076"/>
          </a:xfrm>
          <a:prstGeom prst="rect">
            <a:avLst/>
          </a:prstGeom>
          <a:noFill/>
        </p:spPr>
        <p:txBody>
          <a:bodyPr wrap="none" lIns="0" tIns="0" rIns="0" bIns="0" rtlCol="0" anchor="ctr"/>
          <a:lstStyle/>
          <a:p>
            <a:pPr marL="0" indent="0" algn="l">
              <a:buNone/>
            </a:pPr>
            <a:r>
              <a:rPr lang="zh-CN" altLang="en-US" sz="1510" dirty="0"/>
              <a:t>患者</a:t>
            </a:r>
            <a:r>
              <a:rPr lang="zh-CN" altLang="en-US" sz="1510" dirty="0"/>
              <a:t>数据</a:t>
            </a:r>
            <a:endParaRPr lang="zh-CN" altLang="en-US" sz="1510" dirty="0"/>
          </a:p>
        </p:txBody>
      </p:sp>
      <p:sp>
        <p:nvSpPr>
          <p:cNvPr id="198" name="Shape 8"/>
          <p:cNvSpPr/>
          <p:nvPr/>
        </p:nvSpPr>
        <p:spPr>
          <a:xfrm>
            <a:off x="113030" y="795020"/>
            <a:ext cx="11812905" cy="962025"/>
          </a:xfrm>
          <a:prstGeom prst="roundRect">
            <a:avLst>
              <a:gd name="adj" fmla="val 3670"/>
            </a:avLst>
          </a:prstGeom>
          <a:solidFill>
            <a:srgbClr val="F0F7F9"/>
          </a:solidFill>
          <a:ln w="12700">
            <a:solidFill>
              <a:srgbClr val="F0F7F9">
                <a:alpha val="0"/>
              </a:srgbClr>
            </a:solidFill>
            <a:prstDash val="solid"/>
          </a:ln>
        </p:spPr>
      </p:sp>
      <p:sp>
        <p:nvSpPr>
          <p:cNvPr id="200" name="文本框 199"/>
          <p:cNvSpPr txBox="1"/>
          <p:nvPr/>
        </p:nvSpPr>
        <p:spPr>
          <a:xfrm>
            <a:off x="273050" y="907415"/>
            <a:ext cx="11449050" cy="737235"/>
          </a:xfrm>
          <a:prstGeom prst="rect">
            <a:avLst/>
          </a:prstGeom>
          <a:noFill/>
        </p:spPr>
        <p:txBody>
          <a:bodyPr wrap="square" rtlCol="0">
            <a:spAutoFit/>
          </a:bodyPr>
          <a:p>
            <a:r>
              <a:rPr lang="zh-CN" altLang="en-US" sz="1400"/>
              <a:t>多智能体协作与知识图谱为医学辅助诊断提供了新的技术路径，但面向具体患者，仍需</a:t>
            </a:r>
            <a:r>
              <a:rPr lang="zh-CN" altLang="en-US" sz="1400" b="1"/>
              <a:t>进一步判断检索知识的适用条件，并建立患者信息、医学证据与诊断结论之间的可追溯联系，以提高辅助诊断的准确性</a:t>
            </a:r>
            <a:r>
              <a:rPr lang="zh-CN" altLang="en-US" sz="1400"/>
              <a:t>。围绕上述问题，本研究设计基于知识图谱与多智能体的神经退行性疾病辅助诊断系统，通过保留知识条件与来源、开展面向患者的协同检索与综合判读，形成具有明确证据依据的辅助诊断报告。</a:t>
            </a:r>
            <a:endParaRPr lang="zh-CN" altLang="en-US" sz="1400"/>
          </a:p>
        </p:txBody>
      </p:sp>
      <p:sp>
        <p:nvSpPr>
          <p:cNvPr id="202" name="文本框 201"/>
          <p:cNvSpPr txBox="1"/>
          <p:nvPr/>
        </p:nvSpPr>
        <p:spPr>
          <a:xfrm>
            <a:off x="10176646" y="88234"/>
            <a:ext cx="2015375" cy="460375"/>
          </a:xfrm>
          <a:prstGeom prst="rect">
            <a:avLst/>
          </a:prstGeom>
          <a:noFill/>
        </p:spPr>
        <p:txBody>
          <a:bodyPr wrap="squar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研究</a:t>
            </a:r>
            <a:r>
              <a:rPr lang="zh-CN" altLang="en-US" sz="2400" b="1" dirty="0">
                <a:solidFill>
                  <a:schemeClr val="bg1"/>
                </a:solidFill>
                <a:latin typeface="微软雅黑" panose="020B0503020204020204" pitchFamily="34" charset="-122"/>
                <a:ea typeface="微软雅黑" panose="020B0503020204020204" pitchFamily="34" charset="-122"/>
              </a:rPr>
              <a:t>计划</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background"/>
          <p:cNvPicPr>
            <a:picLocks noChangeAspect="1"/>
          </p:cNvPicPr>
          <p:nvPr/>
        </p:nvPicPr>
        <p:blipFill>
          <a:blip r:embed="rId1"/>
          <a:stretch>
            <a:fillRect/>
          </a:stretch>
        </p:blipFill>
        <p:spPr>
          <a:xfrm>
            <a:off x="3493" y="64"/>
            <a:ext cx="12185294" cy="6857872"/>
          </a:xfrm>
          <a:prstGeom prst="rect">
            <a:avLst/>
          </a:prstGeom>
        </p:spPr>
      </p:pic>
      <p:pic>
        <p:nvPicPr>
          <p:cNvPr id="3" name="Image 1" descr="image"/>
          <p:cNvPicPr>
            <a:picLocks noChangeAspect="1"/>
          </p:cNvPicPr>
          <p:nvPr/>
        </p:nvPicPr>
        <p:blipFill>
          <a:blip r:embed="rId2"/>
          <a:stretch>
            <a:fillRect/>
          </a:stretch>
        </p:blipFill>
        <p:spPr>
          <a:xfrm>
            <a:off x="2663560" y="2259299"/>
            <a:ext cx="116606" cy="437271"/>
          </a:xfrm>
          <a:prstGeom prst="rect">
            <a:avLst/>
          </a:prstGeom>
        </p:spPr>
      </p:pic>
      <p:pic>
        <p:nvPicPr>
          <p:cNvPr id="4" name="Image 2" descr="salvage"/>
          <p:cNvPicPr>
            <a:picLocks noChangeAspect="1"/>
          </p:cNvPicPr>
          <p:nvPr/>
        </p:nvPicPr>
        <p:blipFill>
          <a:blip r:embed="rId3"/>
          <a:stretch>
            <a:fillRect/>
          </a:stretch>
        </p:blipFill>
        <p:spPr>
          <a:xfrm>
            <a:off x="6351215" y="4678867"/>
            <a:ext cx="233211" cy="204060"/>
          </a:xfrm>
          <a:prstGeom prst="rect">
            <a:avLst/>
          </a:prstGeom>
        </p:spPr>
      </p:pic>
      <p:pic>
        <p:nvPicPr>
          <p:cNvPr id="5" name="Image 3" descr="image"/>
          <p:cNvPicPr>
            <a:picLocks noChangeAspect="1"/>
          </p:cNvPicPr>
          <p:nvPr/>
        </p:nvPicPr>
        <p:blipFill>
          <a:blip r:embed="rId4"/>
          <a:stretch>
            <a:fillRect/>
          </a:stretch>
        </p:blipFill>
        <p:spPr>
          <a:xfrm>
            <a:off x="2707287" y="3272311"/>
            <a:ext cx="87454" cy="145757"/>
          </a:xfrm>
          <a:prstGeom prst="rect">
            <a:avLst/>
          </a:prstGeom>
        </p:spPr>
      </p:pic>
      <p:pic>
        <p:nvPicPr>
          <p:cNvPr id="6" name="Image 4" descr="salvage"/>
          <p:cNvPicPr>
            <a:picLocks noChangeAspect="1"/>
          </p:cNvPicPr>
          <p:nvPr/>
        </p:nvPicPr>
        <p:blipFill>
          <a:blip r:embed="rId5"/>
          <a:stretch>
            <a:fillRect/>
          </a:stretch>
        </p:blipFill>
        <p:spPr>
          <a:xfrm>
            <a:off x="9135176" y="5356638"/>
            <a:ext cx="102030" cy="138469"/>
          </a:xfrm>
          <a:prstGeom prst="rect">
            <a:avLst/>
          </a:prstGeom>
        </p:spPr>
      </p:pic>
      <p:pic>
        <p:nvPicPr>
          <p:cNvPr id="7" name="Image 5" descr="image"/>
          <p:cNvPicPr>
            <a:picLocks noChangeAspect="1"/>
          </p:cNvPicPr>
          <p:nvPr/>
        </p:nvPicPr>
        <p:blipFill>
          <a:blip r:embed="rId6"/>
          <a:stretch>
            <a:fillRect/>
          </a:stretch>
        </p:blipFill>
        <p:spPr>
          <a:xfrm>
            <a:off x="2707287" y="3585689"/>
            <a:ext cx="65591" cy="153045"/>
          </a:xfrm>
          <a:prstGeom prst="rect">
            <a:avLst/>
          </a:prstGeom>
        </p:spPr>
      </p:pic>
      <p:pic>
        <p:nvPicPr>
          <p:cNvPr id="8" name="Image 6" descr="image"/>
          <p:cNvPicPr>
            <a:picLocks noChangeAspect="1"/>
          </p:cNvPicPr>
          <p:nvPr/>
        </p:nvPicPr>
        <p:blipFill>
          <a:blip r:embed="rId7"/>
          <a:stretch>
            <a:fillRect/>
          </a:stretch>
        </p:blipFill>
        <p:spPr>
          <a:xfrm>
            <a:off x="3538103" y="2623692"/>
            <a:ext cx="109318" cy="174909"/>
          </a:xfrm>
          <a:prstGeom prst="rect">
            <a:avLst/>
          </a:prstGeom>
        </p:spPr>
      </p:pic>
      <p:pic>
        <p:nvPicPr>
          <p:cNvPr id="9" name="Image 7" descr="image"/>
          <p:cNvPicPr>
            <a:picLocks noChangeAspect="1"/>
          </p:cNvPicPr>
          <p:nvPr/>
        </p:nvPicPr>
        <p:blipFill>
          <a:blip r:embed="rId8"/>
          <a:stretch>
            <a:fillRect/>
          </a:stretch>
        </p:blipFill>
        <p:spPr>
          <a:xfrm>
            <a:off x="3567254" y="2827752"/>
            <a:ext cx="51015" cy="568453"/>
          </a:xfrm>
          <a:prstGeom prst="rect">
            <a:avLst/>
          </a:prstGeom>
        </p:spPr>
      </p:pic>
      <p:pic>
        <p:nvPicPr>
          <p:cNvPr id="10" name="Image 8" descr="image"/>
          <p:cNvPicPr>
            <a:picLocks noChangeAspect="1"/>
          </p:cNvPicPr>
          <p:nvPr/>
        </p:nvPicPr>
        <p:blipFill>
          <a:blip r:embed="rId9"/>
          <a:stretch>
            <a:fillRect/>
          </a:stretch>
        </p:blipFill>
        <p:spPr>
          <a:xfrm>
            <a:off x="4427221" y="3235872"/>
            <a:ext cx="94742" cy="174909"/>
          </a:xfrm>
          <a:prstGeom prst="rect">
            <a:avLst/>
          </a:prstGeom>
        </p:spPr>
      </p:pic>
      <p:pic>
        <p:nvPicPr>
          <p:cNvPr id="11" name="Image 9" descr="image"/>
          <p:cNvPicPr>
            <a:picLocks noChangeAspect="1"/>
          </p:cNvPicPr>
          <p:nvPr/>
        </p:nvPicPr>
        <p:blipFill>
          <a:blip r:embed="rId10"/>
          <a:stretch>
            <a:fillRect/>
          </a:stretch>
        </p:blipFill>
        <p:spPr>
          <a:xfrm>
            <a:off x="4390782" y="4015672"/>
            <a:ext cx="102030" cy="145757"/>
          </a:xfrm>
          <a:prstGeom prst="rect">
            <a:avLst/>
          </a:prstGeom>
        </p:spPr>
      </p:pic>
      <p:pic>
        <p:nvPicPr>
          <p:cNvPr id="12" name="Image 10" descr="image"/>
          <p:cNvPicPr>
            <a:picLocks noChangeAspect="1"/>
          </p:cNvPicPr>
          <p:nvPr/>
        </p:nvPicPr>
        <p:blipFill>
          <a:blip r:embed="rId11"/>
          <a:stretch>
            <a:fillRect/>
          </a:stretch>
        </p:blipFill>
        <p:spPr>
          <a:xfrm>
            <a:off x="9798371" y="2354041"/>
            <a:ext cx="109318" cy="225924"/>
          </a:xfrm>
          <a:prstGeom prst="rect">
            <a:avLst/>
          </a:prstGeom>
        </p:spPr>
      </p:pic>
      <p:pic>
        <p:nvPicPr>
          <p:cNvPr id="13" name="Image 11" descr="image"/>
          <p:cNvPicPr>
            <a:picLocks noChangeAspect="1"/>
          </p:cNvPicPr>
          <p:nvPr/>
        </p:nvPicPr>
        <p:blipFill>
          <a:blip r:embed="rId12"/>
          <a:stretch>
            <a:fillRect/>
          </a:stretch>
        </p:blipFill>
        <p:spPr>
          <a:xfrm>
            <a:off x="9805659" y="3046388"/>
            <a:ext cx="109318" cy="131181"/>
          </a:xfrm>
          <a:prstGeom prst="rect">
            <a:avLst/>
          </a:prstGeom>
        </p:spPr>
      </p:pic>
      <p:pic>
        <p:nvPicPr>
          <p:cNvPr id="14" name="Image 12" descr="image"/>
          <p:cNvPicPr>
            <a:picLocks noChangeAspect="1"/>
          </p:cNvPicPr>
          <p:nvPr/>
        </p:nvPicPr>
        <p:blipFill>
          <a:blip r:embed="rId13"/>
          <a:stretch>
            <a:fillRect/>
          </a:stretch>
        </p:blipFill>
        <p:spPr>
          <a:xfrm>
            <a:off x="9630750" y="3454507"/>
            <a:ext cx="357105" cy="306090"/>
          </a:xfrm>
          <a:prstGeom prst="rect">
            <a:avLst/>
          </a:prstGeom>
        </p:spPr>
      </p:pic>
      <p:pic>
        <p:nvPicPr>
          <p:cNvPr id="15" name="Image 13" descr="image"/>
          <p:cNvPicPr>
            <a:picLocks noChangeAspect="1"/>
          </p:cNvPicPr>
          <p:nvPr/>
        </p:nvPicPr>
        <p:blipFill>
          <a:blip r:embed="rId14"/>
          <a:stretch>
            <a:fillRect/>
          </a:stretch>
        </p:blipFill>
        <p:spPr>
          <a:xfrm>
            <a:off x="11212215" y="1887619"/>
            <a:ext cx="357105" cy="123894"/>
          </a:xfrm>
          <a:prstGeom prst="rect">
            <a:avLst/>
          </a:prstGeom>
        </p:spPr>
      </p:pic>
      <p:pic>
        <p:nvPicPr>
          <p:cNvPr id="16" name="Image 14" descr="image"/>
          <p:cNvPicPr>
            <a:picLocks noChangeAspect="1"/>
          </p:cNvPicPr>
          <p:nvPr/>
        </p:nvPicPr>
        <p:blipFill>
          <a:blip r:embed="rId15"/>
          <a:stretch>
            <a:fillRect/>
          </a:stretch>
        </p:blipFill>
        <p:spPr>
          <a:xfrm>
            <a:off x="11073746" y="2317602"/>
            <a:ext cx="371681" cy="532013"/>
          </a:xfrm>
          <a:prstGeom prst="rect">
            <a:avLst/>
          </a:prstGeom>
        </p:spPr>
      </p:pic>
      <p:pic>
        <p:nvPicPr>
          <p:cNvPr id="17" name="Image 15" descr="image"/>
          <p:cNvPicPr>
            <a:picLocks noChangeAspect="1"/>
          </p:cNvPicPr>
          <p:nvPr/>
        </p:nvPicPr>
        <p:blipFill>
          <a:blip r:embed="rId16"/>
          <a:stretch>
            <a:fillRect/>
          </a:stretch>
        </p:blipFill>
        <p:spPr>
          <a:xfrm>
            <a:off x="5760899" y="4562262"/>
            <a:ext cx="123894" cy="291514"/>
          </a:xfrm>
          <a:prstGeom prst="rect">
            <a:avLst/>
          </a:prstGeom>
        </p:spPr>
      </p:pic>
      <p:pic>
        <p:nvPicPr>
          <p:cNvPr id="18" name="Image 16" descr="image"/>
          <p:cNvPicPr>
            <a:picLocks noChangeAspect="1"/>
          </p:cNvPicPr>
          <p:nvPr/>
        </p:nvPicPr>
        <p:blipFill>
          <a:blip r:embed="rId17"/>
          <a:stretch>
            <a:fillRect/>
          </a:stretch>
        </p:blipFill>
        <p:spPr>
          <a:xfrm>
            <a:off x="6103428" y="5167154"/>
            <a:ext cx="838103" cy="539301"/>
          </a:xfrm>
          <a:prstGeom prst="rect">
            <a:avLst/>
          </a:prstGeom>
        </p:spPr>
      </p:pic>
      <p:sp>
        <p:nvSpPr>
          <p:cNvPr id="19" name="Shape 0"/>
          <p:cNvSpPr/>
          <p:nvPr/>
        </p:nvSpPr>
        <p:spPr>
          <a:xfrm>
            <a:off x="10286657" y="5721031"/>
            <a:ext cx="138469" cy="145757"/>
          </a:xfrm>
          <a:prstGeom prst="rect">
            <a:avLst/>
          </a:prstGeom>
          <a:solidFill>
            <a:srgbClr val="28BCEB"/>
          </a:solidFill>
          <a:ln w="12700">
            <a:solidFill>
              <a:srgbClr val="28BCEB">
                <a:alpha val="0"/>
              </a:srgbClr>
            </a:solidFill>
            <a:prstDash val="solid"/>
          </a:ln>
        </p:spPr>
      </p:sp>
      <p:pic>
        <p:nvPicPr>
          <p:cNvPr id="20" name="Image 17" descr="image"/>
          <p:cNvPicPr>
            <a:picLocks noChangeAspect="1"/>
          </p:cNvPicPr>
          <p:nvPr/>
        </p:nvPicPr>
        <p:blipFill>
          <a:blip r:embed="rId18"/>
          <a:stretch>
            <a:fillRect/>
          </a:stretch>
        </p:blipFill>
        <p:spPr>
          <a:xfrm>
            <a:off x="10410551" y="5699167"/>
            <a:ext cx="269651" cy="196772"/>
          </a:xfrm>
          <a:prstGeom prst="rect">
            <a:avLst/>
          </a:prstGeom>
        </p:spPr>
      </p:pic>
      <p:sp>
        <p:nvSpPr>
          <p:cNvPr id="21" name="Shape 1"/>
          <p:cNvSpPr/>
          <p:nvPr/>
        </p:nvSpPr>
        <p:spPr>
          <a:xfrm>
            <a:off x="10600035" y="5721031"/>
            <a:ext cx="153045" cy="145757"/>
          </a:xfrm>
          <a:prstGeom prst="roundRect">
            <a:avLst>
              <a:gd name="adj" fmla="val 30000"/>
            </a:avLst>
          </a:prstGeom>
          <a:solidFill>
            <a:srgbClr val="8EDDC8"/>
          </a:solidFill>
          <a:ln w="12700">
            <a:solidFill>
              <a:srgbClr val="8EDDC8">
                <a:alpha val="0"/>
              </a:srgbClr>
            </a:solidFill>
            <a:prstDash val="solid"/>
          </a:ln>
        </p:spPr>
      </p:sp>
      <p:sp>
        <p:nvSpPr>
          <p:cNvPr id="22" name="Shape 2"/>
          <p:cNvSpPr/>
          <p:nvPr/>
        </p:nvSpPr>
        <p:spPr>
          <a:xfrm>
            <a:off x="10774943" y="5721031"/>
            <a:ext cx="145757" cy="145757"/>
          </a:xfrm>
          <a:prstGeom prst="rect">
            <a:avLst/>
          </a:prstGeom>
          <a:solidFill>
            <a:srgbClr val="8EDDC8"/>
          </a:solidFill>
          <a:ln w="12700">
            <a:solidFill>
              <a:srgbClr val="8EDDC8">
                <a:alpha val="0"/>
              </a:srgbClr>
            </a:solidFill>
            <a:prstDash val="solid"/>
          </a:ln>
        </p:spPr>
      </p:sp>
      <p:pic>
        <p:nvPicPr>
          <p:cNvPr id="23" name="Image 18" descr="image"/>
          <p:cNvPicPr>
            <a:picLocks noChangeAspect="1"/>
          </p:cNvPicPr>
          <p:nvPr/>
        </p:nvPicPr>
        <p:blipFill>
          <a:blip r:embed="rId19"/>
          <a:stretch>
            <a:fillRect/>
          </a:stretch>
        </p:blipFill>
        <p:spPr>
          <a:xfrm>
            <a:off x="10264794" y="5976105"/>
            <a:ext cx="189484" cy="196772"/>
          </a:xfrm>
          <a:prstGeom prst="rect">
            <a:avLst/>
          </a:prstGeom>
        </p:spPr>
      </p:pic>
      <p:pic>
        <p:nvPicPr>
          <p:cNvPr id="24" name="Image 19" descr="image"/>
          <p:cNvPicPr>
            <a:picLocks noChangeAspect="1"/>
          </p:cNvPicPr>
          <p:nvPr/>
        </p:nvPicPr>
        <p:blipFill>
          <a:blip r:embed="rId20"/>
          <a:stretch>
            <a:fillRect/>
          </a:stretch>
        </p:blipFill>
        <p:spPr>
          <a:xfrm>
            <a:off x="10410551" y="5976105"/>
            <a:ext cx="298802" cy="196772"/>
          </a:xfrm>
          <a:prstGeom prst="rect">
            <a:avLst/>
          </a:prstGeom>
        </p:spPr>
      </p:pic>
      <p:sp>
        <p:nvSpPr>
          <p:cNvPr id="25" name="Shape 3"/>
          <p:cNvSpPr/>
          <p:nvPr/>
        </p:nvSpPr>
        <p:spPr>
          <a:xfrm>
            <a:off x="243992" y="1151545"/>
            <a:ext cx="1581465" cy="0"/>
          </a:xfrm>
          <a:prstGeom prst="line">
            <a:avLst/>
          </a:prstGeom>
          <a:noFill/>
          <a:ln w="18542">
            <a:solidFill>
              <a:srgbClr val="AFC9E4"/>
            </a:solidFill>
            <a:prstDash val="solid"/>
          </a:ln>
        </p:spPr>
      </p:sp>
      <p:sp>
        <p:nvSpPr>
          <p:cNvPr id="26" name="Shape 4"/>
          <p:cNvSpPr/>
          <p:nvPr/>
        </p:nvSpPr>
        <p:spPr>
          <a:xfrm>
            <a:off x="10600035" y="5990681"/>
            <a:ext cx="153045" cy="153045"/>
          </a:xfrm>
          <a:prstGeom prst="rect">
            <a:avLst/>
          </a:prstGeom>
          <a:solidFill>
            <a:srgbClr val="FEB86F"/>
          </a:solidFill>
          <a:ln w="12700">
            <a:solidFill>
              <a:srgbClr val="FEB86F">
                <a:alpha val="0"/>
              </a:srgbClr>
            </a:solidFill>
            <a:prstDash val="solid"/>
          </a:ln>
        </p:spPr>
      </p:sp>
      <p:sp>
        <p:nvSpPr>
          <p:cNvPr id="27" name="Shape 5"/>
          <p:cNvSpPr/>
          <p:nvPr/>
        </p:nvSpPr>
        <p:spPr>
          <a:xfrm>
            <a:off x="243992" y="3039100"/>
            <a:ext cx="1581465" cy="0"/>
          </a:xfrm>
          <a:prstGeom prst="line">
            <a:avLst/>
          </a:prstGeom>
          <a:noFill/>
          <a:ln w="9525">
            <a:solidFill>
              <a:srgbClr val="F3C59F"/>
            </a:solidFill>
            <a:prstDash val="solid"/>
          </a:ln>
        </p:spPr>
      </p:sp>
      <p:sp>
        <p:nvSpPr>
          <p:cNvPr id="28" name="Shape 6"/>
          <p:cNvSpPr/>
          <p:nvPr/>
        </p:nvSpPr>
        <p:spPr>
          <a:xfrm>
            <a:off x="10774943" y="5997969"/>
            <a:ext cx="153045" cy="145757"/>
          </a:xfrm>
          <a:prstGeom prst="rect">
            <a:avLst/>
          </a:prstGeom>
          <a:solidFill>
            <a:srgbClr val="FED5AC"/>
          </a:solidFill>
          <a:ln w="12700">
            <a:solidFill>
              <a:srgbClr val="FED5AC">
                <a:alpha val="0"/>
              </a:srgbClr>
            </a:solidFill>
            <a:prstDash val="solid"/>
          </a:ln>
        </p:spPr>
      </p:sp>
      <p:sp>
        <p:nvSpPr>
          <p:cNvPr id="29" name="Shape 7"/>
          <p:cNvSpPr/>
          <p:nvPr/>
        </p:nvSpPr>
        <p:spPr>
          <a:xfrm>
            <a:off x="243992" y="4948518"/>
            <a:ext cx="1581465" cy="0"/>
          </a:xfrm>
          <a:prstGeom prst="line">
            <a:avLst/>
          </a:prstGeom>
          <a:noFill/>
          <a:ln w="9525">
            <a:solidFill>
              <a:srgbClr val="AFC9E4"/>
            </a:solidFill>
            <a:prstDash val="solid"/>
          </a:ln>
        </p:spPr>
      </p:sp>
      <p:pic>
        <p:nvPicPr>
          <p:cNvPr id="30" name="Image 20" descr="image"/>
          <p:cNvPicPr>
            <a:picLocks noChangeAspect="1"/>
          </p:cNvPicPr>
          <p:nvPr/>
        </p:nvPicPr>
        <p:blipFill>
          <a:blip r:embed="rId21"/>
          <a:stretch>
            <a:fillRect/>
          </a:stretch>
        </p:blipFill>
        <p:spPr>
          <a:xfrm>
            <a:off x="3275740" y="1078667"/>
            <a:ext cx="634043" cy="604892"/>
          </a:xfrm>
          <a:prstGeom prst="rect">
            <a:avLst/>
          </a:prstGeom>
        </p:spPr>
      </p:pic>
      <p:pic>
        <p:nvPicPr>
          <p:cNvPr id="31" name="Image 21" descr="image"/>
          <p:cNvPicPr>
            <a:picLocks noChangeAspect="1"/>
          </p:cNvPicPr>
          <p:nvPr/>
        </p:nvPicPr>
        <p:blipFill>
          <a:blip r:embed="rId22"/>
          <a:stretch>
            <a:fillRect/>
          </a:stretch>
        </p:blipFill>
        <p:spPr>
          <a:xfrm>
            <a:off x="2386622" y="1676271"/>
            <a:ext cx="648619" cy="626756"/>
          </a:xfrm>
          <a:prstGeom prst="rect">
            <a:avLst/>
          </a:prstGeom>
        </p:spPr>
      </p:pic>
      <p:pic>
        <p:nvPicPr>
          <p:cNvPr id="32" name="Image 22" descr="image"/>
          <p:cNvPicPr>
            <a:picLocks noChangeAspect="1"/>
          </p:cNvPicPr>
          <p:nvPr/>
        </p:nvPicPr>
        <p:blipFill>
          <a:blip r:embed="rId23"/>
          <a:stretch>
            <a:fillRect/>
          </a:stretch>
        </p:blipFill>
        <p:spPr>
          <a:xfrm>
            <a:off x="4142995" y="1676271"/>
            <a:ext cx="641331" cy="619468"/>
          </a:xfrm>
          <a:prstGeom prst="rect">
            <a:avLst/>
          </a:prstGeom>
        </p:spPr>
      </p:pic>
      <p:pic>
        <p:nvPicPr>
          <p:cNvPr id="33" name="Image 23" descr="image"/>
          <p:cNvPicPr>
            <a:picLocks noChangeAspect="1"/>
          </p:cNvPicPr>
          <p:nvPr/>
        </p:nvPicPr>
        <p:blipFill>
          <a:blip r:embed="rId24"/>
          <a:stretch>
            <a:fillRect/>
          </a:stretch>
        </p:blipFill>
        <p:spPr>
          <a:xfrm>
            <a:off x="3283028" y="2026088"/>
            <a:ext cx="655907" cy="634043"/>
          </a:xfrm>
          <a:prstGeom prst="rect">
            <a:avLst/>
          </a:prstGeom>
        </p:spPr>
      </p:pic>
      <p:pic>
        <p:nvPicPr>
          <p:cNvPr id="34" name="Image 24" descr="image"/>
          <p:cNvPicPr>
            <a:picLocks noChangeAspect="1"/>
          </p:cNvPicPr>
          <p:nvPr/>
        </p:nvPicPr>
        <p:blipFill>
          <a:blip r:embed="rId25"/>
          <a:stretch>
            <a:fillRect/>
          </a:stretch>
        </p:blipFill>
        <p:spPr>
          <a:xfrm>
            <a:off x="2437637" y="2652843"/>
            <a:ext cx="648619" cy="663195"/>
          </a:xfrm>
          <a:prstGeom prst="rect">
            <a:avLst/>
          </a:prstGeom>
        </p:spPr>
      </p:pic>
      <p:pic>
        <p:nvPicPr>
          <p:cNvPr id="35" name="Image 25" descr="image"/>
          <p:cNvPicPr>
            <a:picLocks noChangeAspect="1"/>
          </p:cNvPicPr>
          <p:nvPr/>
        </p:nvPicPr>
        <p:blipFill>
          <a:blip r:embed="rId26"/>
          <a:stretch>
            <a:fillRect/>
          </a:stretch>
        </p:blipFill>
        <p:spPr>
          <a:xfrm>
            <a:off x="4237737" y="2667419"/>
            <a:ext cx="641331" cy="619468"/>
          </a:xfrm>
          <a:prstGeom prst="rect">
            <a:avLst/>
          </a:prstGeom>
        </p:spPr>
      </p:pic>
      <p:pic>
        <p:nvPicPr>
          <p:cNvPr id="36" name="Image 26" descr="image"/>
          <p:cNvPicPr>
            <a:picLocks noChangeAspect="1"/>
          </p:cNvPicPr>
          <p:nvPr/>
        </p:nvPicPr>
        <p:blipFill>
          <a:blip r:embed="rId27"/>
          <a:stretch>
            <a:fillRect/>
          </a:stretch>
        </p:blipFill>
        <p:spPr>
          <a:xfrm>
            <a:off x="2503227" y="4139566"/>
            <a:ext cx="663195" cy="663195"/>
          </a:xfrm>
          <a:prstGeom prst="rect">
            <a:avLst/>
          </a:prstGeom>
        </p:spPr>
      </p:pic>
      <p:pic>
        <p:nvPicPr>
          <p:cNvPr id="37" name="Image 27" descr="image"/>
          <p:cNvPicPr>
            <a:picLocks noChangeAspect="1"/>
          </p:cNvPicPr>
          <p:nvPr/>
        </p:nvPicPr>
        <p:blipFill>
          <a:blip r:embed="rId28"/>
          <a:stretch>
            <a:fillRect/>
          </a:stretch>
        </p:blipFill>
        <p:spPr>
          <a:xfrm>
            <a:off x="4062829" y="4132278"/>
            <a:ext cx="677771" cy="663195"/>
          </a:xfrm>
          <a:prstGeom prst="rect">
            <a:avLst/>
          </a:prstGeom>
        </p:spPr>
      </p:pic>
      <p:pic>
        <p:nvPicPr>
          <p:cNvPr id="38" name="Image 28" descr="image"/>
          <p:cNvPicPr>
            <a:picLocks noChangeAspect="1"/>
          </p:cNvPicPr>
          <p:nvPr/>
        </p:nvPicPr>
        <p:blipFill>
          <a:blip r:embed="rId29"/>
          <a:stretch>
            <a:fillRect/>
          </a:stretch>
        </p:blipFill>
        <p:spPr>
          <a:xfrm>
            <a:off x="2933211" y="4948518"/>
            <a:ext cx="612180" cy="597604"/>
          </a:xfrm>
          <a:prstGeom prst="rect">
            <a:avLst/>
          </a:prstGeom>
        </p:spPr>
      </p:pic>
      <p:pic>
        <p:nvPicPr>
          <p:cNvPr id="39" name="Image 29" descr="image"/>
          <p:cNvPicPr>
            <a:picLocks noChangeAspect="1"/>
          </p:cNvPicPr>
          <p:nvPr/>
        </p:nvPicPr>
        <p:blipFill>
          <a:blip r:embed="rId30"/>
          <a:stretch>
            <a:fillRect/>
          </a:stretch>
        </p:blipFill>
        <p:spPr>
          <a:xfrm>
            <a:off x="3793178" y="4941230"/>
            <a:ext cx="612180" cy="604892"/>
          </a:xfrm>
          <a:prstGeom prst="rect">
            <a:avLst/>
          </a:prstGeom>
        </p:spPr>
      </p:pic>
      <p:pic>
        <p:nvPicPr>
          <p:cNvPr id="40" name="Image 30" descr="image"/>
          <p:cNvPicPr>
            <a:picLocks noChangeAspect="1"/>
          </p:cNvPicPr>
          <p:nvPr/>
        </p:nvPicPr>
        <p:blipFill>
          <a:blip r:embed="rId31"/>
          <a:stretch>
            <a:fillRect/>
          </a:stretch>
        </p:blipFill>
        <p:spPr>
          <a:xfrm>
            <a:off x="2393910" y="5633576"/>
            <a:ext cx="655907" cy="655907"/>
          </a:xfrm>
          <a:prstGeom prst="rect">
            <a:avLst/>
          </a:prstGeom>
        </p:spPr>
      </p:pic>
      <p:pic>
        <p:nvPicPr>
          <p:cNvPr id="41" name="Image 31" descr="image"/>
          <p:cNvPicPr>
            <a:picLocks noChangeAspect="1"/>
          </p:cNvPicPr>
          <p:nvPr/>
        </p:nvPicPr>
        <p:blipFill>
          <a:blip r:embed="rId32"/>
          <a:stretch>
            <a:fillRect/>
          </a:stretch>
        </p:blipFill>
        <p:spPr>
          <a:xfrm>
            <a:off x="4201298" y="5662728"/>
            <a:ext cx="626756" cy="619468"/>
          </a:xfrm>
          <a:prstGeom prst="rect">
            <a:avLst/>
          </a:prstGeom>
        </p:spPr>
      </p:pic>
      <p:pic>
        <p:nvPicPr>
          <p:cNvPr id="42" name="Image 32" descr="image"/>
          <p:cNvPicPr>
            <a:picLocks noChangeAspect="1"/>
          </p:cNvPicPr>
          <p:nvPr/>
        </p:nvPicPr>
        <p:blipFill>
          <a:blip r:embed="rId33"/>
          <a:stretch>
            <a:fillRect/>
          </a:stretch>
        </p:blipFill>
        <p:spPr>
          <a:xfrm>
            <a:off x="5513112" y="3993809"/>
            <a:ext cx="626756" cy="612180"/>
          </a:xfrm>
          <a:prstGeom prst="rect">
            <a:avLst/>
          </a:prstGeom>
        </p:spPr>
      </p:pic>
      <p:pic>
        <p:nvPicPr>
          <p:cNvPr id="43" name="Image 33" descr="image"/>
          <p:cNvPicPr>
            <a:picLocks noChangeAspect="1"/>
          </p:cNvPicPr>
          <p:nvPr/>
        </p:nvPicPr>
        <p:blipFill>
          <a:blip r:embed="rId34"/>
          <a:stretch>
            <a:fillRect/>
          </a:stretch>
        </p:blipFill>
        <p:spPr>
          <a:xfrm>
            <a:off x="5513112" y="4817336"/>
            <a:ext cx="641331" cy="634043"/>
          </a:xfrm>
          <a:prstGeom prst="rect">
            <a:avLst/>
          </a:prstGeom>
        </p:spPr>
      </p:pic>
      <p:pic>
        <p:nvPicPr>
          <p:cNvPr id="44" name="Image 34" descr="image"/>
          <p:cNvPicPr>
            <a:picLocks noChangeAspect="1"/>
          </p:cNvPicPr>
          <p:nvPr/>
        </p:nvPicPr>
        <p:blipFill>
          <a:blip r:embed="rId35"/>
          <a:stretch>
            <a:fillRect/>
          </a:stretch>
        </p:blipFill>
        <p:spPr>
          <a:xfrm>
            <a:off x="6854077" y="4445656"/>
            <a:ext cx="583028" cy="371681"/>
          </a:xfrm>
          <a:prstGeom prst="rect">
            <a:avLst/>
          </a:prstGeom>
        </p:spPr>
      </p:pic>
      <p:pic>
        <p:nvPicPr>
          <p:cNvPr id="45" name="Image 35" descr="image"/>
          <p:cNvPicPr>
            <a:picLocks noChangeAspect="1"/>
          </p:cNvPicPr>
          <p:nvPr/>
        </p:nvPicPr>
        <p:blipFill>
          <a:blip r:embed="rId36"/>
          <a:stretch>
            <a:fillRect/>
          </a:stretch>
        </p:blipFill>
        <p:spPr>
          <a:xfrm>
            <a:off x="6868653" y="5276471"/>
            <a:ext cx="568453" cy="364393"/>
          </a:xfrm>
          <a:prstGeom prst="rect">
            <a:avLst/>
          </a:prstGeom>
        </p:spPr>
      </p:pic>
      <p:pic>
        <p:nvPicPr>
          <p:cNvPr id="46" name="Image 36" descr="image"/>
          <p:cNvPicPr>
            <a:picLocks noChangeAspect="1"/>
          </p:cNvPicPr>
          <p:nvPr/>
        </p:nvPicPr>
        <p:blipFill>
          <a:blip r:embed="rId37"/>
          <a:stretch>
            <a:fillRect/>
          </a:stretch>
        </p:blipFill>
        <p:spPr>
          <a:xfrm>
            <a:off x="8880101" y="809016"/>
            <a:ext cx="626756" cy="619468"/>
          </a:xfrm>
          <a:prstGeom prst="rect">
            <a:avLst/>
          </a:prstGeom>
        </p:spPr>
      </p:pic>
      <p:pic>
        <p:nvPicPr>
          <p:cNvPr id="47" name="Image 37" descr="image"/>
          <p:cNvPicPr>
            <a:picLocks noChangeAspect="1"/>
          </p:cNvPicPr>
          <p:nvPr/>
        </p:nvPicPr>
        <p:blipFill>
          <a:blip r:embed="rId38"/>
          <a:stretch>
            <a:fillRect/>
          </a:stretch>
        </p:blipFill>
        <p:spPr>
          <a:xfrm>
            <a:off x="10228354" y="816304"/>
            <a:ext cx="619468" cy="604892"/>
          </a:xfrm>
          <a:prstGeom prst="rect">
            <a:avLst/>
          </a:prstGeom>
        </p:spPr>
      </p:pic>
      <p:pic>
        <p:nvPicPr>
          <p:cNvPr id="48" name="Image 38" descr="image"/>
          <p:cNvPicPr>
            <a:picLocks noChangeAspect="1"/>
          </p:cNvPicPr>
          <p:nvPr/>
        </p:nvPicPr>
        <p:blipFill>
          <a:blip r:embed="rId39"/>
          <a:stretch>
            <a:fillRect/>
          </a:stretch>
        </p:blipFill>
        <p:spPr>
          <a:xfrm>
            <a:off x="8501133" y="1741861"/>
            <a:ext cx="685058" cy="663195"/>
          </a:xfrm>
          <a:prstGeom prst="rect">
            <a:avLst/>
          </a:prstGeom>
        </p:spPr>
      </p:pic>
      <p:pic>
        <p:nvPicPr>
          <p:cNvPr id="49" name="Image 39" descr="image"/>
          <p:cNvPicPr>
            <a:picLocks noChangeAspect="1"/>
          </p:cNvPicPr>
          <p:nvPr/>
        </p:nvPicPr>
        <p:blipFill>
          <a:blip r:embed="rId40"/>
          <a:stretch>
            <a:fillRect/>
          </a:stretch>
        </p:blipFill>
        <p:spPr>
          <a:xfrm>
            <a:off x="9463129" y="1683559"/>
            <a:ext cx="765225" cy="714210"/>
          </a:xfrm>
          <a:prstGeom prst="rect">
            <a:avLst/>
          </a:prstGeom>
        </p:spPr>
      </p:pic>
      <p:pic>
        <p:nvPicPr>
          <p:cNvPr id="50" name="Image 40" descr="image"/>
          <p:cNvPicPr>
            <a:picLocks noChangeAspect="1"/>
          </p:cNvPicPr>
          <p:nvPr/>
        </p:nvPicPr>
        <p:blipFill>
          <a:blip r:embed="rId41"/>
          <a:stretch>
            <a:fillRect/>
          </a:stretch>
        </p:blipFill>
        <p:spPr>
          <a:xfrm>
            <a:off x="10643762" y="1771013"/>
            <a:ext cx="634043" cy="619468"/>
          </a:xfrm>
          <a:prstGeom prst="rect">
            <a:avLst/>
          </a:prstGeom>
        </p:spPr>
      </p:pic>
      <p:pic>
        <p:nvPicPr>
          <p:cNvPr id="51" name="Image 41" descr="image"/>
          <p:cNvPicPr>
            <a:picLocks noChangeAspect="1"/>
          </p:cNvPicPr>
          <p:nvPr/>
        </p:nvPicPr>
        <p:blipFill>
          <a:blip r:embed="rId42"/>
          <a:stretch>
            <a:fillRect/>
          </a:stretch>
        </p:blipFill>
        <p:spPr>
          <a:xfrm>
            <a:off x="9543296" y="2543526"/>
            <a:ext cx="612180" cy="546589"/>
          </a:xfrm>
          <a:prstGeom prst="rect">
            <a:avLst/>
          </a:prstGeom>
        </p:spPr>
      </p:pic>
      <p:pic>
        <p:nvPicPr>
          <p:cNvPr id="52" name="Image 42" descr="image"/>
          <p:cNvPicPr>
            <a:picLocks noChangeAspect="1"/>
          </p:cNvPicPr>
          <p:nvPr/>
        </p:nvPicPr>
        <p:blipFill>
          <a:blip r:embed="rId43"/>
          <a:stretch>
            <a:fillRect/>
          </a:stretch>
        </p:blipFill>
        <p:spPr>
          <a:xfrm>
            <a:off x="9572447" y="3141130"/>
            <a:ext cx="444559" cy="276939"/>
          </a:xfrm>
          <a:prstGeom prst="rect">
            <a:avLst/>
          </a:prstGeom>
        </p:spPr>
      </p:pic>
      <p:pic>
        <p:nvPicPr>
          <p:cNvPr id="53" name="Image 43" descr="image"/>
          <p:cNvPicPr>
            <a:picLocks noChangeAspect="1"/>
          </p:cNvPicPr>
          <p:nvPr/>
        </p:nvPicPr>
        <p:blipFill>
          <a:blip r:embed="rId44"/>
          <a:stretch>
            <a:fillRect/>
          </a:stretch>
        </p:blipFill>
        <p:spPr>
          <a:xfrm>
            <a:off x="8836374" y="3709582"/>
            <a:ext cx="583028" cy="575741"/>
          </a:xfrm>
          <a:prstGeom prst="rect">
            <a:avLst/>
          </a:prstGeom>
        </p:spPr>
      </p:pic>
      <p:pic>
        <p:nvPicPr>
          <p:cNvPr id="54" name="Image 44" descr="image"/>
          <p:cNvPicPr>
            <a:picLocks noChangeAspect="1"/>
          </p:cNvPicPr>
          <p:nvPr/>
        </p:nvPicPr>
        <p:blipFill>
          <a:blip r:embed="rId45"/>
          <a:stretch>
            <a:fillRect/>
          </a:stretch>
        </p:blipFill>
        <p:spPr>
          <a:xfrm>
            <a:off x="9608887" y="3724158"/>
            <a:ext cx="575741" cy="561165"/>
          </a:xfrm>
          <a:prstGeom prst="rect">
            <a:avLst/>
          </a:prstGeom>
        </p:spPr>
      </p:pic>
      <p:pic>
        <p:nvPicPr>
          <p:cNvPr id="55" name="Image 45" descr="image"/>
          <p:cNvPicPr>
            <a:picLocks noChangeAspect="1"/>
          </p:cNvPicPr>
          <p:nvPr/>
        </p:nvPicPr>
        <p:blipFill>
          <a:blip r:embed="rId46"/>
          <a:stretch>
            <a:fillRect/>
          </a:stretch>
        </p:blipFill>
        <p:spPr>
          <a:xfrm>
            <a:off x="10512581" y="3520098"/>
            <a:ext cx="517438" cy="415408"/>
          </a:xfrm>
          <a:prstGeom prst="rect">
            <a:avLst/>
          </a:prstGeom>
        </p:spPr>
      </p:pic>
      <p:pic>
        <p:nvPicPr>
          <p:cNvPr id="56" name="Image 46" descr="image"/>
          <p:cNvPicPr>
            <a:picLocks noChangeAspect="1"/>
          </p:cNvPicPr>
          <p:nvPr/>
        </p:nvPicPr>
        <p:blipFill>
          <a:blip r:embed="rId47"/>
          <a:stretch>
            <a:fillRect/>
          </a:stretch>
        </p:blipFill>
        <p:spPr>
          <a:xfrm>
            <a:off x="10549020" y="3986521"/>
            <a:ext cx="539301" cy="524726"/>
          </a:xfrm>
          <a:prstGeom prst="rect">
            <a:avLst/>
          </a:prstGeom>
        </p:spPr>
      </p:pic>
      <p:sp>
        <p:nvSpPr>
          <p:cNvPr id="57" name="Shape 8"/>
          <p:cNvSpPr/>
          <p:nvPr/>
        </p:nvSpPr>
        <p:spPr>
          <a:xfrm>
            <a:off x="644824" y="1566953"/>
            <a:ext cx="765225" cy="276939"/>
          </a:xfrm>
          <a:prstGeom prst="rect">
            <a:avLst/>
          </a:prstGeom>
          <a:solidFill>
            <a:srgbClr val="D9EAF8"/>
          </a:solidFill>
          <a:ln w="15875">
            <a:solidFill>
              <a:srgbClr val="1684FF"/>
            </a:solidFill>
            <a:prstDash val="solid"/>
          </a:ln>
        </p:spPr>
      </p:sp>
      <p:sp>
        <p:nvSpPr>
          <p:cNvPr id="58" name="Shape 9"/>
          <p:cNvSpPr/>
          <p:nvPr/>
        </p:nvSpPr>
        <p:spPr>
          <a:xfrm>
            <a:off x="608385" y="3090115"/>
            <a:ext cx="830816" cy="306090"/>
          </a:xfrm>
          <a:prstGeom prst="rect">
            <a:avLst/>
          </a:prstGeom>
          <a:solidFill>
            <a:srgbClr val="FFEBD1"/>
          </a:solidFill>
          <a:ln w="15875">
            <a:solidFill>
              <a:srgbClr val="FF7417"/>
            </a:solidFill>
            <a:prstDash val="solid"/>
          </a:ln>
        </p:spPr>
      </p:sp>
      <p:sp>
        <p:nvSpPr>
          <p:cNvPr id="59" name="Shape 10"/>
          <p:cNvSpPr/>
          <p:nvPr/>
        </p:nvSpPr>
        <p:spPr>
          <a:xfrm>
            <a:off x="484491" y="5312911"/>
            <a:ext cx="648619" cy="269651"/>
          </a:xfrm>
          <a:prstGeom prst="rect">
            <a:avLst/>
          </a:prstGeom>
          <a:solidFill>
            <a:srgbClr val="FFEBD1"/>
          </a:solidFill>
          <a:ln w="15875">
            <a:solidFill>
              <a:srgbClr val="FF7417"/>
            </a:solidFill>
            <a:prstDash val="solid"/>
          </a:ln>
        </p:spPr>
      </p:sp>
      <p:pic>
        <p:nvPicPr>
          <p:cNvPr id="60" name="Image 47" descr="image"/>
          <p:cNvPicPr>
            <a:picLocks noChangeAspect="1"/>
          </p:cNvPicPr>
          <p:nvPr/>
        </p:nvPicPr>
        <p:blipFill>
          <a:blip r:embed="rId48"/>
          <a:stretch>
            <a:fillRect/>
          </a:stretch>
        </p:blipFill>
        <p:spPr>
          <a:xfrm>
            <a:off x="1978502" y="1858467"/>
            <a:ext cx="298802" cy="189484"/>
          </a:xfrm>
          <a:prstGeom prst="rect">
            <a:avLst/>
          </a:prstGeom>
        </p:spPr>
      </p:pic>
      <p:pic>
        <p:nvPicPr>
          <p:cNvPr id="61" name="Image 48" descr="image"/>
          <p:cNvPicPr>
            <a:picLocks noChangeAspect="1"/>
          </p:cNvPicPr>
          <p:nvPr/>
        </p:nvPicPr>
        <p:blipFill>
          <a:blip r:embed="rId49"/>
          <a:stretch>
            <a:fillRect/>
          </a:stretch>
        </p:blipFill>
        <p:spPr>
          <a:xfrm>
            <a:off x="1978502" y="3367053"/>
            <a:ext cx="298802" cy="189484"/>
          </a:xfrm>
          <a:prstGeom prst="rect">
            <a:avLst/>
          </a:prstGeom>
        </p:spPr>
      </p:pic>
      <p:pic>
        <p:nvPicPr>
          <p:cNvPr id="62" name="Image 49" descr="image"/>
          <p:cNvPicPr>
            <a:picLocks noChangeAspect="1"/>
          </p:cNvPicPr>
          <p:nvPr/>
        </p:nvPicPr>
        <p:blipFill>
          <a:blip r:embed="rId50"/>
          <a:stretch>
            <a:fillRect/>
          </a:stretch>
        </p:blipFill>
        <p:spPr>
          <a:xfrm>
            <a:off x="1978502" y="5130714"/>
            <a:ext cx="298802" cy="189484"/>
          </a:xfrm>
          <a:prstGeom prst="rect">
            <a:avLst/>
          </a:prstGeom>
        </p:spPr>
      </p:pic>
      <p:sp>
        <p:nvSpPr>
          <p:cNvPr id="63" name="Shape 11"/>
          <p:cNvSpPr/>
          <p:nvPr/>
        </p:nvSpPr>
        <p:spPr>
          <a:xfrm>
            <a:off x="2255440" y="721562"/>
            <a:ext cx="2689219" cy="2718370"/>
          </a:xfrm>
          <a:prstGeom prst="roundRect">
            <a:avLst>
              <a:gd name="adj" fmla="val 2168"/>
            </a:avLst>
          </a:prstGeom>
          <a:noFill/>
          <a:ln w="15875">
            <a:solidFill>
              <a:srgbClr val="D7E2EF"/>
            </a:solidFill>
            <a:prstDash val="dash"/>
          </a:ln>
        </p:spPr>
      </p:sp>
      <p:sp>
        <p:nvSpPr>
          <p:cNvPr id="64" name="Shape 12"/>
          <p:cNvSpPr/>
          <p:nvPr/>
        </p:nvSpPr>
        <p:spPr>
          <a:xfrm>
            <a:off x="5083128" y="721562"/>
            <a:ext cx="2652779" cy="2718370"/>
          </a:xfrm>
          <a:prstGeom prst="roundRect">
            <a:avLst>
              <a:gd name="adj" fmla="val 1923"/>
            </a:avLst>
          </a:prstGeom>
          <a:noFill/>
          <a:ln w="15875">
            <a:solidFill>
              <a:srgbClr val="D7E2EF"/>
            </a:solidFill>
            <a:prstDash val="dash"/>
          </a:ln>
        </p:spPr>
      </p:sp>
      <p:pic>
        <p:nvPicPr>
          <p:cNvPr id="65" name="Image 50" descr="image"/>
          <p:cNvPicPr>
            <a:picLocks noChangeAspect="1"/>
          </p:cNvPicPr>
          <p:nvPr/>
        </p:nvPicPr>
        <p:blipFill>
          <a:blip r:embed="rId51"/>
          <a:stretch>
            <a:fillRect/>
          </a:stretch>
        </p:blipFill>
        <p:spPr>
          <a:xfrm>
            <a:off x="4915508" y="3367053"/>
            <a:ext cx="320666" cy="189484"/>
          </a:xfrm>
          <a:prstGeom prst="rect">
            <a:avLst/>
          </a:prstGeom>
        </p:spPr>
      </p:pic>
      <p:pic>
        <p:nvPicPr>
          <p:cNvPr id="66" name="Image 51" descr="icon"/>
          <p:cNvPicPr>
            <a:picLocks noChangeAspect="1"/>
          </p:cNvPicPr>
          <p:nvPr/>
        </p:nvPicPr>
        <p:blipFill>
          <a:blip r:embed="rId52"/>
          <a:stretch>
            <a:fillRect/>
          </a:stretch>
        </p:blipFill>
        <p:spPr>
          <a:xfrm>
            <a:off x="8093013" y="1982361"/>
            <a:ext cx="451847" cy="3257671"/>
          </a:xfrm>
          <a:prstGeom prst="rect">
            <a:avLst/>
          </a:prstGeom>
        </p:spPr>
      </p:pic>
      <p:pic>
        <p:nvPicPr>
          <p:cNvPr id="67" name="Image 52" descr="icon"/>
          <p:cNvPicPr>
            <a:picLocks noChangeAspect="1"/>
          </p:cNvPicPr>
          <p:nvPr/>
        </p:nvPicPr>
        <p:blipFill>
          <a:blip r:embed="rId53"/>
          <a:stretch>
            <a:fillRect/>
          </a:stretch>
        </p:blipFill>
        <p:spPr>
          <a:xfrm>
            <a:off x="3115407" y="4576837"/>
            <a:ext cx="816240" cy="459135"/>
          </a:xfrm>
          <a:prstGeom prst="rect">
            <a:avLst/>
          </a:prstGeom>
        </p:spPr>
      </p:pic>
      <p:pic>
        <p:nvPicPr>
          <p:cNvPr id="68" name="Image 53" descr="icon"/>
          <p:cNvPicPr>
            <a:picLocks noChangeAspect="1"/>
          </p:cNvPicPr>
          <p:nvPr/>
        </p:nvPicPr>
        <p:blipFill>
          <a:blip r:embed="rId54"/>
          <a:stretch>
            <a:fillRect/>
          </a:stretch>
        </p:blipFill>
        <p:spPr>
          <a:xfrm>
            <a:off x="11044594" y="1173409"/>
            <a:ext cx="408120" cy="655907"/>
          </a:xfrm>
          <a:prstGeom prst="rect">
            <a:avLst/>
          </a:prstGeom>
        </p:spPr>
      </p:pic>
      <p:pic>
        <p:nvPicPr>
          <p:cNvPr id="69" name="Image 54" descr="icon"/>
          <p:cNvPicPr>
            <a:picLocks noChangeAspect="1"/>
          </p:cNvPicPr>
          <p:nvPr/>
        </p:nvPicPr>
        <p:blipFill>
          <a:blip r:embed="rId55"/>
          <a:stretch>
            <a:fillRect/>
          </a:stretch>
        </p:blipFill>
        <p:spPr>
          <a:xfrm>
            <a:off x="9273645" y="1355605"/>
            <a:ext cx="364393" cy="437271"/>
          </a:xfrm>
          <a:prstGeom prst="rect">
            <a:avLst/>
          </a:prstGeom>
        </p:spPr>
      </p:pic>
      <p:pic>
        <p:nvPicPr>
          <p:cNvPr id="70" name="Image 55" descr="icon"/>
          <p:cNvPicPr>
            <a:picLocks noChangeAspect="1"/>
          </p:cNvPicPr>
          <p:nvPr/>
        </p:nvPicPr>
        <p:blipFill>
          <a:blip r:embed="rId56"/>
          <a:stretch>
            <a:fillRect/>
          </a:stretch>
        </p:blipFill>
        <p:spPr>
          <a:xfrm>
            <a:off x="9470417" y="5859500"/>
            <a:ext cx="743361" cy="145757"/>
          </a:xfrm>
          <a:prstGeom prst="rect">
            <a:avLst/>
          </a:prstGeom>
        </p:spPr>
      </p:pic>
      <p:pic>
        <p:nvPicPr>
          <p:cNvPr id="71" name="Image 56" descr="image"/>
          <p:cNvPicPr>
            <a:picLocks noChangeAspect="1"/>
          </p:cNvPicPr>
          <p:nvPr/>
        </p:nvPicPr>
        <p:blipFill>
          <a:blip r:embed="rId57"/>
          <a:stretch>
            <a:fillRect/>
          </a:stretch>
        </p:blipFill>
        <p:spPr>
          <a:xfrm>
            <a:off x="3013377" y="5473243"/>
            <a:ext cx="1224360" cy="495574"/>
          </a:xfrm>
          <a:prstGeom prst="rect">
            <a:avLst/>
          </a:prstGeom>
        </p:spPr>
      </p:pic>
      <p:pic>
        <p:nvPicPr>
          <p:cNvPr id="72" name="Image 57" descr="image"/>
          <p:cNvPicPr>
            <a:picLocks noChangeAspect="1"/>
          </p:cNvPicPr>
          <p:nvPr/>
        </p:nvPicPr>
        <p:blipFill>
          <a:blip r:embed="rId58"/>
          <a:stretch>
            <a:fillRect/>
          </a:stretch>
        </p:blipFill>
        <p:spPr>
          <a:xfrm>
            <a:off x="3647421" y="5480531"/>
            <a:ext cx="211348" cy="138469"/>
          </a:xfrm>
          <a:prstGeom prst="rect">
            <a:avLst/>
          </a:prstGeom>
        </p:spPr>
      </p:pic>
      <p:sp>
        <p:nvSpPr>
          <p:cNvPr id="73" name="image2ppt-measured-path-29"/>
          <p:cNvSpPr/>
          <p:nvPr/>
        </p:nvSpPr>
        <p:spPr>
          <a:xfrm>
            <a:off x="2870852" y="1446886"/>
            <a:ext cx="370370" cy="289583"/>
          </a:xfrm>
          <a:custGeom>
            <a:avLst/>
            <a:gdLst/>
            <a:ahLst/>
            <a:cxnLst/>
            <a:rect l="l" t="t" r="r" b="b"/>
            <a:pathLst>
              <a:path w="370370" h="289583" fill="none">
                <a:moveTo>
                  <a:pt x="370370" y="0"/>
                </a:moveTo>
                <a:lnTo>
                  <a:pt x="65849" y="237697"/>
                </a:lnTo>
              </a:path>
              <a:path w="370370" h="289583" stroke="0">
                <a:moveTo>
                  <a:pt x="0" y="289583"/>
                </a:moveTo>
                <a:lnTo>
                  <a:pt x="35085" y="197955"/>
                </a:lnTo>
                <a:lnTo>
                  <a:pt x="90818" y="270015"/>
                </a:lnTo>
                <a:close/>
              </a:path>
            </a:pathLst>
          </a:custGeom>
          <a:solidFill>
            <a:srgbClr val="425772"/>
          </a:solidFill>
          <a:ln w="9525">
            <a:solidFill>
              <a:srgbClr val="425772"/>
            </a:solidFill>
            <a:prstDash val="solid"/>
          </a:ln>
        </p:spPr>
      </p:sp>
      <p:sp>
        <p:nvSpPr>
          <p:cNvPr id="74" name="image2ppt-measured-path-30"/>
          <p:cNvSpPr/>
          <p:nvPr/>
        </p:nvSpPr>
        <p:spPr>
          <a:xfrm>
            <a:off x="6127991" y="4783228"/>
            <a:ext cx="732452" cy="281154"/>
          </a:xfrm>
          <a:custGeom>
            <a:avLst/>
            <a:gdLst/>
            <a:ahLst/>
            <a:cxnLst/>
            <a:rect l="l" t="t" r="r" b="b"/>
            <a:pathLst>
              <a:path w="732452" h="281154" fill="none">
                <a:moveTo>
                  <a:pt x="627169" y="57324"/>
                </a:moveTo>
                <a:lnTo>
                  <a:pt x="0" y="281154"/>
                </a:lnTo>
              </a:path>
              <a:path w="732452" h="281154" stroke="0">
                <a:moveTo>
                  <a:pt x="732452" y="16287"/>
                </a:moveTo>
                <a:lnTo>
                  <a:pt x="647385" y="113042"/>
                </a:lnTo>
                <a:lnTo>
                  <a:pt x="606379" y="0"/>
                </a:lnTo>
                <a:close/>
              </a:path>
            </a:pathLst>
          </a:custGeom>
          <a:solidFill>
            <a:srgbClr val="008653"/>
          </a:solidFill>
          <a:ln w="21864">
            <a:solidFill>
              <a:srgbClr val="008653"/>
            </a:solidFill>
            <a:prstDash val="solid"/>
          </a:ln>
        </p:spPr>
      </p:sp>
      <p:pic>
        <p:nvPicPr>
          <p:cNvPr id="75" name="Image 58" descr="image"/>
          <p:cNvPicPr>
            <a:picLocks noChangeAspect="1"/>
          </p:cNvPicPr>
          <p:nvPr/>
        </p:nvPicPr>
        <p:blipFill>
          <a:blip r:embed="rId59"/>
          <a:stretch>
            <a:fillRect/>
          </a:stretch>
        </p:blipFill>
        <p:spPr>
          <a:xfrm>
            <a:off x="3829617" y="2456071"/>
            <a:ext cx="488286" cy="386256"/>
          </a:xfrm>
          <a:prstGeom prst="rect">
            <a:avLst/>
          </a:prstGeom>
        </p:spPr>
      </p:pic>
      <p:sp>
        <p:nvSpPr>
          <p:cNvPr id="76" name="image2ppt-measured-path-31"/>
          <p:cNvSpPr/>
          <p:nvPr/>
        </p:nvSpPr>
        <p:spPr>
          <a:xfrm>
            <a:off x="10073260" y="1371165"/>
            <a:ext cx="363348" cy="407380"/>
          </a:xfrm>
          <a:custGeom>
            <a:avLst/>
            <a:gdLst/>
            <a:ahLst/>
            <a:cxnLst/>
            <a:rect l="l" t="t" r="r" b="b"/>
            <a:pathLst>
              <a:path w="363348" h="407380" fill="none">
                <a:moveTo>
                  <a:pt x="319021" y="48356"/>
                </a:moveTo>
                <a:lnTo>
                  <a:pt x="55021" y="344148"/>
                </a:lnTo>
              </a:path>
              <a:path w="363348" h="407380" stroke="0">
                <a:moveTo>
                  <a:pt x="363348" y="0"/>
                </a:moveTo>
                <a:lnTo>
                  <a:pt x="338725" y="65928"/>
                </a:lnTo>
                <a:lnTo>
                  <a:pt x="292495" y="24695"/>
                </a:lnTo>
                <a:close/>
              </a:path>
              <a:path w="363348" h="407380" stroke="0">
                <a:moveTo>
                  <a:pt x="0" y="407380"/>
                </a:moveTo>
                <a:lnTo>
                  <a:pt x="28592" y="320578"/>
                </a:lnTo>
                <a:lnTo>
                  <a:pt x="88419" y="373939"/>
                </a:lnTo>
                <a:close/>
              </a:path>
            </a:pathLst>
          </a:custGeom>
          <a:solidFill>
            <a:srgbClr val="2E4563"/>
          </a:solidFill>
          <a:ln w="9525">
            <a:solidFill>
              <a:srgbClr val="2E4563"/>
            </a:solidFill>
            <a:prstDash val="solid"/>
          </a:ln>
        </p:spPr>
      </p:sp>
      <p:sp>
        <p:nvSpPr>
          <p:cNvPr id="77" name="image2ppt-measured-path-32"/>
          <p:cNvSpPr/>
          <p:nvPr/>
        </p:nvSpPr>
        <p:spPr>
          <a:xfrm>
            <a:off x="9174688" y="3451148"/>
            <a:ext cx="422274" cy="275015"/>
          </a:xfrm>
          <a:custGeom>
            <a:avLst/>
            <a:gdLst/>
            <a:ahLst/>
            <a:cxnLst/>
            <a:rect l="l" t="t" r="r" b="b"/>
            <a:pathLst>
              <a:path w="422274" h="275015" fill="none">
                <a:moveTo>
                  <a:pt x="422274" y="0"/>
                </a:moveTo>
                <a:lnTo>
                  <a:pt x="72755" y="226470"/>
                </a:lnTo>
              </a:path>
              <a:path w="422274" h="275015" stroke="0">
                <a:moveTo>
                  <a:pt x="0" y="275015"/>
                </a:moveTo>
                <a:lnTo>
                  <a:pt x="49529" y="190711"/>
                </a:lnTo>
                <a:lnTo>
                  <a:pt x="99145" y="267112"/>
                </a:lnTo>
                <a:close/>
              </a:path>
            </a:pathLst>
          </a:custGeom>
          <a:solidFill>
            <a:srgbClr val="304962"/>
          </a:solidFill>
          <a:ln w="9525">
            <a:solidFill>
              <a:srgbClr val="304962"/>
            </a:solidFill>
            <a:prstDash val="solid"/>
          </a:ln>
        </p:spPr>
      </p:sp>
      <p:sp>
        <p:nvSpPr>
          <p:cNvPr id="78" name="image2ppt-measured-path-33"/>
          <p:cNvSpPr/>
          <p:nvPr/>
        </p:nvSpPr>
        <p:spPr>
          <a:xfrm>
            <a:off x="3908159" y="1433057"/>
            <a:ext cx="389578" cy="301658"/>
          </a:xfrm>
          <a:custGeom>
            <a:avLst/>
            <a:gdLst/>
            <a:ahLst/>
            <a:cxnLst/>
            <a:rect l="l" t="t" r="r" b="b"/>
            <a:pathLst>
              <a:path w="389578" h="301658" fill="none">
                <a:moveTo>
                  <a:pt x="0" y="0"/>
                </a:moveTo>
                <a:lnTo>
                  <a:pt x="316187" y="247648"/>
                </a:lnTo>
              </a:path>
              <a:path w="389578" h="301658" stroke="0">
                <a:moveTo>
                  <a:pt x="389578" y="301658"/>
                </a:moveTo>
                <a:lnTo>
                  <a:pt x="286356" y="285952"/>
                </a:lnTo>
                <a:lnTo>
                  <a:pt x="342318" y="214068"/>
                </a:lnTo>
                <a:close/>
              </a:path>
            </a:pathLst>
          </a:custGeom>
          <a:solidFill>
            <a:srgbClr val="717D90"/>
          </a:solidFill>
          <a:ln w="9525">
            <a:solidFill>
              <a:srgbClr val="717D90"/>
            </a:solidFill>
            <a:prstDash val="solid"/>
          </a:ln>
        </p:spPr>
      </p:sp>
      <p:sp>
        <p:nvSpPr>
          <p:cNvPr id="79" name="image2ppt-measured-path-34"/>
          <p:cNvSpPr/>
          <p:nvPr/>
        </p:nvSpPr>
        <p:spPr>
          <a:xfrm>
            <a:off x="2983897" y="2476838"/>
            <a:ext cx="357109" cy="290063"/>
          </a:xfrm>
          <a:custGeom>
            <a:avLst/>
            <a:gdLst/>
            <a:ahLst/>
            <a:cxnLst/>
            <a:rect l="l" t="t" r="r" b="b"/>
            <a:pathLst>
              <a:path w="357109" h="290063" fill="none">
                <a:moveTo>
                  <a:pt x="280086" y="67088"/>
                </a:moveTo>
                <a:lnTo>
                  <a:pt x="0" y="290063"/>
                </a:lnTo>
              </a:path>
              <a:path w="357109" h="290063" stroke="0">
                <a:moveTo>
                  <a:pt x="357109" y="0"/>
                </a:moveTo>
                <a:lnTo>
                  <a:pt x="313843" y="107358"/>
                </a:lnTo>
                <a:lnTo>
                  <a:pt x="241427" y="20661"/>
                </a:lnTo>
                <a:close/>
              </a:path>
            </a:pathLst>
          </a:custGeom>
          <a:solidFill>
            <a:srgbClr val="D10507"/>
          </a:solidFill>
          <a:ln w="29152">
            <a:solidFill>
              <a:srgbClr val="D10507"/>
            </a:solidFill>
            <a:prstDash val="solid"/>
          </a:ln>
        </p:spPr>
      </p:sp>
      <p:sp>
        <p:nvSpPr>
          <p:cNvPr id="80" name="image2ppt-measured-path-35"/>
          <p:cNvSpPr/>
          <p:nvPr/>
        </p:nvSpPr>
        <p:spPr>
          <a:xfrm>
            <a:off x="4464506" y="4748036"/>
            <a:ext cx="121835" cy="936013"/>
          </a:xfrm>
          <a:custGeom>
            <a:avLst/>
            <a:gdLst/>
            <a:ahLst/>
            <a:cxnLst/>
            <a:rect l="l" t="t" r="r" b="b"/>
            <a:pathLst>
              <a:path w="121835" h="936013" fill="none">
                <a:moveTo>
                  <a:pt x="41918" y="72691"/>
                </a:moveTo>
                <a:lnTo>
                  <a:pt x="80725" y="852611"/>
                </a:lnTo>
              </a:path>
              <a:path w="121835" h="936013" stroke="0">
                <a:moveTo>
                  <a:pt x="35774" y="0"/>
                </a:moveTo>
                <a:lnTo>
                  <a:pt x="72755" y="70847"/>
                </a:lnTo>
                <a:lnTo>
                  <a:pt x="0" y="75088"/>
                </a:lnTo>
                <a:close/>
              </a:path>
              <a:path w="121835" h="936013" stroke="0">
                <a:moveTo>
                  <a:pt x="90334" y="936013"/>
                </a:moveTo>
                <a:lnTo>
                  <a:pt x="41804" y="854889"/>
                </a:lnTo>
                <a:lnTo>
                  <a:pt x="121835" y="850224"/>
                </a:lnTo>
                <a:close/>
              </a:path>
            </a:pathLst>
          </a:custGeom>
          <a:solidFill>
            <a:srgbClr val="697687"/>
          </a:solidFill>
          <a:ln w="14576">
            <a:solidFill>
              <a:srgbClr val="697687"/>
            </a:solidFill>
            <a:prstDash val="solid"/>
          </a:ln>
        </p:spPr>
      </p:sp>
      <p:sp>
        <p:nvSpPr>
          <p:cNvPr id="81" name="image2ppt-measured-path-36"/>
          <p:cNvSpPr/>
          <p:nvPr/>
        </p:nvSpPr>
        <p:spPr>
          <a:xfrm>
            <a:off x="10119368" y="3413292"/>
            <a:ext cx="474261" cy="181473"/>
          </a:xfrm>
          <a:custGeom>
            <a:avLst/>
            <a:gdLst/>
            <a:ahLst/>
            <a:cxnLst/>
            <a:rect l="l" t="t" r="r" b="b"/>
            <a:pathLst>
              <a:path w="474261" h="181473" fill="none">
                <a:moveTo>
                  <a:pt x="0" y="0"/>
                </a:moveTo>
                <a:lnTo>
                  <a:pt x="398333" y="145894"/>
                </a:lnTo>
              </a:path>
              <a:path w="474261" h="181473" stroke="0">
                <a:moveTo>
                  <a:pt x="474261" y="171702"/>
                </a:moveTo>
                <a:lnTo>
                  <a:pt x="385167" y="181473"/>
                </a:lnTo>
                <a:lnTo>
                  <a:pt x="411723" y="109706"/>
                </a:lnTo>
                <a:close/>
              </a:path>
            </a:pathLst>
          </a:custGeom>
          <a:solidFill>
            <a:srgbClr val="374E67"/>
          </a:solidFill>
          <a:ln w="10932">
            <a:solidFill>
              <a:srgbClr val="374E67"/>
            </a:solidFill>
            <a:prstDash val="solid"/>
          </a:ln>
        </p:spPr>
      </p:sp>
      <p:sp>
        <p:nvSpPr>
          <p:cNvPr id="82" name="image2ppt-measured-path-37"/>
          <p:cNvSpPr/>
          <p:nvPr/>
        </p:nvSpPr>
        <p:spPr>
          <a:xfrm>
            <a:off x="3137273" y="4409839"/>
            <a:ext cx="940128" cy="92852"/>
          </a:xfrm>
          <a:custGeom>
            <a:avLst/>
            <a:gdLst/>
            <a:ahLst/>
            <a:cxnLst/>
            <a:rect l="l" t="t" r="r" b="b"/>
            <a:pathLst>
              <a:path w="940128" h="92852" fill="none">
                <a:moveTo>
                  <a:pt x="76509" y="50392"/>
                </a:moveTo>
                <a:lnTo>
                  <a:pt x="856323" y="50392"/>
                </a:lnTo>
              </a:path>
              <a:path w="940128" h="92852" stroke="0">
                <a:moveTo>
                  <a:pt x="0" y="51200"/>
                </a:moveTo>
                <a:lnTo>
                  <a:pt x="76399" y="0"/>
                </a:lnTo>
                <a:lnTo>
                  <a:pt x="76619" y="91098"/>
                </a:lnTo>
                <a:close/>
              </a:path>
              <a:path w="940128" h="92852" stroke="0">
                <a:moveTo>
                  <a:pt x="940128" y="48922"/>
                </a:moveTo>
                <a:lnTo>
                  <a:pt x="856424" y="92852"/>
                </a:lnTo>
                <a:lnTo>
                  <a:pt x="856221" y="9042"/>
                </a:lnTo>
                <a:close/>
              </a:path>
            </a:pathLst>
          </a:custGeom>
          <a:solidFill>
            <a:srgbClr val="808FA0"/>
          </a:solidFill>
          <a:ln w="14576">
            <a:solidFill>
              <a:srgbClr val="808FA0"/>
            </a:solidFill>
            <a:prstDash val="solid"/>
          </a:ln>
        </p:spPr>
      </p:sp>
      <p:sp>
        <p:nvSpPr>
          <p:cNvPr id="83" name="image2ppt-measured-path-38"/>
          <p:cNvSpPr/>
          <p:nvPr/>
        </p:nvSpPr>
        <p:spPr>
          <a:xfrm>
            <a:off x="9055924" y="6076902"/>
            <a:ext cx="288398" cy="244554"/>
          </a:xfrm>
          <a:custGeom>
            <a:avLst/>
            <a:gdLst/>
            <a:ahLst/>
            <a:cxnLst/>
            <a:rect l="l" t="t" r="r" b="b"/>
            <a:pathLst>
              <a:path w="288398" h="244554" fill="none">
                <a:moveTo>
                  <a:pt x="223025" y="58091"/>
                </a:moveTo>
                <a:lnTo>
                  <a:pt x="0" y="244554"/>
                </a:lnTo>
              </a:path>
              <a:path w="288398" h="244554" stroke="0">
                <a:moveTo>
                  <a:pt x="288398" y="0"/>
                </a:moveTo>
                <a:lnTo>
                  <a:pt x="253153" y="93006"/>
                </a:lnTo>
                <a:lnTo>
                  <a:pt x="193624" y="24047"/>
                </a:lnTo>
                <a:close/>
              </a:path>
            </a:pathLst>
          </a:custGeom>
          <a:solidFill>
            <a:srgbClr val="304762"/>
          </a:solidFill>
          <a:ln w="9525">
            <a:solidFill>
              <a:srgbClr val="304762"/>
            </a:solidFill>
            <a:prstDash val="solid"/>
          </a:ln>
        </p:spPr>
      </p:sp>
      <p:sp>
        <p:nvSpPr>
          <p:cNvPr id="84" name="image2ppt-measured-path-39"/>
          <p:cNvSpPr/>
          <p:nvPr/>
        </p:nvSpPr>
        <p:spPr>
          <a:xfrm>
            <a:off x="9057710" y="5638847"/>
            <a:ext cx="299409" cy="223337"/>
          </a:xfrm>
          <a:custGeom>
            <a:avLst/>
            <a:gdLst/>
            <a:ahLst/>
            <a:cxnLst/>
            <a:rect l="l" t="t" r="r" b="b"/>
            <a:pathLst>
              <a:path w="299409" h="223337" fill="none">
                <a:moveTo>
                  <a:pt x="0" y="0"/>
                </a:moveTo>
                <a:lnTo>
                  <a:pt x="210763" y="151021"/>
                </a:lnTo>
              </a:path>
              <a:path w="299409" h="223337" stroke="0">
                <a:moveTo>
                  <a:pt x="297583" y="223337"/>
                </a:moveTo>
                <a:lnTo>
                  <a:pt x="177229" y="193711"/>
                </a:lnTo>
                <a:lnTo>
                  <a:pt x="244732" y="107724"/>
                </a:lnTo>
                <a:close/>
              </a:path>
            </a:pathLst>
          </a:custGeom>
          <a:solidFill>
            <a:srgbClr val="334760"/>
          </a:solidFill>
          <a:ln w="9525">
            <a:solidFill>
              <a:srgbClr val="334760"/>
            </a:solidFill>
            <a:prstDash val="solid"/>
          </a:ln>
        </p:spPr>
      </p:sp>
      <p:sp>
        <p:nvSpPr>
          <p:cNvPr id="85" name="image2ppt-measured-path-40"/>
          <p:cNvSpPr/>
          <p:nvPr/>
        </p:nvSpPr>
        <p:spPr>
          <a:xfrm>
            <a:off x="2651974" y="4733526"/>
            <a:ext cx="76522" cy="921913"/>
          </a:xfrm>
          <a:custGeom>
            <a:avLst/>
            <a:gdLst/>
            <a:ahLst/>
            <a:cxnLst/>
            <a:rect l="l" t="t" r="r" b="b"/>
            <a:pathLst>
              <a:path w="76522" h="921913" fill="none">
                <a:moveTo>
                  <a:pt x="38161" y="87450"/>
                </a:moveTo>
                <a:lnTo>
                  <a:pt x="38161" y="838102"/>
                </a:lnTo>
              </a:path>
              <a:path w="76522" h="921913" stroke="0">
                <a:moveTo>
                  <a:pt x="40685" y="0"/>
                </a:moveTo>
                <a:lnTo>
                  <a:pt x="69773" y="87475"/>
                </a:lnTo>
                <a:lnTo>
                  <a:pt x="539" y="87425"/>
                </a:lnTo>
                <a:close/>
              </a:path>
              <a:path w="76522" h="921913" stroke="0">
                <a:moveTo>
                  <a:pt x="40023" y="921913"/>
                </a:moveTo>
                <a:lnTo>
                  <a:pt x="0" y="838074"/>
                </a:lnTo>
                <a:lnTo>
                  <a:pt x="76522" y="838129"/>
                </a:lnTo>
                <a:close/>
              </a:path>
            </a:pathLst>
          </a:custGeom>
          <a:solidFill>
            <a:srgbClr val="46576C"/>
          </a:solidFill>
          <a:ln w="14576">
            <a:solidFill>
              <a:srgbClr val="46576C"/>
            </a:solidFill>
            <a:prstDash val="solid"/>
          </a:ln>
        </p:spPr>
      </p:sp>
      <p:sp>
        <p:nvSpPr>
          <p:cNvPr id="86" name="image2ppt-measured-path-41"/>
          <p:cNvSpPr/>
          <p:nvPr/>
        </p:nvSpPr>
        <p:spPr>
          <a:xfrm>
            <a:off x="3008813" y="2077622"/>
            <a:ext cx="316325" cy="157541"/>
          </a:xfrm>
          <a:custGeom>
            <a:avLst/>
            <a:gdLst/>
            <a:ahLst/>
            <a:cxnLst/>
            <a:rect l="l" t="t" r="r" b="b"/>
            <a:pathLst>
              <a:path w="316325" h="157541" fill="none">
                <a:moveTo>
                  <a:pt x="0" y="0"/>
                </a:moveTo>
                <a:lnTo>
                  <a:pt x="221557" y="110796"/>
                </a:lnTo>
              </a:path>
              <a:path w="316325" h="157541" stroke="0">
                <a:moveTo>
                  <a:pt x="316325" y="157541"/>
                </a:moveTo>
                <a:lnTo>
                  <a:pt x="200638" y="152297"/>
                </a:lnTo>
                <a:lnTo>
                  <a:pt x="244907" y="64433"/>
                </a:lnTo>
                <a:close/>
              </a:path>
            </a:pathLst>
          </a:custGeom>
          <a:solidFill>
            <a:srgbClr val="788799"/>
          </a:solidFill>
          <a:ln w="14576">
            <a:solidFill>
              <a:srgbClr val="788799"/>
            </a:solidFill>
            <a:prstDash val="solid"/>
          </a:ln>
        </p:spPr>
      </p:sp>
      <p:sp>
        <p:nvSpPr>
          <p:cNvPr id="87" name="image2ppt-measured-path-42"/>
          <p:cNvSpPr/>
          <p:nvPr/>
        </p:nvSpPr>
        <p:spPr>
          <a:xfrm>
            <a:off x="2931127" y="5509864"/>
            <a:ext cx="199430" cy="233088"/>
          </a:xfrm>
          <a:custGeom>
            <a:avLst/>
            <a:gdLst/>
            <a:ahLst/>
            <a:cxnLst/>
            <a:rect l="l" t="t" r="r" b="b"/>
            <a:pathLst>
              <a:path w="199430" h="233088" fill="none">
                <a:moveTo>
                  <a:pt x="199430" y="0"/>
                </a:moveTo>
                <a:lnTo>
                  <a:pt x="43220" y="178933"/>
                </a:lnTo>
              </a:path>
              <a:path w="199430" h="233088" stroke="0">
                <a:moveTo>
                  <a:pt x="0" y="233088"/>
                </a:moveTo>
                <a:lnTo>
                  <a:pt x="13745" y="154277"/>
                </a:lnTo>
                <a:lnTo>
                  <a:pt x="75190" y="205766"/>
                </a:lnTo>
                <a:close/>
              </a:path>
            </a:pathLst>
          </a:custGeom>
          <a:solidFill>
            <a:srgbClr val="40566E"/>
          </a:solidFill>
          <a:ln w="9525">
            <a:solidFill>
              <a:srgbClr val="40566E"/>
            </a:solidFill>
            <a:prstDash val="solid"/>
          </a:ln>
        </p:spPr>
      </p:sp>
      <p:sp>
        <p:nvSpPr>
          <p:cNvPr id="88" name="image2ppt-measured-path-43"/>
          <p:cNvSpPr/>
          <p:nvPr/>
        </p:nvSpPr>
        <p:spPr>
          <a:xfrm>
            <a:off x="10192298" y="1985242"/>
            <a:ext cx="458557" cy="117501"/>
          </a:xfrm>
          <a:custGeom>
            <a:avLst/>
            <a:gdLst/>
            <a:ahLst/>
            <a:cxnLst/>
            <a:rect l="l" t="t" r="r" b="b"/>
            <a:pathLst>
              <a:path w="458557" h="117501" fill="none">
                <a:moveTo>
                  <a:pt x="75818" y="44023"/>
                </a:moveTo>
                <a:lnTo>
                  <a:pt x="396804" y="70549"/>
                </a:lnTo>
              </a:path>
              <a:path w="458557" h="117501" stroke="0">
                <a:moveTo>
                  <a:pt x="0" y="32674"/>
                </a:moveTo>
                <a:lnTo>
                  <a:pt x="79967" y="0"/>
                </a:lnTo>
                <a:lnTo>
                  <a:pt x="72049" y="83435"/>
                </a:lnTo>
                <a:close/>
              </a:path>
              <a:path w="458557" h="117501" stroke="0">
                <a:moveTo>
                  <a:pt x="458557" y="76195"/>
                </a:moveTo>
                <a:lnTo>
                  <a:pt x="392412" y="117501"/>
                </a:lnTo>
                <a:lnTo>
                  <a:pt x="400330" y="34066"/>
                </a:lnTo>
                <a:close/>
              </a:path>
            </a:pathLst>
          </a:custGeom>
          <a:solidFill>
            <a:srgbClr val="384F66"/>
          </a:solidFill>
          <a:ln w="14576">
            <a:solidFill>
              <a:srgbClr val="384F66"/>
            </a:solidFill>
            <a:prstDash val="solid"/>
          </a:ln>
        </p:spPr>
      </p:sp>
      <p:sp>
        <p:nvSpPr>
          <p:cNvPr id="89" name="image2ppt-measured-path-44"/>
          <p:cNvSpPr/>
          <p:nvPr/>
        </p:nvSpPr>
        <p:spPr>
          <a:xfrm>
            <a:off x="2933963" y="4755806"/>
            <a:ext cx="184001" cy="231922"/>
          </a:xfrm>
          <a:custGeom>
            <a:avLst/>
            <a:gdLst/>
            <a:ahLst/>
            <a:cxnLst/>
            <a:rect l="l" t="t" r="r" b="b"/>
            <a:pathLst>
              <a:path w="184001" h="231922" fill="none">
                <a:moveTo>
                  <a:pt x="0" y="0"/>
                </a:moveTo>
                <a:lnTo>
                  <a:pt x="131378" y="171297"/>
                </a:lnTo>
              </a:path>
              <a:path w="184001" h="231922" stroke="0">
                <a:moveTo>
                  <a:pt x="184001" y="231815"/>
                </a:moveTo>
                <a:lnTo>
                  <a:pt x="99815" y="196437"/>
                </a:lnTo>
                <a:lnTo>
                  <a:pt x="159623" y="148701"/>
                </a:lnTo>
                <a:close/>
              </a:path>
            </a:pathLst>
          </a:custGeom>
          <a:solidFill>
            <a:srgbClr val="536276"/>
          </a:solidFill>
          <a:ln w="9525">
            <a:solidFill>
              <a:srgbClr val="536276"/>
            </a:solidFill>
            <a:prstDash val="solid"/>
          </a:ln>
        </p:spPr>
      </p:sp>
      <p:sp>
        <p:nvSpPr>
          <p:cNvPr id="90" name="image2ppt-measured-path-45"/>
          <p:cNvSpPr/>
          <p:nvPr/>
        </p:nvSpPr>
        <p:spPr>
          <a:xfrm>
            <a:off x="3870999" y="2075944"/>
            <a:ext cx="278904" cy="155625"/>
          </a:xfrm>
          <a:custGeom>
            <a:avLst/>
            <a:gdLst/>
            <a:ahLst/>
            <a:cxnLst/>
            <a:rect l="l" t="t" r="r" b="b"/>
            <a:pathLst>
              <a:path w="278904" h="155625" fill="none">
                <a:moveTo>
                  <a:pt x="278904" y="0"/>
                </a:moveTo>
                <a:lnTo>
                  <a:pt x="75588" y="111557"/>
                </a:lnTo>
              </a:path>
              <a:path w="278904" h="155625" stroke="0">
                <a:moveTo>
                  <a:pt x="0" y="155625"/>
                </a:moveTo>
                <a:lnTo>
                  <a:pt x="56719" y="77922"/>
                </a:lnTo>
                <a:lnTo>
                  <a:pt x="97670" y="151047"/>
                </a:lnTo>
                <a:close/>
              </a:path>
            </a:pathLst>
          </a:custGeom>
          <a:solidFill>
            <a:srgbClr val="B7C0CD"/>
          </a:solidFill>
          <a:ln w="14576">
            <a:solidFill>
              <a:srgbClr val="B7C0CD"/>
            </a:solidFill>
            <a:prstDash val="solid"/>
          </a:ln>
        </p:spPr>
      </p:sp>
      <p:sp>
        <p:nvSpPr>
          <p:cNvPr id="91" name="image2ppt-measured-path-46"/>
          <p:cNvSpPr/>
          <p:nvPr/>
        </p:nvSpPr>
        <p:spPr>
          <a:xfrm>
            <a:off x="4159113" y="5506918"/>
            <a:ext cx="177099" cy="222247"/>
          </a:xfrm>
          <a:custGeom>
            <a:avLst/>
            <a:gdLst/>
            <a:ahLst/>
            <a:cxnLst/>
            <a:rect l="l" t="t" r="r" b="b"/>
            <a:pathLst>
              <a:path w="177099" h="222247" fill="none">
                <a:moveTo>
                  <a:pt x="0" y="0"/>
                </a:moveTo>
                <a:lnTo>
                  <a:pt x="138829" y="173536"/>
                </a:lnTo>
              </a:path>
              <a:path w="177099" h="222247" stroke="0">
                <a:moveTo>
                  <a:pt x="177099" y="222247"/>
                </a:moveTo>
                <a:lnTo>
                  <a:pt x="107316" y="198280"/>
                </a:lnTo>
                <a:lnTo>
                  <a:pt x="170368" y="148771"/>
                </a:lnTo>
                <a:close/>
              </a:path>
            </a:pathLst>
          </a:custGeom>
          <a:solidFill>
            <a:srgbClr val="496375"/>
          </a:solidFill>
          <a:ln w="9525">
            <a:solidFill>
              <a:srgbClr val="496375"/>
            </a:solidFill>
            <a:prstDash val="solid"/>
          </a:ln>
        </p:spPr>
      </p:sp>
      <p:sp>
        <p:nvSpPr>
          <p:cNvPr id="92" name="image2ppt-measured-path-47"/>
          <p:cNvSpPr/>
          <p:nvPr/>
        </p:nvSpPr>
        <p:spPr>
          <a:xfrm>
            <a:off x="4108775" y="4754060"/>
            <a:ext cx="174572" cy="209678"/>
          </a:xfrm>
          <a:custGeom>
            <a:avLst/>
            <a:gdLst/>
            <a:ahLst/>
            <a:cxnLst/>
            <a:rect l="l" t="t" r="r" b="b"/>
            <a:pathLst>
              <a:path w="174572" h="209678" fill="none">
                <a:moveTo>
                  <a:pt x="132114" y="49999"/>
                </a:moveTo>
                <a:lnTo>
                  <a:pt x="46098" y="153228"/>
                </a:lnTo>
              </a:path>
              <a:path w="174572" h="209678" stroke="0">
                <a:moveTo>
                  <a:pt x="174572" y="0"/>
                </a:moveTo>
                <a:lnTo>
                  <a:pt x="155007" y="69059"/>
                </a:lnTo>
                <a:lnTo>
                  <a:pt x="110201" y="31755"/>
                </a:lnTo>
                <a:close/>
              </a:path>
              <a:path w="174572" h="209678" stroke="0">
                <a:moveTo>
                  <a:pt x="0" y="209678"/>
                </a:moveTo>
                <a:lnTo>
                  <a:pt x="13026" y="125691"/>
                </a:lnTo>
                <a:lnTo>
                  <a:pt x="74634" y="176985"/>
                </a:lnTo>
                <a:close/>
              </a:path>
            </a:pathLst>
          </a:custGeom>
          <a:solidFill>
            <a:srgbClr val="64748B"/>
          </a:solidFill>
          <a:ln w="9525">
            <a:solidFill>
              <a:srgbClr val="64748B"/>
            </a:solidFill>
            <a:prstDash val="solid"/>
          </a:ln>
        </p:spPr>
      </p:sp>
      <p:sp>
        <p:nvSpPr>
          <p:cNvPr id="93" name="image2ppt-measured-path-48"/>
          <p:cNvSpPr/>
          <p:nvPr/>
        </p:nvSpPr>
        <p:spPr>
          <a:xfrm>
            <a:off x="9150180" y="2004996"/>
            <a:ext cx="352846" cy="92441"/>
          </a:xfrm>
          <a:custGeom>
            <a:avLst/>
            <a:gdLst/>
            <a:ahLst/>
            <a:cxnLst/>
            <a:rect l="l" t="t" r="r" b="b"/>
            <a:pathLst>
              <a:path w="352846" h="92441" fill="none">
                <a:moveTo>
                  <a:pt x="280325" y="37994"/>
                </a:moveTo>
                <a:lnTo>
                  <a:pt x="76650" y="57243"/>
                </a:lnTo>
              </a:path>
              <a:path w="352846" h="92441" stroke="0">
                <a:moveTo>
                  <a:pt x="352846" y="30569"/>
                </a:moveTo>
                <a:lnTo>
                  <a:pt x="283361" y="76283"/>
                </a:lnTo>
                <a:lnTo>
                  <a:pt x="277317" y="0"/>
                </a:lnTo>
                <a:close/>
              </a:path>
              <a:path w="352846" h="92441" stroke="0">
                <a:moveTo>
                  <a:pt x="0" y="58527"/>
                </a:moveTo>
                <a:lnTo>
                  <a:pt x="73981" y="23423"/>
                </a:lnTo>
                <a:lnTo>
                  <a:pt x="79450" y="92441"/>
                </a:lnTo>
                <a:close/>
              </a:path>
            </a:pathLst>
          </a:custGeom>
          <a:solidFill>
            <a:srgbClr val="364D64"/>
          </a:solidFill>
          <a:ln w="10932">
            <a:solidFill>
              <a:srgbClr val="364D64"/>
            </a:solidFill>
            <a:prstDash val="solid"/>
          </a:ln>
        </p:spPr>
      </p:sp>
      <p:sp>
        <p:nvSpPr>
          <p:cNvPr id="94" name="image2ppt-measured-path-49"/>
          <p:cNvSpPr/>
          <p:nvPr/>
        </p:nvSpPr>
        <p:spPr>
          <a:xfrm>
            <a:off x="10993552" y="5874076"/>
            <a:ext cx="215019" cy="112962"/>
          </a:xfrm>
          <a:custGeom>
            <a:avLst/>
            <a:gdLst/>
            <a:ahLst/>
            <a:cxnLst/>
            <a:rect l="l" t="t" r="r" b="b"/>
            <a:pathLst>
              <a:path w="215019" h="112962" fill="none">
                <a:moveTo>
                  <a:pt x="0" y="55662"/>
                </a:moveTo>
                <a:lnTo>
                  <a:pt x="120277" y="55662"/>
                </a:lnTo>
              </a:path>
              <a:path w="215019" h="112962" stroke="0">
                <a:moveTo>
                  <a:pt x="215019" y="51015"/>
                </a:moveTo>
                <a:lnTo>
                  <a:pt x="120277" y="112962"/>
                </a:lnTo>
                <a:lnTo>
                  <a:pt x="120277" y="0"/>
                </a:lnTo>
                <a:close/>
              </a:path>
            </a:pathLst>
          </a:custGeom>
          <a:solidFill>
            <a:srgbClr val="354E6B"/>
          </a:solidFill>
          <a:ln w="10932">
            <a:solidFill>
              <a:srgbClr val="354E6B"/>
            </a:solidFill>
            <a:prstDash val="solid"/>
          </a:ln>
        </p:spPr>
      </p:sp>
      <p:pic>
        <p:nvPicPr>
          <p:cNvPr id="95" name="Image 59" descr="image"/>
          <p:cNvPicPr>
            <a:picLocks noChangeAspect="1"/>
          </p:cNvPicPr>
          <p:nvPr/>
        </p:nvPicPr>
        <p:blipFill>
          <a:blip r:embed="rId60"/>
          <a:stretch>
            <a:fillRect/>
          </a:stretch>
        </p:blipFill>
        <p:spPr>
          <a:xfrm>
            <a:off x="3538103" y="3578401"/>
            <a:ext cx="72879" cy="123894"/>
          </a:xfrm>
          <a:prstGeom prst="rect">
            <a:avLst/>
          </a:prstGeom>
        </p:spPr>
      </p:pic>
      <p:sp>
        <p:nvSpPr>
          <p:cNvPr id="96" name="Shape 34"/>
          <p:cNvSpPr/>
          <p:nvPr/>
        </p:nvSpPr>
        <p:spPr>
          <a:xfrm>
            <a:off x="1570382" y="1807572"/>
            <a:ext cx="171265" cy="0"/>
          </a:xfrm>
          <a:prstGeom prst="line">
            <a:avLst/>
          </a:prstGeom>
          <a:noFill/>
          <a:ln w="48514">
            <a:solidFill>
              <a:srgbClr val="D0D6DE"/>
            </a:solidFill>
            <a:prstDash val="solid"/>
          </a:ln>
        </p:spPr>
      </p:sp>
      <p:sp>
        <p:nvSpPr>
          <p:cNvPr id="97" name="Shape 35"/>
          <p:cNvSpPr/>
          <p:nvPr/>
        </p:nvSpPr>
        <p:spPr>
          <a:xfrm>
            <a:off x="1362629" y="2285445"/>
            <a:ext cx="262437" cy="0"/>
          </a:xfrm>
          <a:prstGeom prst="line">
            <a:avLst/>
          </a:prstGeom>
          <a:noFill/>
          <a:ln w="14576">
            <a:solidFill>
              <a:srgbClr val="53607C"/>
            </a:solidFill>
            <a:prstDash val="dash"/>
          </a:ln>
        </p:spPr>
      </p:sp>
      <p:sp>
        <p:nvSpPr>
          <p:cNvPr id="98" name="Shape 36"/>
          <p:cNvSpPr/>
          <p:nvPr/>
        </p:nvSpPr>
        <p:spPr>
          <a:xfrm>
            <a:off x="6023262" y="2791313"/>
            <a:ext cx="324310" cy="0"/>
          </a:xfrm>
          <a:prstGeom prst="line">
            <a:avLst/>
          </a:prstGeom>
          <a:noFill/>
          <a:ln w="10932">
            <a:solidFill>
              <a:srgbClr val="010834"/>
            </a:solidFill>
            <a:prstDash val="solid"/>
          </a:ln>
        </p:spPr>
      </p:sp>
      <p:sp>
        <p:nvSpPr>
          <p:cNvPr id="99" name="Shape 37"/>
          <p:cNvSpPr/>
          <p:nvPr/>
        </p:nvSpPr>
        <p:spPr>
          <a:xfrm>
            <a:off x="950914" y="4285262"/>
            <a:ext cx="266006" cy="0"/>
          </a:xfrm>
          <a:prstGeom prst="line">
            <a:avLst/>
          </a:prstGeom>
          <a:noFill/>
          <a:ln w="14576">
            <a:solidFill>
              <a:srgbClr val="2C324E"/>
            </a:solidFill>
            <a:prstDash val="sysDot"/>
          </a:ln>
        </p:spPr>
      </p:sp>
      <p:sp>
        <p:nvSpPr>
          <p:cNvPr id="100" name="Shape 38"/>
          <p:cNvSpPr/>
          <p:nvPr/>
        </p:nvSpPr>
        <p:spPr>
          <a:xfrm>
            <a:off x="8501133" y="5225456"/>
            <a:ext cx="484642" cy="0"/>
          </a:xfrm>
          <a:prstGeom prst="line">
            <a:avLst/>
          </a:prstGeom>
          <a:noFill/>
          <a:ln w="9525">
            <a:solidFill>
              <a:srgbClr val="C2D7F2"/>
            </a:solidFill>
            <a:prstDash val="solid"/>
          </a:ln>
        </p:spPr>
      </p:sp>
      <p:sp>
        <p:nvSpPr>
          <p:cNvPr id="101" name="Shape 39"/>
          <p:cNvSpPr/>
          <p:nvPr/>
        </p:nvSpPr>
        <p:spPr>
          <a:xfrm>
            <a:off x="5085275" y="6092747"/>
            <a:ext cx="0" cy="189438"/>
          </a:xfrm>
          <a:prstGeom prst="line">
            <a:avLst/>
          </a:prstGeom>
          <a:noFill/>
          <a:ln w="10932">
            <a:solidFill>
              <a:srgbClr val="B2C3DA"/>
            </a:solidFill>
            <a:prstDash val="solid"/>
          </a:ln>
        </p:spPr>
      </p:sp>
      <p:pic>
        <p:nvPicPr>
          <p:cNvPr id="102" name="Image 60" descr="image"/>
          <p:cNvPicPr>
            <a:picLocks noChangeAspect="1"/>
          </p:cNvPicPr>
          <p:nvPr/>
        </p:nvPicPr>
        <p:blipFill>
          <a:blip r:embed="rId61"/>
          <a:stretch>
            <a:fillRect/>
          </a:stretch>
        </p:blipFill>
        <p:spPr>
          <a:xfrm>
            <a:off x="870748" y="6318635"/>
            <a:ext cx="6923463" cy="247787"/>
          </a:xfrm>
          <a:prstGeom prst="rect">
            <a:avLst/>
          </a:prstGeom>
        </p:spPr>
      </p:pic>
      <p:sp>
        <p:nvSpPr>
          <p:cNvPr id="103" name="Shape 40"/>
          <p:cNvSpPr/>
          <p:nvPr/>
        </p:nvSpPr>
        <p:spPr>
          <a:xfrm>
            <a:off x="112811" y="794440"/>
            <a:ext cx="1851115" cy="1763661"/>
          </a:xfrm>
          <a:prstGeom prst="roundRect">
            <a:avLst>
              <a:gd name="adj" fmla="val 1653"/>
            </a:avLst>
          </a:prstGeom>
          <a:noFill/>
          <a:ln w="15875">
            <a:solidFill>
              <a:srgbClr val="1677FF"/>
            </a:solidFill>
            <a:prstDash val="solid"/>
          </a:ln>
        </p:spPr>
      </p:sp>
      <p:sp>
        <p:nvSpPr>
          <p:cNvPr id="104" name="Shape 41"/>
          <p:cNvSpPr/>
          <p:nvPr/>
        </p:nvSpPr>
        <p:spPr>
          <a:xfrm>
            <a:off x="120099" y="2674707"/>
            <a:ext cx="1851115" cy="1792812"/>
          </a:xfrm>
          <a:prstGeom prst="roundRect">
            <a:avLst>
              <a:gd name="adj" fmla="val 2040"/>
            </a:avLst>
          </a:prstGeom>
          <a:noFill/>
          <a:ln w="15875">
            <a:solidFill>
              <a:srgbClr val="FF7417"/>
            </a:solidFill>
            <a:prstDash val="solid"/>
          </a:ln>
        </p:spPr>
      </p:sp>
      <p:pic>
        <p:nvPicPr>
          <p:cNvPr id="105" name="Image 61" descr="image"/>
          <p:cNvPicPr>
            <a:picLocks noChangeAspect="1"/>
          </p:cNvPicPr>
          <p:nvPr/>
        </p:nvPicPr>
        <p:blipFill>
          <a:blip r:embed="rId62"/>
          <a:stretch>
            <a:fillRect/>
          </a:stretch>
        </p:blipFill>
        <p:spPr>
          <a:xfrm>
            <a:off x="98235" y="4554974"/>
            <a:ext cx="1887555" cy="1800100"/>
          </a:xfrm>
          <a:prstGeom prst="rect">
            <a:avLst/>
          </a:prstGeom>
        </p:spPr>
      </p:pic>
      <p:pic>
        <p:nvPicPr>
          <p:cNvPr id="106" name="Image 62" descr="image"/>
          <p:cNvPicPr>
            <a:picLocks noChangeAspect="1"/>
          </p:cNvPicPr>
          <p:nvPr/>
        </p:nvPicPr>
        <p:blipFill>
          <a:blip r:embed="rId63"/>
          <a:stretch>
            <a:fillRect/>
          </a:stretch>
        </p:blipFill>
        <p:spPr>
          <a:xfrm>
            <a:off x="2233577" y="3622128"/>
            <a:ext cx="2725658" cy="2762097"/>
          </a:xfrm>
          <a:prstGeom prst="rect">
            <a:avLst/>
          </a:prstGeom>
        </p:spPr>
      </p:pic>
      <p:sp>
        <p:nvSpPr>
          <p:cNvPr id="107" name="Shape 42"/>
          <p:cNvSpPr/>
          <p:nvPr/>
        </p:nvSpPr>
        <p:spPr>
          <a:xfrm>
            <a:off x="5228885" y="3716870"/>
            <a:ext cx="2368553" cy="2353977"/>
          </a:xfrm>
          <a:prstGeom prst="roundRect">
            <a:avLst>
              <a:gd name="adj" fmla="val 2167"/>
            </a:avLst>
          </a:prstGeom>
          <a:noFill/>
          <a:ln w="15875">
            <a:solidFill>
              <a:srgbClr val="D7E2EF"/>
            </a:solidFill>
            <a:prstDash val="dash"/>
          </a:ln>
        </p:spPr>
      </p:sp>
      <p:sp>
        <p:nvSpPr>
          <p:cNvPr id="108" name="Shape 43"/>
          <p:cNvSpPr/>
          <p:nvPr/>
        </p:nvSpPr>
        <p:spPr>
          <a:xfrm>
            <a:off x="7837938" y="371745"/>
            <a:ext cx="4219668" cy="4547622"/>
          </a:xfrm>
          <a:prstGeom prst="roundRect">
            <a:avLst>
              <a:gd name="adj" fmla="val 867"/>
            </a:avLst>
          </a:prstGeom>
          <a:noFill/>
          <a:ln w="15875">
            <a:solidFill>
              <a:srgbClr val="D7E2EF"/>
            </a:solidFill>
            <a:prstDash val="dash"/>
          </a:ln>
        </p:spPr>
      </p:sp>
      <p:sp>
        <p:nvSpPr>
          <p:cNvPr id="109" name="Shape 44"/>
          <p:cNvSpPr/>
          <p:nvPr/>
        </p:nvSpPr>
        <p:spPr>
          <a:xfrm>
            <a:off x="7837938" y="5086987"/>
            <a:ext cx="4219668" cy="1588752"/>
          </a:xfrm>
          <a:prstGeom prst="roundRect">
            <a:avLst>
              <a:gd name="adj" fmla="val 3211"/>
            </a:avLst>
          </a:prstGeom>
          <a:noFill/>
          <a:ln w="15875">
            <a:solidFill>
              <a:srgbClr val="D7E2EF"/>
            </a:solidFill>
            <a:prstDash val="dash"/>
          </a:ln>
        </p:spPr>
      </p:sp>
      <p:pic>
        <p:nvPicPr>
          <p:cNvPr id="110" name="Image 63" descr="icon"/>
          <p:cNvPicPr>
            <a:picLocks noChangeAspect="1"/>
          </p:cNvPicPr>
          <p:nvPr/>
        </p:nvPicPr>
        <p:blipFill>
          <a:blip r:embed="rId64"/>
          <a:stretch>
            <a:fillRect/>
          </a:stretch>
        </p:blipFill>
        <p:spPr>
          <a:xfrm>
            <a:off x="11277805" y="5480531"/>
            <a:ext cx="626756" cy="772513"/>
          </a:xfrm>
          <a:prstGeom prst="rect">
            <a:avLst/>
          </a:prstGeom>
        </p:spPr>
      </p:pic>
      <p:pic>
        <p:nvPicPr>
          <p:cNvPr id="111" name="Image 64" descr="icon"/>
          <p:cNvPicPr>
            <a:picLocks noChangeAspect="1"/>
          </p:cNvPicPr>
          <p:nvPr/>
        </p:nvPicPr>
        <p:blipFill>
          <a:blip r:embed="rId65"/>
          <a:stretch>
            <a:fillRect/>
          </a:stretch>
        </p:blipFill>
        <p:spPr>
          <a:xfrm>
            <a:off x="9375675" y="5626288"/>
            <a:ext cx="546589" cy="619468"/>
          </a:xfrm>
          <a:prstGeom prst="rect">
            <a:avLst/>
          </a:prstGeom>
        </p:spPr>
      </p:pic>
      <p:pic>
        <p:nvPicPr>
          <p:cNvPr id="112" name="Image 65" descr="icon"/>
          <p:cNvPicPr>
            <a:picLocks noChangeAspect="1"/>
          </p:cNvPicPr>
          <p:nvPr/>
        </p:nvPicPr>
        <p:blipFill>
          <a:blip r:embed="rId66"/>
          <a:stretch>
            <a:fillRect/>
          </a:stretch>
        </p:blipFill>
        <p:spPr>
          <a:xfrm>
            <a:off x="8020134" y="6012545"/>
            <a:ext cx="429983" cy="561165"/>
          </a:xfrm>
          <a:prstGeom prst="rect">
            <a:avLst/>
          </a:prstGeom>
        </p:spPr>
      </p:pic>
      <p:pic>
        <p:nvPicPr>
          <p:cNvPr id="113" name="Image 66" descr="icon"/>
          <p:cNvPicPr>
            <a:picLocks noChangeAspect="1"/>
          </p:cNvPicPr>
          <p:nvPr/>
        </p:nvPicPr>
        <p:blipFill>
          <a:blip r:embed="rId67"/>
          <a:stretch>
            <a:fillRect/>
          </a:stretch>
        </p:blipFill>
        <p:spPr>
          <a:xfrm>
            <a:off x="8020134" y="5269184"/>
            <a:ext cx="429983" cy="532013"/>
          </a:xfrm>
          <a:prstGeom prst="rect">
            <a:avLst/>
          </a:prstGeom>
        </p:spPr>
      </p:pic>
      <p:pic>
        <p:nvPicPr>
          <p:cNvPr id="114" name="Image 67" descr="icon"/>
          <p:cNvPicPr>
            <a:picLocks noChangeAspect="1"/>
          </p:cNvPicPr>
          <p:nvPr/>
        </p:nvPicPr>
        <p:blipFill>
          <a:blip r:embed="rId68"/>
          <a:stretch>
            <a:fillRect/>
          </a:stretch>
        </p:blipFill>
        <p:spPr>
          <a:xfrm>
            <a:off x="11460002" y="2609116"/>
            <a:ext cx="444559" cy="466423"/>
          </a:xfrm>
          <a:prstGeom prst="rect">
            <a:avLst/>
          </a:prstGeom>
        </p:spPr>
      </p:pic>
      <p:pic>
        <p:nvPicPr>
          <p:cNvPr id="115" name="Image 68" descr="icon"/>
          <p:cNvPicPr>
            <a:picLocks noChangeAspect="1"/>
          </p:cNvPicPr>
          <p:nvPr/>
        </p:nvPicPr>
        <p:blipFill>
          <a:blip r:embed="rId69"/>
          <a:stretch>
            <a:fillRect/>
          </a:stretch>
        </p:blipFill>
        <p:spPr>
          <a:xfrm>
            <a:off x="11569320" y="1741861"/>
            <a:ext cx="422696" cy="459135"/>
          </a:xfrm>
          <a:prstGeom prst="rect">
            <a:avLst/>
          </a:prstGeom>
        </p:spPr>
      </p:pic>
      <p:pic>
        <p:nvPicPr>
          <p:cNvPr id="116" name="Image 69" descr="icon"/>
          <p:cNvPicPr>
            <a:picLocks noChangeAspect="1"/>
          </p:cNvPicPr>
          <p:nvPr/>
        </p:nvPicPr>
        <p:blipFill>
          <a:blip r:embed="rId70"/>
          <a:stretch>
            <a:fillRect/>
          </a:stretch>
        </p:blipFill>
        <p:spPr>
          <a:xfrm>
            <a:off x="11452714" y="947485"/>
            <a:ext cx="422696" cy="451847"/>
          </a:xfrm>
          <a:prstGeom prst="rect">
            <a:avLst/>
          </a:prstGeom>
        </p:spPr>
      </p:pic>
      <p:sp>
        <p:nvSpPr>
          <p:cNvPr id="118" name="Text 46"/>
          <p:cNvSpPr txBox="1"/>
          <p:nvPr/>
        </p:nvSpPr>
        <p:spPr>
          <a:xfrm>
            <a:off x="207553" y="830743"/>
            <a:ext cx="510423" cy="284500"/>
          </a:xfrm>
          <a:prstGeom prst="rect">
            <a:avLst/>
          </a:prstGeom>
          <a:noFill/>
        </p:spPr>
        <p:txBody>
          <a:bodyPr wrap="none" lIns="0" tIns="0" rIns="0" bIns="0" rtlCol="0" anchor="ctr"/>
          <a:lstStyle/>
          <a:p>
            <a:pPr marL="0" indent="0" algn="l">
              <a:buNone/>
            </a:pPr>
            <a:r>
              <a:rPr lang="en-US" sz="1400" b="1" dirty="0">
                <a:solidFill>
                  <a:srgbClr val="00136E"/>
                </a:solidFill>
                <a:latin typeface="Arial" panose="020B0604020202020204" pitchFamily="34" charset="0"/>
                <a:ea typeface="黑体" panose="02010609060101010101" pitchFamily="34" charset="-122"/>
                <a:cs typeface="黑体" panose="02010609060101010101" pitchFamily="34" charset="-120"/>
              </a:rPr>
              <a:t>正文</a:t>
            </a:r>
            <a:endParaRPr lang="en-US" sz="1400" dirty="0"/>
          </a:p>
        </p:txBody>
      </p:sp>
      <p:sp>
        <p:nvSpPr>
          <p:cNvPr id="119" name="Text 47"/>
          <p:cNvSpPr txBox="1"/>
          <p:nvPr/>
        </p:nvSpPr>
        <p:spPr>
          <a:xfrm>
            <a:off x="229417" y="2732873"/>
            <a:ext cx="495848" cy="277212"/>
          </a:xfrm>
          <a:prstGeom prst="rect">
            <a:avLst/>
          </a:prstGeom>
          <a:noFill/>
        </p:spPr>
        <p:txBody>
          <a:bodyPr wrap="none" lIns="0" tIns="0" rIns="0" bIns="0" rtlCol="0" anchor="ctr"/>
          <a:lstStyle/>
          <a:p>
            <a:pPr marL="0" indent="0" algn="l">
              <a:buNone/>
            </a:pPr>
            <a:r>
              <a:rPr lang="en-US" sz="1400" b="1" dirty="0">
                <a:solidFill>
                  <a:srgbClr val="A8320C"/>
                </a:solidFill>
                <a:latin typeface="Arial" panose="020B0604020202020204" pitchFamily="34" charset="0"/>
                <a:ea typeface="黑体" panose="02010609060101010101" pitchFamily="34" charset="-122"/>
                <a:cs typeface="黑体" panose="02010609060101010101" pitchFamily="34" charset="-120"/>
              </a:rPr>
              <a:t>标题</a:t>
            </a:r>
            <a:endParaRPr lang="en-US" sz="1400" dirty="0"/>
          </a:p>
        </p:txBody>
      </p:sp>
      <p:sp>
        <p:nvSpPr>
          <p:cNvPr id="120" name="Text 48"/>
          <p:cNvSpPr txBox="1"/>
          <p:nvPr/>
        </p:nvSpPr>
        <p:spPr>
          <a:xfrm>
            <a:off x="287719" y="3104554"/>
            <a:ext cx="248061" cy="299076"/>
          </a:xfrm>
          <a:prstGeom prst="rect">
            <a:avLst/>
          </a:prstGeom>
          <a:noFill/>
        </p:spPr>
        <p:txBody>
          <a:bodyPr wrap="none" lIns="0" tIns="0" rIns="0" bIns="0" rtlCol="0" anchor="ctr"/>
          <a:lstStyle/>
          <a:p>
            <a:pPr marL="0" indent="0" algn="l">
              <a:buNone/>
            </a:pPr>
            <a:r>
              <a:rPr lang="en-US" sz="2110" b="1" dirty="0">
                <a:solidFill>
                  <a:srgbClr val="00042A"/>
                </a:solidFill>
                <a:latin typeface="Arial" panose="020B0604020202020204" pitchFamily="34" charset="0"/>
                <a:ea typeface="Arial" panose="020B0604020202020204" pitchFamily="34" charset="-122"/>
                <a:cs typeface="Arial" panose="020B0604020202020204" pitchFamily="34" charset="-120"/>
              </a:rPr>
              <a:t>3</a:t>
            </a:r>
            <a:endParaRPr lang="en-US" sz="2110" dirty="0"/>
          </a:p>
        </p:txBody>
      </p:sp>
      <p:sp>
        <p:nvSpPr>
          <p:cNvPr id="121" name="Text 49"/>
          <p:cNvSpPr txBox="1"/>
          <p:nvPr/>
        </p:nvSpPr>
        <p:spPr>
          <a:xfrm>
            <a:off x="280432" y="3490810"/>
            <a:ext cx="1027861" cy="233485"/>
          </a:xfrm>
          <a:prstGeom prst="rect">
            <a:avLst/>
          </a:prstGeom>
          <a:noFill/>
        </p:spPr>
        <p:txBody>
          <a:bodyPr wrap="none" lIns="0" tIns="0" rIns="0" bIns="0" rtlCol="0" anchor="ctr"/>
          <a:lstStyle/>
          <a:p>
            <a:pPr marL="0" indent="0" algn="l">
              <a:buNone/>
            </a:pPr>
            <a:r>
              <a:rPr lang="en-US" sz="1200" dirty="0">
                <a:solidFill>
                  <a:srgbClr val="071D55"/>
                </a:solidFill>
                <a:latin typeface="华文中宋" pitchFamily="34" charset="0"/>
                <a:ea typeface="华文中宋" pitchFamily="34" charset="-122"/>
                <a:cs typeface="华文中宋" pitchFamily="34" charset="-120"/>
              </a:rPr>
              <a:t>3.1 研究设计</a:t>
            </a:r>
            <a:endParaRPr lang="en-US" sz="1200" dirty="0"/>
          </a:p>
        </p:txBody>
      </p:sp>
      <p:sp>
        <p:nvSpPr>
          <p:cNvPr id="122" name="Text 50"/>
          <p:cNvSpPr txBox="1"/>
          <p:nvPr/>
        </p:nvSpPr>
        <p:spPr>
          <a:xfrm>
            <a:off x="236704" y="4642291"/>
            <a:ext cx="481272" cy="277212"/>
          </a:xfrm>
          <a:prstGeom prst="rect">
            <a:avLst/>
          </a:prstGeom>
          <a:noFill/>
        </p:spPr>
        <p:txBody>
          <a:bodyPr wrap="none" lIns="0" tIns="0" rIns="0" bIns="0" rtlCol="0" anchor="ctr"/>
          <a:lstStyle/>
          <a:p>
            <a:pPr marL="0" indent="0" algn="l">
              <a:buNone/>
            </a:pPr>
            <a:r>
              <a:rPr lang="en-US" sz="1400" b="1" dirty="0">
                <a:solidFill>
                  <a:srgbClr val="071D55"/>
                </a:solidFill>
                <a:latin typeface="Arial" panose="020B0604020202020204" pitchFamily="34" charset="0"/>
                <a:ea typeface="黑体" panose="02010609060101010101" pitchFamily="34" charset="-122"/>
                <a:cs typeface="黑体" panose="02010609060101010101" pitchFamily="34" charset="-120"/>
              </a:rPr>
              <a:t>脚注</a:t>
            </a:r>
            <a:endParaRPr lang="en-US" sz="1400" dirty="0"/>
          </a:p>
        </p:txBody>
      </p:sp>
      <p:sp>
        <p:nvSpPr>
          <p:cNvPr id="123" name="Text 51"/>
          <p:cNvSpPr txBox="1"/>
          <p:nvPr/>
        </p:nvSpPr>
        <p:spPr>
          <a:xfrm>
            <a:off x="302295" y="5079563"/>
            <a:ext cx="146031" cy="138743"/>
          </a:xfrm>
          <a:prstGeom prst="rect">
            <a:avLst/>
          </a:prstGeom>
          <a:noFill/>
        </p:spPr>
        <p:txBody>
          <a:bodyPr wrap="none" lIns="0" tIns="0" rIns="0" bIns="0" rtlCol="0" anchor="ctr"/>
          <a:lstStyle/>
          <a:p>
            <a:pPr marL="0" indent="0" algn="l">
              <a:buNone/>
            </a:pPr>
            <a:r>
              <a:rPr lang="en-US" sz="1060" b="1" dirty="0">
                <a:solidFill>
                  <a:srgbClr val="071D55"/>
                </a:solidFill>
                <a:latin typeface="Arial" panose="020B0604020202020204" pitchFamily="34" charset="0"/>
                <a:ea typeface="Arial" panose="020B0604020202020204" pitchFamily="34" charset="-122"/>
                <a:cs typeface="Arial" panose="020B0604020202020204" pitchFamily="34" charset="-120"/>
              </a:rPr>
              <a:t>*</a:t>
            </a:r>
            <a:endParaRPr lang="en-US" sz="1060" dirty="0"/>
          </a:p>
        </p:txBody>
      </p:sp>
      <p:sp>
        <p:nvSpPr>
          <p:cNvPr id="124" name="Text 52"/>
          <p:cNvSpPr txBox="1"/>
          <p:nvPr/>
        </p:nvSpPr>
        <p:spPr>
          <a:xfrm>
            <a:off x="528219" y="5094275"/>
            <a:ext cx="1333951" cy="524999"/>
          </a:xfrm>
          <a:prstGeom prst="rect">
            <a:avLst/>
          </a:prstGeom>
          <a:noFill/>
        </p:spPr>
        <p:txBody>
          <a:bodyPr wrap="none" lIns="0" tIns="0" rIns="0" bIns="0" rtlCol="0" anchor="t"/>
          <a:lstStyle/>
          <a:p>
            <a:pPr marL="0" indent="0" algn="l">
              <a:lnSpc>
                <a:spcPts val="2125"/>
              </a:lnSpc>
              <a:buNone/>
            </a:pPr>
            <a:r>
              <a:rPr lang="en-US" sz="1140" dirty="0">
                <a:solidFill>
                  <a:srgbClr val="071D55"/>
                </a:solidFill>
                <a:latin typeface="华文中宋" pitchFamily="34" charset="0"/>
                <a:ea typeface="华文中宋" pitchFamily="34" charset="-122"/>
                <a:cs typeface="华文中宋" pitchFamily="34" charset="-120"/>
              </a:rPr>
              <a:t>在下列情况下应</a:t>
            </a:r>
            <a:endParaRPr lang="en-US" sz="1140" dirty="0"/>
          </a:p>
          <a:p>
            <a:pPr marL="0" indent="0" algn="l">
              <a:lnSpc>
                <a:spcPts val="2125"/>
              </a:lnSpc>
              <a:buNone/>
            </a:pPr>
            <a:r>
              <a:rPr lang="en-US" sz="1140" dirty="0">
                <a:solidFill>
                  <a:srgbClr val="000016"/>
                </a:solidFill>
                <a:latin typeface="华文中宋" pitchFamily="34" charset="0"/>
                <a:ea typeface="华文中宋" pitchFamily="34" charset="-122"/>
                <a:cs typeface="华文中宋" pitchFamily="34" charset="-120"/>
              </a:rPr>
              <a:t>排除 E</a:t>
            </a:r>
            <a:endParaRPr lang="en-US" sz="1140" dirty="0"/>
          </a:p>
        </p:txBody>
      </p:sp>
      <p:sp>
        <p:nvSpPr>
          <p:cNvPr id="125" name="Text 53"/>
          <p:cNvSpPr txBox="1"/>
          <p:nvPr/>
        </p:nvSpPr>
        <p:spPr>
          <a:xfrm>
            <a:off x="2357470" y="772440"/>
            <a:ext cx="1574450" cy="350091"/>
          </a:xfrm>
          <a:prstGeom prst="rect">
            <a:avLst/>
          </a:prstGeom>
          <a:noFill/>
        </p:spPr>
        <p:txBody>
          <a:bodyPr wrap="none" lIns="0" tIns="0" rIns="0" bIns="0" rtlCol="0" anchor="ctr"/>
          <a:lstStyle/>
          <a:p>
            <a:pPr marL="0" indent="0" algn="l">
              <a:buNone/>
            </a:pPr>
            <a:r>
              <a:rPr lang="en-US" sz="1760" dirty="0">
                <a:solidFill>
                  <a:srgbClr val="071D55"/>
                </a:solidFill>
                <a:latin typeface="华文中宋" pitchFamily="34" charset="0"/>
                <a:ea typeface="华文中宋" pitchFamily="34" charset="-122"/>
                <a:cs typeface="华文中宋" pitchFamily="34" charset="-120"/>
              </a:rPr>
              <a:t>内容结构图 G</a:t>
            </a:r>
            <a:r>
              <a:rPr lang="en-US" sz="1760" dirty="0">
                <a:solidFill>
                  <a:srgbClr val="071D55"/>
                </a:solidFill>
                <a:latin typeface="华文中宋" pitchFamily="34" charset="0"/>
                <a:ea typeface="华文中宋" pitchFamily="34" charset="-122"/>
                <a:cs typeface="华文中宋" pitchFamily="34" charset="-120"/>
              </a:rPr>
              <a:t>s</a:t>
            </a:r>
            <a:endParaRPr lang="en-US" sz="1760" dirty="0"/>
          </a:p>
        </p:txBody>
      </p:sp>
      <p:sp>
        <p:nvSpPr>
          <p:cNvPr id="126" name="Text 54"/>
          <p:cNvSpPr txBox="1"/>
          <p:nvPr/>
        </p:nvSpPr>
        <p:spPr>
          <a:xfrm>
            <a:off x="3421497" y="1253438"/>
            <a:ext cx="327953" cy="226197"/>
          </a:xfrm>
          <a:prstGeom prst="rect">
            <a:avLst/>
          </a:prstGeom>
          <a:noFill/>
        </p:spPr>
        <p:txBody>
          <a:bodyPr wrap="none" lIns="0" tIns="0" rIns="0" bIns="0" rtlCol="0" anchor="ctr"/>
          <a:lstStyle/>
          <a:p>
            <a:pPr marL="0" indent="0" algn="ctr">
              <a:buNone/>
            </a:pPr>
            <a:r>
              <a:rPr lang="en-US" sz="1110" b="1" dirty="0">
                <a:solidFill>
                  <a:srgbClr val="071D55"/>
                </a:solidFill>
                <a:latin typeface="Arial" panose="020B0604020202020204" pitchFamily="34" charset="0"/>
                <a:ea typeface="黑体" panose="02010609060101010101" pitchFamily="34" charset="-122"/>
                <a:cs typeface="黑体" panose="02010609060101010101" pitchFamily="34" charset="-120"/>
              </a:rPr>
              <a:t>标题</a:t>
            </a:r>
            <a:endParaRPr lang="en-US" sz="1110" dirty="0"/>
          </a:p>
        </p:txBody>
      </p:sp>
      <p:sp>
        <p:nvSpPr>
          <p:cNvPr id="127" name="Text 55"/>
          <p:cNvSpPr txBox="1"/>
          <p:nvPr/>
        </p:nvSpPr>
        <p:spPr>
          <a:xfrm>
            <a:off x="2532379" y="1865618"/>
            <a:ext cx="342529" cy="255348"/>
          </a:xfrm>
          <a:prstGeom prst="rect">
            <a:avLst/>
          </a:prstGeom>
          <a:noFill/>
        </p:spPr>
        <p:txBody>
          <a:bodyPr wrap="none" lIns="0" tIns="0" rIns="0" bIns="0" rtlCol="0" anchor="ctr"/>
          <a:lstStyle/>
          <a:p>
            <a:pPr marL="0" indent="0" algn="ctr">
              <a:buNone/>
            </a:pPr>
            <a:r>
              <a:rPr lang="en-US" sz="1110" b="1" dirty="0">
                <a:solidFill>
                  <a:srgbClr val="071D55"/>
                </a:solidFill>
                <a:latin typeface="Arial" panose="020B0604020202020204" pitchFamily="34" charset="0"/>
                <a:ea typeface="黑体" panose="02010609060101010101" pitchFamily="34" charset="-122"/>
                <a:cs typeface="黑体" panose="02010609060101010101" pitchFamily="34" charset="-120"/>
              </a:rPr>
              <a:t>正文</a:t>
            </a:r>
            <a:endParaRPr lang="en-US" sz="1110" dirty="0"/>
          </a:p>
        </p:txBody>
      </p:sp>
      <p:sp>
        <p:nvSpPr>
          <p:cNvPr id="128" name="Text 56"/>
          <p:cNvSpPr txBox="1"/>
          <p:nvPr/>
        </p:nvSpPr>
        <p:spPr>
          <a:xfrm>
            <a:off x="4303328" y="1872906"/>
            <a:ext cx="335241" cy="255348"/>
          </a:xfrm>
          <a:prstGeom prst="rect">
            <a:avLst/>
          </a:prstGeom>
          <a:noFill/>
        </p:spPr>
        <p:txBody>
          <a:bodyPr wrap="none" lIns="0" tIns="0" rIns="0" bIns="0" rtlCol="0" anchor="ctr"/>
          <a:lstStyle/>
          <a:p>
            <a:pPr marL="0" indent="0" algn="ctr">
              <a:buNone/>
            </a:pPr>
            <a:r>
              <a:rPr lang="en-US" sz="1110" b="1" dirty="0">
                <a:solidFill>
                  <a:srgbClr val="01072F"/>
                </a:solidFill>
                <a:latin typeface="Arial" panose="020B0604020202020204" pitchFamily="34" charset="0"/>
                <a:ea typeface="黑体" panose="02010609060101010101" pitchFamily="34" charset="-122"/>
                <a:cs typeface="黑体" panose="02010609060101010101" pitchFamily="34" charset="-120"/>
              </a:rPr>
              <a:t>引用</a:t>
            </a:r>
            <a:endParaRPr lang="en-US" sz="1110" dirty="0"/>
          </a:p>
        </p:txBody>
      </p:sp>
      <p:sp>
        <p:nvSpPr>
          <p:cNvPr id="129" name="Text 57"/>
          <p:cNvSpPr txBox="1"/>
          <p:nvPr/>
        </p:nvSpPr>
        <p:spPr>
          <a:xfrm>
            <a:off x="3414209" y="2215435"/>
            <a:ext cx="342529" cy="255348"/>
          </a:xfrm>
          <a:prstGeom prst="rect">
            <a:avLst/>
          </a:prstGeom>
          <a:noFill/>
        </p:spPr>
        <p:txBody>
          <a:bodyPr wrap="none" lIns="0" tIns="0" rIns="0" bIns="0" rtlCol="0" anchor="ctr"/>
          <a:lstStyle/>
          <a:p>
            <a:pPr marL="0" indent="0" algn="ctr">
              <a:buNone/>
            </a:pPr>
            <a:r>
              <a:rPr lang="en-US" sz="1110" b="1" dirty="0">
                <a:solidFill>
                  <a:srgbClr val="000733"/>
                </a:solidFill>
                <a:latin typeface="Arial" panose="020B0604020202020204" pitchFamily="34" charset="0"/>
                <a:ea typeface="黑体" panose="02010609060101010101" pitchFamily="34" charset="-122"/>
                <a:cs typeface="黑体" panose="02010609060101010101" pitchFamily="34" charset="-120"/>
              </a:rPr>
              <a:t>条目</a:t>
            </a:r>
            <a:endParaRPr lang="en-US" sz="1110" dirty="0"/>
          </a:p>
        </p:txBody>
      </p:sp>
      <p:sp>
        <p:nvSpPr>
          <p:cNvPr id="130" name="Text 58"/>
          <p:cNvSpPr txBox="1"/>
          <p:nvPr/>
        </p:nvSpPr>
        <p:spPr>
          <a:xfrm>
            <a:off x="688551" y="1581392"/>
            <a:ext cx="787362" cy="262636"/>
          </a:xfrm>
          <a:prstGeom prst="rect">
            <a:avLst/>
          </a:prstGeom>
          <a:noFill/>
        </p:spPr>
        <p:txBody>
          <a:bodyPr wrap="none" lIns="0" tIns="0" rIns="0" bIns="0" rtlCol="0" anchor="ctr"/>
          <a:lstStyle/>
          <a:p>
            <a:pPr marL="0" indent="0" algn="l">
              <a:buNone/>
            </a:pPr>
            <a:r>
              <a:rPr lang="en-US" sz="1280" b="1" dirty="0">
                <a:solidFill>
                  <a:srgbClr val="071D55"/>
                </a:solidFill>
                <a:latin typeface="微软雅黑" panose="020B0503020204020204" pitchFamily="34" charset="-122"/>
                <a:ea typeface="微软雅黑" panose="020B0503020204020204" pitchFamily="34" charset="-122"/>
                <a:cs typeface="微软雅黑" panose="020B0503020204020204" pitchFamily="34" charset="-120"/>
              </a:rPr>
              <a:t>X支持D。</a:t>
            </a:r>
            <a:endParaRPr lang="en-US" sz="1280" dirty="0"/>
          </a:p>
        </p:txBody>
      </p:sp>
      <p:sp>
        <p:nvSpPr>
          <p:cNvPr id="131" name="Text 59"/>
          <p:cNvSpPr txBox="1"/>
          <p:nvPr/>
        </p:nvSpPr>
        <p:spPr>
          <a:xfrm>
            <a:off x="644824" y="3097266"/>
            <a:ext cx="801938" cy="299076"/>
          </a:xfrm>
          <a:prstGeom prst="rect">
            <a:avLst/>
          </a:prstGeom>
          <a:noFill/>
        </p:spPr>
        <p:txBody>
          <a:bodyPr wrap="none" lIns="0" tIns="0" rIns="0" bIns="0" rtlCol="0" anchor="ctr"/>
          <a:lstStyle/>
          <a:p>
            <a:pPr marL="0" indent="0" algn="l">
              <a:buNone/>
            </a:pPr>
            <a:r>
              <a:rPr lang="en-US" sz="1550" b="1" dirty="0">
                <a:solidFill>
                  <a:srgbClr val="00081D"/>
                </a:solidFill>
                <a:latin typeface="Arial" panose="020B0604020202020204" pitchFamily="34" charset="0"/>
                <a:ea typeface="黑体" panose="02010609060101010101" pitchFamily="34" charset="-122"/>
                <a:cs typeface="黑体" panose="02010609060101010101" pitchFamily="34" charset="-120"/>
              </a:rPr>
              <a:t>方法 M</a:t>
            </a:r>
            <a:endParaRPr lang="en-US" sz="1550" dirty="0"/>
          </a:p>
        </p:txBody>
      </p:sp>
      <p:sp>
        <p:nvSpPr>
          <p:cNvPr id="132" name="Text 60"/>
          <p:cNvSpPr txBox="1"/>
          <p:nvPr/>
        </p:nvSpPr>
        <p:spPr>
          <a:xfrm>
            <a:off x="2597970" y="2864054"/>
            <a:ext cx="320666" cy="226197"/>
          </a:xfrm>
          <a:prstGeom prst="rect">
            <a:avLst/>
          </a:prstGeom>
          <a:noFill/>
        </p:spPr>
        <p:txBody>
          <a:bodyPr wrap="none" lIns="0" tIns="0" rIns="0" bIns="0" rtlCol="0" anchor="ctr"/>
          <a:lstStyle/>
          <a:p>
            <a:pPr marL="0" indent="0" algn="ctr">
              <a:buNone/>
            </a:pPr>
            <a:r>
              <a:rPr lang="en-US" sz="1110" b="1" dirty="0">
                <a:solidFill>
                  <a:srgbClr val="17120D"/>
                </a:solidFill>
                <a:latin typeface="Arial" panose="020B0604020202020204" pitchFamily="34" charset="0"/>
                <a:ea typeface="黑体" panose="02010609060101010101" pitchFamily="34" charset="-122"/>
                <a:cs typeface="黑体" panose="02010609060101010101" pitchFamily="34" charset="-120"/>
              </a:rPr>
              <a:t>脚注</a:t>
            </a:r>
            <a:endParaRPr lang="en-US" sz="1110" dirty="0"/>
          </a:p>
        </p:txBody>
      </p:sp>
      <p:sp>
        <p:nvSpPr>
          <p:cNvPr id="133" name="Text 61"/>
          <p:cNvSpPr txBox="1"/>
          <p:nvPr/>
        </p:nvSpPr>
        <p:spPr>
          <a:xfrm>
            <a:off x="4398070" y="2871342"/>
            <a:ext cx="320666" cy="218909"/>
          </a:xfrm>
          <a:prstGeom prst="rect">
            <a:avLst/>
          </a:prstGeom>
          <a:noFill/>
        </p:spPr>
        <p:txBody>
          <a:bodyPr wrap="none" lIns="0" tIns="0" rIns="0" bIns="0" rtlCol="0" anchor="ctr"/>
          <a:lstStyle/>
          <a:p>
            <a:pPr marL="0" indent="0" algn="ctr">
              <a:buNone/>
            </a:pPr>
            <a:r>
              <a:rPr lang="en-US" sz="1110" b="1" dirty="0">
                <a:solidFill>
                  <a:srgbClr val="170D20"/>
                </a:solidFill>
                <a:latin typeface="Arial" panose="020B0604020202020204" pitchFamily="34" charset="0"/>
                <a:ea typeface="黑体" panose="02010609060101010101" pitchFamily="34" charset="-122"/>
                <a:cs typeface="黑体" panose="02010609060101010101" pitchFamily="34" charset="-120"/>
              </a:rPr>
              <a:t>位置</a:t>
            </a:r>
            <a:endParaRPr lang="en-US" sz="1110" dirty="0"/>
          </a:p>
        </p:txBody>
      </p:sp>
      <p:sp>
        <p:nvSpPr>
          <p:cNvPr id="134" name="Text 62"/>
          <p:cNvSpPr txBox="1"/>
          <p:nvPr/>
        </p:nvSpPr>
        <p:spPr>
          <a:xfrm>
            <a:off x="5658869" y="4183156"/>
            <a:ext cx="327953" cy="226197"/>
          </a:xfrm>
          <a:prstGeom prst="rect">
            <a:avLst/>
          </a:prstGeom>
          <a:noFill/>
        </p:spPr>
        <p:txBody>
          <a:bodyPr wrap="none" lIns="0" tIns="0" rIns="0" bIns="0" rtlCol="0" anchor="ctr"/>
          <a:lstStyle/>
          <a:p>
            <a:pPr marL="0" indent="0" algn="ctr">
              <a:buNone/>
            </a:pPr>
            <a:r>
              <a:rPr lang="en-US" sz="1110" b="1" dirty="0">
                <a:solidFill>
                  <a:srgbClr val="170D20"/>
                </a:solidFill>
                <a:latin typeface="Arial" panose="020B0604020202020204" pitchFamily="34" charset="0"/>
                <a:ea typeface="黑体" panose="02010609060101010101" pitchFamily="34" charset="-122"/>
                <a:cs typeface="黑体" panose="02010609060101010101" pitchFamily="34" charset="-120"/>
              </a:rPr>
              <a:t>位置</a:t>
            </a:r>
            <a:endParaRPr lang="en-US" sz="1110" dirty="0"/>
          </a:p>
        </p:txBody>
      </p:sp>
      <p:sp>
        <p:nvSpPr>
          <p:cNvPr id="135" name="Text 63"/>
          <p:cNvSpPr txBox="1"/>
          <p:nvPr/>
        </p:nvSpPr>
        <p:spPr>
          <a:xfrm>
            <a:off x="2357470" y="3760461"/>
            <a:ext cx="1640041" cy="350091"/>
          </a:xfrm>
          <a:prstGeom prst="rect">
            <a:avLst/>
          </a:prstGeom>
          <a:noFill/>
        </p:spPr>
        <p:txBody>
          <a:bodyPr wrap="none" lIns="0" tIns="0" rIns="0" bIns="0" rtlCol="0" anchor="ctr"/>
          <a:lstStyle/>
          <a:p>
            <a:pPr marL="0" indent="0" algn="l">
              <a:buNone/>
            </a:pPr>
            <a:r>
              <a:rPr lang="en-US" sz="1720" dirty="0">
                <a:solidFill>
                  <a:srgbClr val="071D55"/>
                </a:solidFill>
                <a:latin typeface="华文中宋" pitchFamily="34" charset="0"/>
                <a:ea typeface="华文中宋" pitchFamily="34" charset="-122"/>
                <a:cs typeface="华文中宋" pitchFamily="34" charset="-120"/>
              </a:rPr>
              <a:t>医学语义图 G</a:t>
            </a:r>
            <a:r>
              <a:rPr lang="en-US" sz="1720" dirty="0">
                <a:solidFill>
                  <a:srgbClr val="071D55"/>
                </a:solidFill>
                <a:latin typeface="华文中宋" pitchFamily="34" charset="0"/>
                <a:ea typeface="华文中宋" pitchFamily="34" charset="-122"/>
                <a:cs typeface="华文中宋" pitchFamily="34" charset="-120"/>
              </a:rPr>
              <a:t>m</a:t>
            </a:r>
            <a:endParaRPr lang="en-US" sz="1720" dirty="0"/>
          </a:p>
        </p:txBody>
      </p:sp>
      <p:sp>
        <p:nvSpPr>
          <p:cNvPr id="136" name="Text 64"/>
          <p:cNvSpPr txBox="1"/>
          <p:nvPr/>
        </p:nvSpPr>
        <p:spPr>
          <a:xfrm>
            <a:off x="2714575" y="4336201"/>
            <a:ext cx="240499" cy="262636"/>
          </a:xfrm>
          <a:prstGeom prst="rect">
            <a:avLst/>
          </a:prstGeom>
          <a:noFill/>
        </p:spPr>
        <p:txBody>
          <a:bodyPr wrap="none" lIns="0" tIns="0" rIns="0" bIns="0" rtlCol="0" anchor="ctr"/>
          <a:lstStyle/>
          <a:p>
            <a:pPr marL="0" indent="0" algn="ctr">
              <a:buNone/>
            </a:pPr>
            <a:r>
              <a:rPr lang="en-US" sz="1880" b="1" dirty="0">
                <a:solidFill>
                  <a:srgbClr val="071D55"/>
                </a:solidFill>
                <a:latin typeface="Times New Roman" panose="02020603050405020304" pitchFamily="34" charset="0"/>
                <a:ea typeface="Times New Roman" panose="02020603050405020304" pitchFamily="34" charset="-122"/>
                <a:cs typeface="Times New Roman" panose="02020603050405020304" pitchFamily="34" charset="-120"/>
              </a:rPr>
              <a:t>X</a:t>
            </a:r>
            <a:endParaRPr lang="en-US" sz="1880" dirty="0"/>
          </a:p>
        </p:txBody>
      </p:sp>
      <p:sp>
        <p:nvSpPr>
          <p:cNvPr id="137" name="Text 65"/>
          <p:cNvSpPr txBox="1"/>
          <p:nvPr/>
        </p:nvSpPr>
        <p:spPr>
          <a:xfrm>
            <a:off x="4281464" y="4336201"/>
            <a:ext cx="233211" cy="269924"/>
          </a:xfrm>
          <a:prstGeom prst="rect">
            <a:avLst/>
          </a:prstGeom>
          <a:noFill/>
        </p:spPr>
        <p:txBody>
          <a:bodyPr wrap="none" lIns="0" tIns="0" rIns="0" bIns="0" rtlCol="0" anchor="ctr"/>
          <a:lstStyle/>
          <a:p>
            <a:pPr marL="0" indent="0" algn="ctr">
              <a:buNone/>
            </a:pPr>
            <a:r>
              <a:rPr lang="en-US" sz="1960" b="1" dirty="0">
                <a:solidFill>
                  <a:srgbClr val="071D55"/>
                </a:solidFill>
                <a:latin typeface="Times New Roman" panose="02020603050405020304" pitchFamily="34" charset="0"/>
                <a:ea typeface="Times New Roman" panose="02020603050405020304" pitchFamily="34" charset="-122"/>
                <a:cs typeface="Times New Roman" panose="02020603050405020304" pitchFamily="34" charset="-120"/>
              </a:rPr>
              <a:t>D</a:t>
            </a:r>
            <a:endParaRPr lang="en-US" sz="1960" dirty="0"/>
          </a:p>
        </p:txBody>
      </p:sp>
      <p:sp>
        <p:nvSpPr>
          <p:cNvPr id="138" name="Text 66"/>
          <p:cNvSpPr txBox="1"/>
          <p:nvPr/>
        </p:nvSpPr>
        <p:spPr>
          <a:xfrm>
            <a:off x="2576106" y="5822924"/>
            <a:ext cx="291514" cy="284500"/>
          </a:xfrm>
          <a:prstGeom prst="rect">
            <a:avLst/>
          </a:prstGeom>
          <a:noFill/>
        </p:spPr>
        <p:txBody>
          <a:bodyPr wrap="none" lIns="0" tIns="0" rIns="0" bIns="0" rtlCol="0" anchor="ctr"/>
          <a:lstStyle/>
          <a:p>
            <a:pPr marL="0" indent="0" algn="ctr">
              <a:buNone/>
            </a:pPr>
            <a:r>
              <a:rPr lang="en-US" sz="2140" b="1" dirty="0">
                <a:solidFill>
                  <a:srgbClr val="000422"/>
                </a:solidFill>
                <a:latin typeface="Times New Roman" panose="02020603050405020304" pitchFamily="34" charset="0"/>
                <a:ea typeface="Times New Roman" panose="02020603050405020304" pitchFamily="34" charset="-122"/>
                <a:cs typeface="Times New Roman" panose="02020603050405020304" pitchFamily="34" charset="-120"/>
              </a:rPr>
              <a:t>M</a:t>
            </a:r>
            <a:endParaRPr lang="en-US" sz="2140" dirty="0"/>
          </a:p>
        </p:txBody>
      </p:sp>
      <p:sp>
        <p:nvSpPr>
          <p:cNvPr id="139" name="Text 67"/>
          <p:cNvSpPr txBox="1"/>
          <p:nvPr/>
        </p:nvSpPr>
        <p:spPr>
          <a:xfrm>
            <a:off x="4419933" y="5837500"/>
            <a:ext cx="196772" cy="262636"/>
          </a:xfrm>
          <a:prstGeom prst="rect">
            <a:avLst/>
          </a:prstGeom>
          <a:noFill/>
        </p:spPr>
        <p:txBody>
          <a:bodyPr wrap="none" lIns="0" tIns="0" rIns="0" bIns="0" rtlCol="0" anchor="ctr"/>
          <a:lstStyle/>
          <a:p>
            <a:pPr marL="0" indent="0" algn="ctr">
              <a:buNone/>
            </a:pPr>
            <a:r>
              <a:rPr lang="en-US" sz="1880" b="1" dirty="0">
                <a:solidFill>
                  <a:srgbClr val="000421"/>
                </a:solidFill>
                <a:latin typeface="Times New Roman" panose="02020603050405020304" pitchFamily="34" charset="0"/>
                <a:ea typeface="Times New Roman" panose="02020603050405020304" pitchFamily="34" charset="-122"/>
                <a:cs typeface="Times New Roman" panose="02020603050405020304" pitchFamily="34" charset="-120"/>
              </a:rPr>
              <a:t>E</a:t>
            </a:r>
            <a:endParaRPr lang="en-US" sz="1880" dirty="0"/>
          </a:p>
        </p:txBody>
      </p:sp>
      <p:sp>
        <p:nvSpPr>
          <p:cNvPr id="140" name="Text 68"/>
          <p:cNvSpPr txBox="1"/>
          <p:nvPr/>
        </p:nvSpPr>
        <p:spPr>
          <a:xfrm>
            <a:off x="7028986" y="4627716"/>
            <a:ext cx="269651" cy="277212"/>
          </a:xfrm>
          <a:prstGeom prst="rect">
            <a:avLst/>
          </a:prstGeom>
          <a:noFill/>
        </p:spPr>
        <p:txBody>
          <a:bodyPr wrap="none" lIns="0" tIns="0" rIns="0" bIns="0" rtlCol="0" anchor="ctr"/>
          <a:lstStyle/>
          <a:p>
            <a:pPr marL="0" indent="0" algn="ctr">
              <a:buNone/>
            </a:pPr>
            <a:r>
              <a:rPr lang="en-US" sz="2710" b="1" i="1" dirty="0">
                <a:solidFill>
                  <a:srgbClr val="000520"/>
                </a:solidFill>
                <a:latin typeface="Times New Roman" panose="02020603050405020304" pitchFamily="34" charset="0"/>
                <a:ea typeface="Times New Roman" panose="02020603050405020304" pitchFamily="34" charset="-122"/>
                <a:cs typeface="Times New Roman" panose="02020603050405020304" pitchFamily="34" charset="-120"/>
              </a:rPr>
              <a:t>a₁</a:t>
            </a:r>
            <a:endParaRPr lang="en-US" sz="2710" dirty="0"/>
          </a:p>
        </p:txBody>
      </p:sp>
      <p:sp>
        <p:nvSpPr>
          <p:cNvPr id="141" name="Text 69"/>
          <p:cNvSpPr txBox="1"/>
          <p:nvPr/>
        </p:nvSpPr>
        <p:spPr>
          <a:xfrm>
            <a:off x="7014410" y="5436667"/>
            <a:ext cx="291514" cy="284500"/>
          </a:xfrm>
          <a:prstGeom prst="rect">
            <a:avLst/>
          </a:prstGeom>
          <a:noFill/>
        </p:spPr>
        <p:txBody>
          <a:bodyPr wrap="none" lIns="0" tIns="0" rIns="0" bIns="0" rtlCol="0" anchor="ctr"/>
          <a:lstStyle/>
          <a:p>
            <a:pPr marL="0" indent="0" algn="ctr">
              <a:buNone/>
            </a:pPr>
            <a:r>
              <a:rPr lang="en-US" sz="262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α</a:t>
            </a:r>
            <a:r>
              <a:rPr lang="en-US" sz="262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₂</a:t>
            </a:r>
            <a:endParaRPr lang="en-US" sz="2620" dirty="0"/>
          </a:p>
        </p:txBody>
      </p:sp>
      <p:sp>
        <p:nvSpPr>
          <p:cNvPr id="142" name="Text 70"/>
          <p:cNvSpPr txBox="1"/>
          <p:nvPr/>
        </p:nvSpPr>
        <p:spPr>
          <a:xfrm>
            <a:off x="5243461" y="816167"/>
            <a:ext cx="889392" cy="291788"/>
          </a:xfrm>
          <a:prstGeom prst="rect">
            <a:avLst/>
          </a:prstGeom>
          <a:noFill/>
        </p:spPr>
        <p:txBody>
          <a:bodyPr wrap="none" lIns="0" tIns="0" rIns="0" bIns="0" rtlCol="0" anchor="ctr"/>
          <a:lstStyle/>
          <a:p>
            <a:pPr marL="0" indent="0" algn="l">
              <a:buNone/>
            </a:pPr>
            <a:r>
              <a:rPr lang="en-US" sz="1570" dirty="0">
                <a:solidFill>
                  <a:srgbClr val="071A4D"/>
                </a:solidFill>
                <a:latin typeface="华文中宋" pitchFamily="34" charset="0"/>
                <a:ea typeface="华文中宋" pitchFamily="34" charset="-122"/>
                <a:cs typeface="华文中宋" pitchFamily="34" charset="-120"/>
              </a:rPr>
              <a:t>匹配评分</a:t>
            </a:r>
            <a:endParaRPr lang="en-US" sz="1570" dirty="0"/>
          </a:p>
        </p:txBody>
      </p:sp>
      <p:sp>
        <p:nvSpPr>
          <p:cNvPr id="143" name="Text 71"/>
          <p:cNvSpPr txBox="1"/>
          <p:nvPr/>
        </p:nvSpPr>
        <p:spPr>
          <a:xfrm>
            <a:off x="5338203" y="1355468"/>
            <a:ext cx="335241" cy="328227"/>
          </a:xfrm>
          <a:prstGeom prst="rect">
            <a:avLst/>
          </a:prstGeom>
          <a:noFill/>
        </p:spPr>
        <p:txBody>
          <a:bodyPr wrap="none" lIns="0" tIns="0" rIns="0" bIns="0" rtlCol="0" anchor="ctr"/>
          <a:lstStyle/>
          <a:p>
            <a:pPr marL="0" indent="0" algn="ctr">
              <a:buNone/>
            </a:pPr>
            <a:r>
              <a:rPr lang="en-US" sz="196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S</a:t>
            </a:r>
            <a:r>
              <a:rPr lang="en-US" sz="196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ij</a:t>
            </a:r>
            <a:endParaRPr lang="en-US" sz="1960" dirty="0"/>
          </a:p>
        </p:txBody>
      </p:sp>
      <p:sp>
        <p:nvSpPr>
          <p:cNvPr id="144" name="Text 72"/>
          <p:cNvSpPr txBox="1"/>
          <p:nvPr/>
        </p:nvSpPr>
        <p:spPr>
          <a:xfrm>
            <a:off x="5688020" y="1319166"/>
            <a:ext cx="1996872" cy="816513"/>
          </a:xfrm>
          <a:prstGeom prst="rect">
            <a:avLst/>
          </a:prstGeom>
          <a:noFill/>
        </p:spPr>
        <p:txBody>
          <a:bodyPr wrap="none" lIns="0" tIns="0" rIns="0" bIns="0" rtlCol="0" anchor="t"/>
          <a:lstStyle/>
          <a:p>
            <a:pPr marL="0" indent="0" algn="ctr">
              <a:lnSpc>
                <a:spcPts val="3615"/>
              </a:lnSpc>
              <a:buNone/>
            </a:pPr>
            <a:r>
              <a:rPr lang="en-US" sz="166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 AS</a:t>
            </a:r>
            <a:r>
              <a:rPr lang="en-US" sz="166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struct</a:t>
            </a:r>
            <a:r>
              <a:rPr lang="en-US" sz="166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+BS</a:t>
            </a:r>
            <a:r>
              <a:rPr lang="en-US" sz="166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entity</a:t>
            </a:r>
            <a:endParaRPr lang="en-US" sz="1660" dirty="0"/>
          </a:p>
          <a:p>
            <a:pPr marL="0" indent="0" algn="ctr">
              <a:lnSpc>
                <a:spcPts val="3615"/>
              </a:lnSpc>
              <a:buNone/>
            </a:pPr>
            <a:r>
              <a:rPr lang="en-US" sz="166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+YS</a:t>
            </a:r>
            <a:r>
              <a:rPr lang="en-US" sz="166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semantic</a:t>
            </a:r>
            <a:endParaRPr lang="en-US" sz="1660" dirty="0"/>
          </a:p>
        </p:txBody>
      </p:sp>
      <p:sp>
        <p:nvSpPr>
          <p:cNvPr id="145" name="Text 73"/>
          <p:cNvSpPr txBox="1"/>
          <p:nvPr/>
        </p:nvSpPr>
        <p:spPr>
          <a:xfrm>
            <a:off x="5214310" y="2426783"/>
            <a:ext cx="867528" cy="284500"/>
          </a:xfrm>
          <a:prstGeom prst="rect">
            <a:avLst/>
          </a:prstGeom>
          <a:noFill/>
        </p:spPr>
        <p:txBody>
          <a:bodyPr wrap="none" lIns="0" tIns="0" rIns="0" bIns="0" rtlCol="0" anchor="ctr"/>
          <a:lstStyle/>
          <a:p>
            <a:pPr marL="0" indent="0" algn="l">
              <a:buNone/>
            </a:pPr>
            <a:r>
              <a:rPr lang="en-US" sz="1480" dirty="0">
                <a:solidFill>
                  <a:srgbClr val="071A4D"/>
                </a:solidFill>
                <a:latin typeface="华文中宋" pitchFamily="34" charset="0"/>
                <a:ea typeface="华文中宋" pitchFamily="34" charset="-122"/>
                <a:cs typeface="华文中宋" pitchFamily="34" charset="-120"/>
              </a:rPr>
              <a:t>约束选择</a:t>
            </a:r>
            <a:endParaRPr lang="en-US" sz="1480" dirty="0"/>
          </a:p>
        </p:txBody>
      </p:sp>
      <p:sp>
        <p:nvSpPr>
          <p:cNvPr id="146" name="Text 74"/>
          <p:cNvSpPr txBox="1"/>
          <p:nvPr/>
        </p:nvSpPr>
        <p:spPr>
          <a:xfrm>
            <a:off x="5352779" y="2798464"/>
            <a:ext cx="2718644" cy="437545"/>
          </a:xfrm>
          <a:prstGeom prst="rect">
            <a:avLst/>
          </a:prstGeom>
          <a:noFill/>
        </p:spPr>
        <p:txBody>
          <a:bodyPr wrap="none" lIns="0" tIns="0" rIns="0" bIns="0" rtlCol="0" anchor="ctr"/>
          <a:lstStyle/>
          <a:p>
            <a:pPr marL="0" indent="0" algn="l">
              <a:buNone/>
            </a:pPr>
            <a:r>
              <a:rPr lang="en-US" sz="279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maxx</a:t>
            </a:r>
            <a:r>
              <a:rPr lang="en-US" sz="279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ij </a:t>
            </a:r>
            <a:r>
              <a:rPr lang="en-US" sz="279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(S</a:t>
            </a:r>
            <a:r>
              <a:rPr lang="en-US" sz="279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ij</a:t>
            </a:r>
            <a:r>
              <a:rPr lang="en-US" sz="279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-t)</a:t>
            </a:r>
            <a:endParaRPr lang="en-US" sz="2790" dirty="0"/>
          </a:p>
        </p:txBody>
      </p:sp>
      <p:sp>
        <p:nvSpPr>
          <p:cNvPr id="147" name="Text 75"/>
          <p:cNvSpPr txBox="1"/>
          <p:nvPr/>
        </p:nvSpPr>
        <p:spPr>
          <a:xfrm>
            <a:off x="5564127" y="3119129"/>
            <a:ext cx="211621" cy="204333"/>
          </a:xfrm>
          <a:prstGeom prst="rect">
            <a:avLst/>
          </a:prstGeom>
          <a:noFill/>
        </p:spPr>
        <p:txBody>
          <a:bodyPr wrap="none" lIns="0" tIns="0" rIns="0" bIns="0" rtlCol="0" anchor="ctr"/>
          <a:lstStyle/>
          <a:p>
            <a:pPr marL="0" indent="0" algn="l">
              <a:buNone/>
            </a:pPr>
            <a:r>
              <a:rPr lang="en-US" sz="194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x</a:t>
            </a:r>
            <a:endParaRPr lang="en-US" sz="2790" dirty="0"/>
          </a:p>
        </p:txBody>
      </p:sp>
      <p:sp>
        <p:nvSpPr>
          <p:cNvPr id="148" name="Text 76"/>
          <p:cNvSpPr txBox="1"/>
          <p:nvPr/>
        </p:nvSpPr>
        <p:spPr>
          <a:xfrm>
            <a:off x="6074277" y="3235735"/>
            <a:ext cx="276939" cy="277212"/>
          </a:xfrm>
          <a:prstGeom prst="rect">
            <a:avLst/>
          </a:prstGeom>
          <a:noFill/>
        </p:spPr>
        <p:txBody>
          <a:bodyPr wrap="none" lIns="0" tIns="0" rIns="0" bIns="0" rtlCol="0" anchor="ctr"/>
          <a:lstStyle/>
          <a:p>
            <a:pPr marL="0" indent="0" algn="ctr">
              <a:buNone/>
            </a:pPr>
            <a:r>
              <a:rPr lang="en-US" sz="1520" b="1" i="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i,j</a:t>
            </a:r>
            <a:endParaRPr lang="en-US" sz="1520" dirty="0"/>
          </a:p>
        </p:txBody>
      </p:sp>
      <p:sp>
        <p:nvSpPr>
          <p:cNvPr id="149" name="Text 77"/>
          <p:cNvSpPr txBox="1"/>
          <p:nvPr/>
        </p:nvSpPr>
        <p:spPr>
          <a:xfrm>
            <a:off x="5360067" y="3745885"/>
            <a:ext cx="510423" cy="291788"/>
          </a:xfrm>
          <a:prstGeom prst="rect">
            <a:avLst/>
          </a:prstGeom>
          <a:noFill/>
        </p:spPr>
        <p:txBody>
          <a:bodyPr wrap="none" lIns="0" tIns="0" rIns="0" bIns="0" rtlCol="0" anchor="ctr"/>
          <a:lstStyle/>
          <a:p>
            <a:pPr marL="0" indent="0" algn="l">
              <a:buNone/>
            </a:pPr>
            <a:r>
              <a:rPr lang="en-US" sz="1520" b="1" dirty="0">
                <a:solidFill>
                  <a:srgbClr val="071A4D"/>
                </a:solidFill>
                <a:latin typeface="Arial" panose="020B0604020202020204" pitchFamily="34" charset="0"/>
                <a:ea typeface="黑体" panose="02010609060101010101" pitchFamily="34" charset="-122"/>
                <a:cs typeface="黑体" panose="02010609060101010101" pitchFamily="34" charset="-120"/>
              </a:rPr>
              <a:t>绑定</a:t>
            </a:r>
            <a:endParaRPr lang="en-US" sz="1520" dirty="0"/>
          </a:p>
        </p:txBody>
      </p:sp>
      <p:sp>
        <p:nvSpPr>
          <p:cNvPr id="150" name="Text 78"/>
          <p:cNvSpPr txBox="1"/>
          <p:nvPr/>
        </p:nvSpPr>
        <p:spPr>
          <a:xfrm>
            <a:off x="11518305" y="3082690"/>
            <a:ext cx="320666" cy="226197"/>
          </a:xfrm>
          <a:prstGeom prst="rect">
            <a:avLst/>
          </a:prstGeom>
          <a:noFill/>
        </p:spPr>
        <p:txBody>
          <a:bodyPr wrap="none" lIns="0" tIns="0" rIns="0" bIns="0" rtlCol="0" anchor="ctr"/>
          <a:lstStyle/>
          <a:p>
            <a:pPr marL="0" indent="0" algn="ctr">
              <a:buNone/>
            </a:pPr>
            <a:r>
              <a:rPr lang="en-US" sz="1090" b="1" dirty="0">
                <a:solidFill>
                  <a:srgbClr val="071A4D"/>
                </a:solidFill>
                <a:latin typeface="Arial" panose="020B0604020202020204" pitchFamily="34" charset="0"/>
                <a:ea typeface="黑体" panose="02010609060101010101" pitchFamily="34" charset="-122"/>
                <a:cs typeface="黑体" panose="02010609060101010101" pitchFamily="34" charset="-120"/>
              </a:rPr>
              <a:t>脚注</a:t>
            </a:r>
            <a:endParaRPr lang="en-US" sz="1090" dirty="0"/>
          </a:p>
        </p:txBody>
      </p:sp>
      <p:sp>
        <p:nvSpPr>
          <p:cNvPr id="151" name="Text 79"/>
          <p:cNvSpPr txBox="1"/>
          <p:nvPr/>
        </p:nvSpPr>
        <p:spPr>
          <a:xfrm>
            <a:off x="10621898" y="3621991"/>
            <a:ext cx="291514" cy="182470"/>
          </a:xfrm>
          <a:prstGeom prst="rect">
            <a:avLst/>
          </a:prstGeom>
          <a:noFill/>
        </p:spPr>
        <p:txBody>
          <a:bodyPr wrap="none" lIns="0" tIns="0" rIns="0" bIns="0" rtlCol="0" anchor="ctr"/>
          <a:lstStyle/>
          <a:p>
            <a:pPr marL="0" indent="0" algn="ctr">
              <a:buNone/>
            </a:pPr>
            <a:r>
              <a:rPr lang="en-US" sz="1060" dirty="0">
                <a:solidFill>
                  <a:srgbClr val="010415"/>
                </a:solidFill>
                <a:latin typeface="Times New Roman" panose="02020603050405020304" pitchFamily="34" charset="0"/>
                <a:ea typeface="Times New Roman" panose="02020603050405020304" pitchFamily="34" charset="-122"/>
                <a:cs typeface="Times New Roman" panose="02020603050405020304" pitchFamily="34" charset="-120"/>
              </a:rPr>
              <a:t>NOT</a:t>
            </a:r>
            <a:endParaRPr lang="en-US" sz="1060" dirty="0"/>
          </a:p>
        </p:txBody>
      </p:sp>
      <p:sp>
        <p:nvSpPr>
          <p:cNvPr id="152" name="Text 80"/>
          <p:cNvSpPr txBox="1"/>
          <p:nvPr/>
        </p:nvSpPr>
        <p:spPr>
          <a:xfrm>
            <a:off x="9011282" y="3877066"/>
            <a:ext cx="225924" cy="226197"/>
          </a:xfrm>
          <a:prstGeom prst="rect">
            <a:avLst/>
          </a:prstGeom>
          <a:noFill/>
        </p:spPr>
        <p:txBody>
          <a:bodyPr wrap="none" lIns="0" tIns="0" rIns="0" bIns="0" rtlCol="0" anchor="ctr"/>
          <a:lstStyle/>
          <a:p>
            <a:pPr marL="0" indent="0" algn="ctr">
              <a:buNone/>
            </a:pPr>
            <a:r>
              <a:rPr lang="en-US" sz="1620" b="1" i="1" dirty="0">
                <a:solidFill>
                  <a:srgbClr val="01051C"/>
                </a:solidFill>
                <a:latin typeface="Times New Roman" panose="02020603050405020304" pitchFamily="34" charset="0"/>
                <a:ea typeface="Times New Roman" panose="02020603050405020304" pitchFamily="34" charset="-122"/>
                <a:cs typeface="Times New Roman" panose="02020603050405020304" pitchFamily="34" charset="-120"/>
              </a:rPr>
              <a:t>M</a:t>
            </a:r>
            <a:endParaRPr lang="en-US" sz="1620" dirty="0"/>
          </a:p>
        </p:txBody>
      </p:sp>
      <p:sp>
        <p:nvSpPr>
          <p:cNvPr id="153" name="Text 81"/>
          <p:cNvSpPr txBox="1"/>
          <p:nvPr/>
        </p:nvSpPr>
        <p:spPr>
          <a:xfrm>
            <a:off x="9812947" y="3891642"/>
            <a:ext cx="160333" cy="233485"/>
          </a:xfrm>
          <a:prstGeom prst="rect">
            <a:avLst/>
          </a:prstGeom>
          <a:noFill/>
        </p:spPr>
        <p:txBody>
          <a:bodyPr wrap="none" lIns="0" tIns="0" rIns="0" bIns="0" rtlCol="0" anchor="ctr"/>
          <a:lstStyle/>
          <a:p>
            <a:pPr marL="0" indent="0" algn="ctr">
              <a:buNone/>
            </a:pPr>
            <a:r>
              <a:rPr lang="en-US" sz="1710" b="1" i="1" dirty="0">
                <a:solidFill>
                  <a:srgbClr val="000927"/>
                </a:solidFill>
                <a:latin typeface="Times New Roman" panose="02020603050405020304" pitchFamily="34" charset="0"/>
                <a:ea typeface="Times New Roman" panose="02020603050405020304" pitchFamily="34" charset="-122"/>
                <a:cs typeface="Times New Roman" panose="02020603050405020304" pitchFamily="34" charset="-120"/>
              </a:rPr>
              <a:t>T</a:t>
            </a:r>
            <a:endParaRPr lang="en-US" sz="1710" dirty="0"/>
          </a:p>
        </p:txBody>
      </p:sp>
      <p:sp>
        <p:nvSpPr>
          <p:cNvPr id="154" name="Text 82"/>
          <p:cNvSpPr txBox="1"/>
          <p:nvPr/>
        </p:nvSpPr>
        <p:spPr>
          <a:xfrm>
            <a:off x="10745792" y="4139429"/>
            <a:ext cx="145757" cy="218909"/>
          </a:xfrm>
          <a:prstGeom prst="rect">
            <a:avLst/>
          </a:prstGeom>
          <a:noFill/>
        </p:spPr>
        <p:txBody>
          <a:bodyPr wrap="none" lIns="0" tIns="0" rIns="0" bIns="0" rtlCol="0" anchor="ctr"/>
          <a:lstStyle/>
          <a:p>
            <a:pPr marL="0" indent="0" algn="ctr">
              <a:buNone/>
            </a:pPr>
            <a:r>
              <a:rPr lang="en-US" sz="1520" b="1" i="1" dirty="0">
                <a:solidFill>
                  <a:srgbClr val="021022"/>
                </a:solidFill>
                <a:latin typeface="Times New Roman" panose="02020603050405020304" pitchFamily="34" charset="0"/>
                <a:ea typeface="Times New Roman" panose="02020603050405020304" pitchFamily="34" charset="-122"/>
                <a:cs typeface="Times New Roman" panose="02020603050405020304" pitchFamily="34" charset="-120"/>
              </a:rPr>
              <a:t>E</a:t>
            </a:r>
            <a:endParaRPr lang="en-US" sz="1520" dirty="0"/>
          </a:p>
        </p:txBody>
      </p:sp>
      <p:sp>
        <p:nvSpPr>
          <p:cNvPr id="155" name="Text 83"/>
          <p:cNvSpPr txBox="1"/>
          <p:nvPr/>
        </p:nvSpPr>
        <p:spPr>
          <a:xfrm>
            <a:off x="3108119" y="5116002"/>
            <a:ext cx="269651" cy="277212"/>
          </a:xfrm>
          <a:prstGeom prst="rect">
            <a:avLst/>
          </a:prstGeom>
          <a:noFill/>
        </p:spPr>
        <p:txBody>
          <a:bodyPr wrap="none" lIns="0" tIns="0" rIns="0" bIns="0" rtlCol="0" anchor="ctr"/>
          <a:lstStyle/>
          <a:p>
            <a:pPr marL="0" indent="0" algn="ctr">
              <a:buNone/>
            </a:pPr>
            <a:r>
              <a:rPr lang="en-US" sz="2710" b="1" i="1" dirty="0">
                <a:solidFill>
                  <a:srgbClr val="00071E"/>
                </a:solidFill>
                <a:latin typeface="Times New Roman" panose="02020603050405020304" pitchFamily="34" charset="0"/>
                <a:ea typeface="Times New Roman" panose="02020603050405020304" pitchFamily="34" charset="-122"/>
                <a:cs typeface="Times New Roman" panose="02020603050405020304" pitchFamily="34" charset="-120"/>
              </a:rPr>
              <a:t>a</a:t>
            </a:r>
            <a:r>
              <a:rPr lang="en-US" sz="2710" b="1" i="1" dirty="0">
                <a:solidFill>
                  <a:srgbClr val="00071E"/>
                </a:solidFill>
                <a:latin typeface="Times New Roman" panose="02020603050405020304" pitchFamily="34" charset="0"/>
                <a:ea typeface="Times New Roman" panose="02020603050405020304" pitchFamily="34" charset="-122"/>
                <a:cs typeface="Times New Roman" panose="02020603050405020304" pitchFamily="34" charset="-120"/>
              </a:rPr>
              <a:t>₁</a:t>
            </a:r>
            <a:endParaRPr lang="en-US" sz="2710" dirty="0"/>
          </a:p>
        </p:txBody>
      </p:sp>
      <p:sp>
        <p:nvSpPr>
          <p:cNvPr id="157" name="Text 85"/>
          <p:cNvSpPr txBox="1"/>
          <p:nvPr/>
        </p:nvSpPr>
        <p:spPr>
          <a:xfrm>
            <a:off x="9076873" y="1005651"/>
            <a:ext cx="189484" cy="233485"/>
          </a:xfrm>
          <a:prstGeom prst="rect">
            <a:avLst/>
          </a:prstGeom>
          <a:noFill/>
        </p:spPr>
        <p:txBody>
          <a:bodyPr wrap="none" lIns="0" tIns="0" rIns="0" bIns="0" rtlCol="0" anchor="ctr"/>
          <a:lstStyle/>
          <a:p>
            <a:pPr marL="0" indent="0" algn="ctr">
              <a:buNone/>
            </a:pPr>
            <a:r>
              <a:rPr lang="en-US" sz="1710" b="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X</a:t>
            </a:r>
            <a:endParaRPr lang="en-US" sz="1710" dirty="0"/>
          </a:p>
        </p:txBody>
      </p:sp>
      <p:sp>
        <p:nvSpPr>
          <p:cNvPr id="158" name="Text 86"/>
          <p:cNvSpPr txBox="1"/>
          <p:nvPr/>
        </p:nvSpPr>
        <p:spPr>
          <a:xfrm>
            <a:off x="10432414" y="991076"/>
            <a:ext cx="218636" cy="255348"/>
          </a:xfrm>
          <a:prstGeom prst="rect">
            <a:avLst/>
          </a:prstGeom>
          <a:noFill/>
        </p:spPr>
        <p:txBody>
          <a:bodyPr wrap="none" lIns="0" tIns="0" rIns="0" bIns="0" rtlCol="0" anchor="ctr"/>
          <a:lstStyle/>
          <a:p>
            <a:pPr marL="0" indent="0" algn="ctr">
              <a:buNone/>
            </a:pPr>
            <a:r>
              <a:rPr lang="en-US" sz="1790" b="1" dirty="0">
                <a:solidFill>
                  <a:srgbClr val="071A4D"/>
                </a:solidFill>
                <a:latin typeface="Times New Roman" panose="02020603050405020304" pitchFamily="34" charset="0"/>
                <a:ea typeface="Times New Roman" panose="02020603050405020304" pitchFamily="34" charset="-122"/>
                <a:cs typeface="Times New Roman" panose="02020603050405020304" pitchFamily="34" charset="-120"/>
              </a:rPr>
              <a:t>D</a:t>
            </a:r>
            <a:endParaRPr lang="en-US" sz="1790" dirty="0"/>
          </a:p>
        </p:txBody>
      </p:sp>
      <p:sp>
        <p:nvSpPr>
          <p:cNvPr id="159" name="Text 87"/>
          <p:cNvSpPr txBox="1"/>
          <p:nvPr/>
        </p:nvSpPr>
        <p:spPr>
          <a:xfrm>
            <a:off x="9433978" y="1362756"/>
            <a:ext cx="320666" cy="226197"/>
          </a:xfrm>
          <a:prstGeom prst="rect">
            <a:avLst/>
          </a:prstGeom>
          <a:noFill/>
        </p:spPr>
        <p:txBody>
          <a:bodyPr wrap="none" lIns="0" tIns="0" rIns="0" bIns="0" rtlCol="0" anchor="ctr"/>
          <a:lstStyle/>
          <a:p>
            <a:pPr marL="0" indent="0" algn="ctr">
              <a:buNone/>
            </a:pPr>
            <a:r>
              <a:rPr lang="en-US" sz="1140" b="1" dirty="0">
                <a:solidFill>
                  <a:srgbClr val="071A4D"/>
                </a:solidFill>
                <a:latin typeface="Arial" panose="020B0604020202020204" pitchFamily="34" charset="0"/>
                <a:ea typeface="黑体" panose="02010609060101010101" pitchFamily="34" charset="-122"/>
                <a:cs typeface="黑体" panose="02010609060101010101" pitchFamily="34" charset="-120"/>
              </a:rPr>
              <a:t>主体</a:t>
            </a:r>
            <a:endParaRPr lang="en-US" sz="1140" dirty="0"/>
          </a:p>
        </p:txBody>
      </p:sp>
      <p:sp>
        <p:nvSpPr>
          <p:cNvPr id="160" name="Text 88"/>
          <p:cNvSpPr txBox="1"/>
          <p:nvPr/>
        </p:nvSpPr>
        <p:spPr>
          <a:xfrm>
            <a:off x="9980567" y="1355468"/>
            <a:ext cx="306090" cy="226197"/>
          </a:xfrm>
          <a:prstGeom prst="rect">
            <a:avLst/>
          </a:prstGeom>
          <a:noFill/>
        </p:spPr>
        <p:txBody>
          <a:bodyPr wrap="none" lIns="0" tIns="0" rIns="0" bIns="0" rtlCol="0" anchor="ctr"/>
          <a:lstStyle/>
          <a:p>
            <a:pPr marL="0" indent="0" algn="ctr">
              <a:buNone/>
            </a:pPr>
            <a:r>
              <a:rPr lang="en-US" sz="1110" b="1" dirty="0">
                <a:solidFill>
                  <a:srgbClr val="071A4D"/>
                </a:solidFill>
                <a:latin typeface="Arial" panose="020B0604020202020204" pitchFamily="34" charset="0"/>
                <a:ea typeface="黑体" panose="02010609060101010101" pitchFamily="34" charset="-122"/>
                <a:cs typeface="黑体" panose="02010609060101010101" pitchFamily="34" charset="-120"/>
              </a:rPr>
              <a:t>客体</a:t>
            </a:r>
            <a:endParaRPr lang="en-US" sz="1110" dirty="0"/>
          </a:p>
        </p:txBody>
      </p:sp>
      <p:sp>
        <p:nvSpPr>
          <p:cNvPr id="161" name="Text 89"/>
          <p:cNvSpPr txBox="1"/>
          <p:nvPr/>
        </p:nvSpPr>
        <p:spPr>
          <a:xfrm>
            <a:off x="11496441" y="1406483"/>
            <a:ext cx="320666" cy="218909"/>
          </a:xfrm>
          <a:prstGeom prst="rect">
            <a:avLst/>
          </a:prstGeom>
          <a:noFill/>
        </p:spPr>
        <p:txBody>
          <a:bodyPr wrap="none" lIns="0" tIns="0" rIns="0" bIns="0" rtlCol="0" anchor="ctr"/>
          <a:lstStyle/>
          <a:p>
            <a:pPr marL="0" indent="0" algn="ctr">
              <a:buNone/>
            </a:pPr>
            <a:r>
              <a:rPr lang="en-US" sz="1050" b="1" dirty="0">
                <a:solidFill>
                  <a:srgbClr val="071A4D"/>
                </a:solidFill>
                <a:latin typeface="Arial" panose="020B0604020202020204" pitchFamily="34" charset="0"/>
                <a:ea typeface="黑体" panose="02010609060101010101" pitchFamily="34" charset="-122"/>
                <a:cs typeface="黑体" panose="02010609060101010101" pitchFamily="34" charset="-120"/>
              </a:rPr>
              <a:t>正文</a:t>
            </a:r>
            <a:endParaRPr lang="en-US" sz="1050" dirty="0"/>
          </a:p>
        </p:txBody>
      </p:sp>
      <p:sp>
        <p:nvSpPr>
          <p:cNvPr id="162" name="Text 90"/>
          <p:cNvSpPr txBox="1"/>
          <p:nvPr/>
        </p:nvSpPr>
        <p:spPr>
          <a:xfrm>
            <a:off x="8683329" y="1872906"/>
            <a:ext cx="327953" cy="233485"/>
          </a:xfrm>
          <a:prstGeom prst="rect">
            <a:avLst/>
          </a:prstGeom>
          <a:noFill/>
        </p:spPr>
        <p:txBody>
          <a:bodyPr wrap="none" lIns="0" tIns="0" rIns="0" bIns="0" rtlCol="0" anchor="ctr"/>
          <a:lstStyle/>
          <a:p>
            <a:pPr marL="0" indent="0" algn="ctr">
              <a:buNone/>
            </a:pPr>
            <a:r>
              <a:rPr lang="en-US" sz="1150" b="1" dirty="0">
                <a:solidFill>
                  <a:srgbClr val="01101E"/>
                </a:solidFill>
                <a:latin typeface="Arial" panose="020B0604020202020204" pitchFamily="34" charset="0"/>
                <a:ea typeface="黑体" panose="02010609060101010101" pitchFamily="34" charset="-122"/>
                <a:cs typeface="黑体" panose="02010609060101010101" pitchFamily="34" charset="-120"/>
              </a:rPr>
              <a:t>诊断</a:t>
            </a:r>
            <a:endParaRPr lang="en-US" sz="1150" dirty="0"/>
          </a:p>
        </p:txBody>
      </p:sp>
      <p:sp>
        <p:nvSpPr>
          <p:cNvPr id="163" name="Text 91"/>
          <p:cNvSpPr txBox="1"/>
          <p:nvPr/>
        </p:nvSpPr>
        <p:spPr>
          <a:xfrm>
            <a:off x="9645326" y="1865618"/>
            <a:ext cx="364393" cy="350091"/>
          </a:xfrm>
          <a:prstGeom prst="rect">
            <a:avLst/>
          </a:prstGeom>
          <a:noFill/>
        </p:spPr>
        <p:txBody>
          <a:bodyPr wrap="none" lIns="0" tIns="0" rIns="0" bIns="0" rtlCol="0" anchor="ctr"/>
          <a:lstStyle/>
          <a:p>
            <a:pPr marL="0" indent="0" algn="ctr">
              <a:buNone/>
            </a:pPr>
            <a:r>
              <a:rPr lang="en-US" sz="2770" b="1" i="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K</a:t>
            </a:r>
            <a:r>
              <a:rPr lang="en-US" sz="2770" b="1" i="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₁</a:t>
            </a:r>
            <a:endParaRPr lang="en-US" sz="2770" dirty="0"/>
          </a:p>
        </p:txBody>
      </p:sp>
      <p:sp>
        <p:nvSpPr>
          <p:cNvPr id="164" name="Text 92"/>
          <p:cNvSpPr txBox="1"/>
          <p:nvPr/>
        </p:nvSpPr>
        <p:spPr>
          <a:xfrm>
            <a:off x="8697905" y="2055103"/>
            <a:ext cx="298802" cy="218909"/>
          </a:xfrm>
          <a:prstGeom prst="rect">
            <a:avLst/>
          </a:prstGeom>
          <a:noFill/>
        </p:spPr>
        <p:txBody>
          <a:bodyPr wrap="none" lIns="0" tIns="0" rIns="0" bIns="0" rtlCol="0" anchor="ctr"/>
          <a:lstStyle/>
          <a:p>
            <a:pPr marL="0" indent="0" algn="ctr">
              <a:buNone/>
            </a:pPr>
            <a:r>
              <a:rPr lang="en-US" sz="1070" b="1" dirty="0">
                <a:solidFill>
                  <a:srgbClr val="071A4D"/>
                </a:solidFill>
                <a:latin typeface="Arial" panose="020B0604020202020204" pitchFamily="34" charset="0"/>
                <a:ea typeface="黑体" panose="02010609060101010101" pitchFamily="34" charset="-122"/>
                <a:cs typeface="黑体" panose="02010609060101010101" pitchFamily="34" charset="-120"/>
              </a:rPr>
              <a:t>用途</a:t>
            </a:r>
            <a:endParaRPr lang="en-US" sz="1070" dirty="0"/>
          </a:p>
        </p:txBody>
      </p:sp>
      <p:sp>
        <p:nvSpPr>
          <p:cNvPr id="165" name="Text 93"/>
          <p:cNvSpPr txBox="1"/>
          <p:nvPr/>
        </p:nvSpPr>
        <p:spPr>
          <a:xfrm>
            <a:off x="10796807" y="1967648"/>
            <a:ext cx="313378" cy="218909"/>
          </a:xfrm>
          <a:prstGeom prst="rect">
            <a:avLst/>
          </a:prstGeom>
          <a:noFill/>
        </p:spPr>
        <p:txBody>
          <a:bodyPr wrap="none" lIns="0" tIns="0" rIns="0" bIns="0" rtlCol="0" anchor="ctr"/>
          <a:lstStyle/>
          <a:p>
            <a:pPr marL="0" indent="0" algn="ctr">
              <a:buNone/>
            </a:pPr>
            <a:r>
              <a:rPr lang="en-US" sz="1070" b="1" dirty="0">
                <a:solidFill>
                  <a:srgbClr val="071A4D"/>
                </a:solidFill>
                <a:latin typeface="Arial" panose="020B0604020202020204" pitchFamily="34" charset="0"/>
                <a:ea typeface="黑体" panose="02010609060101010101" pitchFamily="34" charset="-122"/>
                <a:cs typeface="黑体" panose="02010609060101010101" pitchFamily="34" charset="-120"/>
              </a:rPr>
              <a:t>来源</a:t>
            </a:r>
            <a:endParaRPr lang="en-US" sz="1070" dirty="0"/>
          </a:p>
        </p:txBody>
      </p:sp>
      <p:sp>
        <p:nvSpPr>
          <p:cNvPr id="166" name="Text 94"/>
          <p:cNvSpPr txBox="1"/>
          <p:nvPr/>
        </p:nvSpPr>
        <p:spPr>
          <a:xfrm>
            <a:off x="11591183" y="2208147"/>
            <a:ext cx="313378" cy="226197"/>
          </a:xfrm>
          <a:prstGeom prst="rect">
            <a:avLst/>
          </a:prstGeom>
          <a:noFill/>
        </p:spPr>
        <p:txBody>
          <a:bodyPr wrap="none" lIns="0" tIns="0" rIns="0" bIns="0" rtlCol="0" anchor="ctr"/>
          <a:lstStyle/>
          <a:p>
            <a:pPr marL="0" indent="0" algn="ctr">
              <a:buNone/>
            </a:pPr>
            <a:r>
              <a:rPr lang="en-US" sz="1110" b="1" dirty="0">
                <a:solidFill>
                  <a:srgbClr val="071B50"/>
                </a:solidFill>
                <a:latin typeface="Arial" panose="020B0604020202020204" pitchFamily="34" charset="0"/>
                <a:ea typeface="黑体" panose="02010609060101010101" pitchFamily="34" charset="-122"/>
                <a:cs typeface="黑体" panose="02010609060101010101" pitchFamily="34" charset="-120"/>
              </a:rPr>
              <a:t>标题</a:t>
            </a:r>
            <a:endParaRPr lang="en-US" sz="1110" dirty="0"/>
          </a:p>
        </p:txBody>
      </p:sp>
      <p:sp>
        <p:nvSpPr>
          <p:cNvPr id="167" name="Text 95"/>
          <p:cNvSpPr txBox="1"/>
          <p:nvPr/>
        </p:nvSpPr>
        <p:spPr>
          <a:xfrm>
            <a:off x="9696341" y="2703722"/>
            <a:ext cx="306090" cy="226197"/>
          </a:xfrm>
          <a:prstGeom prst="rect">
            <a:avLst/>
          </a:prstGeom>
          <a:noFill/>
        </p:spPr>
        <p:txBody>
          <a:bodyPr wrap="none" lIns="0" tIns="0" rIns="0" bIns="0" rtlCol="0" anchor="ctr"/>
          <a:lstStyle/>
          <a:p>
            <a:pPr marL="0" indent="0" algn="ctr">
              <a:buNone/>
            </a:pPr>
            <a:r>
              <a:rPr lang="en-US" sz="1110" b="1" dirty="0">
                <a:solidFill>
                  <a:srgbClr val="111827"/>
                </a:solidFill>
                <a:latin typeface="Arial" panose="020B0604020202020204" pitchFamily="34" charset="0"/>
                <a:ea typeface="黑体" panose="02010609060101010101" pitchFamily="34" charset="-122"/>
                <a:cs typeface="黑体" panose="02010609060101010101" pitchFamily="34" charset="-120"/>
              </a:rPr>
              <a:t>条件</a:t>
            </a:r>
            <a:endParaRPr lang="en-US" sz="1110" dirty="0"/>
          </a:p>
        </p:txBody>
      </p:sp>
      <p:sp>
        <p:nvSpPr>
          <p:cNvPr id="168" name="Text 96"/>
          <p:cNvSpPr txBox="1"/>
          <p:nvPr/>
        </p:nvSpPr>
        <p:spPr>
          <a:xfrm>
            <a:off x="9980567" y="2332041"/>
            <a:ext cx="320666" cy="226197"/>
          </a:xfrm>
          <a:prstGeom prst="rect">
            <a:avLst/>
          </a:prstGeom>
          <a:noFill/>
        </p:spPr>
        <p:txBody>
          <a:bodyPr wrap="none" lIns="0" tIns="0" rIns="0" bIns="0" rtlCol="0" anchor="ctr"/>
          <a:lstStyle/>
          <a:p>
            <a:pPr marL="0" indent="0" algn="ctr">
              <a:buNone/>
            </a:pPr>
            <a:r>
              <a:rPr lang="en-US" sz="1110" b="1" dirty="0">
                <a:solidFill>
                  <a:srgbClr val="071B50"/>
                </a:solidFill>
                <a:latin typeface="Arial" panose="020B0604020202020204" pitchFamily="34" charset="0"/>
                <a:ea typeface="黑体" panose="02010609060101010101" pitchFamily="34" charset="-122"/>
                <a:cs typeface="黑体" panose="02010609060101010101" pitchFamily="34" charset="-120"/>
              </a:rPr>
              <a:t>条件</a:t>
            </a:r>
            <a:endParaRPr lang="en-US" sz="1110" dirty="0"/>
          </a:p>
        </p:txBody>
      </p:sp>
      <p:sp>
        <p:nvSpPr>
          <p:cNvPr id="169" name="Text 97"/>
          <p:cNvSpPr txBox="1"/>
          <p:nvPr/>
        </p:nvSpPr>
        <p:spPr>
          <a:xfrm>
            <a:off x="9681765" y="3279462"/>
            <a:ext cx="342529" cy="182470"/>
          </a:xfrm>
          <a:prstGeom prst="rect">
            <a:avLst/>
          </a:prstGeom>
          <a:noFill/>
        </p:spPr>
        <p:txBody>
          <a:bodyPr wrap="none" lIns="0" tIns="0" rIns="0" bIns="0" rtlCol="0" anchor="ctr"/>
          <a:lstStyle/>
          <a:p>
            <a:pPr marL="0" indent="0" algn="ctr">
              <a:buNone/>
            </a:pPr>
            <a:r>
              <a:rPr lang="en-US" sz="1060" b="1" dirty="0">
                <a:solidFill>
                  <a:srgbClr val="000725"/>
                </a:solidFill>
                <a:latin typeface="Times New Roman" panose="02020603050405020304" pitchFamily="34" charset="0"/>
                <a:ea typeface="Times New Roman" panose="02020603050405020304" pitchFamily="34" charset="-122"/>
                <a:cs typeface="Times New Roman" panose="02020603050405020304" pitchFamily="34" charset="-120"/>
              </a:rPr>
              <a:t>AND</a:t>
            </a:r>
            <a:endParaRPr lang="en-US" sz="1060" dirty="0"/>
          </a:p>
        </p:txBody>
      </p:sp>
      <p:sp>
        <p:nvSpPr>
          <p:cNvPr id="170" name="Text 98"/>
          <p:cNvSpPr txBox="1"/>
          <p:nvPr/>
        </p:nvSpPr>
        <p:spPr>
          <a:xfrm>
            <a:off x="8763495" y="4489246"/>
            <a:ext cx="2696507" cy="422969"/>
          </a:xfrm>
          <a:prstGeom prst="rect">
            <a:avLst/>
          </a:prstGeom>
          <a:noFill/>
        </p:spPr>
        <p:txBody>
          <a:bodyPr wrap="none" lIns="0" tIns="0" rIns="0" bIns="0" rtlCol="0" anchor="ctr"/>
          <a:lstStyle/>
          <a:p>
            <a:pPr marL="0" indent="0" algn="ctr">
              <a:buNone/>
            </a:pPr>
            <a:r>
              <a:rPr lang="en-US" sz="2370" i="1" dirty="0">
                <a:solidFill>
                  <a:srgbClr val="000432"/>
                </a:solidFill>
                <a:latin typeface="Times New Roman" panose="02020603050405020304" pitchFamily="34" charset="0"/>
                <a:ea typeface="Times New Roman" panose="02020603050405020304" pitchFamily="34" charset="-122"/>
                <a:cs typeface="Times New Roman" panose="02020603050405020304" pitchFamily="34" charset="-120"/>
              </a:rPr>
              <a:t>K = (h,r, t, C, U, P)</a:t>
            </a:r>
            <a:endParaRPr lang="en-US" sz="2370" dirty="0"/>
          </a:p>
        </p:txBody>
      </p:sp>
      <p:sp>
        <p:nvSpPr>
          <p:cNvPr id="171" name="Text 99"/>
          <p:cNvSpPr txBox="1"/>
          <p:nvPr/>
        </p:nvSpPr>
        <p:spPr>
          <a:xfrm>
            <a:off x="9638038" y="5137865"/>
            <a:ext cx="816240" cy="299076"/>
          </a:xfrm>
          <a:prstGeom prst="rect">
            <a:avLst/>
          </a:prstGeom>
          <a:noFill/>
        </p:spPr>
        <p:txBody>
          <a:bodyPr wrap="none" lIns="0" tIns="0" rIns="0" bIns="0" rtlCol="0" anchor="ctr"/>
          <a:lstStyle/>
          <a:p>
            <a:pPr marL="0" indent="0" algn="ctr">
              <a:buNone/>
            </a:pPr>
            <a:r>
              <a:rPr lang="en-US" sz="1630" dirty="0">
                <a:solidFill>
                  <a:srgbClr val="071B50"/>
                </a:solidFill>
                <a:latin typeface="华文中宋" pitchFamily="34" charset="0"/>
                <a:ea typeface="华文中宋" pitchFamily="34" charset="-122"/>
                <a:cs typeface="华文中宋" pitchFamily="34" charset="-120"/>
              </a:rPr>
              <a:t>向量索引</a:t>
            </a:r>
            <a:endParaRPr lang="en-US" sz="1630" dirty="0"/>
          </a:p>
        </p:txBody>
      </p:sp>
      <p:sp>
        <p:nvSpPr>
          <p:cNvPr id="172" name="Text 100"/>
          <p:cNvSpPr txBox="1"/>
          <p:nvPr/>
        </p:nvSpPr>
        <p:spPr>
          <a:xfrm>
            <a:off x="8479269" y="5269047"/>
            <a:ext cx="772786" cy="218909"/>
          </a:xfrm>
          <a:prstGeom prst="rect">
            <a:avLst/>
          </a:prstGeom>
          <a:noFill/>
        </p:spPr>
        <p:txBody>
          <a:bodyPr wrap="none" lIns="0" tIns="0" rIns="0" bIns="0" rtlCol="0" anchor="ctr"/>
          <a:lstStyle/>
          <a:p>
            <a:pPr marL="0" indent="0" algn="l">
              <a:buNone/>
            </a:pPr>
            <a:r>
              <a:rPr lang="en-US" sz="1070" dirty="0">
                <a:solidFill>
                  <a:srgbClr val="071B50"/>
                </a:solidFill>
                <a:latin typeface="华文中宋" pitchFamily="34" charset="0"/>
                <a:ea typeface="华文中宋" pitchFamily="34" charset="-122"/>
                <a:cs typeface="华文中宋" pitchFamily="34" charset="-120"/>
              </a:rPr>
              <a:t>完整声明 K</a:t>
            </a:r>
            <a:endParaRPr lang="en-US" sz="1070" dirty="0"/>
          </a:p>
        </p:txBody>
      </p:sp>
      <p:sp>
        <p:nvSpPr>
          <p:cNvPr id="173" name="Text 101"/>
          <p:cNvSpPr txBox="1"/>
          <p:nvPr/>
        </p:nvSpPr>
        <p:spPr>
          <a:xfrm>
            <a:off x="8479269" y="6070711"/>
            <a:ext cx="568453" cy="211621"/>
          </a:xfrm>
          <a:prstGeom prst="rect">
            <a:avLst/>
          </a:prstGeom>
          <a:noFill/>
        </p:spPr>
        <p:txBody>
          <a:bodyPr wrap="none" lIns="0" tIns="0" rIns="0" bIns="0" rtlCol="0" anchor="ctr"/>
          <a:lstStyle/>
          <a:p>
            <a:pPr marL="0" indent="0" algn="ctr">
              <a:buNone/>
            </a:pPr>
            <a:r>
              <a:rPr lang="en-US" sz="1010" dirty="0">
                <a:solidFill>
                  <a:srgbClr val="071B50"/>
                </a:solidFill>
                <a:latin typeface="华文中宋" pitchFamily="34" charset="0"/>
                <a:ea typeface="华文中宋" pitchFamily="34" charset="-122"/>
                <a:cs typeface="华文中宋" pitchFamily="34" charset="-120"/>
              </a:rPr>
              <a:t>原文片段</a:t>
            </a:r>
            <a:endParaRPr lang="en-US" sz="1010" dirty="0"/>
          </a:p>
        </p:txBody>
      </p:sp>
      <p:sp>
        <p:nvSpPr>
          <p:cNvPr id="174" name="Text 102"/>
          <p:cNvSpPr txBox="1"/>
          <p:nvPr/>
        </p:nvSpPr>
        <p:spPr>
          <a:xfrm>
            <a:off x="9361099" y="6252907"/>
            <a:ext cx="604892" cy="226197"/>
          </a:xfrm>
          <a:prstGeom prst="rect">
            <a:avLst/>
          </a:prstGeom>
          <a:noFill/>
        </p:spPr>
        <p:txBody>
          <a:bodyPr wrap="none" lIns="0" tIns="0" rIns="0" bIns="0" rtlCol="0" anchor="ctr"/>
          <a:lstStyle/>
          <a:p>
            <a:pPr marL="0" indent="0" algn="ctr">
              <a:buNone/>
            </a:pPr>
            <a:r>
              <a:rPr lang="en-US" sz="1140" dirty="0">
                <a:solidFill>
                  <a:srgbClr val="071B50"/>
                </a:solidFill>
                <a:latin typeface="华文中宋" pitchFamily="34" charset="0"/>
                <a:ea typeface="华文中宋" pitchFamily="34" charset="-122"/>
                <a:cs typeface="华文中宋" pitchFamily="34" charset="-120"/>
              </a:rPr>
              <a:t>文本嵌入</a:t>
            </a:r>
            <a:endParaRPr lang="en-US" sz="1140" dirty="0"/>
          </a:p>
        </p:txBody>
      </p:sp>
      <p:sp>
        <p:nvSpPr>
          <p:cNvPr id="175" name="Text 103"/>
          <p:cNvSpPr txBox="1"/>
          <p:nvPr/>
        </p:nvSpPr>
        <p:spPr>
          <a:xfrm>
            <a:off x="11314245" y="6252907"/>
            <a:ext cx="583028" cy="233485"/>
          </a:xfrm>
          <a:prstGeom prst="rect">
            <a:avLst/>
          </a:prstGeom>
          <a:noFill/>
        </p:spPr>
        <p:txBody>
          <a:bodyPr wrap="none" lIns="0" tIns="0" rIns="0" bIns="0" rtlCol="0" anchor="ctr"/>
          <a:lstStyle/>
          <a:p>
            <a:pPr marL="0" indent="0" algn="ctr">
              <a:buNone/>
            </a:pPr>
            <a:r>
              <a:rPr lang="en-US" sz="1180" dirty="0">
                <a:solidFill>
                  <a:srgbClr val="071B50"/>
                </a:solidFill>
                <a:latin typeface="华文中宋" pitchFamily="34" charset="0"/>
                <a:ea typeface="华文中宋" pitchFamily="34" charset="-122"/>
                <a:cs typeface="华文中宋" pitchFamily="34" charset="-120"/>
              </a:rPr>
              <a:t>向量索引</a:t>
            </a:r>
            <a:endParaRPr lang="en-US" sz="1180" dirty="0"/>
          </a:p>
        </p:txBody>
      </p:sp>
      <p:pic>
        <p:nvPicPr>
          <p:cNvPr id="178" name="图片 177" descr="华科大"/>
          <p:cNvPicPr>
            <a:picLocks noChangeAspect="1"/>
          </p:cNvPicPr>
          <p:nvPr>
            <p:custDataLst>
              <p:tags r:id="rId71"/>
            </p:custDataLst>
          </p:nvPr>
        </p:nvPicPr>
        <p:blipFill>
          <a:blip r:embed="rId72"/>
          <a:stretch>
            <a:fillRect/>
          </a:stretch>
        </p:blipFill>
        <p:spPr>
          <a:xfrm>
            <a:off x="635" y="-97790"/>
            <a:ext cx="2354580" cy="824230"/>
          </a:xfrm>
          <a:prstGeom prst="rect">
            <a:avLst/>
          </a:prstGeom>
        </p:spPr>
      </p:pic>
      <p:pic>
        <p:nvPicPr>
          <p:cNvPr id="179" name="图片 178"/>
          <p:cNvPicPr>
            <a:picLocks noChangeAspect="1"/>
          </p:cNvPicPr>
          <p:nvPr>
            <p:custDataLst>
              <p:tags r:id="rId73"/>
            </p:custDataLst>
          </p:nvPr>
        </p:nvPicPr>
        <p:blipFill>
          <a:blip r:embed="rId74"/>
          <a:srcRect t="69576" b="21479"/>
          <a:stretch>
            <a:fillRect/>
          </a:stretch>
        </p:blipFill>
        <p:spPr>
          <a:xfrm>
            <a:off x="0" y="-22860"/>
            <a:ext cx="12192000" cy="681355"/>
          </a:xfrm>
          <a:prstGeom prst="rect">
            <a:avLst/>
          </a:prstGeom>
        </p:spPr>
      </p:pic>
      <p:sp>
        <p:nvSpPr>
          <p:cNvPr id="180" name="矩形 179"/>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81" name="图片 180" descr="华科大"/>
          <p:cNvPicPr>
            <a:picLocks noChangeAspect="1"/>
          </p:cNvPicPr>
          <p:nvPr>
            <p:custDataLst>
              <p:tags r:id="rId75"/>
            </p:custDataLst>
          </p:nvPr>
        </p:nvPicPr>
        <p:blipFill>
          <a:blip r:embed="rId72"/>
          <a:stretch>
            <a:fillRect/>
          </a:stretch>
        </p:blipFill>
        <p:spPr>
          <a:xfrm>
            <a:off x="127635" y="29210"/>
            <a:ext cx="2354580" cy="824230"/>
          </a:xfrm>
          <a:prstGeom prst="rect">
            <a:avLst/>
          </a:prstGeom>
        </p:spPr>
      </p:pic>
      <p:pic>
        <p:nvPicPr>
          <p:cNvPr id="182" name="图片 181"/>
          <p:cNvPicPr>
            <a:picLocks noChangeAspect="1"/>
          </p:cNvPicPr>
          <p:nvPr>
            <p:custDataLst>
              <p:tags r:id="rId76"/>
            </p:custDataLst>
          </p:nvPr>
        </p:nvPicPr>
        <p:blipFill>
          <a:blip r:embed="rId74"/>
          <a:srcRect t="69576" b="21479"/>
          <a:stretch>
            <a:fillRect/>
          </a:stretch>
        </p:blipFill>
        <p:spPr>
          <a:xfrm>
            <a:off x="0" y="-22860"/>
            <a:ext cx="12192000" cy="681355"/>
          </a:xfrm>
          <a:prstGeom prst="rect">
            <a:avLst/>
          </a:prstGeom>
        </p:spPr>
      </p:pic>
      <p:sp>
        <p:nvSpPr>
          <p:cNvPr id="183" name="矩形 182"/>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4" name="矩形 183"/>
          <p:cNvSpPr/>
          <p:nvPr>
            <p:custDataLst>
              <p:tags r:id="rId77"/>
            </p:custDataLst>
          </p:nvPr>
        </p:nvSpPr>
        <p:spPr>
          <a:xfrm>
            <a:off x="7020589" y="-18300"/>
            <a:ext cx="1859281" cy="676679"/>
          </a:xfrm>
          <a:prstGeom prst="rect">
            <a:avLst/>
          </a:prstGeom>
          <a:solidFill>
            <a:srgbClr val="02549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5" name="文本框 184"/>
          <p:cNvSpPr txBox="1"/>
          <p:nvPr/>
        </p:nvSpPr>
        <p:spPr>
          <a:xfrm>
            <a:off x="2125374" y="67915"/>
            <a:ext cx="16725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研究背景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86" name="文本框 185"/>
          <p:cNvSpPr txBox="1"/>
          <p:nvPr/>
        </p:nvSpPr>
        <p:spPr>
          <a:xfrm>
            <a:off x="3762124" y="80122"/>
            <a:ext cx="178165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研究现状</a:t>
            </a:r>
            <a:endParaRPr lang="zh-CN" altLang="en-US" sz="2400" b="1" dirty="0">
              <a:solidFill>
                <a:schemeClr val="bg1"/>
              </a:solidFill>
            </a:endParaRPr>
          </a:p>
        </p:txBody>
      </p:sp>
      <p:sp>
        <p:nvSpPr>
          <p:cNvPr id="187" name="文本框 186"/>
          <p:cNvSpPr txBox="1"/>
          <p:nvPr/>
        </p:nvSpPr>
        <p:spPr>
          <a:xfrm>
            <a:off x="5394826" y="86984"/>
            <a:ext cx="183705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系统架构</a:t>
            </a:r>
            <a:endParaRPr lang="zh-CN" altLang="en-US" sz="2400" b="1" dirty="0">
              <a:solidFill>
                <a:schemeClr val="bg1"/>
              </a:solidFill>
            </a:endParaRPr>
          </a:p>
        </p:txBody>
      </p:sp>
      <p:sp>
        <p:nvSpPr>
          <p:cNvPr id="188" name="文本框 187"/>
          <p:cNvSpPr txBox="1"/>
          <p:nvPr/>
        </p:nvSpPr>
        <p:spPr>
          <a:xfrm>
            <a:off x="7005125" y="86983"/>
            <a:ext cx="185928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图谱算法</a:t>
            </a:r>
            <a:endParaRPr lang="zh-CN" altLang="en-US" sz="2400" b="1" dirty="0">
              <a:solidFill>
                <a:schemeClr val="bg1"/>
              </a:solidFill>
            </a:endParaRPr>
          </a:p>
        </p:txBody>
      </p:sp>
      <p:sp>
        <p:nvSpPr>
          <p:cNvPr id="189" name="文本框 188"/>
          <p:cNvSpPr txBox="1"/>
          <p:nvPr/>
        </p:nvSpPr>
        <p:spPr>
          <a:xfrm>
            <a:off x="8667692" y="88396"/>
            <a:ext cx="1736725" cy="429895"/>
          </a:xfrm>
          <a:prstGeom prst="rect">
            <a:avLst/>
          </a:prstGeom>
          <a:noFill/>
        </p:spPr>
        <p:txBody>
          <a:bodyPr wrap="square" rtlCol="0">
            <a:spAutoFit/>
          </a:bodyPr>
          <a:lstStyle/>
          <a:p>
            <a:r>
              <a:rPr lang="en-US" altLang="zh-CN" sz="2200" b="1" dirty="0">
                <a:solidFill>
                  <a:schemeClr val="bg1"/>
                </a:solidFill>
                <a:sym typeface="+mn-ea"/>
              </a:rPr>
              <a:t>  </a:t>
            </a:r>
            <a:r>
              <a:rPr lang="zh-CN" altLang="en-US" sz="2200" b="1" dirty="0">
                <a:solidFill>
                  <a:schemeClr val="bg1"/>
                </a:solidFill>
                <a:latin typeface="微软雅黑" panose="020B0503020204020204" pitchFamily="34" charset="-122"/>
                <a:ea typeface="微软雅黑" panose="020B0503020204020204" pitchFamily="34" charset="-122"/>
                <a:sym typeface="+mn-ea"/>
              </a:rPr>
              <a:t>实验设计</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190" name="图片 189" descr="华科大"/>
          <p:cNvPicPr>
            <a:picLocks noChangeAspect="1"/>
          </p:cNvPicPr>
          <p:nvPr>
            <p:custDataLst>
              <p:tags r:id="rId78"/>
            </p:custDataLst>
          </p:nvPr>
        </p:nvPicPr>
        <p:blipFill>
          <a:blip r:embed="rId72"/>
          <a:stretch>
            <a:fillRect/>
          </a:stretch>
        </p:blipFill>
        <p:spPr>
          <a:xfrm>
            <a:off x="-156383" y="-97790"/>
            <a:ext cx="2354580" cy="824230"/>
          </a:xfrm>
          <a:prstGeom prst="rect">
            <a:avLst/>
          </a:prstGeom>
        </p:spPr>
      </p:pic>
      <p:sp>
        <p:nvSpPr>
          <p:cNvPr id="192" name="文本框 191"/>
          <p:cNvSpPr txBox="1"/>
          <p:nvPr/>
        </p:nvSpPr>
        <p:spPr>
          <a:xfrm>
            <a:off x="10176646" y="88234"/>
            <a:ext cx="2015375" cy="460375"/>
          </a:xfrm>
          <a:prstGeom prst="rect">
            <a:avLst/>
          </a:prstGeom>
          <a:noFill/>
        </p:spPr>
        <p:txBody>
          <a:bodyPr wrap="squar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研究</a:t>
            </a:r>
            <a:r>
              <a:rPr lang="zh-CN" altLang="en-US" sz="2400" b="1" dirty="0">
                <a:solidFill>
                  <a:schemeClr val="bg1"/>
                </a:solidFill>
                <a:latin typeface="微软雅黑" panose="020B0503020204020204" pitchFamily="34" charset="-122"/>
                <a:ea typeface="微软雅黑" panose="020B0503020204020204" pitchFamily="34" charset="-122"/>
              </a:rPr>
              <a:t>计划</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background"/>
          <p:cNvPicPr>
            <a:picLocks noChangeAspect="1"/>
          </p:cNvPicPr>
          <p:nvPr/>
        </p:nvPicPr>
        <p:blipFill>
          <a:blip r:embed="rId1"/>
          <a:stretch>
            <a:fillRect/>
          </a:stretch>
        </p:blipFill>
        <p:spPr>
          <a:xfrm>
            <a:off x="3493" y="64"/>
            <a:ext cx="12185294" cy="6857872"/>
          </a:xfrm>
          <a:prstGeom prst="rect">
            <a:avLst/>
          </a:prstGeom>
        </p:spPr>
      </p:pic>
      <p:pic>
        <p:nvPicPr>
          <p:cNvPr id="3" name="Image 1" descr="image"/>
          <p:cNvPicPr>
            <a:picLocks noChangeAspect="1"/>
          </p:cNvPicPr>
          <p:nvPr/>
        </p:nvPicPr>
        <p:blipFill>
          <a:blip r:embed="rId2"/>
          <a:stretch>
            <a:fillRect/>
          </a:stretch>
        </p:blipFill>
        <p:spPr>
          <a:xfrm>
            <a:off x="2546955" y="4846488"/>
            <a:ext cx="204060" cy="160333"/>
          </a:xfrm>
          <a:prstGeom prst="rect">
            <a:avLst/>
          </a:prstGeom>
        </p:spPr>
      </p:pic>
      <p:pic>
        <p:nvPicPr>
          <p:cNvPr id="4" name="Image 2" descr="salvage"/>
          <p:cNvPicPr>
            <a:picLocks noChangeAspect="1"/>
          </p:cNvPicPr>
          <p:nvPr/>
        </p:nvPicPr>
        <p:blipFill>
          <a:blip r:embed="rId3"/>
          <a:stretch>
            <a:fillRect/>
          </a:stretch>
        </p:blipFill>
        <p:spPr>
          <a:xfrm>
            <a:off x="5498536" y="1450347"/>
            <a:ext cx="736073" cy="408120"/>
          </a:xfrm>
          <a:prstGeom prst="rect">
            <a:avLst/>
          </a:prstGeom>
        </p:spPr>
      </p:pic>
      <p:pic>
        <p:nvPicPr>
          <p:cNvPr id="5" name="Image 3" descr="image"/>
          <p:cNvPicPr>
            <a:picLocks noChangeAspect="1"/>
          </p:cNvPicPr>
          <p:nvPr/>
        </p:nvPicPr>
        <p:blipFill>
          <a:blip r:embed="rId4"/>
          <a:stretch>
            <a:fillRect/>
          </a:stretch>
        </p:blipFill>
        <p:spPr>
          <a:xfrm>
            <a:off x="1395473" y="2689283"/>
            <a:ext cx="189484" cy="153045"/>
          </a:xfrm>
          <a:prstGeom prst="rect">
            <a:avLst/>
          </a:prstGeom>
        </p:spPr>
      </p:pic>
      <p:pic>
        <p:nvPicPr>
          <p:cNvPr id="6" name="Image 4" descr="image"/>
          <p:cNvPicPr>
            <a:picLocks noChangeAspect="1"/>
          </p:cNvPicPr>
          <p:nvPr/>
        </p:nvPicPr>
        <p:blipFill>
          <a:blip r:embed="rId5"/>
          <a:stretch>
            <a:fillRect/>
          </a:stretch>
        </p:blipFill>
        <p:spPr>
          <a:xfrm>
            <a:off x="1402761" y="5495107"/>
            <a:ext cx="160333" cy="145757"/>
          </a:xfrm>
          <a:prstGeom prst="rect">
            <a:avLst/>
          </a:prstGeom>
        </p:spPr>
      </p:pic>
      <p:pic>
        <p:nvPicPr>
          <p:cNvPr id="7" name="Image 5" descr="salvage"/>
          <p:cNvPicPr>
            <a:picLocks noChangeAspect="1"/>
          </p:cNvPicPr>
          <p:nvPr/>
        </p:nvPicPr>
        <p:blipFill>
          <a:blip r:embed="rId6"/>
          <a:stretch>
            <a:fillRect/>
          </a:stretch>
        </p:blipFill>
        <p:spPr>
          <a:xfrm>
            <a:off x="6482397" y="5553410"/>
            <a:ext cx="1020300" cy="437271"/>
          </a:xfrm>
          <a:prstGeom prst="rect">
            <a:avLst/>
          </a:prstGeom>
        </p:spPr>
      </p:pic>
      <p:pic>
        <p:nvPicPr>
          <p:cNvPr id="8" name="Image 6" descr="salvage"/>
          <p:cNvPicPr>
            <a:picLocks noChangeAspect="1"/>
          </p:cNvPicPr>
          <p:nvPr/>
        </p:nvPicPr>
        <p:blipFill>
          <a:blip r:embed="rId7"/>
          <a:stretch>
            <a:fillRect/>
          </a:stretch>
        </p:blipFill>
        <p:spPr>
          <a:xfrm>
            <a:off x="5469385" y="6048984"/>
            <a:ext cx="568453" cy="459135"/>
          </a:xfrm>
          <a:prstGeom prst="rect">
            <a:avLst/>
          </a:prstGeom>
        </p:spPr>
      </p:pic>
      <p:sp>
        <p:nvSpPr>
          <p:cNvPr id="9" name="Shape 0"/>
          <p:cNvSpPr/>
          <p:nvPr/>
        </p:nvSpPr>
        <p:spPr>
          <a:xfrm>
            <a:off x="1584958" y="816304"/>
            <a:ext cx="874543" cy="874543"/>
          </a:xfrm>
          <a:prstGeom prst="ellipse">
            <a:avLst/>
          </a:prstGeom>
          <a:solidFill>
            <a:srgbClr val="ECF7FE"/>
          </a:solidFill>
          <a:ln w="15875">
            <a:solidFill>
              <a:srgbClr val="A8D9FF"/>
            </a:solidFill>
            <a:prstDash val="solid"/>
          </a:ln>
        </p:spPr>
      </p:sp>
      <p:sp>
        <p:nvSpPr>
          <p:cNvPr id="10" name="Shape 1"/>
          <p:cNvSpPr/>
          <p:nvPr/>
        </p:nvSpPr>
        <p:spPr>
          <a:xfrm>
            <a:off x="1555806" y="3636704"/>
            <a:ext cx="859967" cy="859967"/>
          </a:xfrm>
          <a:prstGeom prst="ellipse">
            <a:avLst/>
          </a:prstGeom>
          <a:solidFill>
            <a:srgbClr val="F3FAFF"/>
          </a:solidFill>
          <a:ln w="15875">
            <a:solidFill>
              <a:srgbClr val="A8D9FF"/>
            </a:solidFill>
            <a:prstDash val="solid"/>
          </a:ln>
        </p:spPr>
      </p:sp>
      <p:sp>
        <p:nvSpPr>
          <p:cNvPr id="11" name="Shape 2"/>
          <p:cNvSpPr/>
          <p:nvPr/>
        </p:nvSpPr>
        <p:spPr>
          <a:xfrm>
            <a:off x="7867089" y="3221296"/>
            <a:ext cx="2040600" cy="408120"/>
          </a:xfrm>
          <a:prstGeom prst="roundRect">
            <a:avLst>
              <a:gd name="adj" fmla="val 10714"/>
            </a:avLst>
          </a:prstGeom>
          <a:solidFill>
            <a:srgbClr val="E4F7F2"/>
          </a:solidFill>
          <a:ln w="15875">
            <a:solidFill>
              <a:srgbClr val="B9EBDD"/>
            </a:solidFill>
            <a:prstDash val="solid"/>
          </a:ln>
        </p:spPr>
      </p:sp>
      <p:pic>
        <p:nvPicPr>
          <p:cNvPr id="12" name="Image 7" descr="image"/>
          <p:cNvPicPr>
            <a:picLocks noChangeAspect="1"/>
          </p:cNvPicPr>
          <p:nvPr/>
        </p:nvPicPr>
        <p:blipFill>
          <a:blip r:embed="rId8"/>
          <a:stretch>
            <a:fillRect/>
          </a:stretch>
        </p:blipFill>
        <p:spPr>
          <a:xfrm>
            <a:off x="8442830" y="3286887"/>
            <a:ext cx="72879" cy="291514"/>
          </a:xfrm>
          <a:prstGeom prst="rect">
            <a:avLst/>
          </a:prstGeom>
        </p:spPr>
      </p:pic>
      <p:sp>
        <p:nvSpPr>
          <p:cNvPr id="13" name="Shape 3"/>
          <p:cNvSpPr/>
          <p:nvPr/>
        </p:nvSpPr>
        <p:spPr>
          <a:xfrm>
            <a:off x="7874377" y="3680431"/>
            <a:ext cx="2033312" cy="400832"/>
          </a:xfrm>
          <a:prstGeom prst="roundRect">
            <a:avLst>
              <a:gd name="adj" fmla="val 9091"/>
            </a:avLst>
          </a:prstGeom>
          <a:solidFill>
            <a:srgbClr val="FDF5E7"/>
          </a:solidFill>
          <a:ln w="15875">
            <a:solidFill>
              <a:srgbClr val="FFE0AE"/>
            </a:solidFill>
            <a:prstDash val="solid"/>
          </a:ln>
        </p:spPr>
      </p:sp>
      <p:sp>
        <p:nvSpPr>
          <p:cNvPr id="14" name="Shape 4"/>
          <p:cNvSpPr/>
          <p:nvPr/>
        </p:nvSpPr>
        <p:spPr>
          <a:xfrm>
            <a:off x="7874377" y="4139566"/>
            <a:ext cx="2033312" cy="437271"/>
          </a:xfrm>
          <a:prstGeom prst="roundRect">
            <a:avLst>
              <a:gd name="adj" fmla="val 8333"/>
            </a:avLst>
          </a:prstGeom>
          <a:solidFill>
            <a:srgbClr val="E4EAF0"/>
          </a:solidFill>
          <a:ln w="15875">
            <a:solidFill>
              <a:srgbClr val="D5DCE6"/>
            </a:solidFill>
            <a:prstDash val="solid"/>
          </a:ln>
        </p:spPr>
      </p:sp>
      <p:sp>
        <p:nvSpPr>
          <p:cNvPr id="15" name="Shape 5"/>
          <p:cNvSpPr/>
          <p:nvPr/>
        </p:nvSpPr>
        <p:spPr>
          <a:xfrm>
            <a:off x="7867089" y="6143726"/>
            <a:ext cx="561165" cy="284226"/>
          </a:xfrm>
          <a:prstGeom prst="roundRect">
            <a:avLst>
              <a:gd name="adj" fmla="val 12821"/>
            </a:avLst>
          </a:prstGeom>
          <a:solidFill>
            <a:srgbClr val="D9EEFE"/>
          </a:solidFill>
          <a:ln w="15875">
            <a:solidFill>
              <a:srgbClr val="168BFF"/>
            </a:solidFill>
            <a:prstDash val="solid"/>
          </a:ln>
        </p:spPr>
      </p:sp>
      <p:sp>
        <p:nvSpPr>
          <p:cNvPr id="16" name="Shape 6"/>
          <p:cNvSpPr/>
          <p:nvPr/>
        </p:nvSpPr>
        <p:spPr>
          <a:xfrm>
            <a:off x="8581299" y="6143726"/>
            <a:ext cx="641331" cy="276939"/>
          </a:xfrm>
          <a:prstGeom prst="roundRect">
            <a:avLst>
              <a:gd name="adj" fmla="val 15789"/>
            </a:avLst>
          </a:prstGeom>
          <a:solidFill>
            <a:srgbClr val="D5F5EA"/>
          </a:solidFill>
          <a:ln w="15875">
            <a:solidFill>
              <a:srgbClr val="00B890"/>
            </a:solidFill>
            <a:prstDash val="solid"/>
          </a:ln>
        </p:spPr>
      </p:sp>
      <p:sp>
        <p:nvSpPr>
          <p:cNvPr id="17" name="Shape 7"/>
          <p:cNvSpPr/>
          <p:nvPr/>
        </p:nvSpPr>
        <p:spPr>
          <a:xfrm>
            <a:off x="9346524" y="6143726"/>
            <a:ext cx="583028" cy="284226"/>
          </a:xfrm>
          <a:prstGeom prst="roundRect">
            <a:avLst>
              <a:gd name="adj" fmla="val 12821"/>
            </a:avLst>
          </a:prstGeom>
          <a:solidFill>
            <a:srgbClr val="FEEACF"/>
          </a:solidFill>
          <a:ln w="15875">
            <a:solidFill>
              <a:srgbClr val="FF6A22"/>
            </a:solidFill>
            <a:prstDash val="solid"/>
          </a:ln>
        </p:spPr>
      </p:sp>
      <p:sp>
        <p:nvSpPr>
          <p:cNvPr id="18" name="Shape 8"/>
          <p:cNvSpPr/>
          <p:nvPr/>
        </p:nvSpPr>
        <p:spPr>
          <a:xfrm>
            <a:off x="10177339" y="4642428"/>
            <a:ext cx="1843827" cy="896406"/>
          </a:xfrm>
          <a:prstGeom prst="roundRect">
            <a:avLst>
              <a:gd name="adj" fmla="val 4080"/>
            </a:avLst>
          </a:prstGeom>
          <a:solidFill>
            <a:srgbClr val="FAFBFC"/>
          </a:solidFill>
          <a:ln w="15875">
            <a:solidFill>
              <a:srgbClr val="E7DDBF"/>
            </a:solidFill>
            <a:prstDash val="solid"/>
          </a:ln>
        </p:spPr>
      </p:sp>
      <p:sp>
        <p:nvSpPr>
          <p:cNvPr id="19" name="Shape 9"/>
          <p:cNvSpPr/>
          <p:nvPr/>
        </p:nvSpPr>
        <p:spPr>
          <a:xfrm>
            <a:off x="10177339" y="5604425"/>
            <a:ext cx="1843827" cy="961997"/>
          </a:xfrm>
          <a:prstGeom prst="roundRect">
            <a:avLst>
              <a:gd name="adj" fmla="val 3802"/>
            </a:avLst>
          </a:prstGeom>
          <a:solidFill>
            <a:srgbClr val="F9FAFB"/>
          </a:solidFill>
          <a:ln w="15875">
            <a:solidFill>
              <a:srgbClr val="D9DFE7"/>
            </a:solidFill>
            <a:prstDash val="solid"/>
          </a:ln>
        </p:spPr>
      </p:sp>
      <p:pic>
        <p:nvPicPr>
          <p:cNvPr id="20" name="Image 8" descr="image"/>
          <p:cNvPicPr>
            <a:picLocks noChangeAspect="1"/>
          </p:cNvPicPr>
          <p:nvPr/>
        </p:nvPicPr>
        <p:blipFill>
          <a:blip r:embed="rId9"/>
          <a:stretch>
            <a:fillRect/>
          </a:stretch>
        </p:blipFill>
        <p:spPr>
          <a:xfrm>
            <a:off x="10323096" y="6034408"/>
            <a:ext cx="728786" cy="276939"/>
          </a:xfrm>
          <a:prstGeom prst="rect">
            <a:avLst/>
          </a:prstGeom>
        </p:spPr>
      </p:pic>
      <p:sp>
        <p:nvSpPr>
          <p:cNvPr id="21" name="Shape 10"/>
          <p:cNvSpPr/>
          <p:nvPr/>
        </p:nvSpPr>
        <p:spPr>
          <a:xfrm>
            <a:off x="2758302" y="1486787"/>
            <a:ext cx="1093178" cy="699634"/>
          </a:xfrm>
          <a:prstGeom prst="roundRect">
            <a:avLst>
              <a:gd name="adj" fmla="val 5228"/>
            </a:avLst>
          </a:prstGeom>
          <a:solidFill>
            <a:srgbClr val="E9F5FE"/>
          </a:solidFill>
          <a:ln w="15875">
            <a:solidFill>
              <a:srgbClr val="168BFF"/>
            </a:solidFill>
            <a:prstDash val="solid"/>
          </a:ln>
        </p:spPr>
      </p:sp>
      <p:sp>
        <p:nvSpPr>
          <p:cNvPr id="22" name="Shape 11"/>
          <p:cNvSpPr/>
          <p:nvPr/>
        </p:nvSpPr>
        <p:spPr>
          <a:xfrm>
            <a:off x="2752684" y="2491076"/>
            <a:ext cx="1106228" cy="711134"/>
          </a:xfrm>
          <a:custGeom>
            <a:avLst/>
            <a:gdLst/>
            <a:ahLst/>
            <a:cxnLst/>
            <a:rect l="l" t="t" r="r" b="b"/>
            <a:pathLst>
              <a:path w="1106228" h="711134">
                <a:moveTo>
                  <a:pt x="1091509" y="679206"/>
                </a:moveTo>
                <a:cubicBezTo>
                  <a:pt x="1084052" y="693696"/>
                  <a:pt x="1079636" y="695310"/>
                  <a:pt x="1062357" y="701069"/>
                </a:cubicBezTo>
                <a:cubicBezTo>
                  <a:pt x="997248" y="722772"/>
                  <a:pt x="716783" y="702297"/>
                  <a:pt x="544920" y="701069"/>
                </a:cubicBezTo>
                <a:cubicBezTo>
                  <a:pt x="374262" y="699850"/>
                  <a:pt x="99007" y="728752"/>
                  <a:pt x="34770" y="693781"/>
                </a:cubicBezTo>
                <a:cubicBezTo>
                  <a:pt x="14153" y="682557"/>
                  <a:pt x="12164" y="672662"/>
                  <a:pt x="5618" y="650054"/>
                </a:cubicBezTo>
                <a:cubicBezTo>
                  <a:pt x="-9991" y="596137"/>
                  <a:pt x="11684" y="451460"/>
                  <a:pt x="12906" y="351252"/>
                </a:cubicBezTo>
                <a:cubicBezTo>
                  <a:pt x="14143" y="249844"/>
                  <a:pt x="-8084" y="95837"/>
                  <a:pt x="12906" y="45162"/>
                </a:cubicBezTo>
                <a:cubicBezTo>
                  <a:pt x="21519" y="24370"/>
                  <a:pt x="32204" y="15823"/>
                  <a:pt x="49346" y="8723"/>
                </a:cubicBezTo>
                <a:cubicBezTo>
                  <a:pt x="73465" y="-1268"/>
                  <a:pt x="107539" y="8723"/>
                  <a:pt x="151376" y="8723"/>
                </a:cubicBezTo>
                <a:cubicBezTo>
                  <a:pt x="230836" y="8723"/>
                  <a:pt x="359170" y="7936"/>
                  <a:pt x="486617" y="8723"/>
                </a:cubicBezTo>
                <a:cubicBezTo>
                  <a:pt x="655742" y="9767"/>
                  <a:pt x="1014279" y="-15802"/>
                  <a:pt x="1076933" y="16011"/>
                </a:cubicBezTo>
                <a:cubicBezTo>
                  <a:pt x="1092499" y="23914"/>
                  <a:pt x="1093346" y="28811"/>
                  <a:pt x="1098797" y="45162"/>
                </a:cubicBezTo>
                <a:cubicBezTo>
                  <a:pt x="1114965" y="93668"/>
                  <a:pt x="1100032" y="259561"/>
                  <a:pt x="1098797" y="365828"/>
                </a:cubicBezTo>
                <a:cubicBezTo>
                  <a:pt x="1097575" y="470894"/>
                  <a:pt x="1113380" y="636705"/>
                  <a:pt x="1091509" y="679206"/>
                </a:cubicBezTo>
                <a:close/>
              </a:path>
            </a:pathLst>
          </a:custGeom>
          <a:solidFill>
            <a:srgbClr val="EAF5FE"/>
          </a:solidFill>
          <a:ln w="15875">
            <a:solidFill>
              <a:srgbClr val="168BFF"/>
            </a:solidFill>
            <a:prstDash val="solid"/>
          </a:ln>
        </p:spPr>
      </p:sp>
      <p:sp>
        <p:nvSpPr>
          <p:cNvPr id="23" name="Shape 12"/>
          <p:cNvSpPr/>
          <p:nvPr/>
        </p:nvSpPr>
        <p:spPr>
          <a:xfrm>
            <a:off x="2751015" y="3549250"/>
            <a:ext cx="1100466" cy="706922"/>
          </a:xfrm>
          <a:prstGeom prst="roundRect">
            <a:avLst>
              <a:gd name="adj" fmla="val 5174"/>
            </a:avLst>
          </a:prstGeom>
          <a:solidFill>
            <a:srgbClr val="ECF9F8"/>
          </a:solidFill>
          <a:ln w="15875">
            <a:solidFill>
              <a:srgbClr val="00B890"/>
            </a:solidFill>
            <a:prstDash val="solid"/>
          </a:ln>
        </p:spPr>
      </p:sp>
      <p:sp>
        <p:nvSpPr>
          <p:cNvPr id="24" name="Shape 13"/>
          <p:cNvSpPr/>
          <p:nvPr/>
        </p:nvSpPr>
        <p:spPr>
          <a:xfrm>
            <a:off x="2751015" y="4562262"/>
            <a:ext cx="1100466" cy="721498"/>
          </a:xfrm>
          <a:prstGeom prst="roundRect">
            <a:avLst>
              <a:gd name="adj" fmla="val 5069"/>
            </a:avLst>
          </a:prstGeom>
          <a:solidFill>
            <a:srgbClr val="FEEFDE"/>
          </a:solidFill>
          <a:ln w="15875">
            <a:solidFill>
              <a:srgbClr val="FF6A22"/>
            </a:solidFill>
            <a:prstDash val="solid"/>
          </a:ln>
        </p:spPr>
      </p:sp>
      <p:sp>
        <p:nvSpPr>
          <p:cNvPr id="25" name="Shape 14"/>
          <p:cNvSpPr/>
          <p:nvPr/>
        </p:nvSpPr>
        <p:spPr>
          <a:xfrm>
            <a:off x="6934244" y="1260863"/>
            <a:ext cx="466423" cy="262363"/>
          </a:xfrm>
          <a:prstGeom prst="roundRect">
            <a:avLst>
              <a:gd name="adj" fmla="val 11111"/>
            </a:avLst>
          </a:prstGeom>
          <a:solidFill>
            <a:srgbClr val="D0EBFD"/>
          </a:solidFill>
          <a:ln w="15875">
            <a:solidFill>
              <a:srgbClr val="6C8EBA"/>
            </a:solidFill>
            <a:prstDash val="solid"/>
          </a:ln>
        </p:spPr>
      </p:sp>
      <p:sp>
        <p:nvSpPr>
          <p:cNvPr id="26" name="Shape 15"/>
          <p:cNvSpPr/>
          <p:nvPr/>
        </p:nvSpPr>
        <p:spPr>
          <a:xfrm>
            <a:off x="6926956" y="1552377"/>
            <a:ext cx="480998" cy="262363"/>
          </a:xfrm>
          <a:prstGeom prst="roundRect">
            <a:avLst>
              <a:gd name="adj" fmla="val 11111"/>
            </a:avLst>
          </a:prstGeom>
          <a:solidFill>
            <a:srgbClr val="EEF7FF"/>
          </a:solidFill>
          <a:ln w="15875">
            <a:solidFill>
              <a:srgbClr val="6C8EBA"/>
            </a:solidFill>
            <a:prstDash val="solid"/>
          </a:ln>
        </p:spPr>
      </p:sp>
      <p:sp>
        <p:nvSpPr>
          <p:cNvPr id="27" name="Shape 16"/>
          <p:cNvSpPr/>
          <p:nvPr/>
        </p:nvSpPr>
        <p:spPr>
          <a:xfrm>
            <a:off x="6926956" y="1814740"/>
            <a:ext cx="480998" cy="276939"/>
          </a:xfrm>
          <a:prstGeom prst="roundRect">
            <a:avLst>
              <a:gd name="adj" fmla="val 6000"/>
            </a:avLst>
          </a:prstGeom>
          <a:solidFill>
            <a:srgbClr val="EEF2F7"/>
          </a:solidFill>
          <a:ln w="15875">
            <a:solidFill>
              <a:srgbClr val="6C8EBA"/>
            </a:solidFill>
            <a:prstDash val="solid"/>
          </a:ln>
        </p:spPr>
      </p:sp>
      <p:pic>
        <p:nvPicPr>
          <p:cNvPr id="28" name="Image 9" descr="image"/>
          <p:cNvPicPr>
            <a:picLocks noChangeAspect="1"/>
          </p:cNvPicPr>
          <p:nvPr/>
        </p:nvPicPr>
        <p:blipFill>
          <a:blip r:embed="rId10"/>
          <a:stretch>
            <a:fillRect/>
          </a:stretch>
        </p:blipFill>
        <p:spPr>
          <a:xfrm>
            <a:off x="9055010" y="1348317"/>
            <a:ext cx="422696" cy="386256"/>
          </a:xfrm>
          <a:prstGeom prst="rect">
            <a:avLst/>
          </a:prstGeom>
        </p:spPr>
      </p:pic>
      <p:pic>
        <p:nvPicPr>
          <p:cNvPr id="29" name="Image 10" descr="image"/>
          <p:cNvPicPr>
            <a:picLocks noChangeAspect="1"/>
          </p:cNvPicPr>
          <p:nvPr/>
        </p:nvPicPr>
        <p:blipFill>
          <a:blip r:embed="rId11"/>
          <a:stretch>
            <a:fillRect/>
          </a:stretch>
        </p:blipFill>
        <p:spPr>
          <a:xfrm>
            <a:off x="9047722" y="1712710"/>
            <a:ext cx="451847" cy="429983"/>
          </a:xfrm>
          <a:prstGeom prst="rect">
            <a:avLst/>
          </a:prstGeom>
        </p:spPr>
      </p:pic>
      <p:pic>
        <p:nvPicPr>
          <p:cNvPr id="30" name="Image 11" descr="image"/>
          <p:cNvPicPr>
            <a:picLocks noChangeAspect="1"/>
          </p:cNvPicPr>
          <p:nvPr/>
        </p:nvPicPr>
        <p:blipFill>
          <a:blip r:embed="rId12"/>
          <a:stretch>
            <a:fillRect/>
          </a:stretch>
        </p:blipFill>
        <p:spPr>
          <a:xfrm>
            <a:off x="8683329" y="2222860"/>
            <a:ext cx="408120" cy="400832"/>
          </a:xfrm>
          <a:prstGeom prst="rect">
            <a:avLst/>
          </a:prstGeom>
        </p:spPr>
      </p:pic>
      <p:pic>
        <p:nvPicPr>
          <p:cNvPr id="31" name="Image 12" descr="image"/>
          <p:cNvPicPr>
            <a:picLocks noChangeAspect="1"/>
          </p:cNvPicPr>
          <p:nvPr/>
        </p:nvPicPr>
        <p:blipFill>
          <a:blip r:embed="rId13"/>
          <a:stretch>
            <a:fillRect/>
          </a:stretch>
        </p:blipFill>
        <p:spPr>
          <a:xfrm>
            <a:off x="9076873" y="2222860"/>
            <a:ext cx="400832" cy="400832"/>
          </a:xfrm>
          <a:prstGeom prst="rect">
            <a:avLst/>
          </a:prstGeom>
        </p:spPr>
      </p:pic>
      <p:pic>
        <p:nvPicPr>
          <p:cNvPr id="32" name="Image 13" descr="image"/>
          <p:cNvPicPr>
            <a:picLocks noChangeAspect="1"/>
          </p:cNvPicPr>
          <p:nvPr/>
        </p:nvPicPr>
        <p:blipFill>
          <a:blip r:embed="rId14"/>
          <a:stretch>
            <a:fillRect/>
          </a:stretch>
        </p:blipFill>
        <p:spPr>
          <a:xfrm>
            <a:off x="9470417" y="2200996"/>
            <a:ext cx="415408" cy="429983"/>
          </a:xfrm>
          <a:prstGeom prst="rect">
            <a:avLst/>
          </a:prstGeom>
        </p:spPr>
      </p:pic>
      <p:pic>
        <p:nvPicPr>
          <p:cNvPr id="33" name="Image 14" descr="image"/>
          <p:cNvPicPr>
            <a:picLocks noChangeAspect="1"/>
          </p:cNvPicPr>
          <p:nvPr/>
        </p:nvPicPr>
        <p:blipFill>
          <a:blip r:embed="rId15"/>
          <a:stretch>
            <a:fillRect/>
          </a:stretch>
        </p:blipFill>
        <p:spPr>
          <a:xfrm>
            <a:off x="9477705" y="2616404"/>
            <a:ext cx="400832" cy="393544"/>
          </a:xfrm>
          <a:prstGeom prst="rect">
            <a:avLst/>
          </a:prstGeom>
        </p:spPr>
      </p:pic>
      <p:pic>
        <p:nvPicPr>
          <p:cNvPr id="34" name="Image 15" descr="image"/>
          <p:cNvPicPr>
            <a:picLocks noChangeAspect="1"/>
          </p:cNvPicPr>
          <p:nvPr/>
        </p:nvPicPr>
        <p:blipFill>
          <a:blip r:embed="rId16"/>
          <a:stretch>
            <a:fillRect/>
          </a:stretch>
        </p:blipFill>
        <p:spPr>
          <a:xfrm>
            <a:off x="4988386" y="5480531"/>
            <a:ext cx="466423" cy="415408"/>
          </a:xfrm>
          <a:prstGeom prst="rect">
            <a:avLst/>
          </a:prstGeom>
        </p:spPr>
      </p:pic>
      <p:sp>
        <p:nvSpPr>
          <p:cNvPr id="35" name="Shape 17"/>
          <p:cNvSpPr/>
          <p:nvPr/>
        </p:nvSpPr>
        <p:spPr>
          <a:xfrm>
            <a:off x="4179434" y="5502395"/>
            <a:ext cx="371681" cy="371681"/>
          </a:xfrm>
          <a:prstGeom prst="ellipse">
            <a:avLst/>
          </a:prstGeom>
          <a:solidFill>
            <a:srgbClr val="D9F1FF"/>
          </a:solidFill>
          <a:ln w="15875">
            <a:solidFill>
              <a:srgbClr val="168BFF"/>
            </a:solidFill>
            <a:prstDash val="solid"/>
          </a:ln>
        </p:spPr>
      </p:sp>
      <p:sp>
        <p:nvSpPr>
          <p:cNvPr id="36" name="Shape 18"/>
          <p:cNvSpPr/>
          <p:nvPr/>
        </p:nvSpPr>
        <p:spPr>
          <a:xfrm>
            <a:off x="4252313" y="6158302"/>
            <a:ext cx="255075" cy="255075"/>
          </a:xfrm>
          <a:prstGeom prst="ellipse">
            <a:avLst/>
          </a:prstGeom>
          <a:solidFill>
            <a:srgbClr val="D9F1FF"/>
          </a:solidFill>
          <a:ln w="15875">
            <a:solidFill>
              <a:srgbClr val="168BFF"/>
            </a:solidFill>
            <a:prstDash val="solid"/>
          </a:ln>
        </p:spPr>
      </p:sp>
      <p:pic>
        <p:nvPicPr>
          <p:cNvPr id="37" name="Image 16" descr="image"/>
          <p:cNvPicPr>
            <a:picLocks noChangeAspect="1"/>
          </p:cNvPicPr>
          <p:nvPr/>
        </p:nvPicPr>
        <p:blipFill>
          <a:blip r:embed="rId17"/>
          <a:stretch>
            <a:fillRect/>
          </a:stretch>
        </p:blipFill>
        <p:spPr>
          <a:xfrm>
            <a:off x="10541732" y="1508650"/>
            <a:ext cx="437271" cy="437271"/>
          </a:xfrm>
          <a:prstGeom prst="rect">
            <a:avLst/>
          </a:prstGeom>
        </p:spPr>
      </p:pic>
      <p:pic>
        <p:nvPicPr>
          <p:cNvPr id="38" name="Image 17" descr="image"/>
          <p:cNvPicPr>
            <a:picLocks noChangeAspect="1"/>
          </p:cNvPicPr>
          <p:nvPr/>
        </p:nvPicPr>
        <p:blipFill>
          <a:blip r:embed="rId18"/>
          <a:stretch>
            <a:fillRect/>
          </a:stretch>
        </p:blipFill>
        <p:spPr>
          <a:xfrm>
            <a:off x="11270518" y="1508650"/>
            <a:ext cx="437271" cy="437271"/>
          </a:xfrm>
          <a:prstGeom prst="rect">
            <a:avLst/>
          </a:prstGeom>
        </p:spPr>
      </p:pic>
      <p:pic>
        <p:nvPicPr>
          <p:cNvPr id="39" name="Image 18" descr="image"/>
          <p:cNvPicPr>
            <a:picLocks noChangeAspect="1"/>
          </p:cNvPicPr>
          <p:nvPr/>
        </p:nvPicPr>
        <p:blipFill>
          <a:blip r:embed="rId19"/>
          <a:stretch>
            <a:fillRect/>
          </a:stretch>
        </p:blipFill>
        <p:spPr>
          <a:xfrm>
            <a:off x="10869686" y="1982361"/>
            <a:ext cx="466423" cy="393544"/>
          </a:xfrm>
          <a:prstGeom prst="rect">
            <a:avLst/>
          </a:prstGeom>
        </p:spPr>
      </p:pic>
      <p:pic>
        <p:nvPicPr>
          <p:cNvPr id="40" name="Image 19" descr="image"/>
          <p:cNvPicPr>
            <a:picLocks noChangeAspect="1"/>
          </p:cNvPicPr>
          <p:nvPr/>
        </p:nvPicPr>
        <p:blipFill>
          <a:blip r:embed="rId20"/>
          <a:stretch>
            <a:fillRect/>
          </a:stretch>
        </p:blipFill>
        <p:spPr>
          <a:xfrm>
            <a:off x="10855110" y="2288451"/>
            <a:ext cx="488286" cy="408120"/>
          </a:xfrm>
          <a:prstGeom prst="rect">
            <a:avLst/>
          </a:prstGeom>
        </p:spPr>
      </p:pic>
      <p:pic>
        <p:nvPicPr>
          <p:cNvPr id="41" name="Image 20" descr="image"/>
          <p:cNvPicPr>
            <a:picLocks noChangeAspect="1"/>
          </p:cNvPicPr>
          <p:nvPr/>
        </p:nvPicPr>
        <p:blipFill>
          <a:blip r:embed="rId21"/>
          <a:stretch>
            <a:fillRect/>
          </a:stretch>
        </p:blipFill>
        <p:spPr>
          <a:xfrm>
            <a:off x="11336108" y="2594541"/>
            <a:ext cx="408120" cy="364393"/>
          </a:xfrm>
          <a:prstGeom prst="rect">
            <a:avLst/>
          </a:prstGeom>
        </p:spPr>
      </p:pic>
      <p:pic>
        <p:nvPicPr>
          <p:cNvPr id="42" name="Image 21" descr="image"/>
          <p:cNvPicPr>
            <a:picLocks noChangeAspect="1"/>
          </p:cNvPicPr>
          <p:nvPr/>
        </p:nvPicPr>
        <p:blipFill>
          <a:blip r:embed="rId22"/>
          <a:stretch>
            <a:fillRect/>
          </a:stretch>
        </p:blipFill>
        <p:spPr>
          <a:xfrm>
            <a:off x="10476141" y="2630980"/>
            <a:ext cx="408120" cy="400832"/>
          </a:xfrm>
          <a:prstGeom prst="rect">
            <a:avLst/>
          </a:prstGeom>
        </p:spPr>
      </p:pic>
      <p:pic>
        <p:nvPicPr>
          <p:cNvPr id="43" name="Image 22" descr="image"/>
          <p:cNvPicPr>
            <a:picLocks noChangeAspect="1"/>
          </p:cNvPicPr>
          <p:nvPr/>
        </p:nvPicPr>
        <p:blipFill>
          <a:blip r:embed="rId23"/>
          <a:stretch>
            <a:fillRect/>
          </a:stretch>
        </p:blipFill>
        <p:spPr>
          <a:xfrm>
            <a:off x="10906125" y="2660131"/>
            <a:ext cx="408120" cy="408120"/>
          </a:xfrm>
          <a:prstGeom prst="rect">
            <a:avLst/>
          </a:prstGeom>
        </p:spPr>
      </p:pic>
      <p:sp>
        <p:nvSpPr>
          <p:cNvPr id="44" name="Shape 19"/>
          <p:cNvSpPr/>
          <p:nvPr/>
        </p:nvSpPr>
        <p:spPr>
          <a:xfrm>
            <a:off x="10359536" y="1982361"/>
            <a:ext cx="1494010" cy="1246223"/>
          </a:xfrm>
          <a:prstGeom prst="roundRect">
            <a:avLst>
              <a:gd name="adj" fmla="val 2935"/>
            </a:avLst>
          </a:prstGeom>
          <a:noFill/>
          <a:ln w="15875">
            <a:solidFill>
              <a:srgbClr val="D7DDE4"/>
            </a:solidFill>
            <a:prstDash val="dash"/>
          </a:ln>
        </p:spPr>
      </p:sp>
      <p:pic>
        <p:nvPicPr>
          <p:cNvPr id="45" name="Image 23" descr="image"/>
          <p:cNvPicPr>
            <a:picLocks noChangeAspect="1"/>
          </p:cNvPicPr>
          <p:nvPr/>
        </p:nvPicPr>
        <p:blipFill>
          <a:blip r:embed="rId24"/>
          <a:stretch>
            <a:fillRect/>
          </a:stretch>
        </p:blipFill>
        <p:spPr>
          <a:xfrm>
            <a:off x="11336108" y="2878767"/>
            <a:ext cx="408120" cy="393544"/>
          </a:xfrm>
          <a:prstGeom prst="rect">
            <a:avLst/>
          </a:prstGeom>
        </p:spPr>
      </p:pic>
      <p:pic>
        <p:nvPicPr>
          <p:cNvPr id="46" name="Image 24" descr="salvage"/>
          <p:cNvPicPr>
            <a:picLocks noChangeAspect="1"/>
          </p:cNvPicPr>
          <p:nvPr/>
        </p:nvPicPr>
        <p:blipFill>
          <a:blip r:embed="rId25"/>
          <a:stretch>
            <a:fillRect/>
          </a:stretch>
        </p:blipFill>
        <p:spPr>
          <a:xfrm>
            <a:off x="1978502" y="4044824"/>
            <a:ext cx="408120" cy="415408"/>
          </a:xfrm>
          <a:prstGeom prst="rect">
            <a:avLst/>
          </a:prstGeom>
        </p:spPr>
      </p:pic>
      <p:pic>
        <p:nvPicPr>
          <p:cNvPr id="47" name="Image 25" descr="salvage"/>
          <p:cNvPicPr>
            <a:picLocks noChangeAspect="1"/>
          </p:cNvPicPr>
          <p:nvPr/>
        </p:nvPicPr>
        <p:blipFill>
          <a:blip r:embed="rId26"/>
          <a:stretch>
            <a:fillRect/>
          </a:stretch>
        </p:blipFill>
        <p:spPr>
          <a:xfrm>
            <a:off x="7065425" y="1603392"/>
            <a:ext cx="218636" cy="211348"/>
          </a:xfrm>
          <a:prstGeom prst="rect">
            <a:avLst/>
          </a:prstGeom>
        </p:spPr>
      </p:pic>
      <p:pic>
        <p:nvPicPr>
          <p:cNvPr id="48" name="Image 26" descr="salvage"/>
          <p:cNvPicPr>
            <a:picLocks noChangeAspect="1"/>
          </p:cNvPicPr>
          <p:nvPr/>
        </p:nvPicPr>
        <p:blipFill>
          <a:blip r:embed="rId27"/>
          <a:stretch>
            <a:fillRect/>
          </a:stretch>
        </p:blipFill>
        <p:spPr>
          <a:xfrm>
            <a:off x="10293945" y="5086987"/>
            <a:ext cx="262363" cy="284226"/>
          </a:xfrm>
          <a:prstGeom prst="rect">
            <a:avLst/>
          </a:prstGeom>
        </p:spPr>
      </p:pic>
      <p:pic>
        <p:nvPicPr>
          <p:cNvPr id="49" name="Image 27" descr="salvage"/>
          <p:cNvPicPr>
            <a:picLocks noChangeAspect="1"/>
          </p:cNvPicPr>
          <p:nvPr/>
        </p:nvPicPr>
        <p:blipFill>
          <a:blip r:embed="rId28"/>
          <a:stretch>
            <a:fillRect/>
          </a:stretch>
        </p:blipFill>
        <p:spPr>
          <a:xfrm>
            <a:off x="10774943" y="5086987"/>
            <a:ext cx="262363" cy="284226"/>
          </a:xfrm>
          <a:prstGeom prst="rect">
            <a:avLst/>
          </a:prstGeom>
        </p:spPr>
      </p:pic>
      <p:pic>
        <p:nvPicPr>
          <p:cNvPr id="50" name="Image 28" descr="salvage"/>
          <p:cNvPicPr>
            <a:picLocks noChangeAspect="1"/>
          </p:cNvPicPr>
          <p:nvPr/>
        </p:nvPicPr>
        <p:blipFill>
          <a:blip r:embed="rId29"/>
          <a:stretch>
            <a:fillRect/>
          </a:stretch>
        </p:blipFill>
        <p:spPr>
          <a:xfrm>
            <a:off x="11037306" y="4678867"/>
            <a:ext cx="247787" cy="247787"/>
          </a:xfrm>
          <a:prstGeom prst="rect">
            <a:avLst/>
          </a:prstGeom>
        </p:spPr>
      </p:pic>
      <p:pic>
        <p:nvPicPr>
          <p:cNvPr id="51" name="Image 29" descr="icon"/>
          <p:cNvPicPr>
            <a:picLocks noChangeAspect="1"/>
          </p:cNvPicPr>
          <p:nvPr/>
        </p:nvPicPr>
        <p:blipFill>
          <a:blip r:embed="rId30"/>
          <a:stretch>
            <a:fillRect/>
          </a:stretch>
        </p:blipFill>
        <p:spPr>
          <a:xfrm>
            <a:off x="2364758" y="1399332"/>
            <a:ext cx="386256" cy="553877"/>
          </a:xfrm>
          <a:prstGeom prst="rect">
            <a:avLst/>
          </a:prstGeom>
        </p:spPr>
      </p:pic>
      <p:pic>
        <p:nvPicPr>
          <p:cNvPr id="52" name="Image 30" descr="icon"/>
          <p:cNvPicPr>
            <a:picLocks noChangeAspect="1"/>
          </p:cNvPicPr>
          <p:nvPr/>
        </p:nvPicPr>
        <p:blipFill>
          <a:blip r:embed="rId31"/>
          <a:stretch>
            <a:fillRect/>
          </a:stretch>
        </p:blipFill>
        <p:spPr>
          <a:xfrm>
            <a:off x="10031582" y="1260863"/>
            <a:ext cx="153045" cy="109318"/>
          </a:xfrm>
          <a:prstGeom prst="rect">
            <a:avLst/>
          </a:prstGeom>
        </p:spPr>
      </p:pic>
      <p:sp>
        <p:nvSpPr>
          <p:cNvPr id="53" name="image2ppt-measured-path-1"/>
          <p:cNvSpPr/>
          <p:nvPr/>
        </p:nvSpPr>
        <p:spPr>
          <a:xfrm>
            <a:off x="11332677" y="2504483"/>
            <a:ext cx="168161" cy="149211"/>
          </a:xfrm>
          <a:custGeom>
            <a:avLst/>
            <a:gdLst/>
            <a:ahLst/>
            <a:cxnLst/>
            <a:rect l="l" t="t" r="r" b="b"/>
            <a:pathLst>
              <a:path w="168161" h="149211" fill="none">
                <a:moveTo>
                  <a:pt x="0" y="0"/>
                </a:moveTo>
                <a:lnTo>
                  <a:pt x="115091" y="104680"/>
                </a:lnTo>
              </a:path>
              <a:path w="168161" h="149211" stroke="0">
                <a:moveTo>
                  <a:pt x="168161" y="149211"/>
                </a:moveTo>
                <a:lnTo>
                  <a:pt x="94745" y="127324"/>
                </a:lnTo>
                <a:lnTo>
                  <a:pt x="136153" y="81250"/>
                </a:lnTo>
                <a:close/>
              </a:path>
            </a:pathLst>
          </a:custGeom>
          <a:solidFill>
            <a:srgbClr val="253B5D"/>
          </a:solidFill>
          <a:ln w="9525">
            <a:solidFill>
              <a:srgbClr val="253B5D"/>
            </a:solidFill>
            <a:prstDash val="solid"/>
          </a:ln>
        </p:spPr>
      </p:sp>
      <p:sp>
        <p:nvSpPr>
          <p:cNvPr id="54" name="image2ppt-measured-path-2"/>
          <p:cNvSpPr/>
          <p:nvPr/>
        </p:nvSpPr>
        <p:spPr>
          <a:xfrm>
            <a:off x="6278337" y="1545089"/>
            <a:ext cx="542945" cy="127537"/>
          </a:xfrm>
          <a:custGeom>
            <a:avLst/>
            <a:gdLst/>
            <a:ahLst/>
            <a:cxnLst/>
            <a:rect l="l" t="t" r="r" b="b"/>
            <a:pathLst>
              <a:path w="542945" h="127537" fill="none">
                <a:moveTo>
                  <a:pt x="0" y="65591"/>
                </a:moveTo>
                <a:lnTo>
                  <a:pt x="448203" y="65591"/>
                </a:lnTo>
              </a:path>
              <a:path w="542945" h="127537" stroke="0">
                <a:moveTo>
                  <a:pt x="542945" y="65591"/>
                </a:moveTo>
                <a:lnTo>
                  <a:pt x="448203" y="127537"/>
                </a:lnTo>
                <a:lnTo>
                  <a:pt x="448203" y="0"/>
                </a:lnTo>
                <a:close/>
              </a:path>
            </a:pathLst>
          </a:custGeom>
          <a:solidFill>
            <a:srgbClr val="20426D"/>
          </a:solidFill>
          <a:ln w="14576">
            <a:solidFill>
              <a:srgbClr val="20426D"/>
            </a:solidFill>
            <a:prstDash val="solid"/>
          </a:ln>
        </p:spPr>
      </p:sp>
      <p:sp>
        <p:nvSpPr>
          <p:cNvPr id="55" name="image2ppt-measured-path-3"/>
          <p:cNvSpPr/>
          <p:nvPr/>
        </p:nvSpPr>
        <p:spPr>
          <a:xfrm>
            <a:off x="9450796" y="1994891"/>
            <a:ext cx="216798" cy="233860"/>
          </a:xfrm>
          <a:custGeom>
            <a:avLst/>
            <a:gdLst/>
            <a:ahLst/>
            <a:cxnLst/>
            <a:rect l="l" t="t" r="r" b="b"/>
            <a:pathLst>
              <a:path w="216798" h="233860" fill="none">
                <a:moveTo>
                  <a:pt x="0" y="0"/>
                </a:moveTo>
                <a:lnTo>
                  <a:pt x="170997" y="186860"/>
                </a:lnTo>
              </a:path>
              <a:path w="216798" h="233860" stroke="0">
                <a:moveTo>
                  <a:pt x="216798" y="233860"/>
                </a:moveTo>
                <a:lnTo>
                  <a:pt x="140265" y="214968"/>
                </a:lnTo>
                <a:lnTo>
                  <a:pt x="194045" y="165784"/>
                </a:lnTo>
                <a:close/>
              </a:path>
            </a:pathLst>
          </a:custGeom>
          <a:solidFill>
            <a:srgbClr val="4A5573"/>
          </a:solidFill>
          <a:ln w="9525">
            <a:solidFill>
              <a:srgbClr val="4A5573"/>
            </a:solidFill>
            <a:prstDash val="solid"/>
          </a:ln>
        </p:spPr>
      </p:sp>
      <p:sp>
        <p:nvSpPr>
          <p:cNvPr id="56" name="image2ppt-measured-path-4"/>
          <p:cNvSpPr/>
          <p:nvPr/>
        </p:nvSpPr>
        <p:spPr>
          <a:xfrm>
            <a:off x="7495589" y="1630731"/>
            <a:ext cx="324896" cy="141356"/>
          </a:xfrm>
          <a:custGeom>
            <a:avLst/>
            <a:gdLst/>
            <a:ahLst/>
            <a:cxnLst/>
            <a:rect l="l" t="t" r="r" b="b"/>
            <a:pathLst>
              <a:path w="324896" h="141356" fill="none">
                <a:moveTo>
                  <a:pt x="0" y="0"/>
                </a:moveTo>
                <a:lnTo>
                  <a:pt x="36258" y="0"/>
                </a:lnTo>
                <a:cubicBezTo>
                  <a:pt x="104430" y="6817"/>
                  <a:pt x="142166" y="32802"/>
                  <a:pt x="203879" y="60116"/>
                </a:cubicBezTo>
                <a:lnTo>
                  <a:pt x="237159" y="82457"/>
                </a:lnTo>
              </a:path>
              <a:path w="324896" h="141356" stroke="0">
                <a:moveTo>
                  <a:pt x="324896" y="141356"/>
                </a:moveTo>
                <a:lnTo>
                  <a:pt x="202632" y="133889"/>
                </a:lnTo>
                <a:lnTo>
                  <a:pt x="255438" y="55228"/>
                </a:lnTo>
                <a:close/>
              </a:path>
            </a:pathLst>
          </a:custGeom>
          <a:solidFill>
            <a:srgbClr val="2F7EBF"/>
          </a:solidFill>
          <a:ln w="14576">
            <a:solidFill>
              <a:srgbClr val="2F7EBF"/>
            </a:solidFill>
            <a:prstDash val="solid"/>
          </a:ln>
        </p:spPr>
      </p:sp>
      <p:sp>
        <p:nvSpPr>
          <p:cNvPr id="57" name="image2ppt-measured-path-5"/>
          <p:cNvSpPr/>
          <p:nvPr/>
        </p:nvSpPr>
        <p:spPr>
          <a:xfrm>
            <a:off x="8895623" y="2019649"/>
            <a:ext cx="185942" cy="227602"/>
          </a:xfrm>
          <a:custGeom>
            <a:avLst/>
            <a:gdLst/>
            <a:ahLst/>
            <a:cxnLst/>
            <a:rect l="l" t="t" r="r" b="b"/>
            <a:pathLst>
              <a:path w="185942" h="227602" fill="none">
                <a:moveTo>
                  <a:pt x="185942" y="0"/>
                </a:moveTo>
                <a:lnTo>
                  <a:pt x="173962" y="13727"/>
                </a:lnTo>
                <a:cubicBezTo>
                  <a:pt x="123817" y="71185"/>
                  <a:pt x="72012" y="118096"/>
                  <a:pt x="48375" y="159035"/>
                </a:cubicBezTo>
              </a:path>
              <a:path w="185942" h="227602" stroke="0">
                <a:moveTo>
                  <a:pt x="0" y="227602"/>
                </a:moveTo>
                <a:lnTo>
                  <a:pt x="16330" y="134492"/>
                </a:lnTo>
                <a:lnTo>
                  <a:pt x="79930" y="183294"/>
                </a:lnTo>
                <a:close/>
              </a:path>
            </a:pathLst>
          </a:custGeom>
          <a:solidFill>
            <a:srgbClr val="2A466A"/>
          </a:solidFill>
          <a:ln w="9525">
            <a:solidFill>
              <a:srgbClr val="2A466A"/>
            </a:solidFill>
            <a:prstDash val="solid"/>
          </a:ln>
        </p:spPr>
      </p:sp>
      <p:pic>
        <p:nvPicPr>
          <p:cNvPr id="58" name="Image 31" descr="image"/>
          <p:cNvPicPr>
            <a:picLocks noChangeAspect="1"/>
          </p:cNvPicPr>
          <p:nvPr/>
        </p:nvPicPr>
        <p:blipFill>
          <a:blip r:embed="rId32"/>
          <a:stretch>
            <a:fillRect/>
          </a:stretch>
        </p:blipFill>
        <p:spPr>
          <a:xfrm>
            <a:off x="8821798" y="2776737"/>
            <a:ext cx="131181" cy="408120"/>
          </a:xfrm>
          <a:prstGeom prst="rect">
            <a:avLst/>
          </a:prstGeom>
        </p:spPr>
      </p:pic>
      <p:sp>
        <p:nvSpPr>
          <p:cNvPr id="59" name="image2ppt-measured-path-6"/>
          <p:cNvSpPr/>
          <p:nvPr/>
        </p:nvSpPr>
        <p:spPr>
          <a:xfrm>
            <a:off x="2540903" y="3909224"/>
            <a:ext cx="193724" cy="141307"/>
          </a:xfrm>
          <a:custGeom>
            <a:avLst/>
            <a:gdLst/>
            <a:ahLst/>
            <a:cxnLst/>
            <a:rect l="l" t="t" r="r" b="b"/>
            <a:pathLst>
              <a:path w="193724" h="141307" fill="none">
                <a:moveTo>
                  <a:pt x="90693" y="76379"/>
                </a:moveTo>
                <a:lnTo>
                  <a:pt x="0" y="99553"/>
                </a:lnTo>
              </a:path>
              <a:path w="193724" h="141307" stroke="0">
                <a:moveTo>
                  <a:pt x="193724" y="53981"/>
                </a:moveTo>
                <a:lnTo>
                  <a:pt x="96787" y="141307"/>
                </a:lnTo>
                <a:lnTo>
                  <a:pt x="81674" y="0"/>
                </a:lnTo>
                <a:close/>
              </a:path>
            </a:pathLst>
          </a:custGeom>
          <a:solidFill>
            <a:srgbClr val="6898BF"/>
          </a:solidFill>
          <a:ln w="14576">
            <a:solidFill>
              <a:srgbClr val="6898BF"/>
            </a:solidFill>
            <a:prstDash val="solid"/>
          </a:ln>
        </p:spPr>
      </p:sp>
      <p:sp>
        <p:nvSpPr>
          <p:cNvPr id="60" name="image2ppt-measured-path-7"/>
          <p:cNvSpPr/>
          <p:nvPr/>
        </p:nvSpPr>
        <p:spPr>
          <a:xfrm>
            <a:off x="6088853" y="6238468"/>
            <a:ext cx="287869" cy="105674"/>
          </a:xfrm>
          <a:custGeom>
            <a:avLst/>
            <a:gdLst/>
            <a:ahLst/>
            <a:cxnLst/>
            <a:rect l="l" t="t" r="r" b="b"/>
            <a:pathLst>
              <a:path w="287869" h="105674" fill="none">
                <a:moveTo>
                  <a:pt x="0" y="57675"/>
                </a:moveTo>
                <a:lnTo>
                  <a:pt x="185839" y="57675"/>
                </a:lnTo>
              </a:path>
              <a:path w="287869" h="105674" stroke="0">
                <a:moveTo>
                  <a:pt x="287869" y="58303"/>
                </a:moveTo>
                <a:lnTo>
                  <a:pt x="185839" y="105674"/>
                </a:lnTo>
                <a:lnTo>
                  <a:pt x="185839" y="0"/>
                </a:lnTo>
                <a:close/>
              </a:path>
            </a:pathLst>
          </a:custGeom>
          <a:solidFill>
            <a:srgbClr val="788CAC"/>
          </a:solidFill>
          <a:ln w="21864">
            <a:solidFill>
              <a:srgbClr val="788CAC"/>
            </a:solidFill>
            <a:prstDash val="solid"/>
          </a:ln>
        </p:spPr>
      </p:sp>
      <p:sp>
        <p:nvSpPr>
          <p:cNvPr id="61" name="image2ppt-measured-path-8"/>
          <p:cNvSpPr/>
          <p:nvPr/>
        </p:nvSpPr>
        <p:spPr>
          <a:xfrm>
            <a:off x="1359339" y="1268151"/>
            <a:ext cx="207399" cy="120250"/>
          </a:xfrm>
          <a:custGeom>
            <a:avLst/>
            <a:gdLst/>
            <a:ahLst/>
            <a:cxnLst/>
            <a:rect l="l" t="t" r="r" b="b"/>
            <a:pathLst>
              <a:path w="207399" h="120250" fill="none">
                <a:moveTo>
                  <a:pt x="119945" y="60423"/>
                </a:moveTo>
                <a:lnTo>
                  <a:pt x="0" y="60423"/>
                </a:lnTo>
              </a:path>
              <a:path w="207399" h="120250" stroke="0">
                <a:moveTo>
                  <a:pt x="207399" y="58303"/>
                </a:moveTo>
                <a:lnTo>
                  <a:pt x="119945" y="120250"/>
                </a:lnTo>
                <a:lnTo>
                  <a:pt x="119945" y="0"/>
                </a:lnTo>
                <a:close/>
              </a:path>
            </a:pathLst>
          </a:custGeom>
          <a:solidFill>
            <a:srgbClr val="4B92D2"/>
          </a:solidFill>
          <a:ln w="25508">
            <a:solidFill>
              <a:srgbClr val="4B92D2"/>
            </a:solidFill>
            <a:prstDash val="solid"/>
          </a:ln>
        </p:spPr>
      </p:sp>
      <p:sp>
        <p:nvSpPr>
          <p:cNvPr id="62" name="image2ppt-measured-path-9"/>
          <p:cNvSpPr/>
          <p:nvPr/>
        </p:nvSpPr>
        <p:spPr>
          <a:xfrm>
            <a:off x="10709043" y="2515156"/>
            <a:ext cx="160601" cy="153986"/>
          </a:xfrm>
          <a:custGeom>
            <a:avLst/>
            <a:gdLst/>
            <a:ahLst/>
            <a:cxnLst/>
            <a:rect l="l" t="t" r="r" b="b"/>
            <a:pathLst>
              <a:path w="160601" h="153986" fill="none">
                <a:moveTo>
                  <a:pt x="160601" y="0"/>
                </a:moveTo>
                <a:lnTo>
                  <a:pt x="45349" y="106586"/>
                </a:lnTo>
              </a:path>
              <a:path w="160601" h="153986" stroke="0">
                <a:moveTo>
                  <a:pt x="89" y="153986"/>
                </a:moveTo>
                <a:lnTo>
                  <a:pt x="18943" y="79465"/>
                </a:lnTo>
                <a:lnTo>
                  <a:pt x="67360" y="128955"/>
                </a:lnTo>
                <a:close/>
              </a:path>
            </a:pathLst>
          </a:custGeom>
          <a:solidFill>
            <a:srgbClr val="1E365A"/>
          </a:solidFill>
          <a:ln w="9525">
            <a:solidFill>
              <a:srgbClr val="1E365A"/>
            </a:solidFill>
            <a:prstDash val="solid"/>
          </a:ln>
        </p:spPr>
      </p:sp>
      <p:sp>
        <p:nvSpPr>
          <p:cNvPr id="63" name="image2ppt-measured-path-10"/>
          <p:cNvSpPr/>
          <p:nvPr/>
        </p:nvSpPr>
        <p:spPr>
          <a:xfrm>
            <a:off x="10975368" y="1668751"/>
            <a:ext cx="301991" cy="98000"/>
          </a:xfrm>
          <a:custGeom>
            <a:avLst/>
            <a:gdLst/>
            <a:ahLst/>
            <a:cxnLst/>
            <a:rect l="l" t="t" r="r" b="b"/>
            <a:pathLst>
              <a:path w="301991" h="98000" fill="none">
                <a:moveTo>
                  <a:pt x="0" y="48339"/>
                </a:moveTo>
                <a:lnTo>
                  <a:pt x="210766" y="48339"/>
                </a:lnTo>
              </a:path>
              <a:path w="301991" h="98000" stroke="0">
                <a:moveTo>
                  <a:pt x="301991" y="51621"/>
                </a:moveTo>
                <a:lnTo>
                  <a:pt x="206411" y="98000"/>
                </a:lnTo>
                <a:lnTo>
                  <a:pt x="215121" y="0"/>
                </a:lnTo>
                <a:close/>
              </a:path>
            </a:pathLst>
          </a:custGeom>
          <a:solidFill>
            <a:srgbClr val="1B3A63"/>
          </a:solidFill>
          <a:ln w="21864">
            <a:solidFill>
              <a:srgbClr val="1B3A63"/>
            </a:solidFill>
            <a:prstDash val="solid"/>
          </a:ln>
        </p:spPr>
      </p:sp>
      <p:sp>
        <p:nvSpPr>
          <p:cNvPr id="64" name="image2ppt-measured-path-11"/>
          <p:cNvSpPr/>
          <p:nvPr/>
        </p:nvSpPr>
        <p:spPr>
          <a:xfrm>
            <a:off x="1344401" y="4099668"/>
            <a:ext cx="215097" cy="119938"/>
          </a:xfrm>
          <a:custGeom>
            <a:avLst/>
            <a:gdLst/>
            <a:ahLst/>
            <a:cxnLst/>
            <a:rect l="l" t="t" r="r" b="b"/>
            <a:pathLst>
              <a:path w="215097" h="119938" fill="none">
                <a:moveTo>
                  <a:pt x="135728" y="56397"/>
                </a:moveTo>
                <a:lnTo>
                  <a:pt x="0" y="68822"/>
                </a:lnTo>
              </a:path>
              <a:path w="215097" h="119938" stroke="0">
                <a:moveTo>
                  <a:pt x="215097" y="41481"/>
                </a:moveTo>
                <a:lnTo>
                  <a:pt x="140381" y="119938"/>
                </a:lnTo>
                <a:lnTo>
                  <a:pt x="131730" y="0"/>
                </a:lnTo>
                <a:close/>
              </a:path>
            </a:pathLst>
          </a:custGeom>
          <a:solidFill>
            <a:srgbClr val="5DA0D6"/>
          </a:solidFill>
          <a:ln w="21864">
            <a:solidFill>
              <a:srgbClr val="5DA0D6"/>
            </a:solidFill>
            <a:prstDash val="solid"/>
          </a:ln>
        </p:spPr>
      </p:sp>
      <p:pic>
        <p:nvPicPr>
          <p:cNvPr id="65" name="Image 32" descr="image"/>
          <p:cNvPicPr>
            <a:picLocks noChangeAspect="1"/>
          </p:cNvPicPr>
          <p:nvPr/>
        </p:nvPicPr>
        <p:blipFill>
          <a:blip r:embed="rId33"/>
          <a:stretch>
            <a:fillRect/>
          </a:stretch>
        </p:blipFill>
        <p:spPr>
          <a:xfrm>
            <a:off x="5440233" y="5619001"/>
            <a:ext cx="255075" cy="145757"/>
          </a:xfrm>
          <a:prstGeom prst="rect">
            <a:avLst/>
          </a:prstGeom>
        </p:spPr>
      </p:pic>
      <p:sp>
        <p:nvSpPr>
          <p:cNvPr id="66" name="image2ppt-measured-path-12"/>
          <p:cNvSpPr/>
          <p:nvPr/>
        </p:nvSpPr>
        <p:spPr>
          <a:xfrm>
            <a:off x="3975363" y="2922494"/>
            <a:ext cx="200427" cy="120250"/>
          </a:xfrm>
          <a:custGeom>
            <a:avLst/>
            <a:gdLst/>
            <a:ahLst/>
            <a:cxnLst/>
            <a:rect l="l" t="t" r="r" b="b"/>
            <a:pathLst>
              <a:path w="200427" h="120250" fill="none">
                <a:moveTo>
                  <a:pt x="0" y="61509"/>
                </a:moveTo>
                <a:lnTo>
                  <a:pt x="91110" y="61509"/>
                </a:lnTo>
              </a:path>
              <a:path w="200427" h="120250" stroke="0">
                <a:moveTo>
                  <a:pt x="200427" y="58303"/>
                </a:moveTo>
                <a:lnTo>
                  <a:pt x="91110" y="120250"/>
                </a:lnTo>
                <a:lnTo>
                  <a:pt x="91110" y="0"/>
                </a:lnTo>
                <a:close/>
              </a:path>
            </a:pathLst>
          </a:custGeom>
          <a:solidFill>
            <a:srgbClr val="3C86C7"/>
          </a:solidFill>
          <a:ln w="21864">
            <a:solidFill>
              <a:srgbClr val="3C86C7"/>
            </a:solidFill>
            <a:prstDash val="solid"/>
          </a:ln>
        </p:spPr>
      </p:sp>
      <p:sp>
        <p:nvSpPr>
          <p:cNvPr id="67" name="image2ppt-measured-path-13"/>
          <p:cNvSpPr/>
          <p:nvPr/>
        </p:nvSpPr>
        <p:spPr>
          <a:xfrm>
            <a:off x="3976266" y="1845574"/>
            <a:ext cx="177989" cy="120199"/>
          </a:xfrm>
          <a:custGeom>
            <a:avLst/>
            <a:gdLst/>
            <a:ahLst/>
            <a:cxnLst/>
            <a:rect l="l" t="t" r="r" b="b"/>
            <a:pathLst>
              <a:path w="177989" h="120199" fill="none">
                <a:moveTo>
                  <a:pt x="68769" y="59801"/>
                </a:moveTo>
                <a:lnTo>
                  <a:pt x="0" y="59801"/>
                </a:lnTo>
              </a:path>
              <a:path w="177989" h="120199" stroke="0">
                <a:moveTo>
                  <a:pt x="177989" y="65090"/>
                </a:moveTo>
                <a:lnTo>
                  <a:pt x="67027" y="120199"/>
                </a:lnTo>
                <a:lnTo>
                  <a:pt x="70512" y="0"/>
                </a:lnTo>
                <a:close/>
              </a:path>
            </a:pathLst>
          </a:custGeom>
          <a:solidFill>
            <a:srgbClr val="759CC6"/>
          </a:solidFill>
          <a:ln w="14576">
            <a:solidFill>
              <a:srgbClr val="759CC6"/>
            </a:solidFill>
            <a:prstDash val="solid"/>
          </a:ln>
        </p:spPr>
      </p:sp>
      <p:sp>
        <p:nvSpPr>
          <p:cNvPr id="68" name="image2ppt-measured-path-14"/>
          <p:cNvSpPr/>
          <p:nvPr/>
        </p:nvSpPr>
        <p:spPr>
          <a:xfrm>
            <a:off x="5207018" y="6238468"/>
            <a:ext cx="207707" cy="112962"/>
          </a:xfrm>
          <a:custGeom>
            <a:avLst/>
            <a:gdLst/>
            <a:ahLst/>
            <a:cxnLst/>
            <a:rect l="l" t="t" r="r" b="b"/>
            <a:pathLst>
              <a:path w="207707" h="112962" fill="none">
                <a:moveTo>
                  <a:pt x="0" y="59495"/>
                </a:moveTo>
                <a:lnTo>
                  <a:pt x="105677" y="59495"/>
                </a:lnTo>
              </a:path>
              <a:path w="207707" h="112962" stroke="0">
                <a:moveTo>
                  <a:pt x="207707" y="58303"/>
                </a:moveTo>
                <a:lnTo>
                  <a:pt x="105677" y="112962"/>
                </a:lnTo>
                <a:lnTo>
                  <a:pt x="105677" y="0"/>
                </a:lnTo>
                <a:close/>
              </a:path>
            </a:pathLst>
          </a:custGeom>
          <a:solidFill>
            <a:srgbClr val="869BB8"/>
          </a:solidFill>
          <a:ln w="21864">
            <a:solidFill>
              <a:srgbClr val="869BB8"/>
            </a:solidFill>
            <a:prstDash val="solid"/>
          </a:ln>
        </p:spPr>
      </p:sp>
      <p:pic>
        <p:nvPicPr>
          <p:cNvPr id="69" name="Image 33" descr="image"/>
          <p:cNvPicPr>
            <a:picLocks noChangeAspect="1"/>
          </p:cNvPicPr>
          <p:nvPr/>
        </p:nvPicPr>
        <p:blipFill>
          <a:blip r:embed="rId34"/>
          <a:stretch>
            <a:fillRect/>
          </a:stretch>
        </p:blipFill>
        <p:spPr>
          <a:xfrm>
            <a:off x="2539667" y="2805888"/>
            <a:ext cx="211348" cy="160333"/>
          </a:xfrm>
          <a:prstGeom prst="rect">
            <a:avLst/>
          </a:prstGeom>
        </p:spPr>
      </p:pic>
      <p:sp>
        <p:nvSpPr>
          <p:cNvPr id="70" name="Shape 34"/>
          <p:cNvSpPr/>
          <p:nvPr/>
        </p:nvSpPr>
        <p:spPr>
          <a:xfrm>
            <a:off x="3873344" y="3826188"/>
            <a:ext cx="98386" cy="0"/>
          </a:xfrm>
          <a:prstGeom prst="line">
            <a:avLst/>
          </a:prstGeom>
          <a:noFill/>
          <a:ln w="14576">
            <a:solidFill>
              <a:srgbClr val="4993C0"/>
            </a:solidFill>
            <a:prstDash val="solid"/>
          </a:ln>
        </p:spPr>
      </p:sp>
      <p:pic>
        <p:nvPicPr>
          <p:cNvPr id="71" name="Image 34" descr="image"/>
          <p:cNvPicPr>
            <a:picLocks noChangeAspect="1"/>
          </p:cNvPicPr>
          <p:nvPr/>
        </p:nvPicPr>
        <p:blipFill>
          <a:blip r:embed="rId35"/>
          <a:stretch>
            <a:fillRect/>
          </a:stretch>
        </p:blipFill>
        <p:spPr>
          <a:xfrm>
            <a:off x="11875410" y="3447220"/>
            <a:ext cx="51015" cy="867255"/>
          </a:xfrm>
          <a:prstGeom prst="rect">
            <a:avLst/>
          </a:prstGeom>
        </p:spPr>
      </p:pic>
      <p:sp>
        <p:nvSpPr>
          <p:cNvPr id="72" name="Shape 35"/>
          <p:cNvSpPr/>
          <p:nvPr/>
        </p:nvSpPr>
        <p:spPr>
          <a:xfrm>
            <a:off x="10302709" y="6119086"/>
            <a:ext cx="214765" cy="223758"/>
          </a:xfrm>
          <a:custGeom>
            <a:avLst/>
            <a:gdLst/>
            <a:ahLst/>
            <a:cxnLst/>
            <a:rect l="l" t="t" r="r" b="b"/>
            <a:pathLst>
              <a:path w="214765" h="223758">
                <a:moveTo>
                  <a:pt x="24657" y="0"/>
                </a:moveTo>
                <a:lnTo>
                  <a:pt x="0" y="60766"/>
                </a:lnTo>
                <a:lnTo>
                  <a:pt x="17493" y="156352"/>
                </a:lnTo>
                <a:cubicBezTo>
                  <a:pt x="93019" y="200378"/>
                  <a:pt x="121383" y="223758"/>
                  <a:pt x="202584" y="170398"/>
                </a:cubicBezTo>
                <a:lnTo>
                  <a:pt x="214765" y="162393"/>
                </a:lnTo>
              </a:path>
            </a:pathLst>
          </a:custGeom>
          <a:noFill/>
          <a:ln w="9525">
            <a:solidFill>
              <a:srgbClr val="8C9AAF"/>
            </a:solidFill>
            <a:prstDash val="solid"/>
          </a:ln>
        </p:spPr>
      </p:sp>
      <p:sp>
        <p:nvSpPr>
          <p:cNvPr id="73" name="Shape 36"/>
          <p:cNvSpPr/>
          <p:nvPr/>
        </p:nvSpPr>
        <p:spPr>
          <a:xfrm>
            <a:off x="10790919" y="6281479"/>
            <a:ext cx="185690" cy="54530"/>
          </a:xfrm>
          <a:custGeom>
            <a:avLst/>
            <a:gdLst/>
            <a:ahLst/>
            <a:cxnLst/>
            <a:rect l="l" t="t" r="r" b="b"/>
            <a:pathLst>
              <a:path w="185690" h="54530">
                <a:moveTo>
                  <a:pt x="0" y="1772"/>
                </a:moveTo>
                <a:cubicBezTo>
                  <a:pt x="84512" y="41748"/>
                  <a:pt x="102709" y="54530"/>
                  <a:pt x="185690" y="0"/>
                </a:cubicBezTo>
              </a:path>
            </a:pathLst>
          </a:custGeom>
          <a:noFill/>
          <a:ln w="9525">
            <a:solidFill>
              <a:srgbClr val="8F9DB3"/>
            </a:solidFill>
            <a:prstDash val="solid"/>
          </a:ln>
        </p:spPr>
      </p:sp>
      <p:pic>
        <p:nvPicPr>
          <p:cNvPr id="74" name="Image 35" descr="image"/>
          <p:cNvPicPr>
            <a:picLocks noChangeAspect="1"/>
          </p:cNvPicPr>
          <p:nvPr/>
        </p:nvPicPr>
        <p:blipFill>
          <a:blip r:embed="rId36"/>
          <a:stretch>
            <a:fillRect/>
          </a:stretch>
        </p:blipFill>
        <p:spPr>
          <a:xfrm>
            <a:off x="90947" y="721562"/>
            <a:ext cx="1333678" cy="1326390"/>
          </a:xfrm>
          <a:prstGeom prst="rect">
            <a:avLst/>
          </a:prstGeom>
        </p:spPr>
      </p:pic>
      <p:sp>
        <p:nvSpPr>
          <p:cNvPr id="75" name="Shape 37"/>
          <p:cNvSpPr/>
          <p:nvPr/>
        </p:nvSpPr>
        <p:spPr>
          <a:xfrm>
            <a:off x="105523" y="2157269"/>
            <a:ext cx="1282663" cy="1282663"/>
          </a:xfrm>
          <a:prstGeom prst="roundRect">
            <a:avLst>
              <a:gd name="adj" fmla="val 2852"/>
            </a:avLst>
          </a:prstGeom>
          <a:noFill/>
          <a:ln w="15875">
            <a:solidFill>
              <a:srgbClr val="168BFF"/>
            </a:solidFill>
            <a:prstDash val="solid"/>
          </a:ln>
        </p:spPr>
      </p:sp>
      <p:pic>
        <p:nvPicPr>
          <p:cNvPr id="76" name="Image 36" descr="image"/>
          <p:cNvPicPr>
            <a:picLocks noChangeAspect="1"/>
          </p:cNvPicPr>
          <p:nvPr/>
        </p:nvPicPr>
        <p:blipFill>
          <a:blip r:embed="rId37"/>
          <a:stretch>
            <a:fillRect/>
          </a:stretch>
        </p:blipFill>
        <p:spPr>
          <a:xfrm>
            <a:off x="90947" y="3571113"/>
            <a:ext cx="1333678" cy="1260799"/>
          </a:xfrm>
          <a:prstGeom prst="rect">
            <a:avLst/>
          </a:prstGeom>
        </p:spPr>
      </p:pic>
      <p:sp>
        <p:nvSpPr>
          <p:cNvPr id="77" name="Shape 38"/>
          <p:cNvSpPr/>
          <p:nvPr/>
        </p:nvSpPr>
        <p:spPr>
          <a:xfrm>
            <a:off x="120099" y="4933942"/>
            <a:ext cx="1275375" cy="1413844"/>
          </a:xfrm>
          <a:prstGeom prst="roundRect">
            <a:avLst>
              <a:gd name="adj" fmla="val 2868"/>
            </a:avLst>
          </a:prstGeom>
          <a:noFill/>
          <a:ln w="15875">
            <a:solidFill>
              <a:srgbClr val="168BFF"/>
            </a:solidFill>
            <a:prstDash val="solid"/>
          </a:ln>
        </p:spPr>
      </p:sp>
      <p:pic>
        <p:nvPicPr>
          <p:cNvPr id="78" name="Image 37" descr="image"/>
          <p:cNvPicPr>
            <a:picLocks noChangeAspect="1"/>
          </p:cNvPicPr>
          <p:nvPr/>
        </p:nvPicPr>
        <p:blipFill>
          <a:blip r:embed="rId38"/>
          <a:stretch>
            <a:fillRect/>
          </a:stretch>
        </p:blipFill>
        <p:spPr>
          <a:xfrm>
            <a:off x="2437637" y="590380"/>
            <a:ext cx="1581465" cy="6158238"/>
          </a:xfrm>
          <a:prstGeom prst="rect">
            <a:avLst/>
          </a:prstGeom>
        </p:spPr>
      </p:pic>
      <p:sp>
        <p:nvSpPr>
          <p:cNvPr id="79" name="Shape 39"/>
          <p:cNvSpPr/>
          <p:nvPr/>
        </p:nvSpPr>
        <p:spPr>
          <a:xfrm>
            <a:off x="4157571" y="612244"/>
            <a:ext cx="3454444" cy="6092647"/>
          </a:xfrm>
          <a:prstGeom prst="roundRect">
            <a:avLst>
              <a:gd name="adj" fmla="val 1059"/>
            </a:avLst>
          </a:prstGeom>
          <a:noFill/>
          <a:ln w="9525">
            <a:solidFill>
              <a:srgbClr val="C8DFFF"/>
            </a:solidFill>
            <a:prstDash val="dash"/>
          </a:ln>
        </p:spPr>
      </p:sp>
      <p:sp>
        <p:nvSpPr>
          <p:cNvPr id="80" name="Shape 40"/>
          <p:cNvSpPr/>
          <p:nvPr/>
        </p:nvSpPr>
        <p:spPr>
          <a:xfrm>
            <a:off x="6824926" y="998500"/>
            <a:ext cx="787088" cy="1166057"/>
          </a:xfrm>
          <a:prstGeom prst="roundRect">
            <a:avLst>
              <a:gd name="adj" fmla="val 4647"/>
            </a:avLst>
          </a:prstGeom>
          <a:noFill/>
          <a:ln w="9525">
            <a:solidFill>
              <a:srgbClr val="C8DFFF"/>
            </a:solidFill>
            <a:prstDash val="dash"/>
          </a:ln>
        </p:spPr>
      </p:sp>
      <p:sp>
        <p:nvSpPr>
          <p:cNvPr id="81" name="Shape 41"/>
          <p:cNvSpPr/>
          <p:nvPr/>
        </p:nvSpPr>
        <p:spPr>
          <a:xfrm>
            <a:off x="4091980" y="5028684"/>
            <a:ext cx="3520034" cy="1705358"/>
          </a:xfrm>
          <a:prstGeom prst="roundRect">
            <a:avLst>
              <a:gd name="adj" fmla="val 2145"/>
            </a:avLst>
          </a:prstGeom>
          <a:noFill/>
          <a:ln w="9525">
            <a:solidFill>
              <a:srgbClr val="C8DFFF"/>
            </a:solidFill>
            <a:prstDash val="dash"/>
          </a:ln>
        </p:spPr>
      </p:sp>
      <p:sp>
        <p:nvSpPr>
          <p:cNvPr id="82" name="Shape 42"/>
          <p:cNvSpPr/>
          <p:nvPr/>
        </p:nvSpPr>
        <p:spPr>
          <a:xfrm>
            <a:off x="4194010" y="6027120"/>
            <a:ext cx="2798537" cy="604892"/>
          </a:xfrm>
          <a:prstGeom prst="roundRect">
            <a:avLst>
              <a:gd name="adj" fmla="val 6000"/>
            </a:avLst>
          </a:prstGeom>
          <a:noFill/>
          <a:ln w="9525">
            <a:solidFill>
              <a:srgbClr val="C8DFFF"/>
            </a:solidFill>
            <a:prstDash val="dash"/>
          </a:ln>
        </p:spPr>
      </p:sp>
      <p:sp>
        <p:nvSpPr>
          <p:cNvPr id="83" name="Shape 43"/>
          <p:cNvSpPr/>
          <p:nvPr/>
        </p:nvSpPr>
        <p:spPr>
          <a:xfrm>
            <a:off x="7750483" y="597668"/>
            <a:ext cx="2288387" cy="6107223"/>
          </a:xfrm>
          <a:prstGeom prst="roundRect">
            <a:avLst>
              <a:gd name="adj" fmla="val 1274"/>
            </a:avLst>
          </a:prstGeom>
          <a:noFill/>
          <a:ln w="9525">
            <a:solidFill>
              <a:srgbClr val="C8DFFF"/>
            </a:solidFill>
            <a:prstDash val="dash"/>
          </a:ln>
        </p:spPr>
      </p:sp>
      <p:sp>
        <p:nvSpPr>
          <p:cNvPr id="84" name="Shape 44"/>
          <p:cNvSpPr/>
          <p:nvPr/>
        </p:nvSpPr>
        <p:spPr>
          <a:xfrm>
            <a:off x="7823362" y="1034939"/>
            <a:ext cx="2113478" cy="2033312"/>
          </a:xfrm>
          <a:prstGeom prst="roundRect">
            <a:avLst>
              <a:gd name="adj" fmla="val 1799"/>
            </a:avLst>
          </a:prstGeom>
          <a:noFill/>
          <a:ln w="9525">
            <a:solidFill>
              <a:srgbClr val="C8DFFF"/>
            </a:solidFill>
            <a:prstDash val="dash"/>
          </a:ln>
        </p:spPr>
      </p:sp>
      <p:sp>
        <p:nvSpPr>
          <p:cNvPr id="85" name="Shape 45"/>
          <p:cNvSpPr/>
          <p:nvPr/>
        </p:nvSpPr>
        <p:spPr>
          <a:xfrm>
            <a:off x="7750483" y="4715306"/>
            <a:ext cx="2288387" cy="2018736"/>
          </a:xfrm>
          <a:prstGeom prst="roundRect">
            <a:avLst>
              <a:gd name="adj" fmla="val 1812"/>
            </a:avLst>
          </a:prstGeom>
          <a:noFill/>
          <a:ln w="9525">
            <a:solidFill>
              <a:srgbClr val="C8DFFF"/>
            </a:solidFill>
            <a:prstDash val="dash"/>
          </a:ln>
        </p:spPr>
      </p:sp>
      <p:sp>
        <p:nvSpPr>
          <p:cNvPr id="86" name="Shape 46"/>
          <p:cNvSpPr/>
          <p:nvPr/>
        </p:nvSpPr>
        <p:spPr>
          <a:xfrm>
            <a:off x="10111749" y="597668"/>
            <a:ext cx="1967721" cy="6136374"/>
          </a:xfrm>
          <a:prstGeom prst="roundRect">
            <a:avLst>
              <a:gd name="adj" fmla="val 2593"/>
            </a:avLst>
          </a:prstGeom>
          <a:noFill/>
          <a:ln w="9525">
            <a:solidFill>
              <a:srgbClr val="C8DFFF"/>
            </a:solidFill>
            <a:prstDash val="dash"/>
          </a:ln>
        </p:spPr>
      </p:sp>
      <p:sp>
        <p:nvSpPr>
          <p:cNvPr id="87" name="Shape 47"/>
          <p:cNvSpPr/>
          <p:nvPr/>
        </p:nvSpPr>
        <p:spPr>
          <a:xfrm>
            <a:off x="10177339" y="1034939"/>
            <a:ext cx="1858403" cy="3534610"/>
          </a:xfrm>
          <a:prstGeom prst="roundRect">
            <a:avLst>
              <a:gd name="adj" fmla="val 1968"/>
            </a:avLst>
          </a:prstGeom>
          <a:noFill/>
          <a:ln w="15875">
            <a:solidFill>
              <a:srgbClr val="168BFF"/>
            </a:solidFill>
            <a:prstDash val="solid"/>
          </a:ln>
        </p:spPr>
      </p:sp>
      <p:pic>
        <p:nvPicPr>
          <p:cNvPr id="88" name="Image 38" descr="image"/>
          <p:cNvPicPr>
            <a:picLocks noChangeAspect="1"/>
          </p:cNvPicPr>
          <p:nvPr/>
        </p:nvPicPr>
        <p:blipFill>
          <a:blip r:embed="rId39"/>
          <a:stretch>
            <a:fillRect/>
          </a:stretch>
        </p:blipFill>
        <p:spPr>
          <a:xfrm>
            <a:off x="4441797" y="2295738"/>
            <a:ext cx="3111914" cy="2601764"/>
          </a:xfrm>
          <a:prstGeom prst="rect">
            <a:avLst/>
          </a:prstGeom>
        </p:spPr>
      </p:pic>
      <p:pic>
        <p:nvPicPr>
          <p:cNvPr id="89" name="Image 39" descr="image"/>
          <p:cNvPicPr>
            <a:picLocks noChangeAspect="1"/>
          </p:cNvPicPr>
          <p:nvPr/>
        </p:nvPicPr>
        <p:blipFill>
          <a:blip r:embed="rId40"/>
          <a:stretch>
            <a:fillRect/>
          </a:stretch>
        </p:blipFill>
        <p:spPr>
          <a:xfrm>
            <a:off x="11066458" y="4708019"/>
            <a:ext cx="204060" cy="196772"/>
          </a:xfrm>
          <a:prstGeom prst="rect">
            <a:avLst/>
          </a:prstGeom>
        </p:spPr>
      </p:pic>
      <p:sp>
        <p:nvSpPr>
          <p:cNvPr id="90" name="Shape 48"/>
          <p:cNvSpPr/>
          <p:nvPr/>
        </p:nvSpPr>
        <p:spPr>
          <a:xfrm>
            <a:off x="4501761" y="3062754"/>
            <a:ext cx="535503" cy="536027"/>
          </a:xfrm>
          <a:custGeom>
            <a:avLst/>
            <a:gdLst/>
            <a:ahLst/>
            <a:cxnLst/>
            <a:rect l="l" t="t" r="r" b="b"/>
            <a:pathLst>
              <a:path w="535503" h="536027">
                <a:moveTo>
                  <a:pt x="326293" y="530223"/>
                </a:moveTo>
                <a:cubicBezTo>
                  <a:pt x="290242" y="538141"/>
                  <a:pt x="246525" y="537784"/>
                  <a:pt x="209687" y="530223"/>
                </a:cubicBezTo>
                <a:cubicBezTo>
                  <a:pt x="173744" y="522845"/>
                  <a:pt x="135511" y="505354"/>
                  <a:pt x="107657" y="486496"/>
                </a:cubicBezTo>
                <a:cubicBezTo>
                  <a:pt x="83650" y="470242"/>
                  <a:pt x="65740" y="451692"/>
                  <a:pt x="49354" y="428193"/>
                </a:cubicBezTo>
                <a:cubicBezTo>
                  <a:pt x="30921" y="401757"/>
                  <a:pt x="13117" y="367553"/>
                  <a:pt x="5627" y="333451"/>
                </a:cubicBezTo>
                <a:cubicBezTo>
                  <a:pt x="-2291" y="297400"/>
                  <a:pt x="-1460" y="252280"/>
                  <a:pt x="5627" y="216845"/>
                </a:cubicBezTo>
                <a:cubicBezTo>
                  <a:pt x="12015" y="184904"/>
                  <a:pt x="23681" y="156845"/>
                  <a:pt x="42066" y="129391"/>
                </a:cubicBezTo>
                <a:cubicBezTo>
                  <a:pt x="63073" y="98023"/>
                  <a:pt x="98153" y="62943"/>
                  <a:pt x="129520" y="41936"/>
                </a:cubicBezTo>
                <a:cubicBezTo>
                  <a:pt x="156974" y="23551"/>
                  <a:pt x="184575" y="11977"/>
                  <a:pt x="216975" y="5497"/>
                </a:cubicBezTo>
                <a:cubicBezTo>
                  <a:pt x="254025" y="-1913"/>
                  <a:pt x="306710" y="-1752"/>
                  <a:pt x="340868" y="5497"/>
                </a:cubicBezTo>
                <a:cubicBezTo>
                  <a:pt x="366868" y="11015"/>
                  <a:pt x="385093" y="20786"/>
                  <a:pt x="406459" y="34649"/>
                </a:cubicBezTo>
                <a:cubicBezTo>
                  <a:pt x="431431" y="50850"/>
                  <a:pt x="459294" y="73166"/>
                  <a:pt x="479337" y="100239"/>
                </a:cubicBezTo>
                <a:cubicBezTo>
                  <a:pt x="501570" y="130269"/>
                  <a:pt x="522059" y="172175"/>
                  <a:pt x="530352" y="209557"/>
                </a:cubicBezTo>
                <a:cubicBezTo>
                  <a:pt x="538247" y="245142"/>
                  <a:pt x="536193" y="285722"/>
                  <a:pt x="530352" y="318875"/>
                </a:cubicBezTo>
                <a:cubicBezTo>
                  <a:pt x="525193" y="348161"/>
                  <a:pt x="516857" y="373238"/>
                  <a:pt x="501201" y="399041"/>
                </a:cubicBezTo>
                <a:cubicBezTo>
                  <a:pt x="482738" y="429471"/>
                  <a:pt x="451344" y="464367"/>
                  <a:pt x="421035" y="486496"/>
                </a:cubicBezTo>
                <a:cubicBezTo>
                  <a:pt x="392609" y="507248"/>
                  <a:pt x="360395" y="522733"/>
                  <a:pt x="326293" y="530223"/>
                </a:cubicBezTo>
                <a:close/>
              </a:path>
            </a:pathLst>
          </a:custGeom>
          <a:solidFill>
            <a:srgbClr val="F6F8FC"/>
          </a:solidFill>
          <a:ln w="15875">
            <a:solidFill>
              <a:srgbClr val="8797AE"/>
            </a:solidFill>
            <a:prstDash val="solid"/>
          </a:ln>
        </p:spPr>
      </p:sp>
      <p:pic>
        <p:nvPicPr>
          <p:cNvPr id="91" name="Image 40" descr="image"/>
          <p:cNvPicPr>
            <a:picLocks noChangeAspect="1"/>
          </p:cNvPicPr>
          <p:nvPr/>
        </p:nvPicPr>
        <p:blipFill>
          <a:blip r:embed="rId41"/>
          <a:stretch>
            <a:fillRect/>
          </a:stretch>
        </p:blipFill>
        <p:spPr>
          <a:xfrm>
            <a:off x="5279900" y="3068251"/>
            <a:ext cx="604892" cy="604892"/>
          </a:xfrm>
          <a:prstGeom prst="rect">
            <a:avLst/>
          </a:prstGeom>
        </p:spPr>
      </p:pic>
      <p:pic>
        <p:nvPicPr>
          <p:cNvPr id="92" name="Image 41" descr="image"/>
          <p:cNvPicPr>
            <a:picLocks noChangeAspect="1"/>
          </p:cNvPicPr>
          <p:nvPr/>
        </p:nvPicPr>
        <p:blipFill>
          <a:blip r:embed="rId42"/>
          <a:stretch>
            <a:fillRect/>
          </a:stretch>
        </p:blipFill>
        <p:spPr>
          <a:xfrm>
            <a:off x="5316340" y="2295738"/>
            <a:ext cx="553877" cy="553877"/>
          </a:xfrm>
          <a:prstGeom prst="rect">
            <a:avLst/>
          </a:prstGeom>
        </p:spPr>
      </p:pic>
      <p:pic>
        <p:nvPicPr>
          <p:cNvPr id="93" name="Image 42" descr="image"/>
          <p:cNvPicPr>
            <a:picLocks noChangeAspect="1"/>
          </p:cNvPicPr>
          <p:nvPr/>
        </p:nvPicPr>
        <p:blipFill>
          <a:blip r:embed="rId43"/>
          <a:stretch>
            <a:fillRect/>
          </a:stretch>
        </p:blipFill>
        <p:spPr>
          <a:xfrm>
            <a:off x="6504260" y="2317602"/>
            <a:ext cx="546589" cy="546589"/>
          </a:xfrm>
          <a:prstGeom prst="rect">
            <a:avLst/>
          </a:prstGeom>
        </p:spPr>
      </p:pic>
      <p:pic>
        <p:nvPicPr>
          <p:cNvPr id="94" name="Image 43" descr="image"/>
          <p:cNvPicPr>
            <a:picLocks noChangeAspect="1"/>
          </p:cNvPicPr>
          <p:nvPr/>
        </p:nvPicPr>
        <p:blipFill>
          <a:blip r:embed="rId44"/>
          <a:stretch>
            <a:fillRect/>
          </a:stretch>
        </p:blipFill>
        <p:spPr>
          <a:xfrm>
            <a:off x="6139867" y="3104690"/>
            <a:ext cx="685058" cy="619468"/>
          </a:xfrm>
          <a:prstGeom prst="rect">
            <a:avLst/>
          </a:prstGeom>
        </p:spPr>
      </p:pic>
      <p:pic>
        <p:nvPicPr>
          <p:cNvPr id="95" name="Image 44" descr="image"/>
          <p:cNvPicPr>
            <a:picLocks noChangeAspect="1"/>
          </p:cNvPicPr>
          <p:nvPr/>
        </p:nvPicPr>
        <p:blipFill>
          <a:blip r:embed="rId45"/>
          <a:stretch>
            <a:fillRect/>
          </a:stretch>
        </p:blipFill>
        <p:spPr>
          <a:xfrm>
            <a:off x="7021698" y="2893343"/>
            <a:ext cx="510150" cy="510150"/>
          </a:xfrm>
          <a:prstGeom prst="rect">
            <a:avLst/>
          </a:prstGeom>
        </p:spPr>
      </p:pic>
      <p:pic>
        <p:nvPicPr>
          <p:cNvPr id="96" name="Image 45" descr="image"/>
          <p:cNvPicPr>
            <a:picLocks noChangeAspect="1"/>
          </p:cNvPicPr>
          <p:nvPr/>
        </p:nvPicPr>
        <p:blipFill>
          <a:blip r:embed="rId46"/>
          <a:stretch>
            <a:fillRect/>
          </a:stretch>
        </p:blipFill>
        <p:spPr>
          <a:xfrm>
            <a:off x="7014410" y="3527386"/>
            <a:ext cx="532013" cy="532013"/>
          </a:xfrm>
          <a:prstGeom prst="rect">
            <a:avLst/>
          </a:prstGeom>
        </p:spPr>
      </p:pic>
      <p:pic>
        <p:nvPicPr>
          <p:cNvPr id="97" name="Image 46" descr="image"/>
          <p:cNvPicPr>
            <a:picLocks noChangeAspect="1"/>
          </p:cNvPicPr>
          <p:nvPr/>
        </p:nvPicPr>
        <p:blipFill>
          <a:blip r:embed="rId47"/>
          <a:stretch>
            <a:fillRect/>
          </a:stretch>
        </p:blipFill>
        <p:spPr>
          <a:xfrm>
            <a:off x="7043561" y="4190581"/>
            <a:ext cx="480998" cy="473711"/>
          </a:xfrm>
          <a:prstGeom prst="rect">
            <a:avLst/>
          </a:prstGeom>
        </p:spPr>
      </p:pic>
      <p:pic>
        <p:nvPicPr>
          <p:cNvPr id="98" name="Image 47" descr="image"/>
          <p:cNvPicPr>
            <a:picLocks noChangeAspect="1"/>
          </p:cNvPicPr>
          <p:nvPr/>
        </p:nvPicPr>
        <p:blipFill>
          <a:blip r:embed="rId48"/>
          <a:stretch>
            <a:fillRect/>
          </a:stretch>
        </p:blipFill>
        <p:spPr>
          <a:xfrm>
            <a:off x="4995674" y="3782461"/>
            <a:ext cx="510150" cy="510150"/>
          </a:xfrm>
          <a:prstGeom prst="rect">
            <a:avLst/>
          </a:prstGeom>
        </p:spPr>
      </p:pic>
      <p:pic>
        <p:nvPicPr>
          <p:cNvPr id="99" name="Image 48" descr="image"/>
          <p:cNvPicPr>
            <a:picLocks noChangeAspect="1"/>
          </p:cNvPicPr>
          <p:nvPr/>
        </p:nvPicPr>
        <p:blipFill>
          <a:blip r:embed="rId49"/>
          <a:stretch>
            <a:fillRect/>
          </a:stretch>
        </p:blipFill>
        <p:spPr>
          <a:xfrm>
            <a:off x="10250218" y="3461795"/>
            <a:ext cx="1654343" cy="1034875"/>
          </a:xfrm>
          <a:prstGeom prst="rect">
            <a:avLst/>
          </a:prstGeom>
        </p:spPr>
      </p:pic>
      <p:pic>
        <p:nvPicPr>
          <p:cNvPr id="100" name="Image 49" descr="image"/>
          <p:cNvPicPr>
            <a:picLocks noChangeAspect="1"/>
          </p:cNvPicPr>
          <p:nvPr/>
        </p:nvPicPr>
        <p:blipFill>
          <a:blip r:embed="rId50"/>
          <a:stretch>
            <a:fillRect/>
          </a:stretch>
        </p:blipFill>
        <p:spPr>
          <a:xfrm>
            <a:off x="11088321" y="4897503"/>
            <a:ext cx="896406" cy="663195"/>
          </a:xfrm>
          <a:prstGeom prst="rect">
            <a:avLst/>
          </a:prstGeom>
        </p:spPr>
      </p:pic>
      <p:pic>
        <p:nvPicPr>
          <p:cNvPr id="101" name="Image 50" descr="image"/>
          <p:cNvPicPr>
            <a:picLocks noChangeAspect="1"/>
          </p:cNvPicPr>
          <p:nvPr/>
        </p:nvPicPr>
        <p:blipFill>
          <a:blip r:embed="rId51"/>
          <a:stretch>
            <a:fillRect/>
          </a:stretch>
        </p:blipFill>
        <p:spPr>
          <a:xfrm>
            <a:off x="11051882" y="5903227"/>
            <a:ext cx="910982" cy="641331"/>
          </a:xfrm>
          <a:prstGeom prst="rect">
            <a:avLst/>
          </a:prstGeom>
        </p:spPr>
      </p:pic>
      <p:pic>
        <p:nvPicPr>
          <p:cNvPr id="102" name="Image 51" descr="image"/>
          <p:cNvPicPr>
            <a:picLocks noChangeAspect="1"/>
          </p:cNvPicPr>
          <p:nvPr/>
        </p:nvPicPr>
        <p:blipFill>
          <a:blip r:embed="rId52"/>
          <a:stretch>
            <a:fillRect/>
          </a:stretch>
        </p:blipFill>
        <p:spPr>
          <a:xfrm>
            <a:off x="127387" y="954773"/>
            <a:ext cx="1246223" cy="1056739"/>
          </a:xfrm>
          <a:prstGeom prst="rect">
            <a:avLst/>
          </a:prstGeom>
        </p:spPr>
      </p:pic>
      <p:pic>
        <p:nvPicPr>
          <p:cNvPr id="103" name="Image 52" descr="image"/>
          <p:cNvPicPr>
            <a:picLocks noChangeAspect="1"/>
          </p:cNvPicPr>
          <p:nvPr/>
        </p:nvPicPr>
        <p:blipFill>
          <a:blip r:embed="rId53"/>
          <a:stretch>
            <a:fillRect/>
          </a:stretch>
        </p:blipFill>
        <p:spPr>
          <a:xfrm>
            <a:off x="127387" y="2361329"/>
            <a:ext cx="1246223" cy="1085890"/>
          </a:xfrm>
          <a:prstGeom prst="rect">
            <a:avLst/>
          </a:prstGeom>
        </p:spPr>
      </p:pic>
      <p:pic>
        <p:nvPicPr>
          <p:cNvPr id="104" name="Image 53" descr="image"/>
          <p:cNvPicPr>
            <a:picLocks noChangeAspect="1"/>
          </p:cNvPicPr>
          <p:nvPr/>
        </p:nvPicPr>
        <p:blipFill>
          <a:blip r:embed="rId54"/>
          <a:stretch>
            <a:fillRect/>
          </a:stretch>
        </p:blipFill>
        <p:spPr>
          <a:xfrm>
            <a:off x="127387" y="3767885"/>
            <a:ext cx="1246223" cy="991148"/>
          </a:xfrm>
          <a:prstGeom prst="rect">
            <a:avLst/>
          </a:prstGeom>
        </p:spPr>
      </p:pic>
      <p:pic>
        <p:nvPicPr>
          <p:cNvPr id="105" name="Image 54" descr="image"/>
          <p:cNvPicPr>
            <a:picLocks noChangeAspect="1"/>
          </p:cNvPicPr>
          <p:nvPr/>
        </p:nvPicPr>
        <p:blipFill>
          <a:blip r:embed="rId55"/>
          <a:stretch>
            <a:fillRect/>
          </a:stretch>
        </p:blipFill>
        <p:spPr>
          <a:xfrm>
            <a:off x="127387" y="5086987"/>
            <a:ext cx="1246223" cy="1217072"/>
          </a:xfrm>
          <a:prstGeom prst="rect">
            <a:avLst/>
          </a:prstGeom>
        </p:spPr>
      </p:pic>
      <p:sp>
        <p:nvSpPr>
          <p:cNvPr id="106" name="image2ppt-measured-path-15"/>
          <p:cNvSpPr/>
          <p:nvPr/>
        </p:nvSpPr>
        <p:spPr>
          <a:xfrm>
            <a:off x="5814524" y="2671567"/>
            <a:ext cx="491802" cy="503120"/>
          </a:xfrm>
          <a:custGeom>
            <a:avLst/>
            <a:gdLst/>
            <a:ahLst/>
            <a:cxnLst/>
            <a:rect l="l" t="t" r="r" b="b"/>
            <a:pathLst>
              <a:path w="491802" h="503120" fill="none">
                <a:moveTo>
                  <a:pt x="449991" y="462455"/>
                </a:moveTo>
                <a:lnTo>
                  <a:pt x="0" y="0"/>
                </a:lnTo>
              </a:path>
              <a:path w="491802" h="503120" stroke="0">
                <a:moveTo>
                  <a:pt x="491802" y="503120"/>
                </a:moveTo>
                <a:lnTo>
                  <a:pt x="430251" y="481663"/>
                </a:lnTo>
                <a:lnTo>
                  <a:pt x="474649" y="438463"/>
                </a:lnTo>
                <a:close/>
              </a:path>
            </a:pathLst>
          </a:custGeom>
          <a:solidFill>
            <a:srgbClr val="637396"/>
          </a:solidFill>
          <a:ln w="9525">
            <a:solidFill>
              <a:srgbClr val="637396"/>
            </a:solidFill>
            <a:prstDash val="solid"/>
          </a:ln>
        </p:spPr>
      </p:sp>
      <p:sp>
        <p:nvSpPr>
          <p:cNvPr id="107" name="image2ppt-measured-path-16"/>
          <p:cNvSpPr/>
          <p:nvPr/>
        </p:nvSpPr>
        <p:spPr>
          <a:xfrm>
            <a:off x="5771538" y="2728201"/>
            <a:ext cx="800343" cy="460124"/>
          </a:xfrm>
          <a:custGeom>
            <a:avLst/>
            <a:gdLst/>
            <a:ahLst/>
            <a:cxnLst/>
            <a:rect l="l" t="t" r="r" b="b"/>
            <a:pathLst>
              <a:path w="800343" h="460124" fill="none">
                <a:moveTo>
                  <a:pt x="66703" y="422602"/>
                </a:moveTo>
                <a:lnTo>
                  <a:pt x="743463" y="32681"/>
                </a:lnTo>
              </a:path>
              <a:path w="800343" h="460124" stroke="0">
                <a:moveTo>
                  <a:pt x="0" y="460124"/>
                </a:moveTo>
                <a:lnTo>
                  <a:pt x="46350" y="387227"/>
                </a:lnTo>
                <a:lnTo>
                  <a:pt x="79051" y="444085"/>
                </a:lnTo>
                <a:close/>
              </a:path>
              <a:path w="800343" h="460124" stroke="0">
                <a:moveTo>
                  <a:pt x="800343" y="0"/>
                </a:moveTo>
                <a:lnTo>
                  <a:pt x="763449" y="67436"/>
                </a:lnTo>
                <a:lnTo>
                  <a:pt x="732581" y="13728"/>
                </a:lnTo>
                <a:close/>
              </a:path>
            </a:pathLst>
          </a:custGeom>
          <a:solidFill>
            <a:srgbClr val="6A7D9E"/>
          </a:solidFill>
          <a:ln w="10932">
            <a:solidFill>
              <a:srgbClr val="6A7D9E"/>
            </a:solidFill>
            <a:prstDash val="solid"/>
          </a:ln>
        </p:spPr>
      </p:sp>
      <p:sp>
        <p:nvSpPr>
          <p:cNvPr id="108" name="image2ppt-measured-path-17"/>
          <p:cNvSpPr/>
          <p:nvPr/>
        </p:nvSpPr>
        <p:spPr>
          <a:xfrm>
            <a:off x="4828409" y="2681071"/>
            <a:ext cx="538503" cy="354374"/>
          </a:xfrm>
          <a:custGeom>
            <a:avLst/>
            <a:gdLst/>
            <a:ahLst/>
            <a:cxnLst/>
            <a:rect l="l" t="t" r="r" b="b"/>
            <a:pathLst>
              <a:path w="538503" h="354374" fill="none">
                <a:moveTo>
                  <a:pt x="473507" y="40460"/>
                </a:moveTo>
                <a:lnTo>
                  <a:pt x="72968" y="306156"/>
                </a:lnTo>
              </a:path>
              <a:path w="538503" h="354374" stroke="0">
                <a:moveTo>
                  <a:pt x="538503" y="0"/>
                </a:moveTo>
                <a:lnTo>
                  <a:pt x="492608" y="69461"/>
                </a:lnTo>
                <a:lnTo>
                  <a:pt x="458554" y="17714"/>
                </a:lnTo>
                <a:close/>
              </a:path>
              <a:path w="538503" h="354374" stroke="0">
                <a:moveTo>
                  <a:pt x="0" y="354374"/>
                </a:moveTo>
                <a:lnTo>
                  <a:pt x="53023" y="275859"/>
                </a:lnTo>
                <a:lnTo>
                  <a:pt x="91083" y="333694"/>
                </a:lnTo>
                <a:close/>
              </a:path>
            </a:pathLst>
          </a:custGeom>
          <a:solidFill>
            <a:srgbClr val="62799D"/>
          </a:solidFill>
          <a:ln w="9525">
            <a:solidFill>
              <a:srgbClr val="62799D"/>
            </a:solidFill>
            <a:prstDash val="solid"/>
          </a:ln>
        </p:spPr>
      </p:sp>
      <p:sp>
        <p:nvSpPr>
          <p:cNvPr id="109" name="image2ppt-measured-path-18"/>
          <p:cNvSpPr/>
          <p:nvPr/>
        </p:nvSpPr>
        <p:spPr>
          <a:xfrm>
            <a:off x="10872973" y="3235872"/>
            <a:ext cx="346448" cy="393543"/>
          </a:xfrm>
          <a:custGeom>
            <a:avLst/>
            <a:gdLst/>
            <a:ahLst/>
            <a:cxnLst/>
            <a:rect l="l" t="t" r="r" b="b"/>
            <a:pathLst>
              <a:path w="346448" h="393543" fill="none">
                <a:moveTo>
                  <a:pt x="346448" y="0"/>
                </a:moveTo>
                <a:lnTo>
                  <a:pt x="346448" y="153078"/>
                </a:lnTo>
                <a:lnTo>
                  <a:pt x="25565" y="153078"/>
                </a:lnTo>
                <a:lnTo>
                  <a:pt x="25565" y="346171"/>
                </a:lnTo>
              </a:path>
              <a:path w="346448" h="393543" stroke="0">
                <a:moveTo>
                  <a:pt x="25471" y="393543"/>
                </a:moveTo>
                <a:lnTo>
                  <a:pt x="0" y="346153"/>
                </a:lnTo>
                <a:lnTo>
                  <a:pt x="47371" y="346189"/>
                </a:lnTo>
                <a:close/>
              </a:path>
            </a:pathLst>
          </a:custGeom>
          <a:solidFill>
            <a:srgbClr val="299DEA"/>
          </a:solidFill>
          <a:ln w="10932">
            <a:solidFill>
              <a:srgbClr val="299DEA"/>
            </a:solidFill>
            <a:prstDash val="solid"/>
          </a:ln>
        </p:spPr>
      </p:sp>
      <p:sp>
        <p:nvSpPr>
          <p:cNvPr id="110" name="image2ppt-measured-path-19"/>
          <p:cNvSpPr/>
          <p:nvPr/>
        </p:nvSpPr>
        <p:spPr>
          <a:xfrm>
            <a:off x="6584466" y="3680557"/>
            <a:ext cx="206874" cy="588507"/>
          </a:xfrm>
          <a:custGeom>
            <a:avLst/>
            <a:gdLst/>
            <a:ahLst/>
            <a:cxnLst/>
            <a:rect l="l" t="t" r="r" b="b"/>
            <a:pathLst>
              <a:path w="206874" h="588507" fill="none">
                <a:moveTo>
                  <a:pt x="30975" y="39763"/>
                </a:moveTo>
                <a:lnTo>
                  <a:pt x="175305" y="499150"/>
                </a:lnTo>
              </a:path>
              <a:path w="206874" h="588507" stroke="0">
                <a:moveTo>
                  <a:pt x="10545" y="0"/>
                </a:moveTo>
                <a:lnTo>
                  <a:pt x="49233" y="29889"/>
                </a:lnTo>
                <a:lnTo>
                  <a:pt x="0" y="53632"/>
                </a:lnTo>
                <a:close/>
              </a:path>
              <a:path w="206874" h="588507" stroke="0">
                <a:moveTo>
                  <a:pt x="206874" y="588507"/>
                </a:moveTo>
                <a:lnTo>
                  <a:pt x="143291" y="509380"/>
                </a:lnTo>
                <a:lnTo>
                  <a:pt x="202290" y="490499"/>
                </a:lnTo>
                <a:close/>
              </a:path>
            </a:pathLst>
          </a:custGeom>
          <a:solidFill>
            <a:srgbClr val="57678C"/>
          </a:solidFill>
          <a:ln w="10932">
            <a:solidFill>
              <a:srgbClr val="57678C"/>
            </a:solidFill>
            <a:prstDash val="solid"/>
          </a:ln>
        </p:spPr>
      </p:sp>
      <p:sp>
        <p:nvSpPr>
          <p:cNvPr id="111" name="image2ppt-measured-path-20"/>
          <p:cNvSpPr/>
          <p:nvPr/>
        </p:nvSpPr>
        <p:spPr>
          <a:xfrm>
            <a:off x="4850963" y="3597643"/>
            <a:ext cx="225238" cy="281939"/>
          </a:xfrm>
          <a:custGeom>
            <a:avLst/>
            <a:gdLst/>
            <a:ahLst/>
            <a:cxnLst/>
            <a:rect l="l" t="t" r="r" b="b"/>
            <a:pathLst>
              <a:path w="225238" h="281939" fill="none">
                <a:moveTo>
                  <a:pt x="38005" y="48919"/>
                </a:moveTo>
                <a:lnTo>
                  <a:pt x="187095" y="237784"/>
                </a:lnTo>
              </a:path>
              <a:path w="225238" h="281939" stroke="0">
                <a:moveTo>
                  <a:pt x="0" y="0"/>
                </a:moveTo>
                <a:lnTo>
                  <a:pt x="67135" y="25654"/>
                </a:lnTo>
                <a:lnTo>
                  <a:pt x="10195" y="71143"/>
                </a:lnTo>
                <a:close/>
              </a:path>
              <a:path w="225238" h="281939" stroke="0">
                <a:moveTo>
                  <a:pt x="225238" y="281939"/>
                </a:moveTo>
                <a:lnTo>
                  <a:pt x="163224" y="256858"/>
                </a:lnTo>
                <a:lnTo>
                  <a:pt x="211623" y="218193"/>
                </a:lnTo>
                <a:close/>
              </a:path>
            </a:pathLst>
          </a:custGeom>
          <a:solidFill>
            <a:srgbClr val="7785A1"/>
          </a:solidFill>
          <a:ln w="9525">
            <a:solidFill>
              <a:srgbClr val="7785A1"/>
            </a:solidFill>
            <a:prstDash val="solid"/>
          </a:ln>
        </p:spPr>
      </p:sp>
      <p:sp>
        <p:nvSpPr>
          <p:cNvPr id="112" name="image2ppt-measured-path-21"/>
          <p:cNvSpPr/>
          <p:nvPr/>
        </p:nvSpPr>
        <p:spPr>
          <a:xfrm>
            <a:off x="5833862" y="2543392"/>
            <a:ext cx="691966" cy="82726"/>
          </a:xfrm>
          <a:custGeom>
            <a:avLst/>
            <a:gdLst/>
            <a:ahLst/>
            <a:cxnLst/>
            <a:rect l="l" t="t" r="r" b="b"/>
            <a:pathLst>
              <a:path w="691966" h="82726" fill="none">
                <a:moveTo>
                  <a:pt x="76407" y="37584"/>
                </a:moveTo>
                <a:cubicBezTo>
                  <a:pt x="177243" y="19337"/>
                  <a:pt x="510619" y="35744"/>
                  <a:pt x="615512" y="45734"/>
                </a:cubicBezTo>
              </a:path>
              <a:path w="691966" h="82726" stroke="0">
                <a:moveTo>
                  <a:pt x="0" y="40078"/>
                </a:moveTo>
                <a:lnTo>
                  <a:pt x="74681" y="0"/>
                </a:lnTo>
                <a:lnTo>
                  <a:pt x="78362" y="76434"/>
                </a:lnTo>
                <a:close/>
              </a:path>
              <a:path w="691966" h="82726" stroke="0">
                <a:moveTo>
                  <a:pt x="691966" y="50079"/>
                </a:moveTo>
                <a:lnTo>
                  <a:pt x="611988" y="82726"/>
                </a:lnTo>
                <a:lnTo>
                  <a:pt x="619243" y="6549"/>
                </a:lnTo>
                <a:close/>
              </a:path>
            </a:pathLst>
          </a:custGeom>
          <a:solidFill>
            <a:srgbClr val="6A809D"/>
          </a:solidFill>
          <a:ln w="10932">
            <a:solidFill>
              <a:srgbClr val="6A809D"/>
            </a:solidFill>
            <a:prstDash val="solid"/>
          </a:ln>
        </p:spPr>
      </p:sp>
      <p:sp>
        <p:nvSpPr>
          <p:cNvPr id="113" name="image2ppt-measured-path-22"/>
          <p:cNvSpPr/>
          <p:nvPr/>
        </p:nvSpPr>
        <p:spPr>
          <a:xfrm>
            <a:off x="6778908" y="3509059"/>
            <a:ext cx="290857" cy="187124"/>
          </a:xfrm>
          <a:custGeom>
            <a:avLst/>
            <a:gdLst/>
            <a:ahLst/>
            <a:cxnLst/>
            <a:rect l="l" t="t" r="r" b="b"/>
            <a:pathLst>
              <a:path w="290857" h="187124" fill="none">
                <a:moveTo>
                  <a:pt x="0" y="0"/>
                </a:moveTo>
                <a:lnTo>
                  <a:pt x="240180" y="145409"/>
                </a:lnTo>
              </a:path>
              <a:path w="290857" h="187124" stroke="0">
                <a:moveTo>
                  <a:pt x="288399" y="187124"/>
                </a:moveTo>
                <a:lnTo>
                  <a:pt x="210441" y="185110"/>
                </a:lnTo>
                <a:lnTo>
                  <a:pt x="256192" y="128381"/>
                </a:lnTo>
                <a:close/>
              </a:path>
            </a:pathLst>
          </a:custGeom>
          <a:solidFill>
            <a:srgbClr val="4D5D81"/>
          </a:solidFill>
          <a:ln w="9525">
            <a:solidFill>
              <a:srgbClr val="4D5D81"/>
            </a:solidFill>
            <a:prstDash val="solid"/>
          </a:ln>
        </p:spPr>
      </p:sp>
      <p:sp>
        <p:nvSpPr>
          <p:cNvPr id="114" name="image2ppt-measured-path-23"/>
          <p:cNvSpPr/>
          <p:nvPr/>
        </p:nvSpPr>
        <p:spPr>
          <a:xfrm>
            <a:off x="6927455" y="2767477"/>
            <a:ext cx="170330" cy="248217"/>
          </a:xfrm>
          <a:custGeom>
            <a:avLst/>
            <a:gdLst/>
            <a:ahLst/>
            <a:cxnLst/>
            <a:rect l="l" t="t" r="r" b="b"/>
            <a:pathLst>
              <a:path w="170330" h="248217" fill="none">
                <a:moveTo>
                  <a:pt x="42107" y="63890"/>
                </a:moveTo>
                <a:lnTo>
                  <a:pt x="130421" y="196086"/>
                </a:lnTo>
              </a:path>
              <a:path w="170330" h="248217" stroke="0">
                <a:moveTo>
                  <a:pt x="0" y="0"/>
                </a:moveTo>
                <a:lnTo>
                  <a:pt x="70338" y="44540"/>
                </a:lnTo>
                <a:lnTo>
                  <a:pt x="16256" y="81651"/>
                </a:lnTo>
                <a:close/>
              </a:path>
              <a:path w="170330" h="248217" stroke="0">
                <a:moveTo>
                  <a:pt x="170330" y="248217"/>
                </a:moveTo>
                <a:lnTo>
                  <a:pt x="100168" y="216814"/>
                </a:lnTo>
                <a:lnTo>
                  <a:pt x="157255" y="177641"/>
                </a:lnTo>
                <a:close/>
              </a:path>
            </a:pathLst>
          </a:custGeom>
          <a:solidFill>
            <a:srgbClr val="72809C"/>
          </a:solidFill>
          <a:ln w="9525">
            <a:solidFill>
              <a:srgbClr val="72809C"/>
            </a:solidFill>
            <a:prstDash val="solid"/>
          </a:ln>
        </p:spPr>
      </p:sp>
      <p:sp>
        <p:nvSpPr>
          <p:cNvPr id="115" name="image2ppt-measured-path-24"/>
          <p:cNvSpPr/>
          <p:nvPr/>
        </p:nvSpPr>
        <p:spPr>
          <a:xfrm>
            <a:off x="6591666" y="2832761"/>
            <a:ext cx="131975" cy="313404"/>
          </a:xfrm>
          <a:custGeom>
            <a:avLst/>
            <a:gdLst/>
            <a:ahLst/>
            <a:cxnLst/>
            <a:rect l="l" t="t" r="r" b="b"/>
            <a:pathLst>
              <a:path w="131975" h="313404" fill="none">
                <a:moveTo>
                  <a:pt x="101646" y="63813"/>
                </a:moveTo>
                <a:lnTo>
                  <a:pt x="32036" y="254511"/>
                </a:lnTo>
              </a:path>
              <a:path w="131975" h="313404" stroke="0">
                <a:moveTo>
                  <a:pt x="128668" y="0"/>
                </a:moveTo>
                <a:lnTo>
                  <a:pt x="131975" y="75049"/>
                </a:lnTo>
                <a:lnTo>
                  <a:pt x="67045" y="51017"/>
                </a:lnTo>
                <a:close/>
              </a:path>
              <a:path w="131975" h="313404" stroke="0">
                <a:moveTo>
                  <a:pt x="12672" y="313404"/>
                </a:moveTo>
                <a:lnTo>
                  <a:pt x="0" y="242660"/>
                </a:lnTo>
                <a:lnTo>
                  <a:pt x="61513" y="265427"/>
                </a:lnTo>
                <a:close/>
              </a:path>
            </a:pathLst>
          </a:custGeom>
          <a:solidFill>
            <a:srgbClr val="70809F"/>
          </a:solidFill>
          <a:ln w="10932">
            <a:solidFill>
              <a:srgbClr val="70809F"/>
            </a:solidFill>
            <a:prstDash val="solid"/>
          </a:ln>
        </p:spPr>
      </p:sp>
      <p:sp>
        <p:nvSpPr>
          <p:cNvPr id="116" name="image2ppt-measured-path-25"/>
          <p:cNvSpPr/>
          <p:nvPr/>
        </p:nvSpPr>
        <p:spPr>
          <a:xfrm>
            <a:off x="6784834" y="3158436"/>
            <a:ext cx="274385" cy="140102"/>
          </a:xfrm>
          <a:custGeom>
            <a:avLst/>
            <a:gdLst/>
            <a:ahLst/>
            <a:cxnLst/>
            <a:rect l="l" t="t" r="r" b="b"/>
            <a:pathLst>
              <a:path w="274385" h="140102" fill="none">
                <a:moveTo>
                  <a:pt x="184031" y="60530"/>
                </a:moveTo>
                <a:lnTo>
                  <a:pt x="0" y="140102"/>
                </a:lnTo>
              </a:path>
              <a:path w="274385" h="140102" stroke="0">
                <a:moveTo>
                  <a:pt x="274385" y="21655"/>
                </a:moveTo>
                <a:lnTo>
                  <a:pt x="205390" y="110577"/>
                </a:lnTo>
                <a:lnTo>
                  <a:pt x="158139" y="0"/>
                </a:lnTo>
                <a:close/>
              </a:path>
            </a:pathLst>
          </a:custGeom>
          <a:solidFill>
            <a:srgbClr val="039462"/>
          </a:solidFill>
          <a:ln w="29152">
            <a:solidFill>
              <a:srgbClr val="039462"/>
            </a:solidFill>
            <a:prstDash val="solid"/>
          </a:ln>
        </p:spPr>
      </p:sp>
      <p:sp>
        <p:nvSpPr>
          <p:cNvPr id="117" name="image2ppt-measured-path-26"/>
          <p:cNvSpPr/>
          <p:nvPr/>
        </p:nvSpPr>
        <p:spPr>
          <a:xfrm>
            <a:off x="5863073" y="3330614"/>
            <a:ext cx="302302" cy="134825"/>
          </a:xfrm>
          <a:custGeom>
            <a:avLst/>
            <a:gdLst/>
            <a:ahLst/>
            <a:cxnLst/>
            <a:rect l="l" t="t" r="r" b="b"/>
            <a:pathLst>
              <a:path w="302302" h="134825" fill="none">
                <a:moveTo>
                  <a:pt x="0" y="69849"/>
                </a:moveTo>
                <a:lnTo>
                  <a:pt x="192984" y="69849"/>
                </a:lnTo>
              </a:path>
              <a:path w="302302" h="134825" stroke="0">
                <a:moveTo>
                  <a:pt x="302302" y="65591"/>
                </a:moveTo>
                <a:lnTo>
                  <a:pt x="192984" y="134825"/>
                </a:lnTo>
                <a:lnTo>
                  <a:pt x="192984" y="0"/>
                </a:lnTo>
                <a:close/>
              </a:path>
            </a:pathLst>
          </a:custGeom>
          <a:solidFill>
            <a:srgbClr val="009E68"/>
          </a:solidFill>
          <a:ln w="36440">
            <a:solidFill>
              <a:srgbClr val="009E68"/>
            </a:solidFill>
            <a:prstDash val="solid"/>
          </a:ln>
        </p:spPr>
      </p:sp>
      <p:sp>
        <p:nvSpPr>
          <p:cNvPr id="118" name="image2ppt-measured-path-27"/>
          <p:cNvSpPr/>
          <p:nvPr/>
        </p:nvSpPr>
        <p:spPr>
          <a:xfrm>
            <a:off x="5330905" y="3611213"/>
            <a:ext cx="133180" cy="219832"/>
          </a:xfrm>
          <a:custGeom>
            <a:avLst/>
            <a:gdLst/>
            <a:ahLst/>
            <a:cxnLst/>
            <a:rect l="l" t="t" r="r" b="b"/>
            <a:pathLst>
              <a:path w="133180" h="219832" fill="none">
                <a:moveTo>
                  <a:pt x="95248" y="57972"/>
                </a:moveTo>
                <a:lnTo>
                  <a:pt x="33933" y="159405"/>
                </a:lnTo>
              </a:path>
              <a:path w="133180" h="219832" stroke="0">
                <a:moveTo>
                  <a:pt x="133180" y="0"/>
                </a:moveTo>
                <a:lnTo>
                  <a:pt x="125369" y="76210"/>
                </a:lnTo>
                <a:lnTo>
                  <a:pt x="69264" y="42234"/>
                </a:lnTo>
                <a:close/>
              </a:path>
              <a:path w="133180" h="219832" stroke="0">
                <a:moveTo>
                  <a:pt x="54" y="219832"/>
                </a:moveTo>
                <a:lnTo>
                  <a:pt x="1632" y="139847"/>
                </a:lnTo>
                <a:lnTo>
                  <a:pt x="60854" y="175710"/>
                </a:lnTo>
                <a:close/>
              </a:path>
            </a:pathLst>
          </a:custGeom>
          <a:solidFill>
            <a:srgbClr val="FE4702"/>
          </a:solidFill>
          <a:ln w="14576">
            <a:solidFill>
              <a:srgbClr val="FE4702"/>
            </a:solidFill>
            <a:prstDash val="solid"/>
          </a:ln>
        </p:spPr>
      </p:sp>
      <p:sp>
        <p:nvSpPr>
          <p:cNvPr id="119" name="image2ppt-measured-path-28"/>
          <p:cNvSpPr/>
          <p:nvPr/>
        </p:nvSpPr>
        <p:spPr>
          <a:xfrm>
            <a:off x="5091005" y="4566903"/>
            <a:ext cx="276333" cy="79607"/>
          </a:xfrm>
          <a:custGeom>
            <a:avLst/>
            <a:gdLst/>
            <a:ahLst/>
            <a:cxnLst/>
            <a:rect l="l" t="t" r="r" b="b"/>
            <a:pathLst>
              <a:path w="276333" h="79607" fill="none">
                <a:moveTo>
                  <a:pt x="0" y="3817"/>
                </a:moveTo>
                <a:lnTo>
                  <a:pt x="206978" y="35295"/>
                </a:lnTo>
              </a:path>
              <a:path w="276333" h="79607" stroke="0">
                <a:moveTo>
                  <a:pt x="276333" y="37112"/>
                </a:moveTo>
                <a:lnTo>
                  <a:pt x="201566" y="79607"/>
                </a:lnTo>
                <a:lnTo>
                  <a:pt x="211019" y="0"/>
                </a:lnTo>
                <a:close/>
              </a:path>
            </a:pathLst>
          </a:custGeom>
          <a:solidFill>
            <a:srgbClr val="7B92AD"/>
          </a:solidFill>
          <a:ln w="14576">
            <a:solidFill>
              <a:srgbClr val="7B92AD"/>
            </a:solidFill>
            <a:prstDash val="solid"/>
          </a:ln>
        </p:spPr>
      </p:sp>
      <p:pic>
        <p:nvPicPr>
          <p:cNvPr id="120" name="Image 55" descr="icon"/>
          <p:cNvPicPr>
            <a:picLocks noChangeAspect="1"/>
          </p:cNvPicPr>
          <p:nvPr/>
        </p:nvPicPr>
        <p:blipFill>
          <a:blip r:embed="rId56"/>
          <a:stretch>
            <a:fillRect/>
          </a:stretch>
        </p:blipFill>
        <p:spPr>
          <a:xfrm>
            <a:off x="1548518" y="5021396"/>
            <a:ext cx="881831" cy="881831"/>
          </a:xfrm>
          <a:prstGeom prst="rect">
            <a:avLst/>
          </a:prstGeom>
        </p:spPr>
      </p:pic>
      <p:pic>
        <p:nvPicPr>
          <p:cNvPr id="121" name="Image 56" descr="icon"/>
          <p:cNvPicPr>
            <a:picLocks noChangeAspect="1"/>
          </p:cNvPicPr>
          <p:nvPr/>
        </p:nvPicPr>
        <p:blipFill>
          <a:blip r:embed="rId57"/>
          <a:stretch>
            <a:fillRect/>
          </a:stretch>
        </p:blipFill>
        <p:spPr>
          <a:xfrm>
            <a:off x="1570382" y="2208284"/>
            <a:ext cx="867255" cy="889118"/>
          </a:xfrm>
          <a:prstGeom prst="rect">
            <a:avLst/>
          </a:prstGeom>
        </p:spPr>
      </p:pic>
      <p:pic>
        <p:nvPicPr>
          <p:cNvPr id="122" name="Image 57" descr="icon"/>
          <p:cNvPicPr>
            <a:picLocks noChangeAspect="1"/>
          </p:cNvPicPr>
          <p:nvPr/>
        </p:nvPicPr>
        <p:blipFill>
          <a:blip r:embed="rId58"/>
          <a:stretch>
            <a:fillRect/>
          </a:stretch>
        </p:blipFill>
        <p:spPr>
          <a:xfrm>
            <a:off x="7939968" y="1384757"/>
            <a:ext cx="692346" cy="925558"/>
          </a:xfrm>
          <a:prstGeom prst="rect">
            <a:avLst/>
          </a:prstGeom>
        </p:spPr>
      </p:pic>
      <p:pic>
        <p:nvPicPr>
          <p:cNvPr id="123" name="Image 58" descr="icon"/>
          <p:cNvPicPr>
            <a:picLocks noChangeAspect="1"/>
          </p:cNvPicPr>
          <p:nvPr/>
        </p:nvPicPr>
        <p:blipFill>
          <a:blip r:embed="rId59"/>
          <a:stretch>
            <a:fillRect/>
          </a:stretch>
        </p:blipFill>
        <p:spPr>
          <a:xfrm>
            <a:off x="4500100" y="1173409"/>
            <a:ext cx="750649" cy="816240"/>
          </a:xfrm>
          <a:prstGeom prst="rect">
            <a:avLst/>
          </a:prstGeom>
        </p:spPr>
      </p:pic>
      <p:pic>
        <p:nvPicPr>
          <p:cNvPr id="124" name="Image 59" descr="icon"/>
          <p:cNvPicPr>
            <a:picLocks noChangeAspect="1"/>
          </p:cNvPicPr>
          <p:nvPr/>
        </p:nvPicPr>
        <p:blipFill>
          <a:blip r:embed="rId60"/>
          <a:stretch>
            <a:fillRect/>
          </a:stretch>
        </p:blipFill>
        <p:spPr>
          <a:xfrm>
            <a:off x="1650548" y="889182"/>
            <a:ext cx="524726" cy="736073"/>
          </a:xfrm>
          <a:prstGeom prst="rect">
            <a:avLst/>
          </a:prstGeom>
        </p:spPr>
      </p:pic>
      <p:pic>
        <p:nvPicPr>
          <p:cNvPr id="125" name="Image 60" descr="icon"/>
          <p:cNvPicPr>
            <a:picLocks noChangeAspect="1"/>
          </p:cNvPicPr>
          <p:nvPr/>
        </p:nvPicPr>
        <p:blipFill>
          <a:blip r:embed="rId61"/>
          <a:stretch>
            <a:fillRect/>
          </a:stretch>
        </p:blipFill>
        <p:spPr>
          <a:xfrm>
            <a:off x="1650548" y="3731446"/>
            <a:ext cx="568453" cy="721498"/>
          </a:xfrm>
          <a:prstGeom prst="rect">
            <a:avLst/>
          </a:prstGeom>
        </p:spPr>
      </p:pic>
      <p:pic>
        <p:nvPicPr>
          <p:cNvPr id="126" name="Image 61" descr="icon"/>
          <p:cNvPicPr>
            <a:picLocks noChangeAspect="1"/>
          </p:cNvPicPr>
          <p:nvPr/>
        </p:nvPicPr>
        <p:blipFill>
          <a:blip r:embed="rId62"/>
          <a:stretch>
            <a:fillRect/>
          </a:stretch>
        </p:blipFill>
        <p:spPr>
          <a:xfrm>
            <a:off x="4376206" y="2762161"/>
            <a:ext cx="364393" cy="451847"/>
          </a:xfrm>
          <a:prstGeom prst="rect">
            <a:avLst/>
          </a:prstGeom>
        </p:spPr>
      </p:pic>
      <p:pic>
        <p:nvPicPr>
          <p:cNvPr id="127" name="Image 62" descr="icon"/>
          <p:cNvPicPr>
            <a:picLocks noChangeAspect="1"/>
          </p:cNvPicPr>
          <p:nvPr/>
        </p:nvPicPr>
        <p:blipFill>
          <a:blip r:embed="rId63"/>
          <a:stretch>
            <a:fillRect/>
          </a:stretch>
        </p:blipFill>
        <p:spPr>
          <a:xfrm>
            <a:off x="2058668" y="1275439"/>
            <a:ext cx="327953" cy="357105"/>
          </a:xfrm>
          <a:prstGeom prst="rect">
            <a:avLst/>
          </a:prstGeom>
        </p:spPr>
      </p:pic>
      <p:pic>
        <p:nvPicPr>
          <p:cNvPr id="128" name="Image 63" descr="icon"/>
          <p:cNvPicPr>
            <a:picLocks noChangeAspect="1"/>
          </p:cNvPicPr>
          <p:nvPr/>
        </p:nvPicPr>
        <p:blipFill>
          <a:blip r:embed="rId64"/>
          <a:stretch>
            <a:fillRect/>
          </a:stretch>
        </p:blipFill>
        <p:spPr>
          <a:xfrm>
            <a:off x="6511548" y="6099999"/>
            <a:ext cx="320666" cy="320666"/>
          </a:xfrm>
          <a:prstGeom prst="rect">
            <a:avLst/>
          </a:prstGeom>
        </p:spPr>
      </p:pic>
      <p:pic>
        <p:nvPicPr>
          <p:cNvPr id="129" name="Image 64" descr="icon"/>
          <p:cNvPicPr>
            <a:picLocks noChangeAspect="1"/>
          </p:cNvPicPr>
          <p:nvPr/>
        </p:nvPicPr>
        <p:blipFill>
          <a:blip r:embed="rId65"/>
          <a:stretch>
            <a:fillRect/>
          </a:stretch>
        </p:blipFill>
        <p:spPr>
          <a:xfrm>
            <a:off x="8581299" y="4197869"/>
            <a:ext cx="306090" cy="320666"/>
          </a:xfrm>
          <a:prstGeom prst="rect">
            <a:avLst/>
          </a:prstGeom>
        </p:spPr>
      </p:pic>
      <p:pic>
        <p:nvPicPr>
          <p:cNvPr id="130" name="Image 65" descr="icon"/>
          <p:cNvPicPr>
            <a:picLocks noChangeAspect="1"/>
          </p:cNvPicPr>
          <p:nvPr/>
        </p:nvPicPr>
        <p:blipFill>
          <a:blip r:embed="rId66"/>
          <a:stretch>
            <a:fillRect/>
          </a:stretch>
        </p:blipFill>
        <p:spPr>
          <a:xfrm>
            <a:off x="8574011" y="3731446"/>
            <a:ext cx="313378" cy="306090"/>
          </a:xfrm>
          <a:prstGeom prst="rect">
            <a:avLst/>
          </a:prstGeom>
        </p:spPr>
      </p:pic>
      <p:pic>
        <p:nvPicPr>
          <p:cNvPr id="131" name="Image 66" descr="icon"/>
          <p:cNvPicPr>
            <a:picLocks noChangeAspect="1"/>
          </p:cNvPicPr>
          <p:nvPr/>
        </p:nvPicPr>
        <p:blipFill>
          <a:blip r:embed="rId67"/>
          <a:stretch>
            <a:fillRect/>
          </a:stretch>
        </p:blipFill>
        <p:spPr>
          <a:xfrm>
            <a:off x="8588587" y="3279599"/>
            <a:ext cx="298802" cy="298802"/>
          </a:xfrm>
          <a:prstGeom prst="rect">
            <a:avLst/>
          </a:prstGeom>
        </p:spPr>
      </p:pic>
      <p:pic>
        <p:nvPicPr>
          <p:cNvPr id="132" name="Image 67" descr="icon"/>
          <p:cNvPicPr>
            <a:picLocks noChangeAspect="1"/>
          </p:cNvPicPr>
          <p:nvPr/>
        </p:nvPicPr>
        <p:blipFill>
          <a:blip r:embed="rId68"/>
          <a:stretch>
            <a:fillRect/>
          </a:stretch>
        </p:blipFill>
        <p:spPr>
          <a:xfrm>
            <a:off x="4317903" y="3658567"/>
            <a:ext cx="269651" cy="284226"/>
          </a:xfrm>
          <a:prstGeom prst="rect">
            <a:avLst/>
          </a:prstGeom>
        </p:spPr>
      </p:pic>
      <p:pic>
        <p:nvPicPr>
          <p:cNvPr id="133" name="Image 68" descr="icon"/>
          <p:cNvPicPr>
            <a:picLocks noChangeAspect="1"/>
          </p:cNvPicPr>
          <p:nvPr/>
        </p:nvPicPr>
        <p:blipFill>
          <a:blip r:embed="rId69"/>
          <a:stretch>
            <a:fillRect/>
          </a:stretch>
        </p:blipFill>
        <p:spPr>
          <a:xfrm>
            <a:off x="11037306" y="1166121"/>
            <a:ext cx="262363" cy="255075"/>
          </a:xfrm>
          <a:prstGeom prst="rect">
            <a:avLst/>
          </a:prstGeom>
        </p:spPr>
      </p:pic>
      <p:pic>
        <p:nvPicPr>
          <p:cNvPr id="134" name="Image 69" descr="icon"/>
          <p:cNvPicPr>
            <a:picLocks noChangeAspect="1"/>
          </p:cNvPicPr>
          <p:nvPr/>
        </p:nvPicPr>
        <p:blipFill>
          <a:blip r:embed="rId70"/>
          <a:stretch>
            <a:fillRect/>
          </a:stretch>
        </p:blipFill>
        <p:spPr>
          <a:xfrm>
            <a:off x="11044594" y="5648152"/>
            <a:ext cx="247787" cy="247787"/>
          </a:xfrm>
          <a:prstGeom prst="rect">
            <a:avLst/>
          </a:prstGeom>
        </p:spPr>
      </p:pic>
      <p:sp>
        <p:nvSpPr>
          <p:cNvPr id="136" name="Text 64"/>
          <p:cNvSpPr txBox="1"/>
          <p:nvPr/>
        </p:nvSpPr>
        <p:spPr>
          <a:xfrm>
            <a:off x="185689" y="772440"/>
            <a:ext cx="481272" cy="284500"/>
          </a:xfrm>
          <a:prstGeom prst="rect">
            <a:avLst/>
          </a:prstGeom>
          <a:noFill/>
        </p:spPr>
        <p:txBody>
          <a:bodyPr wrap="none" lIns="0" tIns="0" rIns="0" bIns="0" rtlCol="0" anchor="ctr"/>
          <a:lstStyle/>
          <a:p>
            <a:pPr marL="0" indent="0" algn="l">
              <a:buNone/>
            </a:pPr>
            <a:r>
              <a:rPr lang="en-US" sz="1420" b="1" dirty="0">
                <a:solidFill>
                  <a:srgbClr val="071C5B"/>
                </a:solidFill>
                <a:latin typeface="Arial" panose="020B0604020202020204" pitchFamily="34" charset="0"/>
                <a:ea typeface="黑体" panose="02010609060101010101" pitchFamily="34" charset="-122"/>
                <a:cs typeface="黑体" panose="02010609060101010101" pitchFamily="34" charset="-120"/>
              </a:rPr>
              <a:t>病史</a:t>
            </a:r>
            <a:endParaRPr lang="en-US" sz="1420" dirty="0"/>
          </a:p>
        </p:txBody>
      </p:sp>
      <p:sp>
        <p:nvSpPr>
          <p:cNvPr id="137" name="Text 65"/>
          <p:cNvSpPr txBox="1"/>
          <p:nvPr/>
        </p:nvSpPr>
        <p:spPr>
          <a:xfrm>
            <a:off x="185689" y="2171708"/>
            <a:ext cx="459408" cy="277212"/>
          </a:xfrm>
          <a:prstGeom prst="rect">
            <a:avLst/>
          </a:prstGeom>
          <a:noFill/>
        </p:spPr>
        <p:txBody>
          <a:bodyPr wrap="none" lIns="0" tIns="0" rIns="0" bIns="0" rtlCol="0" anchor="ctr"/>
          <a:lstStyle/>
          <a:p>
            <a:pPr marL="0" indent="0" algn="l">
              <a:buNone/>
            </a:pPr>
            <a:r>
              <a:rPr lang="en-US" sz="1420" b="1" dirty="0">
                <a:solidFill>
                  <a:srgbClr val="071C5B"/>
                </a:solidFill>
                <a:latin typeface="Arial" panose="020B0604020202020204" pitchFamily="34" charset="0"/>
                <a:ea typeface="黑体" panose="02010609060101010101" pitchFamily="34" charset="-122"/>
                <a:cs typeface="黑体" panose="02010609060101010101" pitchFamily="34" charset="-120"/>
              </a:rPr>
              <a:t>量表</a:t>
            </a:r>
            <a:endParaRPr lang="en-US" sz="1420" dirty="0"/>
          </a:p>
        </p:txBody>
      </p:sp>
      <p:sp>
        <p:nvSpPr>
          <p:cNvPr id="138" name="Text 66"/>
          <p:cNvSpPr txBox="1"/>
          <p:nvPr/>
        </p:nvSpPr>
        <p:spPr>
          <a:xfrm>
            <a:off x="2597970" y="684986"/>
            <a:ext cx="1086164" cy="291788"/>
          </a:xfrm>
          <a:prstGeom prst="rect">
            <a:avLst/>
          </a:prstGeom>
          <a:noFill/>
        </p:spPr>
        <p:txBody>
          <a:bodyPr wrap="none" lIns="0" tIns="0" rIns="0" bIns="0" rtlCol="0" anchor="ctr"/>
          <a:lstStyle/>
          <a:p>
            <a:pPr marL="0" indent="0" algn="l">
              <a:buNone/>
            </a:pPr>
            <a:r>
              <a:rPr lang="en-US" sz="1570" dirty="0">
                <a:solidFill>
                  <a:srgbClr val="071C5B"/>
                </a:solidFill>
                <a:latin typeface="华文中宋" pitchFamily="34" charset="0"/>
                <a:ea typeface="华文中宋" pitchFamily="34" charset="-122"/>
                <a:cs typeface="华文中宋" pitchFamily="34" charset="-120"/>
              </a:rPr>
              <a:t>结构化查询</a:t>
            </a:r>
            <a:endParaRPr lang="en-US" sz="1570" dirty="0"/>
          </a:p>
        </p:txBody>
      </p:sp>
      <p:sp>
        <p:nvSpPr>
          <p:cNvPr id="139" name="Text 67"/>
          <p:cNvSpPr txBox="1"/>
          <p:nvPr/>
        </p:nvSpPr>
        <p:spPr>
          <a:xfrm>
            <a:off x="2780166" y="1020227"/>
            <a:ext cx="1056739" cy="335515"/>
          </a:xfrm>
          <a:prstGeom prst="rect">
            <a:avLst/>
          </a:prstGeom>
          <a:noFill/>
        </p:spPr>
        <p:txBody>
          <a:bodyPr wrap="none" lIns="0" tIns="0" rIns="0" bIns="0" rtlCol="0" anchor="ctr"/>
          <a:lstStyle/>
          <a:p>
            <a:pPr marL="0" indent="0" algn="ctr">
              <a:buNone/>
            </a:pPr>
            <a:r>
              <a:rPr lang="en-US" sz="1810" b="1" i="1" dirty="0">
                <a:solidFill>
                  <a:srgbClr val="071C5B"/>
                </a:solidFill>
                <a:latin typeface="Times New Roman" panose="02020603050405020304" pitchFamily="34" charset="0"/>
                <a:ea typeface="Times New Roman" panose="02020603050405020304" pitchFamily="34" charset="-122"/>
                <a:cs typeface="Times New Roman" panose="02020603050405020304" pitchFamily="34" charset="-120"/>
              </a:rPr>
              <a:t>q = (F, Uq)</a:t>
            </a:r>
            <a:endParaRPr lang="en-US" sz="1810" dirty="0"/>
          </a:p>
        </p:txBody>
      </p:sp>
      <p:sp>
        <p:nvSpPr>
          <p:cNvPr id="140" name="Text 68"/>
          <p:cNvSpPr txBox="1"/>
          <p:nvPr/>
        </p:nvSpPr>
        <p:spPr>
          <a:xfrm>
            <a:off x="4252313" y="677698"/>
            <a:ext cx="1363102" cy="320939"/>
          </a:xfrm>
          <a:prstGeom prst="rect">
            <a:avLst/>
          </a:prstGeom>
          <a:noFill/>
        </p:spPr>
        <p:txBody>
          <a:bodyPr wrap="none" lIns="0" tIns="0" rIns="0" bIns="0" rtlCol="0" anchor="ctr"/>
          <a:lstStyle/>
          <a:p>
            <a:pPr marL="0" indent="0" algn="l">
              <a:buNone/>
            </a:pPr>
            <a:r>
              <a:rPr lang="en-US" sz="1660" dirty="0">
                <a:solidFill>
                  <a:srgbClr val="000340"/>
                </a:solidFill>
                <a:latin typeface="华文中宋" pitchFamily="34" charset="0"/>
                <a:ea typeface="华文中宋" pitchFamily="34" charset="-122"/>
                <a:cs typeface="华文中宋" pitchFamily="34" charset="-120"/>
              </a:rPr>
              <a:t>混合检索资源</a:t>
            </a:r>
            <a:endParaRPr lang="en-US" sz="1660" dirty="0"/>
          </a:p>
        </p:txBody>
      </p:sp>
      <p:sp>
        <p:nvSpPr>
          <p:cNvPr id="141" name="Text 69"/>
          <p:cNvSpPr txBox="1"/>
          <p:nvPr/>
        </p:nvSpPr>
        <p:spPr>
          <a:xfrm>
            <a:off x="7859801" y="677698"/>
            <a:ext cx="947695" cy="306363"/>
          </a:xfrm>
          <a:prstGeom prst="rect">
            <a:avLst/>
          </a:prstGeom>
          <a:noFill/>
        </p:spPr>
        <p:txBody>
          <a:bodyPr wrap="none" lIns="0" tIns="0" rIns="0" bIns="0" rtlCol="0" anchor="ctr"/>
          <a:lstStyle/>
          <a:p>
            <a:pPr marL="0" indent="0" algn="l">
              <a:buNone/>
            </a:pPr>
            <a:r>
              <a:rPr lang="en-US" sz="1690" dirty="0">
                <a:solidFill>
                  <a:srgbClr val="000041"/>
                </a:solidFill>
                <a:latin typeface="华文中宋" pitchFamily="34" charset="0"/>
                <a:ea typeface="华文中宋" pitchFamily="34" charset="-122"/>
                <a:cs typeface="华文中宋" pitchFamily="34" charset="-120"/>
              </a:rPr>
              <a:t>条件判断</a:t>
            </a:r>
            <a:endParaRPr lang="en-US" sz="1690" dirty="0"/>
          </a:p>
        </p:txBody>
      </p:sp>
      <p:sp>
        <p:nvSpPr>
          <p:cNvPr id="142" name="Text 70"/>
          <p:cNvSpPr txBox="1"/>
          <p:nvPr/>
        </p:nvSpPr>
        <p:spPr>
          <a:xfrm>
            <a:off x="10242930" y="663122"/>
            <a:ext cx="1108027" cy="306363"/>
          </a:xfrm>
          <a:prstGeom prst="rect">
            <a:avLst/>
          </a:prstGeom>
          <a:noFill/>
        </p:spPr>
        <p:txBody>
          <a:bodyPr wrap="none" lIns="0" tIns="0" rIns="0" bIns="0" rtlCol="0" anchor="ctr"/>
          <a:lstStyle/>
          <a:p>
            <a:pPr marL="0" indent="0" algn="l">
              <a:buNone/>
            </a:pPr>
            <a:r>
              <a:rPr lang="en-US" sz="1600" dirty="0">
                <a:solidFill>
                  <a:srgbClr val="071C5B"/>
                </a:solidFill>
                <a:latin typeface="华文中宋" pitchFamily="34" charset="0"/>
                <a:ea typeface="华文中宋" pitchFamily="34" charset="-122"/>
                <a:cs typeface="华文中宋" pitchFamily="34" charset="-120"/>
              </a:rPr>
              <a:t>知识与证据</a:t>
            </a:r>
            <a:endParaRPr lang="en-US" sz="1600" dirty="0"/>
          </a:p>
        </p:txBody>
      </p:sp>
      <p:sp>
        <p:nvSpPr>
          <p:cNvPr id="143" name="Text 71"/>
          <p:cNvSpPr txBox="1"/>
          <p:nvPr/>
        </p:nvSpPr>
        <p:spPr>
          <a:xfrm>
            <a:off x="5462097" y="1107681"/>
            <a:ext cx="634043" cy="277212"/>
          </a:xfrm>
          <a:prstGeom prst="rect">
            <a:avLst/>
          </a:prstGeom>
          <a:noFill/>
        </p:spPr>
        <p:txBody>
          <a:bodyPr wrap="none" lIns="0" tIns="0" rIns="0" bIns="0" rtlCol="0" anchor="ctr"/>
          <a:lstStyle/>
          <a:p>
            <a:pPr marL="0" indent="0" algn="ctr">
              <a:buNone/>
            </a:pPr>
            <a:r>
              <a:rPr lang="en-US" sz="1270" dirty="0">
                <a:solidFill>
                  <a:srgbClr val="071C5B"/>
                </a:solidFill>
                <a:latin typeface="华文中宋" pitchFamily="34" charset="0"/>
                <a:ea typeface="华文中宋" pitchFamily="34" charset="-122"/>
                <a:cs typeface="华文中宋" pitchFamily="34" charset="-120"/>
              </a:rPr>
              <a:t>向量索引</a:t>
            </a:r>
            <a:endParaRPr lang="en-US" sz="1270" dirty="0"/>
          </a:p>
        </p:txBody>
      </p:sp>
      <p:sp>
        <p:nvSpPr>
          <p:cNvPr id="144" name="Text 72"/>
          <p:cNvSpPr txBox="1"/>
          <p:nvPr/>
        </p:nvSpPr>
        <p:spPr>
          <a:xfrm>
            <a:off x="6912380" y="1020227"/>
            <a:ext cx="488286" cy="211621"/>
          </a:xfrm>
          <a:prstGeom prst="rect">
            <a:avLst/>
          </a:prstGeom>
          <a:noFill/>
        </p:spPr>
        <p:txBody>
          <a:bodyPr wrap="none" lIns="0" tIns="0" rIns="0" bIns="0" rtlCol="0" anchor="ctr"/>
          <a:lstStyle/>
          <a:p>
            <a:pPr marL="0" indent="0" algn="ctr">
              <a:buNone/>
            </a:pPr>
            <a:r>
              <a:rPr lang="en-US" sz="950" dirty="0">
                <a:solidFill>
                  <a:srgbClr val="071C5B"/>
                </a:solidFill>
                <a:latin typeface="华文中宋" pitchFamily="34" charset="0"/>
                <a:ea typeface="华文中宋" pitchFamily="34" charset="-122"/>
                <a:cs typeface="华文中宋" pitchFamily="34" charset="-120"/>
              </a:rPr>
              <a:t>候选知识</a:t>
            </a:r>
            <a:endParaRPr lang="en-US" sz="950" dirty="0"/>
          </a:p>
        </p:txBody>
      </p:sp>
      <p:sp>
        <p:nvSpPr>
          <p:cNvPr id="145" name="Text 73"/>
          <p:cNvSpPr txBox="1"/>
          <p:nvPr/>
        </p:nvSpPr>
        <p:spPr>
          <a:xfrm>
            <a:off x="9011282" y="1063954"/>
            <a:ext cx="546589" cy="299076"/>
          </a:xfrm>
          <a:prstGeom prst="rect">
            <a:avLst/>
          </a:prstGeom>
          <a:noFill/>
        </p:spPr>
        <p:txBody>
          <a:bodyPr wrap="none" lIns="0" tIns="0" rIns="0" bIns="0" rtlCol="0" anchor="ctr"/>
          <a:lstStyle/>
          <a:p>
            <a:pPr marL="0" indent="0" algn="ctr">
              <a:buNone/>
            </a:pPr>
            <a:r>
              <a:rPr lang="en-US" sz="1310" b="1" dirty="0">
                <a:solidFill>
                  <a:srgbClr val="071C5B"/>
                </a:solidFill>
                <a:latin typeface="Arial" panose="020B0604020202020204" pitchFamily="34" charset="0"/>
                <a:ea typeface="黑体" panose="02010609060101010101" pitchFamily="34" charset="-122"/>
                <a:cs typeface="黑体" panose="02010609060101010101" pitchFamily="34" charset="-120"/>
              </a:rPr>
              <a:t>条件 C</a:t>
            </a:r>
            <a:endParaRPr lang="en-US" sz="1310" dirty="0"/>
          </a:p>
        </p:txBody>
      </p:sp>
      <p:sp>
        <p:nvSpPr>
          <p:cNvPr id="146" name="Text 74"/>
          <p:cNvSpPr txBox="1"/>
          <p:nvPr/>
        </p:nvSpPr>
        <p:spPr>
          <a:xfrm>
            <a:off x="7043561" y="1275302"/>
            <a:ext cx="247787" cy="255348"/>
          </a:xfrm>
          <a:prstGeom prst="rect">
            <a:avLst/>
          </a:prstGeom>
          <a:noFill/>
        </p:spPr>
        <p:txBody>
          <a:bodyPr wrap="none" lIns="0" tIns="0" rIns="0" bIns="0" rtlCol="0" anchor="ctr"/>
          <a:lstStyle/>
          <a:p>
            <a:pPr marL="0" indent="0" algn="ctr">
              <a:buNone/>
            </a:pPr>
            <a:r>
              <a:rPr lang="en-US" sz="1710" b="1" i="1" dirty="0">
                <a:solidFill>
                  <a:srgbClr val="071C5B"/>
                </a:solidFill>
                <a:latin typeface="Times New Roman" panose="02020603050405020304" pitchFamily="34" charset="0"/>
                <a:ea typeface="Times New Roman" panose="02020603050405020304" pitchFamily="34" charset="-122"/>
                <a:cs typeface="Times New Roman" panose="02020603050405020304" pitchFamily="34" charset="-120"/>
              </a:rPr>
              <a:t>K</a:t>
            </a:r>
            <a:r>
              <a:rPr lang="en-US" sz="1710" b="1" i="1" dirty="0">
                <a:solidFill>
                  <a:srgbClr val="071C5B"/>
                </a:solidFill>
                <a:latin typeface="Times New Roman" panose="02020603050405020304" pitchFamily="34" charset="0"/>
                <a:ea typeface="Times New Roman" panose="02020603050405020304" pitchFamily="34" charset="-122"/>
                <a:cs typeface="Times New Roman" panose="02020603050405020304" pitchFamily="34" charset="-120"/>
              </a:rPr>
              <a:t>₁</a:t>
            </a:r>
            <a:endParaRPr lang="en-US" sz="1710" dirty="0"/>
          </a:p>
        </p:txBody>
      </p:sp>
      <p:sp>
        <p:nvSpPr>
          <p:cNvPr id="147" name="Text 75"/>
          <p:cNvSpPr txBox="1"/>
          <p:nvPr/>
        </p:nvSpPr>
        <p:spPr>
          <a:xfrm>
            <a:off x="10264794" y="1122257"/>
            <a:ext cx="415408" cy="357378"/>
          </a:xfrm>
          <a:prstGeom prst="rect">
            <a:avLst/>
          </a:prstGeom>
          <a:noFill/>
        </p:spPr>
        <p:txBody>
          <a:bodyPr wrap="none" lIns="0" tIns="0" rIns="0" bIns="0" rtlCol="0" anchor="ctr"/>
          <a:lstStyle/>
          <a:p>
            <a:pPr marL="0" indent="0" algn="ctr">
              <a:buNone/>
            </a:pPr>
            <a:r>
              <a:rPr lang="en-US" sz="2450" b="1" i="1" dirty="0">
                <a:solidFill>
                  <a:srgbClr val="071C5B"/>
                </a:solidFill>
                <a:latin typeface="Times New Roman" panose="02020603050405020304" pitchFamily="34" charset="0"/>
                <a:ea typeface="Times New Roman" panose="02020603050405020304" pitchFamily="34" charset="-122"/>
                <a:cs typeface="Times New Roman" panose="02020603050405020304" pitchFamily="34" charset="-120"/>
              </a:rPr>
              <a:t>K</a:t>
            </a:r>
            <a:r>
              <a:rPr lang="en-US" sz="2450" b="1" i="1" dirty="0">
                <a:solidFill>
                  <a:srgbClr val="071C5B"/>
                </a:solidFill>
                <a:latin typeface="Times New Roman" panose="02020603050405020304" pitchFamily="34" charset="0"/>
                <a:ea typeface="Times New Roman" panose="02020603050405020304" pitchFamily="34" charset="-122"/>
                <a:cs typeface="Times New Roman" panose="02020603050405020304" pitchFamily="34" charset="-120"/>
              </a:rPr>
              <a:t>₁</a:t>
            </a:r>
            <a:endParaRPr lang="en-US" sz="2450" dirty="0"/>
          </a:p>
        </p:txBody>
      </p:sp>
      <p:sp>
        <p:nvSpPr>
          <p:cNvPr id="148" name="Text 76"/>
          <p:cNvSpPr txBox="1"/>
          <p:nvPr/>
        </p:nvSpPr>
        <p:spPr>
          <a:xfrm>
            <a:off x="11343396" y="1180560"/>
            <a:ext cx="524726" cy="226197"/>
          </a:xfrm>
          <a:prstGeom prst="rect">
            <a:avLst/>
          </a:prstGeom>
          <a:noFill/>
        </p:spPr>
        <p:txBody>
          <a:bodyPr wrap="none" lIns="0" tIns="0" rIns="0" bIns="0" rtlCol="0" anchor="ctr"/>
          <a:lstStyle/>
          <a:p>
            <a:pPr marL="0" indent="0" algn="ctr">
              <a:buNone/>
            </a:pPr>
            <a:r>
              <a:rPr lang="en-US" sz="1020" dirty="0">
                <a:solidFill>
                  <a:srgbClr val="00835E"/>
                </a:solidFill>
                <a:latin typeface="华文中宋" pitchFamily="34" charset="0"/>
                <a:ea typeface="华文中宋" pitchFamily="34" charset="-122"/>
                <a:cs typeface="华文中宋" pitchFamily="34" charset="-120"/>
              </a:rPr>
              <a:t>满足条件</a:t>
            </a:r>
            <a:endParaRPr lang="en-US" sz="1020" dirty="0"/>
          </a:p>
        </p:txBody>
      </p:sp>
      <p:sp>
        <p:nvSpPr>
          <p:cNvPr id="149" name="Text 77"/>
          <p:cNvSpPr txBox="1"/>
          <p:nvPr/>
        </p:nvSpPr>
        <p:spPr>
          <a:xfrm>
            <a:off x="9135176" y="1435635"/>
            <a:ext cx="262363" cy="211621"/>
          </a:xfrm>
          <a:prstGeom prst="rect">
            <a:avLst/>
          </a:prstGeom>
          <a:noFill/>
        </p:spPr>
        <p:txBody>
          <a:bodyPr wrap="none" lIns="0" tIns="0" rIns="0" bIns="0" rtlCol="0" anchor="ctr"/>
          <a:lstStyle/>
          <a:p>
            <a:pPr marL="0" indent="0" algn="ctr">
              <a:buNone/>
            </a:pPr>
            <a:r>
              <a:rPr lang="en-US" sz="990" b="1" dirty="0">
                <a:solidFill>
                  <a:srgbClr val="071C5B"/>
                </a:solidFill>
                <a:latin typeface="Arial" panose="020B0604020202020204" pitchFamily="34" charset="0"/>
                <a:ea typeface="黑体" panose="02010609060101010101" pitchFamily="34" charset="-122"/>
                <a:cs typeface="黑体" panose="02010609060101010101" pitchFamily="34" charset="-120"/>
              </a:rPr>
              <a:t>条件</a:t>
            </a:r>
            <a:endParaRPr lang="en-US" sz="990" dirty="0"/>
          </a:p>
        </p:txBody>
      </p:sp>
      <p:sp>
        <p:nvSpPr>
          <p:cNvPr id="150" name="Text 78"/>
          <p:cNvSpPr txBox="1"/>
          <p:nvPr/>
        </p:nvSpPr>
        <p:spPr>
          <a:xfrm>
            <a:off x="1810881" y="1668846"/>
            <a:ext cx="364393" cy="269924"/>
          </a:xfrm>
          <a:prstGeom prst="rect">
            <a:avLst/>
          </a:prstGeom>
          <a:noFill/>
        </p:spPr>
        <p:txBody>
          <a:bodyPr wrap="none" lIns="0" tIns="0" rIns="0" bIns="0" rtlCol="0" anchor="ctr"/>
          <a:lstStyle/>
          <a:p>
            <a:pPr marL="0" indent="0" algn="ctr">
              <a:buNone/>
            </a:pPr>
            <a:r>
              <a:rPr lang="en-US" sz="1340" b="1" dirty="0">
                <a:solidFill>
                  <a:srgbClr val="071C5B"/>
                </a:solidFill>
                <a:latin typeface="Arial" panose="020B0604020202020204" pitchFamily="34" charset="0"/>
                <a:ea typeface="黑体" panose="02010609060101010101" pitchFamily="34" charset="-122"/>
                <a:cs typeface="黑体" panose="02010609060101010101" pitchFamily="34" charset="-120"/>
              </a:rPr>
              <a:t>临床</a:t>
            </a:r>
            <a:endParaRPr lang="en-US" sz="1340" dirty="0"/>
          </a:p>
        </p:txBody>
      </p:sp>
      <p:sp>
        <p:nvSpPr>
          <p:cNvPr id="151" name="Text 79"/>
          <p:cNvSpPr txBox="1"/>
          <p:nvPr/>
        </p:nvSpPr>
        <p:spPr>
          <a:xfrm>
            <a:off x="2882196" y="1603255"/>
            <a:ext cx="976846" cy="248061"/>
          </a:xfrm>
          <a:prstGeom prst="rect">
            <a:avLst/>
          </a:prstGeom>
          <a:noFill/>
        </p:spPr>
        <p:txBody>
          <a:bodyPr wrap="none" lIns="0" tIns="0" rIns="0" bIns="0" rtlCol="0" anchor="ctr"/>
          <a:lstStyle/>
          <a:p>
            <a:pPr marL="0" indent="0" algn="l">
              <a:buNone/>
            </a:pPr>
            <a:r>
              <a:rPr lang="en-US" sz="1110" dirty="0">
                <a:solidFill>
                  <a:srgbClr val="071C5B"/>
                </a:solidFill>
                <a:latin typeface="华文中宋" pitchFamily="34" charset="0"/>
                <a:ea typeface="华文中宋" pitchFamily="34" charset="-122"/>
                <a:cs typeface="华文中宋" pitchFamily="34" charset="-120"/>
              </a:rPr>
              <a:t>F：病史要点</a:t>
            </a:r>
            <a:endParaRPr lang="en-US" sz="1110" dirty="0"/>
          </a:p>
        </p:txBody>
      </p:sp>
      <p:sp>
        <p:nvSpPr>
          <p:cNvPr id="152" name="Text 80"/>
          <p:cNvSpPr txBox="1"/>
          <p:nvPr/>
        </p:nvSpPr>
        <p:spPr>
          <a:xfrm>
            <a:off x="2860332" y="1829179"/>
            <a:ext cx="1093452" cy="320939"/>
          </a:xfrm>
          <a:prstGeom prst="rect">
            <a:avLst/>
          </a:prstGeom>
          <a:noFill/>
        </p:spPr>
        <p:txBody>
          <a:bodyPr wrap="none" lIns="0" tIns="0" rIns="0" bIns="0" rtlCol="0" anchor="ctr"/>
          <a:lstStyle/>
          <a:p>
            <a:pPr marL="0" indent="0" algn="l">
              <a:buNone/>
            </a:pPr>
            <a:r>
              <a:rPr lang="en-US" sz="1110" dirty="0">
                <a:solidFill>
                  <a:srgbClr val="071C5B"/>
                </a:solidFill>
                <a:latin typeface="华文中宋" pitchFamily="34" charset="0"/>
                <a:ea typeface="华文中宋" pitchFamily="34" charset="-122"/>
                <a:cs typeface="华文中宋" pitchFamily="34" charset="-120"/>
              </a:rPr>
              <a:t>Uq：诊断相关</a:t>
            </a:r>
            <a:endParaRPr lang="en-US" sz="1110" dirty="0"/>
          </a:p>
        </p:txBody>
      </p:sp>
      <p:sp>
        <p:nvSpPr>
          <p:cNvPr id="153" name="Text 81"/>
          <p:cNvSpPr txBox="1"/>
          <p:nvPr/>
        </p:nvSpPr>
        <p:spPr>
          <a:xfrm>
            <a:off x="10658338" y="1610543"/>
            <a:ext cx="167621" cy="211621"/>
          </a:xfrm>
          <a:prstGeom prst="rect">
            <a:avLst/>
          </a:prstGeom>
          <a:noFill/>
        </p:spPr>
        <p:txBody>
          <a:bodyPr wrap="none" lIns="0" tIns="0" rIns="0" bIns="0" rtlCol="0" anchor="ctr"/>
          <a:lstStyle/>
          <a:p>
            <a:pPr marL="0" indent="0" algn="ctr">
              <a:buNone/>
            </a:pPr>
            <a:r>
              <a:rPr lang="en-US" sz="1450" b="1" i="1" dirty="0">
                <a:solidFill>
                  <a:srgbClr val="071C5B"/>
                </a:solidFill>
                <a:latin typeface="Times New Roman" panose="02020603050405020304" pitchFamily="34" charset="0"/>
                <a:ea typeface="Times New Roman" panose="02020603050405020304" pitchFamily="34" charset="-122"/>
                <a:cs typeface="Times New Roman" panose="02020603050405020304" pitchFamily="34" charset="-120"/>
              </a:rPr>
              <a:t>X</a:t>
            </a:r>
            <a:endParaRPr lang="en-US" sz="1450" dirty="0"/>
          </a:p>
        </p:txBody>
      </p:sp>
      <p:sp>
        <p:nvSpPr>
          <p:cNvPr id="154" name="Text 82"/>
          <p:cNvSpPr txBox="1"/>
          <p:nvPr/>
        </p:nvSpPr>
        <p:spPr>
          <a:xfrm>
            <a:off x="11394411" y="1617831"/>
            <a:ext cx="160333" cy="218909"/>
          </a:xfrm>
          <a:prstGeom prst="rect">
            <a:avLst/>
          </a:prstGeom>
          <a:noFill/>
        </p:spPr>
        <p:txBody>
          <a:bodyPr wrap="none" lIns="0" tIns="0" rIns="0" bIns="0" rtlCol="0" anchor="ctr"/>
          <a:lstStyle/>
          <a:p>
            <a:pPr marL="0" indent="0" algn="ctr">
              <a:buNone/>
            </a:pPr>
            <a:r>
              <a:rPr lang="en-US" sz="1540" b="1" i="1" dirty="0">
                <a:solidFill>
                  <a:srgbClr val="000241"/>
                </a:solidFill>
                <a:latin typeface="Times New Roman" panose="02020603050405020304" pitchFamily="34" charset="0"/>
                <a:ea typeface="Times New Roman" panose="02020603050405020304" pitchFamily="34" charset="-122"/>
                <a:cs typeface="Times New Roman" panose="02020603050405020304" pitchFamily="34" charset="-120"/>
              </a:rPr>
              <a:t>D</a:t>
            </a:r>
            <a:endParaRPr lang="en-US" sz="1540" dirty="0"/>
          </a:p>
        </p:txBody>
      </p:sp>
      <p:sp>
        <p:nvSpPr>
          <p:cNvPr id="155" name="Text 83"/>
          <p:cNvSpPr txBox="1"/>
          <p:nvPr/>
        </p:nvSpPr>
        <p:spPr>
          <a:xfrm>
            <a:off x="5600566" y="1880194"/>
            <a:ext cx="539301" cy="211621"/>
          </a:xfrm>
          <a:prstGeom prst="rect">
            <a:avLst/>
          </a:prstGeom>
          <a:noFill/>
        </p:spPr>
        <p:txBody>
          <a:bodyPr wrap="none" lIns="0" tIns="0" rIns="0" bIns="0" rtlCol="0" anchor="ctr"/>
          <a:lstStyle/>
          <a:p>
            <a:pPr marL="0" indent="0" algn="ctr">
              <a:buNone/>
            </a:pPr>
            <a:r>
              <a:rPr lang="en-US" sz="1020" dirty="0">
                <a:solidFill>
                  <a:srgbClr val="071C5B"/>
                </a:solidFill>
                <a:latin typeface="华文中宋" pitchFamily="34" charset="0"/>
                <a:ea typeface="华文中宋" pitchFamily="34" charset="-122"/>
                <a:cs typeface="华文中宋" pitchFamily="34" charset="-120"/>
              </a:rPr>
              <a:t>向量表示</a:t>
            </a:r>
            <a:endParaRPr lang="en-US" sz="1020" dirty="0"/>
          </a:p>
        </p:txBody>
      </p:sp>
      <p:sp>
        <p:nvSpPr>
          <p:cNvPr id="156" name="Text 84"/>
          <p:cNvSpPr txBox="1"/>
          <p:nvPr/>
        </p:nvSpPr>
        <p:spPr>
          <a:xfrm>
            <a:off x="7043561" y="1843755"/>
            <a:ext cx="247787" cy="255348"/>
          </a:xfrm>
          <a:prstGeom prst="rect">
            <a:avLst/>
          </a:prstGeom>
          <a:noFill/>
        </p:spPr>
        <p:txBody>
          <a:bodyPr wrap="none" lIns="0" tIns="0" rIns="0" bIns="0" rtlCol="0" anchor="ctr"/>
          <a:lstStyle/>
          <a:p>
            <a:pPr marL="0" indent="0" algn="ctr">
              <a:buNone/>
            </a:pPr>
            <a:r>
              <a:rPr lang="en-US" sz="1710" b="1" i="1" dirty="0">
                <a:solidFill>
                  <a:srgbClr val="071C5B"/>
                </a:solidFill>
                <a:latin typeface="Times New Roman" panose="02020603050405020304" pitchFamily="34" charset="0"/>
                <a:ea typeface="Times New Roman" panose="02020603050405020304" pitchFamily="34" charset="-122"/>
                <a:cs typeface="Times New Roman" panose="02020603050405020304" pitchFamily="34" charset="-120"/>
              </a:rPr>
              <a:t>K</a:t>
            </a:r>
            <a:r>
              <a:rPr lang="en-US" sz="1710" b="1" i="1" dirty="0">
                <a:solidFill>
                  <a:srgbClr val="071C5B"/>
                </a:solidFill>
                <a:latin typeface="Times New Roman" panose="02020603050405020304" pitchFamily="34" charset="0"/>
                <a:ea typeface="Times New Roman" panose="02020603050405020304" pitchFamily="34" charset="-122"/>
                <a:cs typeface="Times New Roman" panose="02020603050405020304" pitchFamily="34" charset="-120"/>
              </a:rPr>
              <a:t>₃</a:t>
            </a:r>
            <a:endParaRPr lang="en-US" sz="1710" dirty="0"/>
          </a:p>
        </p:txBody>
      </p:sp>
      <p:sp>
        <p:nvSpPr>
          <p:cNvPr id="157" name="Text 85"/>
          <p:cNvSpPr txBox="1"/>
          <p:nvPr/>
        </p:nvSpPr>
        <p:spPr>
          <a:xfrm>
            <a:off x="9120600" y="1851043"/>
            <a:ext cx="291514" cy="182470"/>
          </a:xfrm>
          <a:prstGeom prst="rect">
            <a:avLst/>
          </a:prstGeom>
          <a:noFill/>
        </p:spPr>
        <p:txBody>
          <a:bodyPr wrap="none" lIns="0" tIns="0" rIns="0" bIns="0" rtlCol="0" anchor="ctr"/>
          <a:lstStyle/>
          <a:p>
            <a:pPr marL="0" indent="0" algn="ctr">
              <a:buNone/>
            </a:pPr>
            <a:r>
              <a:rPr lang="en-US" sz="1020" b="1" dirty="0">
                <a:solidFill>
                  <a:srgbClr val="050A2A"/>
                </a:solidFill>
                <a:latin typeface="Times New Roman" panose="02020603050405020304" pitchFamily="34" charset="0"/>
                <a:ea typeface="Times New Roman" panose="02020603050405020304" pitchFamily="34" charset="-122"/>
                <a:cs typeface="Times New Roman" panose="02020603050405020304" pitchFamily="34" charset="-120"/>
              </a:rPr>
              <a:t>AND</a:t>
            </a:r>
            <a:endParaRPr lang="en-US" sz="1020" dirty="0"/>
          </a:p>
        </p:txBody>
      </p:sp>
      <p:sp>
        <p:nvSpPr>
          <p:cNvPr id="158" name="Text 86"/>
          <p:cNvSpPr txBox="1"/>
          <p:nvPr/>
        </p:nvSpPr>
        <p:spPr>
          <a:xfrm>
            <a:off x="10957140" y="2069678"/>
            <a:ext cx="269651" cy="211621"/>
          </a:xfrm>
          <a:prstGeom prst="rect">
            <a:avLst/>
          </a:prstGeom>
          <a:noFill/>
        </p:spPr>
        <p:txBody>
          <a:bodyPr wrap="none" lIns="0" tIns="0" rIns="0" bIns="0" rtlCol="0" anchor="ctr"/>
          <a:lstStyle/>
          <a:p>
            <a:pPr marL="0" indent="0" algn="ctr">
              <a:buNone/>
            </a:pPr>
            <a:r>
              <a:rPr lang="en-US" sz="990" b="1" dirty="0">
                <a:solidFill>
                  <a:srgbClr val="071C5B"/>
                </a:solidFill>
                <a:latin typeface="Arial" panose="020B0604020202020204" pitchFamily="34" charset="0"/>
                <a:ea typeface="黑体" panose="02010609060101010101" pitchFamily="34" charset="-122"/>
                <a:cs typeface="黑体" panose="02010609060101010101" pitchFamily="34" charset="-120"/>
              </a:rPr>
              <a:t>条件</a:t>
            </a:r>
            <a:endParaRPr lang="en-US" sz="990" dirty="0"/>
          </a:p>
        </p:txBody>
      </p:sp>
      <p:sp>
        <p:nvSpPr>
          <p:cNvPr id="159" name="Text 87"/>
          <p:cNvSpPr txBox="1"/>
          <p:nvPr/>
        </p:nvSpPr>
        <p:spPr>
          <a:xfrm>
            <a:off x="4310616" y="2230011"/>
            <a:ext cx="918543" cy="299076"/>
          </a:xfrm>
          <a:prstGeom prst="rect">
            <a:avLst/>
          </a:prstGeom>
          <a:noFill/>
        </p:spPr>
        <p:txBody>
          <a:bodyPr wrap="none" lIns="0" tIns="0" rIns="0" bIns="0" rtlCol="0" anchor="ctr"/>
          <a:lstStyle/>
          <a:p>
            <a:pPr marL="0" indent="0" algn="l">
              <a:buNone/>
            </a:pPr>
            <a:r>
              <a:rPr lang="en-US" sz="1600" dirty="0">
                <a:solidFill>
                  <a:srgbClr val="071C5B"/>
                </a:solidFill>
                <a:latin typeface="华文中宋" pitchFamily="34" charset="0"/>
                <a:ea typeface="华文中宋" pitchFamily="34" charset="-122"/>
                <a:cs typeface="华文中宋" pitchFamily="34" charset="-120"/>
              </a:rPr>
              <a:t>知识图谱</a:t>
            </a:r>
            <a:endParaRPr lang="en-US" sz="1600" dirty="0"/>
          </a:p>
        </p:txBody>
      </p:sp>
      <p:sp>
        <p:nvSpPr>
          <p:cNvPr id="160" name="Text 88"/>
          <p:cNvSpPr txBox="1"/>
          <p:nvPr/>
        </p:nvSpPr>
        <p:spPr>
          <a:xfrm>
            <a:off x="8012846" y="2375768"/>
            <a:ext cx="648893" cy="226197"/>
          </a:xfrm>
          <a:prstGeom prst="rect">
            <a:avLst/>
          </a:prstGeom>
          <a:noFill/>
        </p:spPr>
        <p:txBody>
          <a:bodyPr wrap="none" lIns="0" tIns="0" rIns="0" bIns="0" rtlCol="0" anchor="ctr"/>
          <a:lstStyle/>
          <a:p>
            <a:pPr marL="0" indent="0" algn="l">
              <a:buNone/>
            </a:pPr>
            <a:r>
              <a:rPr lang="en-US" sz="1120" dirty="0">
                <a:solidFill>
                  <a:srgbClr val="06194F"/>
                </a:solidFill>
                <a:latin typeface="华文中宋" pitchFamily="34" charset="0"/>
                <a:ea typeface="华文中宋" pitchFamily="34" charset="-122"/>
                <a:cs typeface="华文中宋" pitchFamily="34" charset="-120"/>
              </a:rPr>
              <a:t>患者事实</a:t>
            </a:r>
            <a:endParaRPr lang="en-US" sz="1120" dirty="0"/>
          </a:p>
        </p:txBody>
      </p:sp>
      <p:sp>
        <p:nvSpPr>
          <p:cNvPr id="161" name="Text 89"/>
          <p:cNvSpPr txBox="1"/>
          <p:nvPr/>
        </p:nvSpPr>
        <p:spPr>
          <a:xfrm>
            <a:off x="8778071" y="2332041"/>
            <a:ext cx="182196" cy="197046"/>
          </a:xfrm>
          <a:prstGeom prst="rect">
            <a:avLst/>
          </a:prstGeom>
          <a:noFill/>
        </p:spPr>
        <p:txBody>
          <a:bodyPr wrap="none" lIns="0" tIns="0" rIns="0" bIns="0" rtlCol="0" anchor="ctr"/>
          <a:lstStyle/>
          <a:p>
            <a:pPr marL="0" indent="0" algn="ctr">
              <a:buNone/>
            </a:pPr>
            <a:r>
              <a:rPr lang="en-US" sz="1280" b="1" i="1" dirty="0">
                <a:solidFill>
                  <a:srgbClr val="00072E"/>
                </a:solidFill>
                <a:latin typeface="Times New Roman" panose="02020603050405020304" pitchFamily="34" charset="0"/>
                <a:ea typeface="Times New Roman" panose="02020603050405020304" pitchFamily="34" charset="-122"/>
                <a:cs typeface="Times New Roman" panose="02020603050405020304" pitchFamily="34" charset="-120"/>
              </a:rPr>
              <a:t>M</a:t>
            </a:r>
            <a:endParaRPr lang="en-US" sz="1280" dirty="0"/>
          </a:p>
        </p:txBody>
      </p:sp>
      <p:sp>
        <p:nvSpPr>
          <p:cNvPr id="162" name="Text 90"/>
          <p:cNvSpPr txBox="1"/>
          <p:nvPr/>
        </p:nvSpPr>
        <p:spPr>
          <a:xfrm>
            <a:off x="9200767" y="2324753"/>
            <a:ext cx="138469" cy="204333"/>
          </a:xfrm>
          <a:prstGeom prst="rect">
            <a:avLst/>
          </a:prstGeom>
          <a:noFill/>
        </p:spPr>
        <p:txBody>
          <a:bodyPr wrap="none" lIns="0" tIns="0" rIns="0" bIns="0" rtlCol="0" anchor="ctr"/>
          <a:lstStyle/>
          <a:p>
            <a:pPr marL="0" indent="0" algn="ctr">
              <a:buNone/>
            </a:pPr>
            <a:r>
              <a:rPr lang="en-US" sz="1370" b="1" i="1" dirty="0">
                <a:solidFill>
                  <a:srgbClr val="00072F"/>
                </a:solidFill>
                <a:latin typeface="Times New Roman" panose="02020603050405020304" pitchFamily="34" charset="0"/>
                <a:ea typeface="Times New Roman" panose="02020603050405020304" pitchFamily="34" charset="-122"/>
                <a:cs typeface="Times New Roman" panose="02020603050405020304" pitchFamily="34" charset="-120"/>
              </a:rPr>
              <a:t>T</a:t>
            </a:r>
            <a:endParaRPr lang="en-US" sz="1370" dirty="0"/>
          </a:p>
        </p:txBody>
      </p:sp>
      <p:sp>
        <p:nvSpPr>
          <p:cNvPr id="163" name="Text 91"/>
          <p:cNvSpPr txBox="1"/>
          <p:nvPr/>
        </p:nvSpPr>
        <p:spPr>
          <a:xfrm>
            <a:off x="9536008" y="2295602"/>
            <a:ext cx="284226" cy="189758"/>
          </a:xfrm>
          <a:prstGeom prst="rect">
            <a:avLst/>
          </a:prstGeom>
          <a:noFill/>
        </p:spPr>
        <p:txBody>
          <a:bodyPr wrap="none" lIns="0" tIns="0" rIns="0" bIns="0" rtlCol="0" anchor="ctr"/>
          <a:lstStyle/>
          <a:p>
            <a:pPr marL="0" indent="0" algn="ctr">
              <a:buNone/>
            </a:pPr>
            <a:r>
              <a:rPr lang="en-US" sz="990" b="1" dirty="0">
                <a:solidFill>
                  <a:srgbClr val="06194F"/>
                </a:solidFill>
                <a:latin typeface="Times New Roman" panose="02020603050405020304" pitchFamily="34" charset="0"/>
                <a:ea typeface="Times New Roman" panose="02020603050405020304" pitchFamily="34" charset="-122"/>
                <a:cs typeface="Times New Roman" panose="02020603050405020304" pitchFamily="34" charset="-120"/>
              </a:rPr>
              <a:t>NOT</a:t>
            </a:r>
            <a:endParaRPr lang="en-US" sz="990" dirty="0"/>
          </a:p>
        </p:txBody>
      </p:sp>
      <p:sp>
        <p:nvSpPr>
          <p:cNvPr id="164" name="Text 92"/>
          <p:cNvSpPr txBox="1"/>
          <p:nvPr/>
        </p:nvSpPr>
        <p:spPr>
          <a:xfrm>
            <a:off x="10949852" y="2404920"/>
            <a:ext cx="269651" cy="167894"/>
          </a:xfrm>
          <a:prstGeom prst="rect">
            <a:avLst/>
          </a:prstGeom>
          <a:noFill/>
        </p:spPr>
        <p:txBody>
          <a:bodyPr wrap="none" lIns="0" tIns="0" rIns="0" bIns="0" rtlCol="0" anchor="ctr"/>
          <a:lstStyle/>
          <a:p>
            <a:pPr marL="0" indent="0" algn="ctr">
              <a:buNone/>
            </a:pPr>
            <a:r>
              <a:rPr lang="en-US" sz="900" b="1" dirty="0">
                <a:solidFill>
                  <a:srgbClr val="01071F"/>
                </a:solidFill>
                <a:latin typeface="Times New Roman" panose="02020603050405020304" pitchFamily="34" charset="0"/>
                <a:ea typeface="Times New Roman" panose="02020603050405020304" pitchFamily="34" charset="-122"/>
                <a:cs typeface="Times New Roman" panose="02020603050405020304" pitchFamily="34" charset="-120"/>
              </a:rPr>
              <a:t>AND</a:t>
            </a:r>
            <a:endParaRPr lang="en-US" sz="900" dirty="0"/>
          </a:p>
        </p:txBody>
      </p:sp>
      <p:sp>
        <p:nvSpPr>
          <p:cNvPr id="165" name="Text 93"/>
          <p:cNvSpPr txBox="1"/>
          <p:nvPr/>
        </p:nvSpPr>
        <p:spPr>
          <a:xfrm>
            <a:off x="8216906" y="2579828"/>
            <a:ext cx="218909" cy="204333"/>
          </a:xfrm>
          <a:prstGeom prst="rect">
            <a:avLst/>
          </a:prstGeom>
          <a:noFill/>
        </p:spPr>
        <p:txBody>
          <a:bodyPr wrap="none" lIns="0" tIns="0" rIns="0" bIns="0" rtlCol="0" anchor="ctr"/>
          <a:lstStyle/>
          <a:p>
            <a:pPr marL="0" indent="0" algn="l">
              <a:buNone/>
            </a:pPr>
            <a:r>
              <a:rPr lang="en-US" sz="1370" b="1" i="1" dirty="0">
                <a:solidFill>
                  <a:srgbClr val="06194F"/>
                </a:solidFill>
                <a:latin typeface="Times New Roman" panose="02020603050405020304" pitchFamily="34" charset="0"/>
                <a:ea typeface="Times New Roman" panose="02020603050405020304" pitchFamily="34" charset="-122"/>
                <a:cs typeface="Times New Roman" panose="02020603050405020304" pitchFamily="34" charset="-120"/>
              </a:rPr>
              <a:t>F</a:t>
            </a:r>
            <a:endParaRPr lang="en-US" sz="1370" dirty="0"/>
          </a:p>
        </p:txBody>
      </p:sp>
      <p:sp>
        <p:nvSpPr>
          <p:cNvPr id="166" name="Text 94"/>
          <p:cNvSpPr txBox="1"/>
          <p:nvPr/>
        </p:nvSpPr>
        <p:spPr>
          <a:xfrm>
            <a:off x="2882196" y="2616267"/>
            <a:ext cx="954983" cy="240773"/>
          </a:xfrm>
          <a:prstGeom prst="rect">
            <a:avLst/>
          </a:prstGeom>
          <a:noFill/>
        </p:spPr>
        <p:txBody>
          <a:bodyPr wrap="none" lIns="0" tIns="0" rIns="0" bIns="0" rtlCol="0" anchor="ctr"/>
          <a:lstStyle/>
          <a:p>
            <a:pPr marL="0" indent="0" algn="l">
              <a:buNone/>
            </a:pPr>
            <a:r>
              <a:rPr lang="en-US" sz="1080" dirty="0">
                <a:solidFill>
                  <a:srgbClr val="06194F"/>
                </a:solidFill>
                <a:latin typeface="华文中宋" pitchFamily="34" charset="0"/>
                <a:ea typeface="华文中宋" pitchFamily="34" charset="-122"/>
                <a:cs typeface="华文中宋" pitchFamily="34" charset="-120"/>
              </a:rPr>
              <a:t>F：量表特征</a:t>
            </a:r>
            <a:endParaRPr lang="en-US" sz="1080" dirty="0"/>
          </a:p>
        </p:txBody>
      </p:sp>
      <p:sp>
        <p:nvSpPr>
          <p:cNvPr id="167" name="Text 95"/>
          <p:cNvSpPr txBox="1"/>
          <p:nvPr/>
        </p:nvSpPr>
        <p:spPr>
          <a:xfrm>
            <a:off x="2853045" y="2827615"/>
            <a:ext cx="1086164" cy="328227"/>
          </a:xfrm>
          <a:prstGeom prst="rect">
            <a:avLst/>
          </a:prstGeom>
          <a:noFill/>
        </p:spPr>
        <p:txBody>
          <a:bodyPr wrap="none" lIns="0" tIns="0" rIns="0" bIns="0" rtlCol="0" anchor="ctr"/>
          <a:lstStyle/>
          <a:p>
            <a:pPr marL="0" indent="0" algn="l">
              <a:buNone/>
            </a:pPr>
            <a:r>
              <a:rPr lang="en-US" sz="1080" dirty="0">
                <a:solidFill>
                  <a:srgbClr val="06194F"/>
                </a:solidFill>
                <a:latin typeface="华文中宋" pitchFamily="34" charset="0"/>
                <a:ea typeface="华文中宋" pitchFamily="34" charset="-122"/>
                <a:cs typeface="华文中宋" pitchFamily="34" charset="-120"/>
              </a:rPr>
              <a:t>Uq：认知评估</a:t>
            </a:r>
            <a:endParaRPr lang="en-US" sz="1080" dirty="0"/>
          </a:p>
        </p:txBody>
      </p:sp>
      <p:sp>
        <p:nvSpPr>
          <p:cNvPr id="168" name="Text 96"/>
          <p:cNvSpPr txBox="1"/>
          <p:nvPr/>
        </p:nvSpPr>
        <p:spPr>
          <a:xfrm>
            <a:off x="11401699" y="2689146"/>
            <a:ext cx="269651" cy="175182"/>
          </a:xfrm>
          <a:prstGeom prst="rect">
            <a:avLst/>
          </a:prstGeom>
          <a:noFill/>
        </p:spPr>
        <p:txBody>
          <a:bodyPr wrap="none" lIns="0" tIns="0" rIns="0" bIns="0" rtlCol="0" anchor="ctr"/>
          <a:lstStyle/>
          <a:p>
            <a:pPr marL="0" indent="0" algn="ctr">
              <a:buNone/>
            </a:pPr>
            <a:r>
              <a:rPr lang="en-US" sz="930" b="1" dirty="0">
                <a:solidFill>
                  <a:srgbClr val="06194F"/>
                </a:solidFill>
                <a:latin typeface="Times New Roman" panose="02020603050405020304" pitchFamily="34" charset="0"/>
                <a:ea typeface="Times New Roman" panose="02020603050405020304" pitchFamily="34" charset="-122"/>
                <a:cs typeface="Times New Roman" panose="02020603050405020304" pitchFamily="34" charset="-120"/>
              </a:rPr>
              <a:t>NOT</a:t>
            </a:r>
            <a:endParaRPr lang="en-US" sz="930" dirty="0"/>
          </a:p>
        </p:txBody>
      </p:sp>
      <p:sp>
        <p:nvSpPr>
          <p:cNvPr id="169" name="Text 97"/>
          <p:cNvSpPr txBox="1"/>
          <p:nvPr/>
        </p:nvSpPr>
        <p:spPr>
          <a:xfrm>
            <a:off x="9608887" y="2718297"/>
            <a:ext cx="138469" cy="204333"/>
          </a:xfrm>
          <a:prstGeom prst="rect">
            <a:avLst/>
          </a:prstGeom>
          <a:noFill/>
        </p:spPr>
        <p:txBody>
          <a:bodyPr wrap="none" lIns="0" tIns="0" rIns="0" bIns="0" rtlCol="0" anchor="ctr"/>
          <a:lstStyle/>
          <a:p>
            <a:pPr marL="0" indent="0" algn="ctr">
              <a:buNone/>
            </a:pPr>
            <a:r>
              <a:rPr lang="en-US" sz="1370" b="1" i="1" dirty="0">
                <a:solidFill>
                  <a:srgbClr val="06194F"/>
                </a:solidFill>
                <a:latin typeface="Times New Roman" panose="02020603050405020304" pitchFamily="34" charset="0"/>
                <a:ea typeface="Times New Roman" panose="02020603050405020304" pitchFamily="34" charset="-122"/>
                <a:cs typeface="Times New Roman" panose="02020603050405020304" pitchFamily="34" charset="-120"/>
              </a:rPr>
              <a:t>E</a:t>
            </a:r>
            <a:endParaRPr lang="en-US" sz="1370" dirty="0"/>
          </a:p>
        </p:txBody>
      </p:sp>
      <p:sp>
        <p:nvSpPr>
          <p:cNvPr id="170" name="Text 98"/>
          <p:cNvSpPr txBox="1"/>
          <p:nvPr/>
        </p:nvSpPr>
        <p:spPr>
          <a:xfrm>
            <a:off x="10585459" y="2740161"/>
            <a:ext cx="174909" cy="197046"/>
          </a:xfrm>
          <a:prstGeom prst="rect">
            <a:avLst/>
          </a:prstGeom>
          <a:noFill/>
        </p:spPr>
        <p:txBody>
          <a:bodyPr wrap="none" lIns="0" tIns="0" rIns="0" bIns="0" rtlCol="0" anchor="ctr"/>
          <a:lstStyle/>
          <a:p>
            <a:pPr marL="0" indent="0" algn="ctr">
              <a:buNone/>
            </a:pPr>
            <a:r>
              <a:rPr lang="en-US" sz="1280" b="1" i="1" dirty="0">
                <a:solidFill>
                  <a:srgbClr val="010A2B"/>
                </a:solidFill>
                <a:latin typeface="Times New Roman" panose="02020603050405020304" pitchFamily="34" charset="0"/>
                <a:ea typeface="Times New Roman" panose="02020603050405020304" pitchFamily="34" charset="-122"/>
                <a:cs typeface="Times New Roman" panose="02020603050405020304" pitchFamily="34" charset="-120"/>
              </a:rPr>
              <a:t>M</a:t>
            </a:r>
            <a:endParaRPr lang="en-US" sz="1280" dirty="0"/>
          </a:p>
        </p:txBody>
      </p:sp>
      <p:sp>
        <p:nvSpPr>
          <p:cNvPr id="171" name="Text 99"/>
          <p:cNvSpPr txBox="1"/>
          <p:nvPr/>
        </p:nvSpPr>
        <p:spPr>
          <a:xfrm>
            <a:off x="11037306" y="2762024"/>
            <a:ext cx="131181" cy="197046"/>
          </a:xfrm>
          <a:prstGeom prst="rect">
            <a:avLst/>
          </a:prstGeom>
          <a:noFill/>
        </p:spPr>
        <p:txBody>
          <a:bodyPr wrap="none" lIns="0" tIns="0" rIns="0" bIns="0" rtlCol="0" anchor="ctr"/>
          <a:lstStyle/>
          <a:p>
            <a:pPr marL="0" indent="0" algn="ctr">
              <a:buNone/>
            </a:pPr>
            <a:r>
              <a:rPr lang="en-US" sz="1280" b="1" i="1" dirty="0">
                <a:solidFill>
                  <a:srgbClr val="00072F"/>
                </a:solidFill>
                <a:latin typeface="Times New Roman" panose="02020603050405020304" pitchFamily="34" charset="0"/>
                <a:ea typeface="Times New Roman" panose="02020603050405020304" pitchFamily="34" charset="-122"/>
                <a:cs typeface="Times New Roman" panose="02020603050405020304" pitchFamily="34" charset="-120"/>
              </a:rPr>
              <a:t>T</a:t>
            </a:r>
            <a:endParaRPr lang="en-US" sz="1280" dirty="0"/>
          </a:p>
        </p:txBody>
      </p:sp>
      <p:sp>
        <p:nvSpPr>
          <p:cNvPr id="172" name="Text 100"/>
          <p:cNvSpPr txBox="1"/>
          <p:nvPr/>
        </p:nvSpPr>
        <p:spPr>
          <a:xfrm>
            <a:off x="1803593" y="3068114"/>
            <a:ext cx="386256" cy="284500"/>
          </a:xfrm>
          <a:prstGeom prst="rect">
            <a:avLst/>
          </a:prstGeom>
          <a:noFill/>
        </p:spPr>
        <p:txBody>
          <a:bodyPr wrap="none" lIns="0" tIns="0" rIns="0" bIns="0" rtlCol="0" anchor="ctr"/>
          <a:lstStyle/>
          <a:p>
            <a:pPr marL="0" indent="0" algn="ctr">
              <a:buNone/>
            </a:pPr>
            <a:r>
              <a:rPr lang="en-US" sz="1480" b="1" dirty="0">
                <a:solidFill>
                  <a:srgbClr val="06194F"/>
                </a:solidFill>
                <a:latin typeface="Arial" panose="020B0604020202020204" pitchFamily="34" charset="0"/>
                <a:ea typeface="黑体" panose="02010609060101010101" pitchFamily="34" charset="-122"/>
                <a:cs typeface="黑体" panose="02010609060101010101" pitchFamily="34" charset="-120"/>
              </a:rPr>
              <a:t>认知</a:t>
            </a:r>
            <a:endParaRPr lang="en-US" sz="1480" dirty="0"/>
          </a:p>
        </p:txBody>
      </p:sp>
      <p:sp>
        <p:nvSpPr>
          <p:cNvPr id="173" name="Text 101"/>
          <p:cNvSpPr txBox="1"/>
          <p:nvPr/>
        </p:nvSpPr>
        <p:spPr>
          <a:xfrm>
            <a:off x="7990983" y="3272174"/>
            <a:ext cx="357105" cy="328227"/>
          </a:xfrm>
          <a:prstGeom prst="rect">
            <a:avLst/>
          </a:prstGeom>
          <a:noFill/>
        </p:spPr>
        <p:txBody>
          <a:bodyPr wrap="none" lIns="0" tIns="0" rIns="0" bIns="0" rtlCol="0" anchor="ctr"/>
          <a:lstStyle/>
          <a:p>
            <a:pPr marL="0" indent="0" algn="ctr">
              <a:buNone/>
            </a:pPr>
            <a:r>
              <a:rPr lang="en-US" sz="2530" b="1" i="1" dirty="0">
                <a:solidFill>
                  <a:srgbClr val="06194F"/>
                </a:solidFill>
                <a:latin typeface="Times New Roman" panose="02020603050405020304" pitchFamily="34" charset="0"/>
                <a:ea typeface="Times New Roman" panose="02020603050405020304" pitchFamily="34" charset="-122"/>
                <a:cs typeface="Times New Roman" panose="02020603050405020304" pitchFamily="34" charset="-120"/>
              </a:rPr>
              <a:t>K</a:t>
            </a:r>
            <a:r>
              <a:rPr lang="en-US" sz="2530" b="1" i="1" dirty="0">
                <a:solidFill>
                  <a:srgbClr val="06194F"/>
                </a:solidFill>
                <a:latin typeface="Times New Roman" panose="02020603050405020304" pitchFamily="34" charset="0"/>
                <a:ea typeface="Times New Roman" panose="02020603050405020304" pitchFamily="34" charset="-122"/>
                <a:cs typeface="Times New Roman" panose="02020603050405020304" pitchFamily="34" charset="-120"/>
              </a:rPr>
              <a:t>₁</a:t>
            </a:r>
            <a:endParaRPr lang="en-US" sz="2530" dirty="0"/>
          </a:p>
        </p:txBody>
      </p:sp>
      <p:sp>
        <p:nvSpPr>
          <p:cNvPr id="174" name="Text 102"/>
          <p:cNvSpPr txBox="1"/>
          <p:nvPr/>
        </p:nvSpPr>
        <p:spPr>
          <a:xfrm>
            <a:off x="10293945" y="3264887"/>
            <a:ext cx="532013" cy="204333"/>
          </a:xfrm>
          <a:prstGeom prst="rect">
            <a:avLst/>
          </a:prstGeom>
          <a:noFill/>
        </p:spPr>
        <p:txBody>
          <a:bodyPr wrap="none" lIns="0" tIns="0" rIns="0" bIns="0" rtlCol="0" anchor="ctr"/>
          <a:lstStyle/>
          <a:p>
            <a:pPr marL="0" indent="0" algn="ctr">
              <a:buNone/>
            </a:pPr>
            <a:r>
              <a:rPr lang="en-US" sz="1000" dirty="0">
                <a:solidFill>
                  <a:srgbClr val="06194F"/>
                </a:solidFill>
                <a:latin typeface="华文中宋" pitchFamily="34" charset="0"/>
                <a:ea typeface="华文中宋" pitchFamily="34" charset="-122"/>
                <a:cs typeface="华文中宋" pitchFamily="34" charset="-120"/>
              </a:rPr>
              <a:t>证据来源</a:t>
            </a:r>
            <a:endParaRPr lang="en-US" sz="1000" dirty="0"/>
          </a:p>
        </p:txBody>
      </p:sp>
      <p:sp>
        <p:nvSpPr>
          <p:cNvPr id="175" name="Text 103"/>
          <p:cNvSpPr txBox="1"/>
          <p:nvPr/>
        </p:nvSpPr>
        <p:spPr>
          <a:xfrm>
            <a:off x="8996707" y="3323189"/>
            <a:ext cx="298802" cy="226197"/>
          </a:xfrm>
          <a:prstGeom prst="rect">
            <a:avLst/>
          </a:prstGeom>
          <a:noFill/>
        </p:spPr>
        <p:txBody>
          <a:bodyPr wrap="none" lIns="0" tIns="0" rIns="0" bIns="0" rtlCol="0" anchor="ctr"/>
          <a:lstStyle/>
          <a:p>
            <a:pPr marL="0" indent="0" algn="ctr">
              <a:buNone/>
            </a:pPr>
            <a:r>
              <a:rPr lang="en-US" sz="1130" b="1" dirty="0">
                <a:solidFill>
                  <a:srgbClr val="014F32"/>
                </a:solidFill>
                <a:latin typeface="Arial" panose="020B0604020202020204" pitchFamily="34" charset="0"/>
                <a:ea typeface="黑体" panose="02010609060101010101" pitchFamily="34" charset="-122"/>
                <a:cs typeface="黑体" panose="02010609060101010101" pitchFamily="34" charset="-120"/>
              </a:rPr>
              <a:t>满足</a:t>
            </a:r>
            <a:endParaRPr lang="en-US" sz="1130" dirty="0"/>
          </a:p>
        </p:txBody>
      </p:sp>
      <p:sp>
        <p:nvSpPr>
          <p:cNvPr id="176" name="Text 104"/>
          <p:cNvSpPr txBox="1"/>
          <p:nvPr/>
        </p:nvSpPr>
        <p:spPr>
          <a:xfrm>
            <a:off x="2882196" y="3673006"/>
            <a:ext cx="954983" cy="240773"/>
          </a:xfrm>
          <a:prstGeom prst="rect">
            <a:avLst/>
          </a:prstGeom>
          <a:noFill/>
        </p:spPr>
        <p:txBody>
          <a:bodyPr wrap="none" lIns="0" tIns="0" rIns="0" bIns="0" rtlCol="0" anchor="ctr"/>
          <a:lstStyle/>
          <a:p>
            <a:pPr marL="0" indent="0" algn="l">
              <a:buNone/>
            </a:pPr>
            <a:r>
              <a:rPr lang="en-US" sz="1080" dirty="0">
                <a:solidFill>
                  <a:srgbClr val="06194F"/>
                </a:solidFill>
                <a:latin typeface="华文中宋" pitchFamily="34" charset="0"/>
                <a:ea typeface="华文中宋" pitchFamily="34" charset="-122"/>
                <a:cs typeface="华文中宋" pitchFamily="34" charset="-120"/>
              </a:rPr>
              <a:t>F：影像所见</a:t>
            </a:r>
            <a:endParaRPr lang="en-US" sz="1080" dirty="0"/>
          </a:p>
        </p:txBody>
      </p:sp>
      <p:sp>
        <p:nvSpPr>
          <p:cNvPr id="177" name="Text 105"/>
          <p:cNvSpPr txBox="1"/>
          <p:nvPr/>
        </p:nvSpPr>
        <p:spPr>
          <a:xfrm>
            <a:off x="2860332" y="3891642"/>
            <a:ext cx="1078876" cy="320939"/>
          </a:xfrm>
          <a:prstGeom prst="rect">
            <a:avLst/>
          </a:prstGeom>
          <a:noFill/>
        </p:spPr>
        <p:txBody>
          <a:bodyPr wrap="none" lIns="0" tIns="0" rIns="0" bIns="0" rtlCol="0" anchor="ctr"/>
          <a:lstStyle/>
          <a:p>
            <a:pPr marL="0" indent="0" algn="l">
              <a:buNone/>
            </a:pPr>
            <a:r>
              <a:rPr lang="en-US" sz="1080" dirty="0">
                <a:solidFill>
                  <a:srgbClr val="06194F"/>
                </a:solidFill>
                <a:latin typeface="华文中宋" pitchFamily="34" charset="0"/>
                <a:ea typeface="华文中宋" pitchFamily="34" charset="-122"/>
                <a:cs typeface="华文中宋" pitchFamily="34" charset="-120"/>
              </a:rPr>
              <a:t>Uq：影像表型</a:t>
            </a:r>
            <a:endParaRPr lang="en-US" sz="1080" dirty="0"/>
          </a:p>
        </p:txBody>
      </p:sp>
      <p:sp>
        <p:nvSpPr>
          <p:cNvPr id="178" name="Text 106"/>
          <p:cNvSpPr txBox="1"/>
          <p:nvPr/>
        </p:nvSpPr>
        <p:spPr>
          <a:xfrm>
            <a:off x="8005558" y="3724021"/>
            <a:ext cx="342529" cy="313651"/>
          </a:xfrm>
          <a:prstGeom prst="rect">
            <a:avLst/>
          </a:prstGeom>
          <a:noFill/>
        </p:spPr>
        <p:txBody>
          <a:bodyPr wrap="none" lIns="0" tIns="0" rIns="0" bIns="0" rtlCol="0" anchor="ctr"/>
          <a:lstStyle/>
          <a:p>
            <a:pPr marL="0" indent="0" algn="ctr">
              <a:buNone/>
            </a:pPr>
            <a:r>
              <a:rPr lang="en-US" sz="2450" b="1" i="1" dirty="0">
                <a:solidFill>
                  <a:srgbClr val="06194F"/>
                </a:solidFill>
                <a:latin typeface="Times New Roman" panose="02020603050405020304" pitchFamily="34" charset="0"/>
                <a:ea typeface="Times New Roman" panose="02020603050405020304" pitchFamily="34" charset="-122"/>
                <a:cs typeface="Times New Roman" panose="02020603050405020304" pitchFamily="34" charset="-120"/>
              </a:rPr>
              <a:t>K</a:t>
            </a:r>
            <a:r>
              <a:rPr lang="en-US" sz="2450" b="1" i="1" dirty="0">
                <a:solidFill>
                  <a:srgbClr val="06194F"/>
                </a:solidFill>
                <a:latin typeface="Times New Roman" panose="02020603050405020304" pitchFamily="34" charset="0"/>
                <a:ea typeface="Times New Roman" panose="02020603050405020304" pitchFamily="34" charset="-122"/>
                <a:cs typeface="Times New Roman" panose="02020603050405020304" pitchFamily="34" charset="-120"/>
              </a:rPr>
              <a:t>₂</a:t>
            </a:r>
            <a:endParaRPr lang="en-US" sz="2450" dirty="0"/>
          </a:p>
        </p:txBody>
      </p:sp>
      <p:sp>
        <p:nvSpPr>
          <p:cNvPr id="179" name="Text 107"/>
          <p:cNvSpPr txBox="1"/>
          <p:nvPr/>
        </p:nvSpPr>
        <p:spPr>
          <a:xfrm>
            <a:off x="8982131" y="3760461"/>
            <a:ext cx="306090" cy="226197"/>
          </a:xfrm>
          <a:prstGeom prst="rect">
            <a:avLst/>
          </a:prstGeom>
          <a:noFill/>
        </p:spPr>
        <p:txBody>
          <a:bodyPr wrap="none" lIns="0" tIns="0" rIns="0" bIns="0" rtlCol="0" anchor="ctr"/>
          <a:lstStyle/>
          <a:p>
            <a:pPr marL="0" indent="0" algn="ctr">
              <a:buNone/>
            </a:pPr>
            <a:r>
              <a:rPr lang="en-US" sz="1110" b="1" dirty="0">
                <a:solidFill>
                  <a:srgbClr val="F04400"/>
                </a:solidFill>
                <a:latin typeface="微软雅黑" panose="020B0503020204020204" pitchFamily="34" charset="-122"/>
                <a:ea typeface="微软雅黑" panose="020B0503020204020204" pitchFamily="34" charset="-122"/>
                <a:cs typeface="微软雅黑" panose="020B0503020204020204" pitchFamily="34" charset="-120"/>
              </a:rPr>
              <a:t>未知</a:t>
            </a:r>
            <a:endParaRPr lang="en-US" sz="1110" dirty="0"/>
          </a:p>
        </p:txBody>
      </p:sp>
      <p:sp>
        <p:nvSpPr>
          <p:cNvPr id="180" name="Text 108"/>
          <p:cNvSpPr txBox="1"/>
          <p:nvPr/>
        </p:nvSpPr>
        <p:spPr>
          <a:xfrm>
            <a:off x="4296040" y="3920794"/>
            <a:ext cx="466696" cy="204333"/>
          </a:xfrm>
          <a:prstGeom prst="rect">
            <a:avLst/>
          </a:prstGeom>
          <a:noFill/>
        </p:spPr>
        <p:txBody>
          <a:bodyPr wrap="none" lIns="0" tIns="0" rIns="0" bIns="0" rtlCol="0" anchor="ctr"/>
          <a:lstStyle/>
          <a:p>
            <a:pPr marL="0" indent="0" algn="l">
              <a:buNone/>
            </a:pPr>
            <a:r>
              <a:rPr lang="en-US" sz="930" b="1" dirty="0">
                <a:solidFill>
                  <a:srgbClr val="071B5E"/>
                </a:solidFill>
                <a:latin typeface="Arial" panose="020B0604020202020204" pitchFamily="34" charset="0"/>
                <a:ea typeface="黑体" panose="02010609060101010101" pitchFamily="34" charset="-122"/>
                <a:cs typeface="黑体" panose="02010609060101010101" pitchFamily="34" charset="-120"/>
              </a:rPr>
              <a:t>关键词</a:t>
            </a:r>
            <a:endParaRPr lang="en-US" sz="930" dirty="0"/>
          </a:p>
        </p:txBody>
      </p:sp>
      <p:sp>
        <p:nvSpPr>
          <p:cNvPr id="181" name="Text 109"/>
          <p:cNvSpPr txBox="1"/>
          <p:nvPr/>
        </p:nvSpPr>
        <p:spPr>
          <a:xfrm>
            <a:off x="6271049" y="4154005"/>
            <a:ext cx="276939" cy="182470"/>
          </a:xfrm>
          <a:prstGeom prst="rect">
            <a:avLst/>
          </a:prstGeom>
          <a:noFill/>
        </p:spPr>
        <p:txBody>
          <a:bodyPr wrap="none" lIns="0" tIns="0" rIns="0" bIns="0" rtlCol="0" anchor="ctr"/>
          <a:lstStyle/>
          <a:p>
            <a:pPr marL="0" indent="0" algn="ctr">
              <a:buNone/>
            </a:pPr>
            <a:r>
              <a:rPr lang="en-US" sz="960" b="1" dirty="0">
                <a:solidFill>
                  <a:srgbClr val="071B5E"/>
                </a:solidFill>
                <a:latin typeface="Times New Roman" panose="02020603050405020304" pitchFamily="34" charset="0"/>
                <a:ea typeface="Times New Roman" panose="02020603050405020304" pitchFamily="34" charset="-122"/>
                <a:cs typeface="Times New Roman" panose="02020603050405020304" pitchFamily="34" charset="-120"/>
              </a:rPr>
              <a:t>NOT</a:t>
            </a:r>
            <a:endParaRPr lang="en-US" sz="960" dirty="0"/>
          </a:p>
        </p:txBody>
      </p:sp>
      <p:sp>
        <p:nvSpPr>
          <p:cNvPr id="182" name="Text 110"/>
          <p:cNvSpPr txBox="1"/>
          <p:nvPr/>
        </p:nvSpPr>
        <p:spPr>
          <a:xfrm>
            <a:off x="4609418" y="3221159"/>
            <a:ext cx="306090" cy="233485"/>
          </a:xfrm>
          <a:prstGeom prst="rect">
            <a:avLst/>
          </a:prstGeom>
          <a:noFill/>
        </p:spPr>
        <p:txBody>
          <a:bodyPr wrap="none" lIns="0" tIns="0" rIns="0" bIns="0" rtlCol="0" anchor="ctr"/>
          <a:lstStyle/>
          <a:p>
            <a:pPr marL="0" indent="0" algn="ctr">
              <a:buNone/>
            </a:pPr>
            <a:r>
              <a:rPr lang="en-US" sz="1180" b="1" dirty="0">
                <a:solidFill>
                  <a:srgbClr val="06194F"/>
                </a:solidFill>
                <a:latin typeface="Arial" panose="020B0604020202020204" pitchFamily="34" charset="0"/>
                <a:ea typeface="黑体" panose="02010609060101010101" pitchFamily="34" charset="-122"/>
                <a:cs typeface="黑体" panose="02010609060101010101" pitchFamily="34" charset="-120"/>
              </a:rPr>
              <a:t>来源</a:t>
            </a:r>
            <a:endParaRPr lang="en-US" sz="1180" dirty="0"/>
          </a:p>
        </p:txBody>
      </p:sp>
      <p:sp>
        <p:nvSpPr>
          <p:cNvPr id="183" name="Text 111"/>
          <p:cNvSpPr txBox="1"/>
          <p:nvPr/>
        </p:nvSpPr>
        <p:spPr>
          <a:xfrm>
            <a:off x="5425657" y="3272174"/>
            <a:ext cx="313378" cy="240773"/>
          </a:xfrm>
          <a:prstGeom prst="rect">
            <a:avLst/>
          </a:prstGeom>
          <a:noFill/>
        </p:spPr>
        <p:txBody>
          <a:bodyPr wrap="none" lIns="0" tIns="0" rIns="0" bIns="0" rtlCol="0" anchor="ctr"/>
          <a:lstStyle/>
          <a:p>
            <a:pPr marL="0" indent="0" algn="ctr">
              <a:buNone/>
            </a:pPr>
            <a:r>
              <a:rPr lang="en-US" sz="1150" b="1" dirty="0">
                <a:solidFill>
                  <a:srgbClr val="06194F"/>
                </a:solidFill>
                <a:latin typeface="Arial" panose="020B0604020202020204" pitchFamily="34" charset="0"/>
                <a:ea typeface="黑体" panose="02010609060101010101" pitchFamily="34" charset="-122"/>
                <a:cs typeface="黑体" panose="02010609060101010101" pitchFamily="34" charset="-120"/>
              </a:rPr>
              <a:t>概念</a:t>
            </a:r>
            <a:endParaRPr lang="en-US" sz="1150" dirty="0"/>
          </a:p>
        </p:txBody>
      </p:sp>
      <p:sp>
        <p:nvSpPr>
          <p:cNvPr id="184" name="Text 112"/>
          <p:cNvSpPr txBox="1"/>
          <p:nvPr/>
        </p:nvSpPr>
        <p:spPr>
          <a:xfrm>
            <a:off x="5491248" y="2477798"/>
            <a:ext cx="189484" cy="211621"/>
          </a:xfrm>
          <a:prstGeom prst="rect">
            <a:avLst/>
          </a:prstGeom>
          <a:noFill/>
        </p:spPr>
        <p:txBody>
          <a:bodyPr wrap="none" lIns="0" tIns="0" rIns="0" bIns="0" rtlCol="0" anchor="ctr"/>
          <a:lstStyle/>
          <a:p>
            <a:pPr marL="0" indent="0" algn="ctr">
              <a:buNone/>
            </a:pPr>
            <a:r>
              <a:rPr lang="en-US" sz="1450" b="1" i="1" dirty="0">
                <a:solidFill>
                  <a:srgbClr val="06194F"/>
                </a:solidFill>
                <a:latin typeface="Times New Roman" panose="02020603050405020304" pitchFamily="34" charset="0"/>
                <a:ea typeface="Times New Roman" panose="02020603050405020304" pitchFamily="34" charset="-122"/>
                <a:cs typeface="Times New Roman" panose="02020603050405020304" pitchFamily="34" charset="-120"/>
              </a:rPr>
              <a:t>X</a:t>
            </a:r>
            <a:endParaRPr lang="en-US" sz="1450" dirty="0"/>
          </a:p>
        </p:txBody>
      </p:sp>
      <p:sp>
        <p:nvSpPr>
          <p:cNvPr id="185" name="Text 113"/>
          <p:cNvSpPr txBox="1"/>
          <p:nvPr/>
        </p:nvSpPr>
        <p:spPr>
          <a:xfrm>
            <a:off x="6701032" y="2492374"/>
            <a:ext cx="174909" cy="218909"/>
          </a:xfrm>
          <a:prstGeom prst="rect">
            <a:avLst/>
          </a:prstGeom>
          <a:noFill/>
        </p:spPr>
        <p:txBody>
          <a:bodyPr wrap="none" lIns="0" tIns="0" rIns="0" bIns="0" rtlCol="0" anchor="ctr"/>
          <a:lstStyle/>
          <a:p>
            <a:pPr marL="0" indent="0" algn="ctr">
              <a:buNone/>
            </a:pPr>
            <a:r>
              <a:rPr lang="en-US" sz="1540" b="1" i="1" dirty="0">
                <a:solidFill>
                  <a:srgbClr val="06194F"/>
                </a:solidFill>
                <a:latin typeface="Times New Roman" panose="02020603050405020304" pitchFamily="34" charset="0"/>
                <a:ea typeface="Times New Roman" panose="02020603050405020304" pitchFamily="34" charset="-122"/>
                <a:cs typeface="Times New Roman" panose="02020603050405020304" pitchFamily="34" charset="-120"/>
              </a:rPr>
              <a:t>D</a:t>
            </a:r>
            <a:endParaRPr lang="en-US" sz="1540" dirty="0"/>
          </a:p>
        </p:txBody>
      </p:sp>
      <p:sp>
        <p:nvSpPr>
          <p:cNvPr id="186" name="Text 114"/>
          <p:cNvSpPr txBox="1"/>
          <p:nvPr/>
        </p:nvSpPr>
        <p:spPr>
          <a:xfrm>
            <a:off x="6227322" y="3323189"/>
            <a:ext cx="502862" cy="211621"/>
          </a:xfrm>
          <a:prstGeom prst="rect">
            <a:avLst/>
          </a:prstGeom>
          <a:noFill/>
        </p:spPr>
        <p:txBody>
          <a:bodyPr wrap="none" lIns="0" tIns="0" rIns="0" bIns="0" rtlCol="0" anchor="ctr"/>
          <a:lstStyle/>
          <a:p>
            <a:pPr marL="0" indent="0" algn="ctr">
              <a:buNone/>
            </a:pPr>
            <a:r>
              <a:rPr lang="en-US" sz="950" b="1" dirty="0">
                <a:solidFill>
                  <a:srgbClr val="004A3B"/>
                </a:solidFill>
                <a:latin typeface="Arial" panose="020B0604020202020204" pitchFamily="34" charset="0"/>
                <a:ea typeface="黑体" panose="02010609060101010101" pitchFamily="34" charset="-122"/>
                <a:cs typeface="黑体" panose="02010609060101010101" pitchFamily="34" charset="-120"/>
              </a:rPr>
              <a:t>结果模式</a:t>
            </a:r>
            <a:endParaRPr lang="en-US" sz="950" dirty="0"/>
          </a:p>
        </p:txBody>
      </p:sp>
      <p:sp>
        <p:nvSpPr>
          <p:cNvPr id="187" name="Text 115"/>
          <p:cNvSpPr txBox="1"/>
          <p:nvPr/>
        </p:nvSpPr>
        <p:spPr>
          <a:xfrm>
            <a:off x="7138304" y="3002524"/>
            <a:ext cx="269651" cy="284500"/>
          </a:xfrm>
          <a:prstGeom prst="rect">
            <a:avLst/>
          </a:prstGeom>
          <a:noFill/>
        </p:spPr>
        <p:txBody>
          <a:bodyPr wrap="none" lIns="0" tIns="0" rIns="0" bIns="0" rtlCol="0" anchor="ctr"/>
          <a:lstStyle/>
          <a:p>
            <a:pPr marL="0" indent="0" algn="ctr">
              <a:buNone/>
            </a:pPr>
            <a:r>
              <a:rPr lang="en-US" sz="1880" b="1" i="1" dirty="0">
                <a:solidFill>
                  <a:srgbClr val="06194F"/>
                </a:solidFill>
                <a:latin typeface="Times New Roman" panose="02020603050405020304" pitchFamily="34" charset="0"/>
                <a:ea typeface="Times New Roman" panose="02020603050405020304" pitchFamily="34" charset="-122"/>
                <a:cs typeface="Times New Roman" panose="02020603050405020304" pitchFamily="34" charset="-120"/>
              </a:rPr>
              <a:t>K</a:t>
            </a:r>
            <a:r>
              <a:rPr lang="en-US" sz="1880" b="1" i="1" dirty="0">
                <a:solidFill>
                  <a:srgbClr val="06194F"/>
                </a:solidFill>
                <a:latin typeface="Times New Roman" panose="02020603050405020304" pitchFamily="34" charset="0"/>
                <a:ea typeface="Times New Roman" panose="02020603050405020304" pitchFamily="34" charset="-122"/>
                <a:cs typeface="Times New Roman" panose="02020603050405020304" pitchFamily="34" charset="-120"/>
              </a:rPr>
              <a:t>₁</a:t>
            </a:r>
            <a:endParaRPr lang="en-US" sz="1880" dirty="0"/>
          </a:p>
        </p:txBody>
      </p:sp>
      <p:sp>
        <p:nvSpPr>
          <p:cNvPr id="188" name="Text 116"/>
          <p:cNvSpPr txBox="1"/>
          <p:nvPr/>
        </p:nvSpPr>
        <p:spPr>
          <a:xfrm>
            <a:off x="7138304" y="3673006"/>
            <a:ext cx="269651" cy="269924"/>
          </a:xfrm>
          <a:prstGeom prst="rect">
            <a:avLst/>
          </a:prstGeom>
          <a:noFill/>
        </p:spPr>
        <p:txBody>
          <a:bodyPr wrap="none" lIns="0" tIns="0" rIns="0" bIns="0" rtlCol="0" anchor="ctr"/>
          <a:lstStyle/>
          <a:p>
            <a:pPr marL="0" indent="0" algn="ctr">
              <a:buNone/>
            </a:pPr>
            <a:r>
              <a:rPr lang="en-US" sz="1880" b="1" i="1" dirty="0">
                <a:solidFill>
                  <a:srgbClr val="06194F"/>
                </a:solidFill>
                <a:latin typeface="Times New Roman" panose="02020603050405020304" pitchFamily="34" charset="0"/>
                <a:ea typeface="Times New Roman" panose="02020603050405020304" pitchFamily="34" charset="-122"/>
                <a:cs typeface="Times New Roman" panose="02020603050405020304" pitchFamily="34" charset="-120"/>
              </a:rPr>
              <a:t>K</a:t>
            </a:r>
            <a:r>
              <a:rPr lang="en-US" sz="1880" b="1" i="1" dirty="0">
                <a:solidFill>
                  <a:srgbClr val="06194F"/>
                </a:solidFill>
                <a:latin typeface="Times New Roman" panose="02020603050405020304" pitchFamily="34" charset="0"/>
                <a:ea typeface="Times New Roman" panose="02020603050405020304" pitchFamily="34" charset="-122"/>
                <a:cs typeface="Times New Roman" panose="02020603050405020304" pitchFamily="34" charset="-120"/>
              </a:rPr>
              <a:t>₂</a:t>
            </a:r>
            <a:endParaRPr lang="en-US" sz="1880" dirty="0"/>
          </a:p>
        </p:txBody>
      </p:sp>
      <p:sp>
        <p:nvSpPr>
          <p:cNvPr id="189" name="Text 117"/>
          <p:cNvSpPr txBox="1"/>
          <p:nvPr/>
        </p:nvSpPr>
        <p:spPr>
          <a:xfrm>
            <a:off x="5083128" y="3935369"/>
            <a:ext cx="306090" cy="218909"/>
          </a:xfrm>
          <a:prstGeom prst="rect">
            <a:avLst/>
          </a:prstGeom>
          <a:noFill/>
        </p:spPr>
        <p:txBody>
          <a:bodyPr wrap="none" lIns="0" tIns="0" rIns="0" bIns="0" rtlCol="0" anchor="ctr"/>
          <a:lstStyle/>
          <a:p>
            <a:pPr marL="0" indent="0" algn="ctr">
              <a:buNone/>
            </a:pPr>
            <a:r>
              <a:rPr lang="en-US" sz="1050" b="1" dirty="0">
                <a:solidFill>
                  <a:srgbClr val="00011E"/>
                </a:solidFill>
                <a:latin typeface="Arial" panose="020B0604020202020204" pitchFamily="34" charset="0"/>
                <a:ea typeface="黑体" panose="02010609060101010101" pitchFamily="34" charset="-122"/>
                <a:cs typeface="黑体" panose="02010609060101010101" pitchFamily="34" charset="-120"/>
              </a:rPr>
              <a:t>条件</a:t>
            </a:r>
            <a:endParaRPr lang="en-US" sz="1050" dirty="0"/>
          </a:p>
        </p:txBody>
      </p:sp>
      <p:sp>
        <p:nvSpPr>
          <p:cNvPr id="190" name="Text 118"/>
          <p:cNvSpPr txBox="1"/>
          <p:nvPr/>
        </p:nvSpPr>
        <p:spPr>
          <a:xfrm>
            <a:off x="7138304" y="4321626"/>
            <a:ext cx="276939" cy="255348"/>
          </a:xfrm>
          <a:prstGeom prst="rect">
            <a:avLst/>
          </a:prstGeom>
          <a:noFill/>
        </p:spPr>
        <p:txBody>
          <a:bodyPr wrap="none" lIns="0" tIns="0" rIns="0" bIns="0" rtlCol="0" anchor="ctr"/>
          <a:lstStyle/>
          <a:p>
            <a:pPr marL="0" indent="0" algn="ctr">
              <a:buNone/>
            </a:pPr>
            <a:r>
              <a:rPr lang="en-US" sz="1880" b="1" i="1" dirty="0">
                <a:solidFill>
                  <a:srgbClr val="00033D"/>
                </a:solidFill>
                <a:latin typeface="Times New Roman" panose="02020603050405020304" pitchFamily="34" charset="0"/>
                <a:ea typeface="Times New Roman" panose="02020603050405020304" pitchFamily="34" charset="-122"/>
                <a:cs typeface="Times New Roman" panose="02020603050405020304" pitchFamily="34" charset="-120"/>
              </a:rPr>
              <a:t>K₃</a:t>
            </a:r>
            <a:endParaRPr lang="en-US" sz="1880" dirty="0"/>
          </a:p>
        </p:txBody>
      </p:sp>
      <p:sp>
        <p:nvSpPr>
          <p:cNvPr id="191" name="Text 119"/>
          <p:cNvSpPr txBox="1"/>
          <p:nvPr/>
        </p:nvSpPr>
        <p:spPr>
          <a:xfrm>
            <a:off x="7983695" y="4219596"/>
            <a:ext cx="430257" cy="320939"/>
          </a:xfrm>
          <a:prstGeom prst="rect">
            <a:avLst/>
          </a:prstGeom>
          <a:noFill/>
        </p:spPr>
        <p:txBody>
          <a:bodyPr wrap="none" lIns="0" tIns="0" rIns="0" bIns="0" rtlCol="0" anchor="ctr"/>
          <a:lstStyle/>
          <a:p>
            <a:pPr marL="0" indent="0" algn="l">
              <a:buNone/>
            </a:pPr>
            <a:r>
              <a:rPr lang="en-US" sz="2450" b="1" i="1" dirty="0">
                <a:solidFill>
                  <a:srgbClr val="00023E"/>
                </a:solidFill>
                <a:latin typeface="Times New Roman" panose="02020603050405020304" pitchFamily="34" charset="0"/>
                <a:ea typeface="Times New Roman" panose="02020603050405020304" pitchFamily="34" charset="-122"/>
                <a:cs typeface="Times New Roman" panose="02020603050405020304" pitchFamily="34" charset="-120"/>
              </a:rPr>
              <a:t>K₃</a:t>
            </a:r>
            <a:endParaRPr lang="en-US" sz="2450" dirty="0"/>
          </a:p>
        </p:txBody>
      </p:sp>
      <p:sp>
        <p:nvSpPr>
          <p:cNvPr id="192" name="Text 120"/>
          <p:cNvSpPr txBox="1"/>
          <p:nvPr/>
        </p:nvSpPr>
        <p:spPr>
          <a:xfrm>
            <a:off x="8952980" y="4219596"/>
            <a:ext cx="349817" cy="269924"/>
          </a:xfrm>
          <a:prstGeom prst="rect">
            <a:avLst/>
          </a:prstGeom>
          <a:noFill/>
        </p:spPr>
        <p:txBody>
          <a:bodyPr wrap="none" lIns="0" tIns="0" rIns="0" bIns="0" rtlCol="0" anchor="ctr"/>
          <a:lstStyle/>
          <a:p>
            <a:pPr marL="0" indent="0" algn="ctr">
              <a:buNone/>
            </a:pPr>
            <a:r>
              <a:rPr lang="en-US" sz="1320" b="1" dirty="0">
                <a:solidFill>
                  <a:srgbClr val="DD0203"/>
                </a:solidFill>
                <a:latin typeface="Arial" panose="020B0604020202020204" pitchFamily="34" charset="0"/>
                <a:ea typeface="黑体" panose="02010609060101010101" pitchFamily="34" charset="-122"/>
                <a:cs typeface="黑体" panose="02010609060101010101" pitchFamily="34" charset="-120"/>
              </a:rPr>
              <a:t>违反</a:t>
            </a:r>
            <a:endParaRPr lang="en-US" sz="1320" dirty="0"/>
          </a:p>
        </p:txBody>
      </p:sp>
      <p:sp>
        <p:nvSpPr>
          <p:cNvPr id="193" name="Text 121"/>
          <p:cNvSpPr txBox="1"/>
          <p:nvPr/>
        </p:nvSpPr>
        <p:spPr>
          <a:xfrm>
            <a:off x="4769750" y="4445519"/>
            <a:ext cx="218636" cy="218909"/>
          </a:xfrm>
          <a:prstGeom prst="rect">
            <a:avLst/>
          </a:prstGeom>
          <a:noFill/>
        </p:spPr>
        <p:txBody>
          <a:bodyPr wrap="none" lIns="0" tIns="0" rIns="0" bIns="0" rtlCol="0" anchor="ctr"/>
          <a:lstStyle/>
          <a:p>
            <a:pPr marL="0" indent="0" algn="ctr">
              <a:buNone/>
            </a:pPr>
            <a:r>
              <a:rPr lang="en-US" sz="1540" b="1" i="1" dirty="0">
                <a:solidFill>
                  <a:srgbClr val="000634"/>
                </a:solidFill>
                <a:latin typeface="Times New Roman" panose="02020603050405020304" pitchFamily="34" charset="0"/>
                <a:ea typeface="Times New Roman" panose="02020603050405020304" pitchFamily="34" charset="-122"/>
                <a:cs typeface="Times New Roman" panose="02020603050405020304" pitchFamily="34" charset="-120"/>
              </a:rPr>
              <a:t>M</a:t>
            </a:r>
            <a:endParaRPr lang="en-US" sz="1540" dirty="0"/>
          </a:p>
        </p:txBody>
      </p:sp>
      <p:sp>
        <p:nvSpPr>
          <p:cNvPr id="194" name="Text 122"/>
          <p:cNvSpPr txBox="1"/>
          <p:nvPr/>
        </p:nvSpPr>
        <p:spPr>
          <a:xfrm>
            <a:off x="1767154" y="4496534"/>
            <a:ext cx="393544" cy="262636"/>
          </a:xfrm>
          <a:prstGeom prst="rect">
            <a:avLst/>
          </a:prstGeom>
          <a:noFill/>
        </p:spPr>
        <p:txBody>
          <a:bodyPr wrap="none" lIns="0" tIns="0" rIns="0" bIns="0" rtlCol="0" anchor="ctr"/>
          <a:lstStyle/>
          <a:p>
            <a:pPr marL="0" indent="0" algn="ctr">
              <a:buNone/>
            </a:pPr>
            <a:r>
              <a:rPr lang="en-US" sz="1420" b="1" dirty="0">
                <a:solidFill>
                  <a:srgbClr val="071B5E"/>
                </a:solidFill>
                <a:latin typeface="Arial" panose="020B0604020202020204" pitchFamily="34" charset="0"/>
                <a:ea typeface="黑体" panose="02010609060101010101" pitchFamily="34" charset="-122"/>
                <a:cs typeface="黑体" panose="02010609060101010101" pitchFamily="34" charset="-120"/>
              </a:rPr>
              <a:t>影像</a:t>
            </a:r>
            <a:endParaRPr lang="en-US" sz="1420" dirty="0"/>
          </a:p>
        </p:txBody>
      </p:sp>
      <p:sp>
        <p:nvSpPr>
          <p:cNvPr id="195" name="Text 123"/>
          <p:cNvSpPr txBox="1"/>
          <p:nvPr/>
        </p:nvSpPr>
        <p:spPr>
          <a:xfrm>
            <a:off x="5505824" y="4496534"/>
            <a:ext cx="160333" cy="218909"/>
          </a:xfrm>
          <a:prstGeom prst="rect">
            <a:avLst/>
          </a:prstGeom>
          <a:noFill/>
        </p:spPr>
        <p:txBody>
          <a:bodyPr wrap="none" lIns="0" tIns="0" rIns="0" bIns="0" rtlCol="0" anchor="ctr"/>
          <a:lstStyle/>
          <a:p>
            <a:pPr marL="0" indent="0" algn="ctr">
              <a:buNone/>
            </a:pPr>
            <a:r>
              <a:rPr lang="en-US" sz="1540" b="1" i="1" dirty="0">
                <a:solidFill>
                  <a:srgbClr val="000432"/>
                </a:solidFill>
                <a:latin typeface="Times New Roman" panose="02020603050405020304" pitchFamily="34" charset="0"/>
                <a:ea typeface="Times New Roman" panose="02020603050405020304" pitchFamily="34" charset="-122"/>
                <a:cs typeface="Times New Roman" panose="02020603050405020304" pitchFamily="34" charset="-120"/>
              </a:rPr>
              <a:t>T</a:t>
            </a:r>
            <a:endParaRPr lang="en-US" sz="1540" dirty="0"/>
          </a:p>
        </p:txBody>
      </p:sp>
      <p:sp>
        <p:nvSpPr>
          <p:cNvPr id="196" name="Text 124"/>
          <p:cNvSpPr txBox="1"/>
          <p:nvPr/>
        </p:nvSpPr>
        <p:spPr>
          <a:xfrm>
            <a:off x="6496972" y="4452807"/>
            <a:ext cx="160333" cy="218909"/>
          </a:xfrm>
          <a:prstGeom prst="rect">
            <a:avLst/>
          </a:prstGeom>
          <a:noFill/>
        </p:spPr>
        <p:txBody>
          <a:bodyPr wrap="none" lIns="0" tIns="0" rIns="0" bIns="0" rtlCol="0" anchor="ctr"/>
          <a:lstStyle/>
          <a:p>
            <a:pPr marL="0" indent="0" algn="ctr">
              <a:buNone/>
            </a:pPr>
            <a:r>
              <a:rPr lang="en-US" sz="1540" b="1" i="1" dirty="0">
                <a:solidFill>
                  <a:srgbClr val="000835"/>
                </a:solidFill>
                <a:latin typeface="Times New Roman" panose="02020603050405020304" pitchFamily="34" charset="0"/>
                <a:ea typeface="Times New Roman" panose="02020603050405020304" pitchFamily="34" charset="-122"/>
                <a:cs typeface="Times New Roman" panose="02020603050405020304" pitchFamily="34" charset="-120"/>
              </a:rPr>
              <a:t>E</a:t>
            </a:r>
            <a:endParaRPr lang="en-US" sz="1540" dirty="0"/>
          </a:p>
        </p:txBody>
      </p:sp>
      <p:sp>
        <p:nvSpPr>
          <p:cNvPr id="197" name="Text 125"/>
          <p:cNvSpPr txBox="1"/>
          <p:nvPr/>
        </p:nvSpPr>
        <p:spPr>
          <a:xfrm>
            <a:off x="2874908" y="4678730"/>
            <a:ext cx="954983" cy="240773"/>
          </a:xfrm>
          <a:prstGeom prst="rect">
            <a:avLst/>
          </a:prstGeom>
          <a:noFill/>
        </p:spPr>
        <p:txBody>
          <a:bodyPr wrap="none" lIns="0" tIns="0" rIns="0" bIns="0" rtlCol="0" anchor="ctr"/>
          <a:lstStyle/>
          <a:p>
            <a:pPr marL="0" indent="0" algn="l">
              <a:buNone/>
            </a:pPr>
            <a:r>
              <a:rPr lang="en-US" sz="1110" dirty="0">
                <a:solidFill>
                  <a:srgbClr val="071B5E"/>
                </a:solidFill>
                <a:latin typeface="宋体" panose="02010600030101010101" pitchFamily="2" charset="-122"/>
                <a:ea typeface="宋体" panose="02010600030101010101" pitchFamily="2" charset="-122"/>
                <a:cs typeface="宋体" panose="02010600030101010101" pitchFamily="34" charset="-120"/>
              </a:rPr>
              <a:t>F：</a:t>
            </a:r>
            <a:r>
              <a:rPr lang="en-US" sz="1110" b="1" dirty="0">
                <a:solidFill>
                  <a:srgbClr val="071B5E"/>
                </a:solidFill>
                <a:latin typeface="宋体" panose="02010600030101010101" pitchFamily="2" charset="-122"/>
                <a:ea typeface="宋体" panose="02010600030101010101" pitchFamily="2" charset="-122"/>
                <a:cs typeface="宋体" panose="02010600030101010101" pitchFamily="34" charset="-120"/>
              </a:rPr>
              <a:t>检验指标</a:t>
            </a:r>
            <a:endParaRPr lang="en-US" sz="1110" dirty="0"/>
          </a:p>
        </p:txBody>
      </p:sp>
      <p:sp>
        <p:nvSpPr>
          <p:cNvPr id="198" name="Text 126"/>
          <p:cNvSpPr txBox="1"/>
          <p:nvPr/>
        </p:nvSpPr>
        <p:spPr>
          <a:xfrm>
            <a:off x="2860332" y="4919230"/>
            <a:ext cx="1078876" cy="291788"/>
          </a:xfrm>
          <a:prstGeom prst="rect">
            <a:avLst/>
          </a:prstGeom>
          <a:noFill/>
        </p:spPr>
        <p:txBody>
          <a:bodyPr wrap="none" lIns="0" tIns="0" rIns="0" bIns="0" rtlCol="0" anchor="ctr"/>
          <a:lstStyle/>
          <a:p>
            <a:pPr marL="0" indent="0" algn="l">
              <a:buNone/>
            </a:pPr>
            <a:r>
              <a:rPr lang="en-US" sz="1110" dirty="0">
                <a:solidFill>
                  <a:srgbClr val="071B5E"/>
                </a:solidFill>
                <a:latin typeface="宋体" panose="02010600030101010101" pitchFamily="2" charset="-122"/>
                <a:ea typeface="宋体" panose="02010600030101010101" pitchFamily="2" charset="-122"/>
                <a:cs typeface="宋体" panose="02010600030101010101" pitchFamily="34" charset="-120"/>
              </a:rPr>
              <a:t>Uq：</a:t>
            </a:r>
            <a:r>
              <a:rPr lang="en-US" sz="1110" b="1" dirty="0">
                <a:solidFill>
                  <a:srgbClr val="071B5E"/>
                </a:solidFill>
                <a:latin typeface="宋体" panose="02010600030101010101" pitchFamily="2" charset="-122"/>
                <a:ea typeface="宋体" panose="02010600030101010101" pitchFamily="2" charset="-122"/>
                <a:cs typeface="宋体" panose="02010600030101010101" pitchFamily="34" charset="-120"/>
              </a:rPr>
              <a:t>鉴别诊断</a:t>
            </a:r>
            <a:endParaRPr lang="en-US" sz="1110" dirty="0"/>
          </a:p>
        </p:txBody>
      </p:sp>
      <p:sp>
        <p:nvSpPr>
          <p:cNvPr id="199" name="Text 127"/>
          <p:cNvSpPr txBox="1"/>
          <p:nvPr/>
        </p:nvSpPr>
        <p:spPr>
          <a:xfrm>
            <a:off x="6096140" y="4860927"/>
            <a:ext cx="910982" cy="211621"/>
          </a:xfrm>
          <a:prstGeom prst="rect">
            <a:avLst/>
          </a:prstGeom>
          <a:noFill/>
        </p:spPr>
        <p:txBody>
          <a:bodyPr wrap="none" lIns="0" tIns="0" rIns="0" bIns="0" rtlCol="0" anchor="ctr"/>
          <a:lstStyle/>
          <a:p>
            <a:pPr marL="0" indent="0" algn="ctr">
              <a:buNone/>
            </a:pPr>
            <a:r>
              <a:rPr lang="en-US" sz="1000" dirty="0">
                <a:solidFill>
                  <a:srgbClr val="071B5E"/>
                </a:solidFill>
                <a:latin typeface="华文中宋" pitchFamily="34" charset="0"/>
                <a:ea typeface="华文中宋" pitchFamily="34" charset="-122"/>
                <a:cs typeface="华文中宋" pitchFamily="34" charset="-120"/>
              </a:rPr>
              <a:t>验证后加入图谱</a:t>
            </a:r>
            <a:endParaRPr lang="en-US" sz="1000" dirty="0"/>
          </a:p>
        </p:txBody>
      </p:sp>
      <p:sp>
        <p:nvSpPr>
          <p:cNvPr id="200" name="Text 128"/>
          <p:cNvSpPr txBox="1"/>
          <p:nvPr/>
        </p:nvSpPr>
        <p:spPr>
          <a:xfrm>
            <a:off x="7867089" y="4737033"/>
            <a:ext cx="896680" cy="299076"/>
          </a:xfrm>
          <a:prstGeom prst="rect">
            <a:avLst/>
          </a:prstGeom>
          <a:noFill/>
        </p:spPr>
        <p:txBody>
          <a:bodyPr wrap="none" lIns="0" tIns="0" rIns="0" bIns="0" rtlCol="0" anchor="ctr"/>
          <a:lstStyle/>
          <a:p>
            <a:pPr marL="0" indent="0" algn="l">
              <a:buNone/>
            </a:pPr>
            <a:r>
              <a:rPr lang="en-US" sz="1600" dirty="0">
                <a:solidFill>
                  <a:srgbClr val="071B5E"/>
                </a:solidFill>
                <a:latin typeface="华文中宋" pitchFamily="34" charset="0"/>
                <a:ea typeface="华文中宋" pitchFamily="34" charset="-122"/>
                <a:cs typeface="华文中宋" pitchFamily="34" charset="-120"/>
              </a:rPr>
              <a:t>知识排序</a:t>
            </a:r>
            <a:endParaRPr lang="en-US" sz="1600" dirty="0"/>
          </a:p>
        </p:txBody>
      </p:sp>
      <p:sp>
        <p:nvSpPr>
          <p:cNvPr id="201" name="Text 129"/>
          <p:cNvSpPr txBox="1"/>
          <p:nvPr/>
        </p:nvSpPr>
        <p:spPr>
          <a:xfrm>
            <a:off x="10286657" y="4678730"/>
            <a:ext cx="364666" cy="277212"/>
          </a:xfrm>
          <a:prstGeom prst="rect">
            <a:avLst/>
          </a:prstGeom>
          <a:noFill/>
        </p:spPr>
        <p:txBody>
          <a:bodyPr wrap="none" lIns="0" tIns="0" rIns="0" bIns="0" rtlCol="0" anchor="ctr"/>
          <a:lstStyle/>
          <a:p>
            <a:pPr marL="0" indent="0" algn="l">
              <a:buNone/>
            </a:pPr>
            <a:r>
              <a:rPr lang="en-US" sz="2050" b="1" i="1" dirty="0">
                <a:solidFill>
                  <a:srgbClr val="4F5E76"/>
                </a:solidFill>
                <a:latin typeface="Times New Roman" panose="02020603050405020304" pitchFamily="34" charset="0"/>
                <a:ea typeface="Times New Roman" panose="02020603050405020304" pitchFamily="34" charset="-122"/>
                <a:cs typeface="Times New Roman" panose="02020603050405020304" pitchFamily="34" charset="-120"/>
              </a:rPr>
              <a:t>K</a:t>
            </a:r>
            <a:endParaRPr lang="en-US" sz="2050" dirty="0"/>
          </a:p>
        </p:txBody>
      </p:sp>
      <p:sp>
        <p:nvSpPr>
          <p:cNvPr id="202" name="Text 130"/>
          <p:cNvSpPr txBox="1"/>
          <p:nvPr/>
        </p:nvSpPr>
        <p:spPr>
          <a:xfrm>
            <a:off x="11306957" y="4693306"/>
            <a:ext cx="473711" cy="204333"/>
          </a:xfrm>
          <a:prstGeom prst="rect">
            <a:avLst/>
          </a:prstGeom>
          <a:noFill/>
        </p:spPr>
        <p:txBody>
          <a:bodyPr wrap="none" lIns="0" tIns="0" rIns="0" bIns="0" rtlCol="0" anchor="ctr"/>
          <a:lstStyle/>
          <a:p>
            <a:pPr marL="0" indent="0" algn="ctr">
              <a:buNone/>
            </a:pPr>
            <a:r>
              <a:rPr lang="en-US" sz="910" dirty="0">
                <a:solidFill>
                  <a:srgbClr val="A33C12"/>
                </a:solidFill>
                <a:latin typeface="华文中宋" pitchFamily="34" charset="0"/>
                <a:ea typeface="华文中宋" pitchFamily="34" charset="-122"/>
                <a:cs typeface="华文中宋" pitchFamily="34" charset="-120"/>
              </a:rPr>
              <a:t>未知条件</a:t>
            </a:r>
            <a:endParaRPr lang="en-US" sz="910" dirty="0"/>
          </a:p>
        </p:txBody>
      </p:sp>
      <p:sp>
        <p:nvSpPr>
          <p:cNvPr id="203" name="Text 131"/>
          <p:cNvSpPr txBox="1"/>
          <p:nvPr/>
        </p:nvSpPr>
        <p:spPr>
          <a:xfrm>
            <a:off x="4179434" y="5072275"/>
            <a:ext cx="889392" cy="299076"/>
          </a:xfrm>
          <a:prstGeom prst="rect">
            <a:avLst/>
          </a:prstGeom>
          <a:noFill/>
        </p:spPr>
        <p:txBody>
          <a:bodyPr wrap="none" lIns="0" tIns="0" rIns="0" bIns="0" rtlCol="0" anchor="ctr"/>
          <a:lstStyle/>
          <a:p>
            <a:pPr marL="0" indent="0" algn="l">
              <a:buNone/>
            </a:pPr>
            <a:r>
              <a:rPr lang="en-US" sz="1570" dirty="0">
                <a:solidFill>
                  <a:srgbClr val="071B5E"/>
                </a:solidFill>
                <a:latin typeface="华文中宋" pitchFamily="34" charset="0"/>
                <a:ea typeface="华文中宋" pitchFamily="34" charset="-122"/>
                <a:cs typeface="华文中宋" pitchFamily="34" charset="-120"/>
              </a:rPr>
              <a:t>连接补查</a:t>
            </a:r>
            <a:endParaRPr lang="en-US" sz="1570" dirty="0"/>
          </a:p>
        </p:txBody>
      </p:sp>
      <p:sp>
        <p:nvSpPr>
          <p:cNvPr id="204" name="Text 132"/>
          <p:cNvSpPr txBox="1"/>
          <p:nvPr/>
        </p:nvSpPr>
        <p:spPr>
          <a:xfrm>
            <a:off x="5724460" y="5341925"/>
            <a:ext cx="845391" cy="240773"/>
          </a:xfrm>
          <a:prstGeom prst="rect">
            <a:avLst/>
          </a:prstGeom>
          <a:noFill/>
        </p:spPr>
        <p:txBody>
          <a:bodyPr wrap="none" lIns="0" tIns="0" rIns="0" bIns="0" rtlCol="0" anchor="ctr"/>
          <a:lstStyle/>
          <a:p>
            <a:pPr marL="0" indent="0" algn="ctr">
              <a:buNone/>
            </a:pPr>
            <a:r>
              <a:rPr lang="en-US" sz="1020" dirty="0">
                <a:solidFill>
                  <a:srgbClr val="071B5E"/>
                </a:solidFill>
                <a:latin typeface="Times New Roman" panose="02020603050405020304" pitchFamily="34" charset="0"/>
                <a:ea typeface="Times New Roman" panose="02020603050405020304" pitchFamily="34" charset="-122"/>
                <a:cs typeface="Times New Roman" panose="02020603050405020304" pitchFamily="34" charset="-120"/>
              </a:rPr>
              <a:t>ComplEx 评分</a:t>
            </a:r>
            <a:endParaRPr lang="en-US" sz="1020" dirty="0"/>
          </a:p>
        </p:txBody>
      </p:sp>
      <p:sp>
        <p:nvSpPr>
          <p:cNvPr id="205" name="Text 133"/>
          <p:cNvSpPr txBox="1"/>
          <p:nvPr/>
        </p:nvSpPr>
        <p:spPr>
          <a:xfrm>
            <a:off x="4689584" y="5451243"/>
            <a:ext cx="211348" cy="226197"/>
          </a:xfrm>
          <a:prstGeom prst="rect">
            <a:avLst/>
          </a:prstGeom>
          <a:noFill/>
        </p:spPr>
        <p:txBody>
          <a:bodyPr wrap="none" lIns="0" tIns="0" rIns="0" bIns="0" rtlCol="0" anchor="ctr"/>
          <a:lstStyle/>
          <a:p>
            <a:pPr marL="0" indent="0" algn="ctr">
              <a:buNone/>
            </a:pPr>
            <a:r>
              <a:rPr lang="en-US" sz="1550" b="1" i="1" dirty="0">
                <a:solidFill>
                  <a:srgbClr val="F04400"/>
                </a:solidFill>
                <a:latin typeface="Times New Roman" panose="02020603050405020304" pitchFamily="34" charset="0"/>
                <a:ea typeface="Times New Roman" panose="02020603050405020304" pitchFamily="34" charset="-122"/>
                <a:cs typeface="Times New Roman" panose="02020603050405020304" pitchFamily="34" charset="-120"/>
              </a:rPr>
              <a:t>r?</a:t>
            </a:r>
            <a:endParaRPr lang="en-US" sz="1550" dirty="0"/>
          </a:p>
        </p:txBody>
      </p:sp>
      <p:sp>
        <p:nvSpPr>
          <p:cNvPr id="206" name="Text 134"/>
          <p:cNvSpPr txBox="1"/>
          <p:nvPr/>
        </p:nvSpPr>
        <p:spPr>
          <a:xfrm>
            <a:off x="6635442" y="5516834"/>
            <a:ext cx="72879" cy="160606"/>
          </a:xfrm>
          <a:prstGeom prst="rect">
            <a:avLst/>
          </a:prstGeom>
          <a:noFill/>
        </p:spPr>
        <p:txBody>
          <a:bodyPr wrap="none" lIns="0" tIns="0" rIns="0" bIns="0" rtlCol="0" anchor="ctr"/>
          <a:lstStyle/>
          <a:p>
            <a:pPr marL="0" indent="0" algn="ctr">
              <a:buNone/>
            </a:pPr>
            <a:r>
              <a:rPr lang="en-US" sz="800" i="1" dirty="0">
                <a:solidFill>
                  <a:srgbClr val="071B5E"/>
                </a:solidFill>
                <a:latin typeface="Times New Roman" panose="02020603050405020304" pitchFamily="34" charset="0"/>
                <a:ea typeface="Times New Roman" panose="02020603050405020304" pitchFamily="34" charset="-122"/>
                <a:cs typeface="Times New Roman" panose="02020603050405020304" pitchFamily="34" charset="-120"/>
              </a:rPr>
              <a:t>d</a:t>
            </a:r>
            <a:endParaRPr lang="en-US" sz="800" dirty="0"/>
          </a:p>
        </p:txBody>
      </p:sp>
      <p:sp>
        <p:nvSpPr>
          <p:cNvPr id="207" name="Text 135"/>
          <p:cNvSpPr txBox="1"/>
          <p:nvPr/>
        </p:nvSpPr>
        <p:spPr>
          <a:xfrm>
            <a:off x="4296040" y="5582425"/>
            <a:ext cx="153045" cy="218909"/>
          </a:xfrm>
          <a:prstGeom prst="rect">
            <a:avLst/>
          </a:prstGeom>
          <a:noFill/>
        </p:spPr>
        <p:txBody>
          <a:bodyPr wrap="none" lIns="0" tIns="0" rIns="0" bIns="0" rtlCol="0" anchor="ctr"/>
          <a:lstStyle/>
          <a:p>
            <a:pPr marL="0" indent="0" algn="ctr">
              <a:buNone/>
            </a:pPr>
            <a:r>
              <a:rPr lang="en-US" sz="1440" i="1" dirty="0">
                <a:solidFill>
                  <a:srgbClr val="00013E"/>
                </a:solidFill>
                <a:latin typeface="Times New Roman" panose="02020603050405020304" pitchFamily="34" charset="0"/>
                <a:ea typeface="Times New Roman" panose="02020603050405020304" pitchFamily="34" charset="-122"/>
                <a:cs typeface="Times New Roman" panose="02020603050405020304" pitchFamily="34" charset="-120"/>
              </a:rPr>
              <a:t>h</a:t>
            </a:r>
            <a:endParaRPr lang="en-US" sz="1440" dirty="0"/>
          </a:p>
        </p:txBody>
      </p:sp>
      <p:sp>
        <p:nvSpPr>
          <p:cNvPr id="208" name="Text 136"/>
          <p:cNvSpPr txBox="1"/>
          <p:nvPr/>
        </p:nvSpPr>
        <p:spPr>
          <a:xfrm>
            <a:off x="5199734" y="5589712"/>
            <a:ext cx="109318" cy="204333"/>
          </a:xfrm>
          <a:prstGeom prst="rect">
            <a:avLst/>
          </a:prstGeom>
          <a:noFill/>
        </p:spPr>
        <p:txBody>
          <a:bodyPr wrap="none" lIns="0" tIns="0" rIns="0" bIns="0" rtlCol="0" anchor="ctr"/>
          <a:lstStyle/>
          <a:p>
            <a:pPr marL="0" indent="0" algn="ctr">
              <a:buNone/>
            </a:pPr>
            <a:r>
              <a:rPr lang="en-US" sz="1590" i="1" dirty="0">
                <a:solidFill>
                  <a:srgbClr val="000137"/>
                </a:solidFill>
                <a:latin typeface="Times New Roman" panose="02020603050405020304" pitchFamily="34" charset="0"/>
                <a:ea typeface="Times New Roman" panose="02020603050405020304" pitchFamily="34" charset="-122"/>
                <a:cs typeface="Times New Roman" panose="02020603050405020304" pitchFamily="34" charset="-120"/>
              </a:rPr>
              <a:t>t</a:t>
            </a:r>
            <a:endParaRPr lang="en-US" sz="1590" dirty="0"/>
          </a:p>
        </p:txBody>
      </p:sp>
      <p:sp>
        <p:nvSpPr>
          <p:cNvPr id="209" name="Text 137"/>
          <p:cNvSpPr txBox="1"/>
          <p:nvPr/>
        </p:nvSpPr>
        <p:spPr>
          <a:xfrm>
            <a:off x="5709884" y="5640727"/>
            <a:ext cx="772513" cy="233485"/>
          </a:xfrm>
          <a:prstGeom prst="rect">
            <a:avLst/>
          </a:prstGeom>
          <a:noFill/>
        </p:spPr>
        <p:txBody>
          <a:bodyPr wrap="none" lIns="0" tIns="0" rIns="0" bIns="0" rtlCol="0" anchor="ctr"/>
          <a:lstStyle/>
          <a:p>
            <a:pPr marL="0" indent="0" algn="ctr">
              <a:buNone/>
            </a:pPr>
            <a:r>
              <a:rPr lang="en-US" sz="1120" i="1" dirty="0">
                <a:solidFill>
                  <a:srgbClr val="071B5E"/>
                </a:solidFill>
                <a:latin typeface="Times New Roman" panose="02020603050405020304" pitchFamily="34" charset="0"/>
                <a:ea typeface="Times New Roman" panose="02020603050405020304" pitchFamily="34" charset="-122"/>
                <a:cs typeface="Times New Roman" panose="02020603050405020304" pitchFamily="34" charset="-120"/>
              </a:rPr>
              <a:t>p(h,r,t)=Re</a:t>
            </a:r>
            <a:endParaRPr lang="en-US" sz="1120" dirty="0"/>
          </a:p>
        </p:txBody>
      </p:sp>
      <p:sp>
        <p:nvSpPr>
          <p:cNvPr id="210" name="Text 138"/>
          <p:cNvSpPr txBox="1"/>
          <p:nvPr/>
        </p:nvSpPr>
        <p:spPr>
          <a:xfrm>
            <a:off x="6781199" y="5691742"/>
            <a:ext cx="429983" cy="218909"/>
          </a:xfrm>
          <a:prstGeom prst="rect">
            <a:avLst/>
          </a:prstGeom>
          <a:noFill/>
        </p:spPr>
        <p:txBody>
          <a:bodyPr wrap="none" lIns="0" tIns="0" rIns="0" bIns="0" rtlCol="0" anchor="ctr"/>
          <a:lstStyle/>
          <a:p>
            <a:pPr marL="0" indent="0" algn="ctr">
              <a:buNone/>
            </a:pPr>
            <a:r>
              <a:rPr lang="en-US" sz="1020" i="1" dirty="0">
                <a:solidFill>
                  <a:srgbClr val="071B5E"/>
                </a:solidFill>
                <a:latin typeface="Times New Roman" panose="02020603050405020304" pitchFamily="34" charset="0"/>
                <a:ea typeface="Times New Roman" panose="02020603050405020304" pitchFamily="34" charset="-122"/>
                <a:cs typeface="Times New Roman" panose="02020603050405020304" pitchFamily="34" charset="-120"/>
              </a:rPr>
              <a:t>Zh,kZrk</a:t>
            </a:r>
            <a:endParaRPr lang="en-US" sz="1020" dirty="0"/>
          </a:p>
        </p:txBody>
      </p:sp>
      <p:sp>
        <p:nvSpPr>
          <p:cNvPr id="211" name="Text 139"/>
          <p:cNvSpPr txBox="1"/>
          <p:nvPr/>
        </p:nvSpPr>
        <p:spPr>
          <a:xfrm>
            <a:off x="6526124" y="5837500"/>
            <a:ext cx="247787" cy="167894"/>
          </a:xfrm>
          <a:prstGeom prst="rect">
            <a:avLst/>
          </a:prstGeom>
          <a:noFill/>
        </p:spPr>
        <p:txBody>
          <a:bodyPr wrap="none" lIns="0" tIns="0" rIns="0" bIns="0" rtlCol="0" anchor="ctr"/>
          <a:lstStyle/>
          <a:p>
            <a:pPr marL="0" indent="0" algn="ctr">
              <a:buNone/>
            </a:pPr>
            <a:r>
              <a:rPr lang="en-US" sz="73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a:t>
            </a:r>
            <a:r>
              <a:rPr lang="en-US" sz="73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k=1</a:t>
            </a:r>
            <a:endParaRPr lang="en-US" sz="730" dirty="0"/>
          </a:p>
        </p:txBody>
      </p:sp>
      <p:sp>
        <p:nvSpPr>
          <p:cNvPr id="212" name="Text 140"/>
          <p:cNvSpPr txBox="1"/>
          <p:nvPr/>
        </p:nvSpPr>
        <p:spPr>
          <a:xfrm>
            <a:off x="8093013" y="5050411"/>
            <a:ext cx="1727495" cy="328227"/>
          </a:xfrm>
          <a:prstGeom prst="rect">
            <a:avLst/>
          </a:prstGeom>
          <a:noFill/>
        </p:spPr>
        <p:txBody>
          <a:bodyPr wrap="none" lIns="0" tIns="0" rIns="0" bIns="0" rtlCol="0" anchor="ctr"/>
          <a:lstStyle/>
          <a:p>
            <a:pPr marL="0" indent="0" algn="l">
              <a:buNone/>
            </a:pP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S</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ᵢ </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 αs</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ᵣₑₗ</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(q, K</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ᵢ</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680" dirty="0"/>
          </a:p>
        </p:txBody>
      </p:sp>
      <p:sp>
        <p:nvSpPr>
          <p:cNvPr id="213" name="Text 141"/>
          <p:cNvSpPr txBox="1"/>
          <p:nvPr/>
        </p:nvSpPr>
        <p:spPr>
          <a:xfrm>
            <a:off x="8552148" y="5371077"/>
            <a:ext cx="1559875" cy="335515"/>
          </a:xfrm>
          <a:prstGeom prst="rect">
            <a:avLst/>
          </a:prstGeom>
          <a:noFill/>
        </p:spPr>
        <p:txBody>
          <a:bodyPr wrap="none" lIns="0" tIns="0" rIns="0" bIns="0" rtlCol="0" anchor="ctr"/>
          <a:lstStyle/>
          <a:p>
            <a:pPr marL="0" indent="0" algn="l">
              <a:buNone/>
            </a:pP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 βs</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ᵤₛₑ</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(U</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q</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 U</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ᵢ</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680" dirty="0"/>
          </a:p>
        </p:txBody>
      </p:sp>
      <p:sp>
        <p:nvSpPr>
          <p:cNvPr id="214" name="Text 142"/>
          <p:cNvSpPr txBox="1"/>
          <p:nvPr/>
        </p:nvSpPr>
        <p:spPr>
          <a:xfrm>
            <a:off x="8559435" y="5684455"/>
            <a:ext cx="1567162" cy="320939"/>
          </a:xfrm>
          <a:prstGeom prst="rect">
            <a:avLst/>
          </a:prstGeom>
          <a:noFill/>
        </p:spPr>
        <p:txBody>
          <a:bodyPr wrap="none" lIns="0" tIns="0" rIns="0" bIns="0" rtlCol="0" anchor="ctr"/>
          <a:lstStyle/>
          <a:p>
            <a:pPr marL="0" indent="0" algn="l">
              <a:buNone/>
            </a:pP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 γs</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cond</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(F, C</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ᵢ</a:t>
            </a:r>
            <a:r>
              <a:rPr lang="en-US" sz="168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680" dirty="0"/>
          </a:p>
        </p:txBody>
      </p:sp>
      <p:sp>
        <p:nvSpPr>
          <p:cNvPr id="215" name="Text 143"/>
          <p:cNvSpPr txBox="1"/>
          <p:nvPr/>
        </p:nvSpPr>
        <p:spPr>
          <a:xfrm>
            <a:off x="10264794" y="5633440"/>
            <a:ext cx="393544" cy="335515"/>
          </a:xfrm>
          <a:prstGeom prst="rect">
            <a:avLst/>
          </a:prstGeom>
          <a:noFill/>
        </p:spPr>
        <p:txBody>
          <a:bodyPr wrap="none" lIns="0" tIns="0" rIns="0" bIns="0" rtlCol="0" anchor="ctr"/>
          <a:lstStyle/>
          <a:p>
            <a:pPr marL="0" indent="0" algn="ctr">
              <a:buNone/>
            </a:pPr>
            <a:r>
              <a:rPr lang="en-US" sz="2610" b="1" i="1" dirty="0">
                <a:solidFill>
                  <a:srgbClr val="3F4E66"/>
                </a:solidFill>
                <a:latin typeface="Times New Roman" panose="02020603050405020304" pitchFamily="34" charset="0"/>
                <a:ea typeface="Times New Roman" panose="02020603050405020304" pitchFamily="34" charset="-122"/>
                <a:cs typeface="Times New Roman" panose="02020603050405020304" pitchFamily="34" charset="-120"/>
              </a:rPr>
              <a:t>K</a:t>
            </a:r>
            <a:r>
              <a:rPr lang="en-US" sz="2610" b="1" i="1" dirty="0">
                <a:solidFill>
                  <a:srgbClr val="3F4E66"/>
                </a:solidFill>
                <a:latin typeface="Times New Roman" panose="02020603050405020304" pitchFamily="34" charset="0"/>
                <a:ea typeface="Times New Roman" panose="02020603050405020304" pitchFamily="34" charset="-122"/>
                <a:cs typeface="Times New Roman" panose="02020603050405020304" pitchFamily="34" charset="-120"/>
              </a:rPr>
              <a:t>₃</a:t>
            </a:r>
            <a:endParaRPr lang="en-US" sz="2610" dirty="0"/>
          </a:p>
        </p:txBody>
      </p:sp>
      <p:sp>
        <p:nvSpPr>
          <p:cNvPr id="216" name="Text 144"/>
          <p:cNvSpPr txBox="1"/>
          <p:nvPr/>
        </p:nvSpPr>
        <p:spPr>
          <a:xfrm>
            <a:off x="11321533" y="5640727"/>
            <a:ext cx="480998" cy="233485"/>
          </a:xfrm>
          <a:prstGeom prst="rect">
            <a:avLst/>
          </a:prstGeom>
          <a:noFill/>
        </p:spPr>
        <p:txBody>
          <a:bodyPr wrap="none" lIns="0" tIns="0" rIns="0" bIns="0" rtlCol="0" anchor="ctr"/>
          <a:lstStyle/>
          <a:p>
            <a:pPr marL="0" indent="0" algn="ctr">
              <a:buNone/>
            </a:pPr>
            <a:r>
              <a:rPr lang="en-US" sz="930" dirty="0">
                <a:solidFill>
                  <a:srgbClr val="A32229"/>
                </a:solidFill>
                <a:latin typeface="华文中宋" pitchFamily="34" charset="0"/>
                <a:ea typeface="华文中宋" pitchFamily="34" charset="-122"/>
                <a:cs typeface="华文中宋" pitchFamily="34" charset="-120"/>
              </a:rPr>
              <a:t>违反条件</a:t>
            </a:r>
            <a:endParaRPr lang="en-US" sz="930" dirty="0"/>
          </a:p>
        </p:txBody>
      </p:sp>
      <p:sp>
        <p:nvSpPr>
          <p:cNvPr id="217" name="Text 145"/>
          <p:cNvSpPr txBox="1"/>
          <p:nvPr/>
        </p:nvSpPr>
        <p:spPr>
          <a:xfrm>
            <a:off x="1759866" y="5895802"/>
            <a:ext cx="386256" cy="277212"/>
          </a:xfrm>
          <a:prstGeom prst="rect">
            <a:avLst/>
          </a:prstGeom>
          <a:noFill/>
        </p:spPr>
        <p:txBody>
          <a:bodyPr wrap="none" lIns="0" tIns="0" rIns="0" bIns="0" rtlCol="0" anchor="ctr"/>
          <a:lstStyle/>
          <a:p>
            <a:pPr marL="0" indent="0" algn="ctr">
              <a:buNone/>
            </a:pPr>
            <a:r>
              <a:rPr lang="en-US" sz="1420" b="1" dirty="0">
                <a:solidFill>
                  <a:srgbClr val="07194F"/>
                </a:solidFill>
                <a:latin typeface="Arial" panose="020B0604020202020204" pitchFamily="34" charset="0"/>
                <a:ea typeface="黑体" panose="02010609060101010101" pitchFamily="34" charset="-122"/>
                <a:cs typeface="黑体" panose="02010609060101010101" pitchFamily="34" charset="-120"/>
              </a:rPr>
              <a:t>检验</a:t>
            </a:r>
            <a:endParaRPr lang="en-US" sz="1420" dirty="0"/>
          </a:p>
        </p:txBody>
      </p:sp>
      <p:sp>
        <p:nvSpPr>
          <p:cNvPr id="218" name="Text 146"/>
          <p:cNvSpPr txBox="1"/>
          <p:nvPr/>
        </p:nvSpPr>
        <p:spPr>
          <a:xfrm>
            <a:off x="10366824" y="6099862"/>
            <a:ext cx="763974" cy="182470"/>
          </a:xfrm>
          <a:prstGeom prst="rect">
            <a:avLst/>
          </a:prstGeom>
          <a:noFill/>
        </p:spPr>
        <p:txBody>
          <a:bodyPr wrap="none" lIns="0" tIns="0" rIns="0" bIns="0" rtlCol="0" anchor="ctr"/>
          <a:lstStyle/>
          <a:p>
            <a:pPr marL="0" indent="0" algn="ctr">
              <a:buNone/>
            </a:pPr>
            <a:r>
              <a:rPr lang="en-US" sz="1110" b="1" i="1" kern="0" spc="1310" dirty="0">
                <a:solidFill>
                  <a:srgbClr val="55657E"/>
                </a:solidFill>
                <a:latin typeface="Times New Roman" panose="02020603050405020304" pitchFamily="34" charset="0"/>
                <a:ea typeface="Times New Roman" panose="02020603050405020304" pitchFamily="34" charset="-122"/>
                <a:cs typeface="Times New Roman" panose="02020603050405020304" pitchFamily="34" charset="-120"/>
              </a:rPr>
              <a:t>X D</a:t>
            </a:r>
            <a:endParaRPr lang="en-US" sz="1110" dirty="0"/>
          </a:p>
        </p:txBody>
      </p:sp>
      <p:sp>
        <p:nvSpPr>
          <p:cNvPr id="219" name="Text 147"/>
          <p:cNvSpPr txBox="1"/>
          <p:nvPr/>
        </p:nvSpPr>
        <p:spPr>
          <a:xfrm>
            <a:off x="4317903" y="6187317"/>
            <a:ext cx="138469" cy="189758"/>
          </a:xfrm>
          <a:prstGeom prst="rect">
            <a:avLst/>
          </a:prstGeom>
          <a:noFill/>
        </p:spPr>
        <p:txBody>
          <a:bodyPr wrap="none" lIns="0" tIns="0" rIns="0" bIns="0" rtlCol="0" anchor="ctr"/>
          <a:lstStyle/>
          <a:p>
            <a:pPr marL="0" indent="0" algn="ctr">
              <a:buNone/>
            </a:pPr>
            <a:r>
              <a:rPr lang="en-US" sz="114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h</a:t>
            </a:r>
            <a:endParaRPr lang="en-US" sz="1140" dirty="0"/>
          </a:p>
        </p:txBody>
      </p:sp>
      <p:sp>
        <p:nvSpPr>
          <p:cNvPr id="220" name="Text 148"/>
          <p:cNvSpPr txBox="1"/>
          <p:nvPr/>
        </p:nvSpPr>
        <p:spPr>
          <a:xfrm>
            <a:off x="7947255" y="6180029"/>
            <a:ext cx="400832" cy="211621"/>
          </a:xfrm>
          <a:prstGeom prst="rect">
            <a:avLst/>
          </a:prstGeom>
          <a:noFill/>
        </p:spPr>
        <p:txBody>
          <a:bodyPr wrap="none" lIns="0" tIns="0" rIns="0" bIns="0" rtlCol="0" anchor="ctr"/>
          <a:lstStyle/>
          <a:p>
            <a:pPr marL="0" indent="0" algn="ctr">
              <a:buNone/>
            </a:pPr>
            <a:r>
              <a:rPr lang="en-US" sz="1010" b="1" dirty="0">
                <a:solidFill>
                  <a:srgbClr val="07194F"/>
                </a:solidFill>
                <a:latin typeface="Arial" panose="020B0604020202020204" pitchFamily="34" charset="0"/>
                <a:ea typeface="黑体" panose="02010609060101010101" pitchFamily="34" charset="-122"/>
                <a:cs typeface="黑体" panose="02010609060101010101" pitchFamily="34" charset="-120"/>
              </a:rPr>
              <a:t>相关性</a:t>
            </a:r>
            <a:endParaRPr lang="en-US" sz="1010" dirty="0"/>
          </a:p>
        </p:txBody>
      </p:sp>
      <p:sp>
        <p:nvSpPr>
          <p:cNvPr id="221" name="Text 149"/>
          <p:cNvSpPr txBox="1"/>
          <p:nvPr/>
        </p:nvSpPr>
        <p:spPr>
          <a:xfrm>
            <a:off x="8654177" y="6180029"/>
            <a:ext cx="495574" cy="211621"/>
          </a:xfrm>
          <a:prstGeom prst="rect">
            <a:avLst/>
          </a:prstGeom>
          <a:noFill/>
        </p:spPr>
        <p:txBody>
          <a:bodyPr wrap="none" lIns="0" tIns="0" rIns="0" bIns="0" rtlCol="0" anchor="ctr"/>
          <a:lstStyle/>
          <a:p>
            <a:pPr marL="0" indent="0" algn="ctr">
              <a:buNone/>
            </a:pPr>
            <a:r>
              <a:rPr lang="en-US" sz="950" dirty="0">
                <a:solidFill>
                  <a:srgbClr val="092641"/>
                </a:solidFill>
                <a:latin typeface="华文中宋" pitchFamily="34" charset="0"/>
                <a:ea typeface="华文中宋" pitchFamily="34" charset="-122"/>
                <a:cs typeface="华文中宋" pitchFamily="34" charset="-120"/>
              </a:rPr>
              <a:t>诊断用途</a:t>
            </a:r>
            <a:endParaRPr lang="en-US" sz="950" dirty="0"/>
          </a:p>
        </p:txBody>
      </p:sp>
      <p:sp>
        <p:nvSpPr>
          <p:cNvPr id="222" name="Text 150"/>
          <p:cNvSpPr txBox="1"/>
          <p:nvPr/>
        </p:nvSpPr>
        <p:spPr>
          <a:xfrm>
            <a:off x="9390251" y="6180029"/>
            <a:ext cx="480998" cy="218909"/>
          </a:xfrm>
          <a:prstGeom prst="rect">
            <a:avLst/>
          </a:prstGeom>
          <a:noFill/>
        </p:spPr>
        <p:txBody>
          <a:bodyPr wrap="none" lIns="0" tIns="0" rIns="0" bIns="0" rtlCol="0" anchor="ctr"/>
          <a:lstStyle/>
          <a:p>
            <a:pPr marL="0" indent="0" algn="ctr">
              <a:buNone/>
            </a:pPr>
            <a:r>
              <a:rPr lang="en-US" sz="910" b="1" dirty="0">
                <a:solidFill>
                  <a:srgbClr val="0D1636"/>
                </a:solidFill>
                <a:latin typeface="Arial" panose="020B0604020202020204" pitchFamily="34" charset="0"/>
                <a:ea typeface="黑体" panose="02010609060101010101" pitchFamily="34" charset="-122"/>
                <a:cs typeface="黑体" panose="02010609060101010101" pitchFamily="34" charset="-120"/>
              </a:rPr>
              <a:t>条件匹配</a:t>
            </a:r>
            <a:endParaRPr lang="en-US" sz="910" dirty="0"/>
          </a:p>
        </p:txBody>
      </p:sp>
      <p:sp>
        <p:nvSpPr>
          <p:cNvPr id="223" name="Text 151"/>
          <p:cNvSpPr txBox="1"/>
          <p:nvPr/>
        </p:nvSpPr>
        <p:spPr>
          <a:xfrm>
            <a:off x="4485524" y="6391377"/>
            <a:ext cx="386256" cy="197046"/>
          </a:xfrm>
          <a:prstGeom prst="rect">
            <a:avLst/>
          </a:prstGeom>
          <a:noFill/>
        </p:spPr>
        <p:txBody>
          <a:bodyPr wrap="none" lIns="0" tIns="0" rIns="0" bIns="0" rtlCol="0" anchor="ctr"/>
          <a:lstStyle/>
          <a:p>
            <a:pPr marL="0" indent="0" algn="ctr">
              <a:buNone/>
            </a:pPr>
            <a:r>
              <a:rPr lang="en-US" sz="870" b="1" dirty="0">
                <a:solidFill>
                  <a:srgbClr val="07194F"/>
                </a:solidFill>
                <a:latin typeface="Arial" panose="020B0604020202020204" pitchFamily="34" charset="0"/>
                <a:ea typeface="黑体" panose="02010609060101010101" pitchFamily="34" charset="-122"/>
                <a:cs typeface="黑体" panose="02010609060101010101" pitchFamily="34" charset="-120"/>
              </a:rPr>
              <a:t>候选边</a:t>
            </a:r>
            <a:endParaRPr lang="en-US" sz="870" dirty="0"/>
          </a:p>
        </p:txBody>
      </p:sp>
      <p:sp>
        <p:nvSpPr>
          <p:cNvPr id="224" name="Text 152"/>
          <p:cNvSpPr txBox="1"/>
          <p:nvPr/>
        </p:nvSpPr>
        <p:spPr>
          <a:xfrm>
            <a:off x="5513112" y="6449679"/>
            <a:ext cx="466423" cy="189758"/>
          </a:xfrm>
          <a:prstGeom prst="rect">
            <a:avLst/>
          </a:prstGeom>
          <a:noFill/>
        </p:spPr>
        <p:txBody>
          <a:bodyPr wrap="none" lIns="0" tIns="0" rIns="0" bIns="0" rtlCol="0" anchor="ctr"/>
          <a:lstStyle/>
          <a:p>
            <a:pPr marL="0" indent="0" algn="ctr">
              <a:buNone/>
            </a:pPr>
            <a:r>
              <a:rPr lang="en-US" sz="840" dirty="0">
                <a:solidFill>
                  <a:srgbClr val="07194F"/>
                </a:solidFill>
                <a:latin typeface="华文中宋" pitchFamily="34" charset="0"/>
                <a:ea typeface="华文中宋" pitchFamily="34" charset="-122"/>
                <a:cs typeface="华文中宋" pitchFamily="34" charset="-120"/>
              </a:rPr>
              <a:t>来源文献</a:t>
            </a:r>
            <a:endParaRPr lang="en-US" sz="840" dirty="0"/>
          </a:p>
        </p:txBody>
      </p:sp>
      <p:sp>
        <p:nvSpPr>
          <p:cNvPr id="225" name="Text 153"/>
          <p:cNvSpPr txBox="1"/>
          <p:nvPr/>
        </p:nvSpPr>
        <p:spPr>
          <a:xfrm>
            <a:off x="6409518" y="6405952"/>
            <a:ext cx="502862" cy="204333"/>
          </a:xfrm>
          <a:prstGeom prst="rect">
            <a:avLst/>
          </a:prstGeom>
          <a:noFill/>
        </p:spPr>
        <p:txBody>
          <a:bodyPr wrap="none" lIns="0" tIns="0" rIns="0" bIns="0" rtlCol="0" anchor="ctr"/>
          <a:lstStyle/>
          <a:p>
            <a:pPr marL="0" indent="0" algn="ctr">
              <a:buNone/>
            </a:pPr>
            <a:r>
              <a:rPr lang="en-US" sz="930" b="1" dirty="0">
                <a:solidFill>
                  <a:srgbClr val="07194F"/>
                </a:solidFill>
                <a:latin typeface="Arial" panose="020B0604020202020204" pitchFamily="34" charset="0"/>
                <a:ea typeface="黑体" panose="02010609060101010101" pitchFamily="34" charset="-122"/>
                <a:cs typeface="黑体" panose="02010609060101010101" pitchFamily="34" charset="-120"/>
              </a:rPr>
              <a:t>原文核验</a:t>
            </a:r>
            <a:endParaRPr lang="en-US" sz="930" dirty="0"/>
          </a:p>
        </p:txBody>
      </p:sp>
      <p:sp>
        <p:nvSpPr>
          <p:cNvPr id="226" name="Text 154"/>
          <p:cNvSpPr txBox="1"/>
          <p:nvPr/>
        </p:nvSpPr>
        <p:spPr>
          <a:xfrm>
            <a:off x="11474578" y="2973372"/>
            <a:ext cx="131181" cy="189758"/>
          </a:xfrm>
          <a:prstGeom prst="rect">
            <a:avLst/>
          </a:prstGeom>
          <a:noFill/>
        </p:spPr>
        <p:txBody>
          <a:bodyPr wrap="none" lIns="0" tIns="0" rIns="0" bIns="0" rtlCol="0" anchor="ctr"/>
          <a:lstStyle/>
          <a:p>
            <a:pPr marL="0" indent="0" algn="ctr">
              <a:buNone/>
            </a:pPr>
            <a:r>
              <a:rPr lang="en-US" sz="1200" b="1" i="1" dirty="0">
                <a:solidFill>
                  <a:srgbClr val="07194F"/>
                </a:solidFill>
                <a:latin typeface="Times New Roman" panose="02020603050405020304" pitchFamily="34" charset="0"/>
                <a:ea typeface="Times New Roman" panose="02020603050405020304" pitchFamily="34" charset="-122"/>
                <a:cs typeface="Times New Roman" panose="02020603050405020304" pitchFamily="34" charset="-120"/>
              </a:rPr>
              <a:t>E</a:t>
            </a:r>
            <a:endParaRPr lang="en-US" sz="1200" dirty="0"/>
          </a:p>
        </p:txBody>
      </p:sp>
      <p:sp>
        <p:nvSpPr>
          <p:cNvPr id="227" name="Text 155"/>
          <p:cNvSpPr txBox="1"/>
          <p:nvPr/>
        </p:nvSpPr>
        <p:spPr>
          <a:xfrm>
            <a:off x="10366824" y="5130578"/>
            <a:ext cx="619526" cy="189758"/>
          </a:xfrm>
          <a:prstGeom prst="rect">
            <a:avLst/>
          </a:prstGeom>
          <a:noFill/>
        </p:spPr>
        <p:txBody>
          <a:bodyPr wrap="none" lIns="0" tIns="0" rIns="0" bIns="0" rtlCol="0" anchor="ctr"/>
          <a:lstStyle/>
          <a:p>
            <a:pPr marL="0" indent="0" algn="ctr">
              <a:buNone/>
            </a:pPr>
            <a:r>
              <a:rPr lang="en-US" sz="1200" b="1" i="1" kern="0" spc="230" dirty="0">
                <a:solidFill>
                  <a:srgbClr val="5C6B85"/>
                </a:solidFill>
                <a:latin typeface="Times New Roman" panose="02020603050405020304" pitchFamily="34" charset="0"/>
                <a:ea typeface="Times New Roman" panose="02020603050405020304" pitchFamily="34" charset="-122"/>
                <a:cs typeface="Times New Roman" panose="02020603050405020304" pitchFamily="34" charset="-120"/>
              </a:rPr>
              <a:t>X → D</a:t>
            </a:r>
            <a:endParaRPr lang="en-US" sz="1200" dirty="0"/>
          </a:p>
        </p:txBody>
      </p:sp>
      <p:sp>
        <p:nvSpPr>
          <p:cNvPr id="228" name="Text 156"/>
          <p:cNvSpPr txBox="1"/>
          <p:nvPr/>
        </p:nvSpPr>
        <p:spPr>
          <a:xfrm>
            <a:off x="178402" y="3600128"/>
            <a:ext cx="386256" cy="284500"/>
          </a:xfrm>
          <a:prstGeom prst="rect">
            <a:avLst/>
          </a:prstGeom>
          <a:noFill/>
        </p:spPr>
        <p:txBody>
          <a:bodyPr wrap="none" lIns="0" tIns="0" rIns="0" bIns="0" rtlCol="0" anchor="ctr"/>
          <a:lstStyle/>
          <a:p>
            <a:pPr marL="0" indent="0" algn="ctr">
              <a:buNone/>
            </a:pPr>
            <a:r>
              <a:rPr lang="en-US" sz="1430" b="1" dirty="0">
                <a:solidFill>
                  <a:srgbClr val="07194F"/>
                </a:solidFill>
                <a:latin typeface="Arial" panose="020B0604020202020204" pitchFamily="34" charset="0"/>
                <a:ea typeface="黑体" panose="02010609060101010101" pitchFamily="34" charset="-122"/>
                <a:cs typeface="黑体" panose="02010609060101010101" pitchFamily="34" charset="-120"/>
              </a:rPr>
              <a:t>影像</a:t>
            </a:r>
            <a:endParaRPr lang="en-US" sz="1430" dirty="0"/>
          </a:p>
        </p:txBody>
      </p:sp>
      <p:sp>
        <p:nvSpPr>
          <p:cNvPr id="229" name="Text 157"/>
          <p:cNvSpPr txBox="1"/>
          <p:nvPr/>
        </p:nvSpPr>
        <p:spPr>
          <a:xfrm>
            <a:off x="185689" y="4962957"/>
            <a:ext cx="393544" cy="284500"/>
          </a:xfrm>
          <a:prstGeom prst="rect">
            <a:avLst/>
          </a:prstGeom>
          <a:noFill/>
        </p:spPr>
        <p:txBody>
          <a:bodyPr wrap="none" lIns="0" tIns="0" rIns="0" bIns="0" rtlCol="0" anchor="ctr"/>
          <a:lstStyle/>
          <a:p>
            <a:pPr marL="0" indent="0" algn="ctr">
              <a:buNone/>
            </a:pPr>
            <a:r>
              <a:rPr lang="en-US" sz="1460" b="1" dirty="0">
                <a:solidFill>
                  <a:srgbClr val="07194F"/>
                </a:solidFill>
                <a:latin typeface="Arial" panose="020B0604020202020204" pitchFamily="34" charset="0"/>
                <a:ea typeface="黑体" panose="02010609060101010101" pitchFamily="34" charset="-122"/>
                <a:cs typeface="黑体" panose="02010609060101010101" pitchFamily="34" charset="-120"/>
              </a:rPr>
              <a:t>检验</a:t>
            </a:r>
            <a:endParaRPr lang="en-US" sz="1460" dirty="0"/>
          </a:p>
        </p:txBody>
      </p:sp>
      <p:pic>
        <p:nvPicPr>
          <p:cNvPr id="236" name="图片 235" descr="华科大"/>
          <p:cNvPicPr>
            <a:picLocks noChangeAspect="1"/>
          </p:cNvPicPr>
          <p:nvPr>
            <p:custDataLst>
              <p:tags r:id="rId71"/>
            </p:custDataLst>
          </p:nvPr>
        </p:nvPicPr>
        <p:blipFill>
          <a:blip r:embed="rId72"/>
          <a:stretch>
            <a:fillRect/>
          </a:stretch>
        </p:blipFill>
        <p:spPr>
          <a:xfrm>
            <a:off x="635" y="-97790"/>
            <a:ext cx="2354580" cy="824230"/>
          </a:xfrm>
          <a:prstGeom prst="rect">
            <a:avLst/>
          </a:prstGeom>
        </p:spPr>
      </p:pic>
      <p:pic>
        <p:nvPicPr>
          <p:cNvPr id="237" name="图片 236" descr="华科大"/>
          <p:cNvPicPr>
            <a:picLocks noChangeAspect="1"/>
          </p:cNvPicPr>
          <p:nvPr>
            <p:custDataLst>
              <p:tags r:id="rId73"/>
            </p:custDataLst>
          </p:nvPr>
        </p:nvPicPr>
        <p:blipFill>
          <a:blip r:embed="rId72"/>
          <a:stretch>
            <a:fillRect/>
          </a:stretch>
        </p:blipFill>
        <p:spPr>
          <a:xfrm>
            <a:off x="127635" y="29210"/>
            <a:ext cx="2354580" cy="824230"/>
          </a:xfrm>
          <a:prstGeom prst="rect">
            <a:avLst/>
          </a:prstGeom>
        </p:spPr>
      </p:pic>
      <p:pic>
        <p:nvPicPr>
          <p:cNvPr id="238" name="图片 237"/>
          <p:cNvPicPr>
            <a:picLocks noChangeAspect="1"/>
          </p:cNvPicPr>
          <p:nvPr>
            <p:custDataLst>
              <p:tags r:id="rId74"/>
            </p:custDataLst>
          </p:nvPr>
        </p:nvPicPr>
        <p:blipFill>
          <a:blip r:embed="rId75"/>
          <a:srcRect t="69576" b="21479"/>
          <a:stretch>
            <a:fillRect/>
          </a:stretch>
        </p:blipFill>
        <p:spPr>
          <a:xfrm>
            <a:off x="0" y="-22860"/>
            <a:ext cx="12192000" cy="681355"/>
          </a:xfrm>
          <a:prstGeom prst="rect">
            <a:avLst/>
          </a:prstGeom>
        </p:spPr>
      </p:pic>
      <p:sp>
        <p:nvSpPr>
          <p:cNvPr id="239" name="矩形 238"/>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40" name="图片 239"/>
          <p:cNvPicPr>
            <a:picLocks noChangeAspect="1"/>
          </p:cNvPicPr>
          <p:nvPr>
            <p:custDataLst>
              <p:tags r:id="rId76"/>
            </p:custDataLst>
          </p:nvPr>
        </p:nvPicPr>
        <p:blipFill>
          <a:blip r:embed="rId75"/>
          <a:srcRect t="69576" b="21479"/>
          <a:stretch>
            <a:fillRect/>
          </a:stretch>
        </p:blipFill>
        <p:spPr>
          <a:xfrm>
            <a:off x="0" y="-22860"/>
            <a:ext cx="12192000" cy="681355"/>
          </a:xfrm>
          <a:prstGeom prst="rect">
            <a:avLst/>
          </a:prstGeom>
        </p:spPr>
      </p:pic>
      <p:sp>
        <p:nvSpPr>
          <p:cNvPr id="241" name="矩形 240"/>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42" name="矩形 241"/>
          <p:cNvSpPr/>
          <p:nvPr>
            <p:custDataLst>
              <p:tags r:id="rId77"/>
            </p:custDataLst>
          </p:nvPr>
        </p:nvSpPr>
        <p:spPr>
          <a:xfrm>
            <a:off x="7020589" y="-18300"/>
            <a:ext cx="1859281" cy="676679"/>
          </a:xfrm>
          <a:prstGeom prst="rect">
            <a:avLst/>
          </a:prstGeom>
          <a:solidFill>
            <a:srgbClr val="02549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3" name="文本框 242"/>
          <p:cNvSpPr txBox="1"/>
          <p:nvPr/>
        </p:nvSpPr>
        <p:spPr>
          <a:xfrm>
            <a:off x="2125374" y="67915"/>
            <a:ext cx="16725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研究背景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244" name="文本框 243"/>
          <p:cNvSpPr txBox="1"/>
          <p:nvPr/>
        </p:nvSpPr>
        <p:spPr>
          <a:xfrm>
            <a:off x="3762124" y="80122"/>
            <a:ext cx="178165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研究现状</a:t>
            </a:r>
            <a:endParaRPr lang="zh-CN" altLang="en-US" sz="2400" b="1" dirty="0">
              <a:solidFill>
                <a:schemeClr val="bg1"/>
              </a:solidFill>
            </a:endParaRPr>
          </a:p>
        </p:txBody>
      </p:sp>
      <p:sp>
        <p:nvSpPr>
          <p:cNvPr id="245" name="文本框 244"/>
          <p:cNvSpPr txBox="1"/>
          <p:nvPr/>
        </p:nvSpPr>
        <p:spPr>
          <a:xfrm>
            <a:off x="5394826" y="86984"/>
            <a:ext cx="183705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系统架构</a:t>
            </a:r>
            <a:endParaRPr lang="zh-CN" altLang="en-US" sz="2400" b="1" dirty="0">
              <a:solidFill>
                <a:schemeClr val="bg1"/>
              </a:solidFill>
            </a:endParaRPr>
          </a:p>
        </p:txBody>
      </p:sp>
      <p:sp>
        <p:nvSpPr>
          <p:cNvPr id="246" name="文本框 245"/>
          <p:cNvSpPr txBox="1"/>
          <p:nvPr/>
        </p:nvSpPr>
        <p:spPr>
          <a:xfrm>
            <a:off x="7005125" y="86983"/>
            <a:ext cx="185928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图谱算法</a:t>
            </a:r>
            <a:endParaRPr lang="zh-CN" altLang="en-US" sz="2400" b="1" dirty="0">
              <a:solidFill>
                <a:schemeClr val="bg1"/>
              </a:solidFill>
            </a:endParaRPr>
          </a:p>
        </p:txBody>
      </p:sp>
      <p:sp>
        <p:nvSpPr>
          <p:cNvPr id="247" name="文本框 246"/>
          <p:cNvSpPr txBox="1"/>
          <p:nvPr/>
        </p:nvSpPr>
        <p:spPr>
          <a:xfrm>
            <a:off x="8667692" y="88396"/>
            <a:ext cx="1736725" cy="429895"/>
          </a:xfrm>
          <a:prstGeom prst="rect">
            <a:avLst/>
          </a:prstGeom>
          <a:noFill/>
        </p:spPr>
        <p:txBody>
          <a:bodyPr wrap="square" rtlCol="0">
            <a:spAutoFit/>
          </a:bodyPr>
          <a:lstStyle/>
          <a:p>
            <a:r>
              <a:rPr lang="en-US" altLang="zh-CN" sz="2200" b="1" dirty="0">
                <a:solidFill>
                  <a:schemeClr val="bg1"/>
                </a:solidFill>
                <a:sym typeface="+mn-ea"/>
              </a:rPr>
              <a:t>  </a:t>
            </a:r>
            <a:r>
              <a:rPr lang="zh-CN" altLang="en-US" sz="2200" b="1" dirty="0">
                <a:solidFill>
                  <a:schemeClr val="bg1"/>
                </a:solidFill>
                <a:latin typeface="微软雅黑" panose="020B0503020204020204" pitchFamily="34" charset="-122"/>
                <a:ea typeface="微软雅黑" panose="020B0503020204020204" pitchFamily="34" charset="-122"/>
                <a:sym typeface="+mn-ea"/>
              </a:rPr>
              <a:t>实验设计</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248" name="图片 247" descr="华科大"/>
          <p:cNvPicPr>
            <a:picLocks noChangeAspect="1"/>
          </p:cNvPicPr>
          <p:nvPr>
            <p:custDataLst>
              <p:tags r:id="rId78"/>
            </p:custDataLst>
          </p:nvPr>
        </p:nvPicPr>
        <p:blipFill>
          <a:blip r:embed="rId72"/>
          <a:stretch>
            <a:fillRect/>
          </a:stretch>
        </p:blipFill>
        <p:spPr>
          <a:xfrm>
            <a:off x="-156383" y="-97790"/>
            <a:ext cx="2354580" cy="824230"/>
          </a:xfrm>
          <a:prstGeom prst="rect">
            <a:avLst/>
          </a:prstGeom>
        </p:spPr>
      </p:pic>
      <p:sp>
        <p:nvSpPr>
          <p:cNvPr id="250" name="文本框 249"/>
          <p:cNvSpPr txBox="1"/>
          <p:nvPr/>
        </p:nvSpPr>
        <p:spPr>
          <a:xfrm>
            <a:off x="10176646" y="88234"/>
            <a:ext cx="2015375" cy="460375"/>
          </a:xfrm>
          <a:prstGeom prst="rect">
            <a:avLst/>
          </a:prstGeom>
          <a:noFill/>
        </p:spPr>
        <p:txBody>
          <a:bodyPr wrap="squar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研究</a:t>
            </a:r>
            <a:r>
              <a:rPr lang="zh-CN" altLang="en-US" sz="2400" b="1" dirty="0">
                <a:solidFill>
                  <a:schemeClr val="bg1"/>
                </a:solidFill>
                <a:latin typeface="微软雅黑" panose="020B0503020204020204" pitchFamily="34" charset="-122"/>
                <a:ea typeface="微软雅黑" panose="020B0503020204020204" pitchFamily="34" charset="-122"/>
              </a:rPr>
              <a:t>计划</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3"/>
          <p:cNvPicPr>
            <a:picLocks noChangeAspect="1"/>
          </p:cNvPicPr>
          <p:nvPr/>
        </p:nvPicPr>
        <p:blipFill>
          <a:blip r:embed="rId1"/>
          <a:srcRect l="3256" t="-6868" r="4770" b="-1340"/>
          <a:stretch>
            <a:fillRect/>
          </a:stretch>
        </p:blipFill>
        <p:spPr>
          <a:xfrm>
            <a:off x="9389745" y="6247765"/>
            <a:ext cx="2313940" cy="410210"/>
          </a:xfrm>
          <a:prstGeom prst="rect">
            <a:avLst/>
          </a:prstGeom>
        </p:spPr>
      </p:pic>
      <p:pic>
        <p:nvPicPr>
          <p:cNvPr id="3" name="图片 1" descr="华科大"/>
          <p:cNvPicPr>
            <a:picLocks noChangeAspect="1"/>
          </p:cNvPicPr>
          <p:nvPr>
            <p:custDataLst>
              <p:tags r:id="rId2"/>
            </p:custDataLst>
          </p:nvPr>
        </p:nvPicPr>
        <p:blipFill>
          <a:blip r:embed="rId3"/>
          <a:stretch>
            <a:fillRect/>
          </a:stretch>
        </p:blipFill>
        <p:spPr>
          <a:xfrm>
            <a:off x="635" y="-97790"/>
            <a:ext cx="2354580" cy="824230"/>
          </a:xfrm>
          <a:prstGeom prst="rect">
            <a:avLst/>
          </a:prstGeom>
        </p:spPr>
      </p:pic>
      <p:pic>
        <p:nvPicPr>
          <p:cNvPr id="4" name="图片 2" descr="华科大"/>
          <p:cNvPicPr>
            <a:picLocks noChangeAspect="1"/>
          </p:cNvPicPr>
          <p:nvPr>
            <p:custDataLst>
              <p:tags r:id="rId4"/>
            </p:custDataLst>
          </p:nvPr>
        </p:nvPicPr>
        <p:blipFill>
          <a:blip r:embed="rId3"/>
          <a:stretch>
            <a:fillRect/>
          </a:stretch>
        </p:blipFill>
        <p:spPr>
          <a:xfrm>
            <a:off x="127635" y="29210"/>
            <a:ext cx="2354580" cy="824230"/>
          </a:xfrm>
          <a:prstGeom prst="rect">
            <a:avLst/>
          </a:prstGeom>
        </p:spPr>
      </p:pic>
      <p:pic>
        <p:nvPicPr>
          <p:cNvPr id="5" name="图片 5"/>
          <p:cNvPicPr>
            <a:picLocks noChangeAspect="1"/>
          </p:cNvPicPr>
          <p:nvPr>
            <p:custDataLst>
              <p:tags r:id="rId5"/>
            </p:custDataLst>
          </p:nvPr>
        </p:nvPicPr>
        <p:blipFill>
          <a:blip r:embed="rId6"/>
          <a:srcRect t="69576" b="21479"/>
          <a:stretch>
            <a:fillRect/>
          </a:stretch>
        </p:blipFill>
        <p:spPr>
          <a:xfrm>
            <a:off x="0" y="-22860"/>
            <a:ext cx="12192000" cy="681355"/>
          </a:xfrm>
          <a:prstGeom prst="rect">
            <a:avLst/>
          </a:prstGeom>
        </p:spPr>
      </p:pic>
      <p:sp>
        <p:nvSpPr>
          <p:cNvPr id="6" name="矩形 6"/>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7" name="图片 7"/>
          <p:cNvPicPr>
            <a:picLocks noChangeAspect="1"/>
          </p:cNvPicPr>
          <p:nvPr>
            <p:custDataLst>
              <p:tags r:id="rId7"/>
            </p:custDataLst>
          </p:nvPr>
        </p:nvPicPr>
        <p:blipFill>
          <a:blip r:embed="rId6"/>
          <a:srcRect t="69576" b="21479"/>
          <a:stretch>
            <a:fillRect/>
          </a:stretch>
        </p:blipFill>
        <p:spPr>
          <a:xfrm>
            <a:off x="0" y="-22860"/>
            <a:ext cx="12192000" cy="681355"/>
          </a:xfrm>
          <a:prstGeom prst="rect">
            <a:avLst/>
          </a:prstGeom>
        </p:spPr>
      </p:pic>
      <p:sp>
        <p:nvSpPr>
          <p:cNvPr id="8" name="矩形 10"/>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11"/>
          <p:cNvSpPr/>
          <p:nvPr>
            <p:custDataLst>
              <p:tags r:id="rId8"/>
            </p:custDataLst>
          </p:nvPr>
        </p:nvSpPr>
        <p:spPr>
          <a:xfrm>
            <a:off x="8606184" y="-22745"/>
            <a:ext cx="1859281" cy="676679"/>
          </a:xfrm>
          <a:prstGeom prst="rect">
            <a:avLst/>
          </a:prstGeom>
          <a:solidFill>
            <a:srgbClr val="02549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12"/>
          <p:cNvSpPr txBox="1"/>
          <p:nvPr/>
        </p:nvSpPr>
        <p:spPr>
          <a:xfrm>
            <a:off x="2125374" y="67915"/>
            <a:ext cx="16725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研究背景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1" name="文本框 13"/>
          <p:cNvSpPr txBox="1"/>
          <p:nvPr/>
        </p:nvSpPr>
        <p:spPr>
          <a:xfrm>
            <a:off x="3762124" y="80122"/>
            <a:ext cx="178165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研究现状</a:t>
            </a:r>
            <a:endParaRPr lang="zh-CN" altLang="en-US" sz="2400" b="1" dirty="0">
              <a:solidFill>
                <a:schemeClr val="bg1"/>
              </a:solidFill>
            </a:endParaRPr>
          </a:p>
        </p:txBody>
      </p:sp>
      <p:sp>
        <p:nvSpPr>
          <p:cNvPr id="12" name="文本框 14"/>
          <p:cNvSpPr txBox="1"/>
          <p:nvPr/>
        </p:nvSpPr>
        <p:spPr>
          <a:xfrm>
            <a:off x="5394826" y="86984"/>
            <a:ext cx="183705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系统架构</a:t>
            </a:r>
            <a:endParaRPr lang="zh-CN" altLang="en-US" sz="2400" b="1" dirty="0">
              <a:solidFill>
                <a:schemeClr val="bg1"/>
              </a:solidFill>
            </a:endParaRPr>
          </a:p>
        </p:txBody>
      </p:sp>
      <p:sp>
        <p:nvSpPr>
          <p:cNvPr id="13" name="文本框 15"/>
          <p:cNvSpPr txBox="1"/>
          <p:nvPr/>
        </p:nvSpPr>
        <p:spPr>
          <a:xfrm>
            <a:off x="7005125" y="86983"/>
            <a:ext cx="185928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图谱算法</a:t>
            </a:r>
            <a:endParaRPr lang="zh-CN" altLang="en-US" sz="2400" b="1" dirty="0">
              <a:solidFill>
                <a:schemeClr val="bg1"/>
              </a:solidFill>
            </a:endParaRPr>
          </a:p>
        </p:txBody>
      </p:sp>
      <p:sp>
        <p:nvSpPr>
          <p:cNvPr id="14" name="文本框 16"/>
          <p:cNvSpPr txBox="1"/>
          <p:nvPr/>
        </p:nvSpPr>
        <p:spPr>
          <a:xfrm>
            <a:off x="8667692" y="80141"/>
            <a:ext cx="1736725" cy="46037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实验</a:t>
            </a:r>
            <a:r>
              <a:rPr lang="zh-CN" altLang="en-US" sz="2400" b="1" dirty="0">
                <a:solidFill>
                  <a:schemeClr val="bg1"/>
                </a:solidFill>
                <a:latin typeface="微软雅黑" panose="020B0503020204020204" pitchFamily="34" charset="-122"/>
                <a:ea typeface="微软雅黑" panose="020B0503020204020204" pitchFamily="34" charset="-122"/>
              </a:rPr>
              <a:t>设计</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15" name="图片 17" descr="华科大"/>
          <p:cNvPicPr>
            <a:picLocks noChangeAspect="1"/>
          </p:cNvPicPr>
          <p:nvPr>
            <p:custDataLst>
              <p:tags r:id="rId9"/>
            </p:custDataLst>
          </p:nvPr>
        </p:nvPicPr>
        <p:blipFill>
          <a:blip r:embed="rId3"/>
          <a:stretch>
            <a:fillRect/>
          </a:stretch>
        </p:blipFill>
        <p:spPr>
          <a:xfrm>
            <a:off x="-156383" y="-97790"/>
            <a:ext cx="2354580" cy="824230"/>
          </a:xfrm>
          <a:prstGeom prst="rect">
            <a:avLst/>
          </a:prstGeom>
        </p:spPr>
      </p:pic>
      <p:sp>
        <p:nvSpPr>
          <p:cNvPr id="16" name="文本框 115"/>
          <p:cNvSpPr txBox="1"/>
          <p:nvPr/>
        </p:nvSpPr>
        <p:spPr>
          <a:xfrm>
            <a:off x="10326506" y="69184"/>
            <a:ext cx="2015375" cy="460375"/>
          </a:xfrm>
          <a:prstGeom prst="rect">
            <a:avLst/>
          </a:prstGeom>
          <a:noFill/>
        </p:spPr>
        <p:txBody>
          <a:bodyPr wrap="squar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研究</a:t>
            </a:r>
            <a:r>
              <a:rPr lang="zh-CN" altLang="en-US" sz="2400" b="1" dirty="0">
                <a:solidFill>
                  <a:schemeClr val="bg1"/>
                </a:solidFill>
                <a:latin typeface="微软雅黑" panose="020B0503020204020204" pitchFamily="34" charset="-122"/>
                <a:ea typeface="微软雅黑" panose="020B0503020204020204" pitchFamily="34" charset="-122"/>
              </a:rPr>
              <a:t>计划</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7" name="text-1">
            <a:extLst>
              <a:ext uri="{FF2B5EF4-FFF2-40B4-BE49-F238E27FC236}">
                <a16:creationId xmlns:a16="http://schemas.microsoft.com/office/drawing/2014/main" id="{E5B428A8-2158-453E-AC24-6B04BA8AF744}"/>
              </a:ext>
            </a:extLst>
          </p:cNvPr>
          <p:cNvSpPr>
            <a:spLocks noGrp="1"/>
          </p:cNvSpPr>
          <p:nvPr/>
        </p:nvSpPr>
        <p:spPr>
          <a:xfrm>
            <a:off x="257175" y="895350"/>
            <a:ext cx="11239500" cy="381000"/>
          </a:xfrm>
          <a:prstGeom prst="rect">
            <a:avLst/>
          </a:prstGeom>
          <a:noFill/>
          <a:ln w="0">
            <a:noFill/>
          </a:ln>
        </p:spPr>
        <p:txBody>
          <a:bodyPr wrap="square" lIns="0" tIns="0" rIns="0" bIns="0" anchor="ctr">
            <a:normAutofit fontScale="100000"/>
          </a:bodyPr>
          <a:lstStyle/>
          <a:p>
            <a:pPr algn="l">
              <a:defRPr sz="2175" b="1">
                <a:solidFill>
                  <a:srgbClr val="071A43"/>
                </a:solidFill>
                <a:latin typeface="微软雅黑"/>
                <a:ea typeface="微软雅黑"/>
                <a:cs typeface="微软雅黑"/>
              </a:defRPr>
            </a:pPr>
            <a:r>
              <a:rPr sz="2175" b="1">
                <a:solidFill>
                  <a:srgbClr val="071A43"/>
                </a:solidFill>
                <a:latin typeface="微软雅黑"/>
                <a:ea typeface="微软雅黑"/>
                <a:cs typeface="微软雅黑"/>
              </a:rPr>
              <a:t>实验数据与总体实验</a:t>
            </a:r>
          </a:p>
        </p:txBody>
      </p:sp>
      <p:sp>
        <p:nvSpPr>
          <p:cNvPr id="18" name="surface-2">
            <a:extLst>
              <a:ext uri="{FF2B5EF4-FFF2-40B4-BE49-F238E27FC236}">
                <a16:creationId xmlns:a16="http://schemas.microsoft.com/office/drawing/2014/main" id="{D50385BE-8AE0-475A-97A4-6B9DC80293DE}"/>
              </a:ext>
            </a:extLst>
          </p:cNvPr>
          <p:cNvSpPr>
            <a:spLocks noGrp="1"/>
          </p:cNvSpPr>
          <p:nvPr/>
        </p:nvSpPr>
        <p:spPr>
          <a:xfrm>
            <a:off x="228600" y="1428750"/>
            <a:ext cx="5476875" cy="4591050"/>
          </a:xfrm>
          <a:prstGeom prst="roundRect">
            <a:avLst>
              <a:gd name="adj" fmla="val 2075"/>
            </a:avLst>
          </a:prstGeom>
          <a:solidFill>
            <a:srgbClr val="FEFEFE"/>
          </a:solidFill>
          <a:ln w="12383">
            <a:solidFill>
              <a:srgbClr val="B9D9F0"/>
            </a:solidFill>
          </a:ln>
        </p:spPr>
      </p:sp>
      <p:sp>
        <p:nvSpPr>
          <p:cNvPr id="19" name="surface-3">
            <a:extLst>
              <a:ext uri="{FF2B5EF4-FFF2-40B4-BE49-F238E27FC236}">
                <a16:creationId xmlns:a16="http://schemas.microsoft.com/office/drawing/2014/main" id="{63279C0B-8DCB-40F5-B680-A3710F58EF28}"/>
              </a:ext>
            </a:extLst>
          </p:cNvPr>
          <p:cNvSpPr>
            <a:spLocks noGrp="1"/>
          </p:cNvSpPr>
          <p:nvPr/>
        </p:nvSpPr>
        <p:spPr>
          <a:xfrm>
            <a:off x="238125" y="1438275"/>
            <a:ext cx="5457825" cy="476250"/>
          </a:xfrm>
          <a:prstGeom prst="roundRect">
            <a:avLst>
              <a:gd name="adj" fmla="val 16000"/>
            </a:avLst>
          </a:prstGeom>
          <a:solidFill>
            <a:srgbClr val="EDF5FB"/>
          </a:solidFill>
          <a:ln w="12383">
            <a:solidFill>
              <a:srgbClr val="EDF5FB"/>
            </a:solidFill>
          </a:ln>
        </p:spPr>
      </p:sp>
      <p:pic>
        <p:nvPicPr>
          <p:cNvPr id="20" name="Image 2" descr="image"/>
          <p:cNvPicPr>
            <a:picLocks noChangeAspect="1"/>
          </p:cNvPicPr>
          <p:nvPr/>
        </p:nvPicPr>
        <p:blipFill>
          <a:blip r:embed="rIdBadge"/>
          <a:stretch>
            <a:fillRect/>
          </a:stretch>
        </p:blipFill>
        <p:spPr>
          <a:xfrm>
            <a:off x="228600" y="1428750"/>
            <a:ext cx="609600" cy="495300"/>
          </a:xfrm>
          <a:prstGeom prst="rect">
            <a:avLst/>
          </a:prstGeom>
        </p:spPr>
      </p:pic>
      <p:sp>
        <p:nvSpPr>
          <p:cNvPr id="21" name="text-4">
            <a:extLst>
              <a:ext uri="{FF2B5EF4-FFF2-40B4-BE49-F238E27FC236}">
                <a16:creationId xmlns:a16="http://schemas.microsoft.com/office/drawing/2014/main" id="{ACC9FBD0-EC0F-4B0E-8AB2-CF82E76395E6}"/>
              </a:ext>
            </a:extLst>
          </p:cNvPr>
          <p:cNvSpPr>
            <a:spLocks noGrp="1"/>
          </p:cNvSpPr>
          <p:nvPr/>
        </p:nvSpPr>
        <p:spPr>
          <a:xfrm>
            <a:off x="371475" y="1495425"/>
            <a:ext cx="438150" cy="323850"/>
          </a:xfrm>
          <a:prstGeom prst="rect">
            <a:avLst/>
          </a:prstGeom>
          <a:noFill/>
          <a:ln w="0">
            <a:noFill/>
          </a:ln>
        </p:spPr>
        <p:txBody>
          <a:bodyPr wrap="square" lIns="0" tIns="0" rIns="0" bIns="0" anchor="ctr">
            <a:normAutofit fontScale="97701"/>
          </a:bodyPr>
          <a:lstStyle/>
          <a:p>
            <a:pPr algn="ctr">
              <a:defRPr sz="2175" b="1">
                <a:solidFill>
                  <a:srgbClr val="FFFFFF"/>
                </a:solidFill>
                <a:latin typeface="微软雅黑"/>
                <a:ea typeface="微软雅黑"/>
                <a:cs typeface="微软雅黑"/>
              </a:defRPr>
            </a:pPr>
            <a:r>
              <a:rPr sz="2175" b="1">
                <a:solidFill>
                  <a:srgbClr val="FFFFFF"/>
                </a:solidFill>
                <a:latin typeface="微软雅黑"/>
                <a:ea typeface="微软雅黑"/>
                <a:cs typeface="微软雅黑"/>
              </a:rPr>
              <a:t>01</a:t>
            </a:r>
          </a:p>
        </p:txBody>
      </p:sp>
      <p:sp>
        <p:nvSpPr>
          <p:cNvPr id="22" name="text-5">
            <a:extLst>
              <a:ext uri="{FF2B5EF4-FFF2-40B4-BE49-F238E27FC236}">
                <a16:creationId xmlns:a16="http://schemas.microsoft.com/office/drawing/2014/main" id="{D86E0F38-7BC8-4213-9EFB-DF0B371F50C7}"/>
              </a:ext>
            </a:extLst>
          </p:cNvPr>
          <p:cNvSpPr>
            <a:spLocks noGrp="1"/>
          </p:cNvSpPr>
          <p:nvPr/>
        </p:nvSpPr>
        <p:spPr>
          <a:xfrm>
            <a:off x="923925" y="1495425"/>
            <a:ext cx="4629150" cy="323850"/>
          </a:xfrm>
          <a:prstGeom prst="rect">
            <a:avLst/>
          </a:prstGeom>
          <a:noFill/>
          <a:ln w="0">
            <a:noFill/>
          </a:ln>
        </p:spPr>
        <p:txBody>
          <a:bodyPr wrap="square" lIns="0" tIns="0" rIns="0" bIns="0" anchor="ctr">
            <a:normAutofit fontScale="100000"/>
          </a:bodyPr>
          <a:lstStyle/>
          <a:p>
            <a:pPr algn="l">
              <a:defRPr sz="1913" b="1">
                <a:solidFill>
                  <a:srgbClr val="071A43"/>
                </a:solidFill>
                <a:latin typeface="微软雅黑"/>
                <a:ea typeface="微软雅黑"/>
                <a:cs typeface="微软雅黑"/>
              </a:defRPr>
            </a:pPr>
            <a:r>
              <a:rPr sz="1913" b="1">
                <a:solidFill>
                  <a:srgbClr val="071A43"/>
                </a:solidFill>
                <a:latin typeface="微软雅黑"/>
                <a:ea typeface="微软雅黑"/>
                <a:cs typeface="微软雅黑"/>
              </a:rPr>
              <a:t>实验数据与标注</a:t>
            </a:r>
          </a:p>
        </p:txBody>
      </p:sp>
      <p:sp>
        <p:nvSpPr>
          <p:cNvPr id="23" name="surface-6">
            <a:extLst>
              <a:ext uri="{FF2B5EF4-FFF2-40B4-BE49-F238E27FC236}">
                <a16:creationId xmlns:a16="http://schemas.microsoft.com/office/drawing/2014/main" id="{BE746332-A7D7-4D2F-A127-D403604C3E2A}"/>
              </a:ext>
            </a:extLst>
          </p:cNvPr>
          <p:cNvSpPr>
            <a:spLocks noGrp="1"/>
          </p:cNvSpPr>
          <p:nvPr/>
        </p:nvSpPr>
        <p:spPr>
          <a:xfrm>
            <a:off x="5876925" y="1428750"/>
            <a:ext cx="6086475" cy="4591050"/>
          </a:xfrm>
          <a:prstGeom prst="roundRect">
            <a:avLst>
              <a:gd name="adj" fmla="val 2075"/>
            </a:avLst>
          </a:prstGeom>
          <a:solidFill>
            <a:srgbClr val="FEFEFE"/>
          </a:solidFill>
          <a:ln w="12383">
            <a:solidFill>
              <a:srgbClr val="B9D9F0"/>
            </a:solidFill>
          </a:ln>
        </p:spPr>
      </p:sp>
      <p:sp>
        <p:nvSpPr>
          <p:cNvPr id="24" name="surface-7">
            <a:extLst>
              <a:ext uri="{FF2B5EF4-FFF2-40B4-BE49-F238E27FC236}">
                <a16:creationId xmlns:a16="http://schemas.microsoft.com/office/drawing/2014/main" id="{9A8C6E15-1510-4F68-BF31-1FC0E96DAE71}"/>
              </a:ext>
            </a:extLst>
          </p:cNvPr>
          <p:cNvSpPr>
            <a:spLocks noGrp="1"/>
          </p:cNvSpPr>
          <p:nvPr/>
        </p:nvSpPr>
        <p:spPr>
          <a:xfrm>
            <a:off x="5886450" y="1438275"/>
            <a:ext cx="6067425" cy="476250"/>
          </a:xfrm>
          <a:prstGeom prst="roundRect">
            <a:avLst>
              <a:gd name="adj" fmla="val 16000"/>
            </a:avLst>
          </a:prstGeom>
          <a:solidFill>
            <a:srgbClr val="EDF5FB"/>
          </a:solidFill>
          <a:ln w="12383">
            <a:solidFill>
              <a:srgbClr val="EDF5FB"/>
            </a:solidFill>
          </a:ln>
        </p:spPr>
      </p:sp>
      <p:pic>
        <p:nvPicPr>
          <p:cNvPr id="25" name="Image 2" descr="image"/>
          <p:cNvPicPr>
            <a:picLocks noChangeAspect="1"/>
          </p:cNvPicPr>
          <p:nvPr/>
        </p:nvPicPr>
        <p:blipFill>
          <a:blip r:embed="rIdBadge"/>
          <a:stretch>
            <a:fillRect/>
          </a:stretch>
        </p:blipFill>
        <p:spPr>
          <a:xfrm>
            <a:off x="5876925" y="1428750"/>
            <a:ext cx="609600" cy="495300"/>
          </a:xfrm>
          <a:prstGeom prst="rect">
            <a:avLst/>
          </a:prstGeom>
        </p:spPr>
      </p:pic>
      <p:sp>
        <p:nvSpPr>
          <p:cNvPr id="26" name="text-8">
            <a:extLst>
              <a:ext uri="{FF2B5EF4-FFF2-40B4-BE49-F238E27FC236}">
                <a16:creationId xmlns:a16="http://schemas.microsoft.com/office/drawing/2014/main" id="{974D78AE-DB0F-49D3-A903-FD73462C9B49}"/>
              </a:ext>
            </a:extLst>
          </p:cNvPr>
          <p:cNvSpPr>
            <a:spLocks noGrp="1"/>
          </p:cNvSpPr>
          <p:nvPr/>
        </p:nvSpPr>
        <p:spPr>
          <a:xfrm>
            <a:off x="6019800" y="1495425"/>
            <a:ext cx="438150" cy="323850"/>
          </a:xfrm>
          <a:prstGeom prst="rect">
            <a:avLst/>
          </a:prstGeom>
          <a:noFill/>
          <a:ln w="0">
            <a:noFill/>
          </a:ln>
        </p:spPr>
        <p:txBody>
          <a:bodyPr wrap="square" lIns="0" tIns="0" rIns="0" bIns="0" anchor="ctr">
            <a:normAutofit fontScale="97701"/>
          </a:bodyPr>
          <a:lstStyle/>
          <a:p>
            <a:pPr algn="ctr">
              <a:defRPr sz="2175" b="1">
                <a:solidFill>
                  <a:srgbClr val="FFFFFF"/>
                </a:solidFill>
                <a:latin typeface="微软雅黑"/>
                <a:ea typeface="微软雅黑"/>
                <a:cs typeface="微软雅黑"/>
              </a:defRPr>
            </a:pPr>
            <a:r>
              <a:rPr sz="2175" b="1">
                <a:solidFill>
                  <a:srgbClr val="FFFFFF"/>
                </a:solidFill>
                <a:latin typeface="微软雅黑"/>
                <a:ea typeface="微软雅黑"/>
                <a:cs typeface="微软雅黑"/>
              </a:rPr>
              <a:t>02</a:t>
            </a:r>
          </a:p>
        </p:txBody>
      </p:sp>
      <p:sp>
        <p:nvSpPr>
          <p:cNvPr id="27" name="text-9">
            <a:extLst>
              <a:ext uri="{FF2B5EF4-FFF2-40B4-BE49-F238E27FC236}">
                <a16:creationId xmlns:a16="http://schemas.microsoft.com/office/drawing/2014/main" id="{8F592169-78B0-4EB3-BDDE-D02D2FE330FA}"/>
              </a:ext>
            </a:extLst>
          </p:cNvPr>
          <p:cNvSpPr>
            <a:spLocks noGrp="1"/>
          </p:cNvSpPr>
          <p:nvPr/>
        </p:nvSpPr>
        <p:spPr>
          <a:xfrm>
            <a:off x="6572250" y="1495425"/>
            <a:ext cx="5238750" cy="323850"/>
          </a:xfrm>
          <a:prstGeom prst="rect">
            <a:avLst/>
          </a:prstGeom>
          <a:noFill/>
          <a:ln w="0">
            <a:noFill/>
          </a:ln>
        </p:spPr>
        <p:txBody>
          <a:bodyPr wrap="square" lIns="0" tIns="0" rIns="0" bIns="0" anchor="ctr">
            <a:normAutofit fontScale="100000"/>
          </a:bodyPr>
          <a:lstStyle/>
          <a:p>
            <a:pPr algn="l">
              <a:defRPr sz="1913" b="1">
                <a:solidFill>
                  <a:srgbClr val="071A43"/>
                </a:solidFill>
                <a:latin typeface="微软雅黑"/>
                <a:ea typeface="微软雅黑"/>
                <a:cs typeface="微软雅黑"/>
              </a:defRPr>
            </a:pPr>
            <a:r>
              <a:rPr sz="1913" b="1">
                <a:solidFill>
                  <a:srgbClr val="071A43"/>
                </a:solidFill>
                <a:latin typeface="微软雅黑"/>
                <a:ea typeface="微软雅黑"/>
                <a:cs typeface="微软雅黑"/>
              </a:rPr>
              <a:t>总体实验框架</a:t>
            </a:r>
          </a:p>
        </p:txBody>
      </p:sp>
      <p:sp>
        <p:nvSpPr>
          <p:cNvPr id="28" name="text-10">
            <a:extLst>
              <a:ext uri="{FF2B5EF4-FFF2-40B4-BE49-F238E27FC236}">
                <a16:creationId xmlns:a16="http://schemas.microsoft.com/office/drawing/2014/main" id="{39466551-6291-4B29-89A8-2060A86E5A1E}"/>
              </a:ext>
            </a:extLst>
          </p:cNvPr>
          <p:cNvSpPr>
            <a:spLocks noGrp="1"/>
          </p:cNvSpPr>
          <p:nvPr/>
        </p:nvSpPr>
        <p:spPr>
          <a:xfrm>
            <a:off x="409575" y="2000250"/>
            <a:ext cx="5086350" cy="257175"/>
          </a:xfrm>
          <a:prstGeom prst="rect">
            <a:avLst/>
          </a:prstGeom>
          <a:noFill/>
          <a:ln w="0">
            <a:noFill/>
          </a:ln>
        </p:spPr>
        <p:txBody>
          <a:bodyPr wrap="square" lIns="0" tIns="0" rIns="0" bIns="0" anchor="ctr">
            <a:normAutofit fontScale="100000"/>
          </a:bodyPr>
          <a:lstStyle/>
          <a:p>
            <a:pPr algn="l">
              <a:defRPr sz="1373" b="0">
                <a:solidFill>
                  <a:srgbClr val="17243A"/>
                </a:solidFill>
                <a:latin typeface="微软雅黑"/>
                <a:ea typeface="微软雅黑"/>
                <a:cs typeface="微软雅黑"/>
              </a:defRPr>
            </a:pPr>
            <a:r>
              <a:rPr sz="1373" b="0">
                <a:solidFill>
                  <a:srgbClr val="17243A"/>
                </a:solidFill>
                <a:latin typeface="微软雅黑"/>
                <a:ea typeface="微软雅黑"/>
                <a:cs typeface="微软雅黑"/>
              </a:rPr>
              <a:t>AD/MCI 辅助诊断，主任务为 CN / MCI / AD 三分类</a:t>
            </a:r>
          </a:p>
        </p:txBody>
      </p:sp>
      <p:graphicFrame>
        <p:nvGraphicFramePr>
          <p:cNvPr id="29" name=""/>
          <p:cNvGraphicFramePr/>
          <p:nvPr/>
        </p:nvGraphicFramePr>
        <p:xfrm>
          <a:off x="400050" y="2371725"/>
          <a:ext cx="5124450" cy="2171700"/>
        </p:xfrm>
        <a:graphic>
          <a:graphicData uri="http://schemas.openxmlformats.org/drawingml/2006/table">
            <a:tbl>
              <a:tblPr firstRow="0" bandRow="0"/>
              <a:tblGrid>
                <a:gridCol w="1104900"/>
                <a:gridCol w="2743200"/>
                <a:gridCol w="1276350"/>
              </a:tblGrid>
              <a:tr h="542925">
                <a:tc>
                  <a:txBody>
                    <a:bodyPr lIns="85725" tIns="47625" rIns="76200" bIns="47625">
                      <a:normAutofit/>
                    </a:bodyPr>
                    <a:lstStyle/>
                    <a:p>
                      <a:pPr algn="l"/>
                      <a:r>
                        <a:rPr sz="1335" b="1">
                          <a:solidFill>
                            <a:srgbClr val="071A43"/>
                          </a:solidFill>
                          <a:latin typeface="微软雅黑"/>
                          <a:ea typeface="微软雅黑"/>
                          <a:cs typeface="微软雅黑"/>
                        </a:rPr>
                        <a:t>数据集</a:t>
                      </a:r>
                    </a:p>
                  </a:txBody>
                  <a:tcPr marL="91440" marR="91440" marT="45720" marB="45720" anchor="ctr">
                    <a:solidFill>
                      <a:srgbClr val="EDF5FB"/>
                    </a:solidFill>
                  </a:tcPr>
                </a:tc>
                <a:tc>
                  <a:txBody>
                    <a:bodyPr lIns="85725" tIns="47625" rIns="76200" bIns="47625">
                      <a:normAutofit/>
                    </a:bodyPr>
                    <a:lstStyle/>
                    <a:p>
                      <a:pPr algn="l"/>
                      <a:r>
                        <a:rPr sz="1335" b="1">
                          <a:solidFill>
                            <a:srgbClr val="071A43"/>
                          </a:solidFill>
                          <a:latin typeface="微软雅黑"/>
                          <a:ea typeface="微软雅黑"/>
                          <a:cs typeface="微软雅黑"/>
                        </a:rPr>
                        <a:t>来源与计划规模</a:t>
                      </a:r>
                    </a:p>
                  </a:txBody>
                  <a:tcPr marL="91440" marR="91440" marT="45720" marB="45720" anchor="ctr">
                    <a:solidFill>
                      <a:srgbClr val="EDF5FB"/>
                    </a:solidFill>
                  </a:tcPr>
                </a:tc>
                <a:tc>
                  <a:txBody>
                    <a:bodyPr lIns="85725" tIns="47625" rIns="76200" bIns="47625">
                      <a:normAutofit/>
                    </a:bodyPr>
                    <a:lstStyle/>
                    <a:p>
                      <a:pPr algn="l"/>
                      <a:r>
                        <a:rPr sz="1335" b="1">
                          <a:solidFill>
                            <a:srgbClr val="071A43"/>
                          </a:solidFill>
                          <a:latin typeface="微软雅黑"/>
                          <a:ea typeface="微软雅黑"/>
                          <a:cs typeface="微软雅黑"/>
                        </a:rPr>
                        <a:t>评价用途</a:t>
                      </a:r>
                    </a:p>
                  </a:txBody>
                  <a:tcPr marL="91440" marR="91440" marT="45720" marB="45720" anchor="ctr">
                    <a:solidFill>
                      <a:srgbClr val="EDF5FB"/>
                    </a:solidFill>
                  </a:tcPr>
                </a:tc>
              </a:tr>
              <a:tr h="542925">
                <a:tc>
                  <a:txBody>
                    <a:bodyPr lIns="85725" tIns="47625" rIns="76200" bIns="47625">
                      <a:normAutofit/>
                    </a:bodyPr>
                    <a:lstStyle/>
                    <a:p>
                      <a:pPr algn="l"/>
                      <a:r>
                        <a:rPr sz="1335" b="0">
                          <a:solidFill>
                            <a:srgbClr val="17243A"/>
                          </a:solidFill>
                          <a:latin typeface="微软雅黑"/>
                          <a:ea typeface="微软雅黑"/>
                          <a:cs typeface="微软雅黑"/>
                        </a:rPr>
                        <a:t>患者病例集</a:t>
                      </a:r>
                    </a:p>
                  </a:txBody>
                  <a:tcPr marL="91440" marR="91440" marT="45720" marB="45720" anchor="ctr">
                    <a:solidFill>
                      <a:srgbClr val="FEFEFE"/>
                    </a:solidFill>
                  </a:tcPr>
                </a:tc>
                <a:tc>
                  <a:txBody>
                    <a:bodyPr lIns="85725" tIns="47625" rIns="76200" bIns="47625">
                      <a:normAutofit/>
                    </a:bodyPr>
                    <a:lstStyle/>
                    <a:p>
                      <a:pPr algn="l"/>
                      <a:r>
                        <a:rPr sz="1335" b="0">
                          <a:solidFill>
                            <a:srgbClr val="17243A"/>
                          </a:solidFill>
                          <a:latin typeface="微软雅黑"/>
                          <a:ea typeface="微软雅黑"/>
                          <a:cs typeface="微软雅黑"/>
                        </a:rPr>
                        <a:t>ADNI</a:t>
                      </a:r>
                    </a:p>
                    <a:p>
                      <a:pPr algn="l"/>
                      <a:r>
                        <a:rPr sz="1335" b="0">
                          <a:solidFill>
                            <a:srgbClr val="17243A"/>
                          </a:solidFill>
                          <a:latin typeface="微软雅黑"/>
                          <a:ea typeface="微软雅黑"/>
                          <a:cs typeface="微软雅黑"/>
                        </a:rPr>
                        <a:t>200–300 名独立患者</a:t>
                      </a:r>
                    </a:p>
                  </a:txBody>
                  <a:tcPr marL="91440" marR="91440" marT="45720" marB="45720" anchor="ctr">
                    <a:solidFill>
                      <a:srgbClr val="FEFEFE"/>
                    </a:solidFill>
                  </a:tcPr>
                </a:tc>
                <a:tc>
                  <a:txBody>
                    <a:bodyPr lIns="85725" tIns="47625" rIns="76200" bIns="47625">
                      <a:normAutofit/>
                    </a:bodyPr>
                    <a:lstStyle/>
                    <a:p>
                      <a:pPr algn="l"/>
                      <a:r>
                        <a:rPr sz="1335" b="0">
                          <a:solidFill>
                            <a:srgbClr val="17243A"/>
                          </a:solidFill>
                          <a:latin typeface="微软雅黑"/>
                          <a:ea typeface="微软雅黑"/>
                          <a:cs typeface="微软雅黑"/>
                        </a:rPr>
                        <a:t>诊断、报告</a:t>
                      </a:r>
                    </a:p>
                    <a:p>
                      <a:pPr algn="l"/>
                      <a:r>
                        <a:rPr sz="1335" b="0">
                          <a:solidFill>
                            <a:srgbClr val="17243A"/>
                          </a:solidFill>
                          <a:latin typeface="微软雅黑"/>
                          <a:ea typeface="微软雅黑"/>
                          <a:cs typeface="微软雅黑"/>
                        </a:rPr>
                        <a:t>鲁棒性</a:t>
                      </a:r>
                    </a:p>
                  </a:txBody>
                  <a:tcPr marL="91440" marR="91440" marT="45720" marB="45720" anchor="ctr">
                    <a:solidFill>
                      <a:srgbClr val="FEFEFE"/>
                    </a:solidFill>
                  </a:tcPr>
                </a:tc>
              </a:tr>
              <a:tr h="542925">
                <a:tc>
                  <a:txBody>
                    <a:bodyPr lIns="85725" tIns="47625" rIns="76200" bIns="47625">
                      <a:normAutofit/>
                    </a:bodyPr>
                    <a:lstStyle/>
                    <a:p>
                      <a:pPr algn="l"/>
                      <a:r>
                        <a:rPr sz="1335" b="0">
                          <a:solidFill>
                            <a:srgbClr val="17243A"/>
                          </a:solidFill>
                          <a:latin typeface="微软雅黑"/>
                          <a:ea typeface="微软雅黑"/>
                          <a:cs typeface="微软雅黑"/>
                        </a:rPr>
                        <a:t>医学知识集</a:t>
                      </a:r>
                    </a:p>
                  </a:txBody>
                  <a:tcPr marL="91440" marR="91440" marT="45720" marB="45720" anchor="ctr">
                    <a:solidFill>
                      <a:srgbClr val="FEFEFE"/>
                    </a:solidFill>
                  </a:tcPr>
                </a:tc>
                <a:tc>
                  <a:txBody>
                    <a:bodyPr lIns="85725" tIns="47625" rIns="76200" bIns="47625">
                      <a:normAutofit/>
                    </a:bodyPr>
                    <a:lstStyle/>
                    <a:p>
                      <a:pPr algn="l"/>
                      <a:r>
                        <a:rPr sz="1335" b="0">
                          <a:solidFill>
                            <a:srgbClr val="17243A"/>
                          </a:solidFill>
                          <a:latin typeface="微软雅黑"/>
                          <a:ea typeface="微软雅黑"/>
                          <a:cs typeface="微软雅黑"/>
                        </a:rPr>
                        <a:t>公开指南与研究文献</a:t>
                      </a:r>
                    </a:p>
                    <a:p>
                      <a:pPr algn="l"/>
                      <a:r>
                        <a:rPr sz="1335" b="0">
                          <a:solidFill>
                            <a:srgbClr val="17243A"/>
                          </a:solidFill>
                          <a:latin typeface="微软雅黑"/>
                          <a:ea typeface="微软雅黑"/>
                          <a:cs typeface="微软雅黑"/>
                        </a:rPr>
                        <a:t>50–100 份，200–400 条声明</a:t>
                      </a:r>
                    </a:p>
                  </a:txBody>
                  <a:tcPr marL="91440" marR="91440" marT="45720" marB="45720" anchor="ctr">
                    <a:solidFill>
                      <a:srgbClr val="FEFEFE"/>
                    </a:solidFill>
                  </a:tcPr>
                </a:tc>
                <a:tc>
                  <a:txBody>
                    <a:bodyPr lIns="85725" tIns="47625" rIns="76200" bIns="47625">
                      <a:normAutofit/>
                    </a:bodyPr>
                    <a:lstStyle/>
                    <a:p>
                      <a:pPr algn="l"/>
                      <a:r>
                        <a:rPr sz="1335" b="0">
                          <a:solidFill>
                            <a:srgbClr val="17243A"/>
                          </a:solidFill>
                          <a:latin typeface="微软雅黑"/>
                          <a:ea typeface="微软雅黑"/>
                          <a:cs typeface="微软雅黑"/>
                        </a:rPr>
                        <a:t>条件化知识</a:t>
                      </a:r>
                    </a:p>
                    <a:p>
                      <a:pPr algn="l"/>
                      <a:r>
                        <a:rPr sz="1335" b="0">
                          <a:solidFill>
                            <a:srgbClr val="17243A"/>
                          </a:solidFill>
                          <a:latin typeface="微软雅黑"/>
                          <a:ea typeface="微软雅黑"/>
                          <a:cs typeface="微软雅黑"/>
                        </a:rPr>
                        <a:t>构建</a:t>
                      </a:r>
                    </a:p>
                  </a:txBody>
                  <a:tcPr marL="91440" marR="91440" marT="45720" marB="45720" anchor="ctr">
                    <a:solidFill>
                      <a:srgbClr val="FEFEFE"/>
                    </a:solidFill>
                  </a:tcPr>
                </a:tc>
              </a:tr>
              <a:tr h="542925">
                <a:tc>
                  <a:txBody>
                    <a:bodyPr lIns="85725" tIns="47625" rIns="76200" bIns="47625">
                      <a:normAutofit/>
                    </a:bodyPr>
                    <a:lstStyle/>
                    <a:p>
                      <a:pPr algn="l"/>
                      <a:r>
                        <a:rPr sz="1335" b="0">
                          <a:solidFill>
                            <a:srgbClr val="17243A"/>
                          </a:solidFill>
                          <a:latin typeface="微软雅黑"/>
                          <a:ea typeface="微软雅黑"/>
                          <a:cs typeface="微软雅黑"/>
                        </a:rPr>
                        <a:t>病例—证据</a:t>
                      </a:r>
                    </a:p>
                    <a:p>
                      <a:pPr algn="l"/>
                      <a:r>
                        <a:rPr sz="1335" b="0">
                          <a:solidFill>
                            <a:srgbClr val="17243A"/>
                          </a:solidFill>
                          <a:latin typeface="微软雅黑"/>
                          <a:ea typeface="微软雅黑"/>
                          <a:cs typeface="微软雅黑"/>
                        </a:rPr>
                        <a:t>问题集</a:t>
                      </a:r>
                    </a:p>
                  </a:txBody>
                  <a:tcPr marL="91440" marR="91440" marT="45720" marB="45720" anchor="ctr">
                    <a:solidFill>
                      <a:srgbClr val="FEFEFE"/>
                    </a:solidFill>
                  </a:tcPr>
                </a:tc>
                <a:tc>
                  <a:txBody>
                    <a:bodyPr lIns="85725" tIns="47625" rIns="76200" bIns="47625">
                      <a:normAutofit/>
                    </a:bodyPr>
                    <a:lstStyle/>
                    <a:p>
                      <a:pPr algn="l"/>
                      <a:r>
                        <a:rPr sz="1335" b="0">
                          <a:solidFill>
                            <a:srgbClr val="17243A"/>
                          </a:solidFill>
                          <a:latin typeface="微软雅黑"/>
                          <a:ea typeface="微软雅黑"/>
                          <a:cs typeface="微软雅黑"/>
                        </a:rPr>
                        <a:t>ADNI 病例与知识语料</a:t>
                      </a:r>
                    </a:p>
                    <a:p>
                      <a:pPr algn="l"/>
                      <a:r>
                        <a:rPr sz="1335" b="0">
                          <a:solidFill>
                            <a:srgbClr val="17243A"/>
                          </a:solidFill>
                          <a:latin typeface="微软雅黑"/>
                          <a:ea typeface="微软雅黑"/>
                          <a:cs typeface="微软雅黑"/>
                        </a:rPr>
                        <a:t>100–150 个病例问题</a:t>
                      </a:r>
                    </a:p>
                  </a:txBody>
                  <a:tcPr marL="91440" marR="91440" marT="45720" marB="45720" anchor="ctr">
                    <a:solidFill>
                      <a:srgbClr val="FEFEFE"/>
                    </a:solidFill>
                  </a:tcPr>
                </a:tc>
                <a:tc>
                  <a:txBody>
                    <a:bodyPr lIns="85725" tIns="47625" rIns="76200" bIns="47625">
                      <a:normAutofit/>
                    </a:bodyPr>
                    <a:lstStyle/>
                    <a:p>
                      <a:pPr algn="l"/>
                      <a:r>
                        <a:rPr sz="1335" b="0">
                          <a:solidFill>
                            <a:srgbClr val="17243A"/>
                          </a:solidFill>
                          <a:latin typeface="微软雅黑"/>
                          <a:ea typeface="微软雅黑"/>
                          <a:cs typeface="微软雅黑"/>
                        </a:rPr>
                        <a:t>检索、补查</a:t>
                      </a:r>
                    </a:p>
                    <a:p>
                      <a:pPr algn="l"/>
                      <a:r>
                        <a:rPr sz="1335" b="0">
                          <a:solidFill>
                            <a:srgbClr val="17243A"/>
                          </a:solidFill>
                          <a:latin typeface="微软雅黑"/>
                          <a:ea typeface="微软雅黑"/>
                          <a:cs typeface="微软雅黑"/>
                        </a:rPr>
                        <a:t>证据评价</a:t>
                      </a:r>
                    </a:p>
                  </a:txBody>
                  <a:tcPr marL="91440" marR="91440" marT="45720" marB="45720" anchor="ctr">
                    <a:solidFill>
                      <a:srgbClr val="FEFEFE"/>
                    </a:solidFill>
                  </a:tcPr>
                </a:tc>
              </a:tr>
            </a:tbl>
          </a:graphicData>
        </a:graphic>
      </p:graphicFrame>
      <p:sp>
        <p:nvSpPr>
          <p:cNvPr id="30" name="text-11">
            <a:extLst>
              <a:ext uri="{FF2B5EF4-FFF2-40B4-BE49-F238E27FC236}">
                <a16:creationId xmlns:a16="http://schemas.microsoft.com/office/drawing/2014/main" id="{A21F72F5-09E5-4096-BC40-91097755F827}"/>
              </a:ext>
            </a:extLst>
          </p:cNvPr>
          <p:cNvSpPr>
            <a:spLocks noGrp="1"/>
          </p:cNvSpPr>
          <p:nvPr/>
        </p:nvSpPr>
        <p:spPr>
          <a:xfrm>
            <a:off x="419100" y="4695825"/>
            <a:ext cx="5048250" cy="276225"/>
          </a:xfrm>
          <a:prstGeom prst="rect">
            <a:avLst/>
          </a:prstGeom>
          <a:noFill/>
          <a:ln w="0">
            <a:noFill/>
          </a:ln>
        </p:spPr>
        <p:txBody>
          <a:bodyPr wrap="square" lIns="0" tIns="0" rIns="0" bIns="0" anchor="ctr">
            <a:normAutofit fontScale="100000"/>
          </a:bodyPr>
          <a:lstStyle/>
          <a:p>
            <a:pPr algn="l">
              <a:defRPr sz="1538" b="1">
                <a:solidFill>
                  <a:srgbClr val="02549D"/>
                </a:solidFill>
                <a:latin typeface="微软雅黑"/>
                <a:ea typeface="微软雅黑"/>
                <a:cs typeface="微软雅黑"/>
              </a:defRPr>
            </a:pPr>
            <a:r>
              <a:rPr sz="1538" b="1">
                <a:solidFill>
                  <a:srgbClr val="02549D"/>
                </a:solidFill>
                <a:latin typeface="微软雅黑"/>
                <a:ea typeface="微软雅黑"/>
                <a:cs typeface="微软雅黑"/>
              </a:rPr>
              <a:t>报告金标准：计划选取 60–100 个病例子集</a:t>
            </a:r>
          </a:p>
        </p:txBody>
      </p:sp>
      <p:sp>
        <p:nvSpPr>
          <p:cNvPr id="31" name="text-12">
            <a:extLst>
              <a:ext uri="{FF2B5EF4-FFF2-40B4-BE49-F238E27FC236}">
                <a16:creationId xmlns:a16="http://schemas.microsoft.com/office/drawing/2014/main" id="{C4BB4ADF-8782-47B5-B1F5-90EF83551826}"/>
              </a:ext>
            </a:extLst>
          </p:cNvPr>
          <p:cNvSpPr>
            <a:spLocks noGrp="1"/>
          </p:cNvSpPr>
          <p:nvPr/>
        </p:nvSpPr>
        <p:spPr>
          <a:xfrm>
            <a:off x="419100" y="5095875"/>
            <a:ext cx="5067300" cy="638175"/>
          </a:xfrm>
          <a:prstGeom prst="rect">
            <a:avLst/>
          </a:prstGeom>
          <a:noFill/>
          <a:ln w="0">
            <a:noFill/>
          </a:ln>
        </p:spPr>
        <p:txBody>
          <a:bodyPr wrap="square" lIns="0" tIns="0" rIns="0" bIns="0" anchor="ctr">
            <a:normAutofit fontScale="100000"/>
          </a:bodyPr>
          <a:lstStyle/>
          <a:p>
            <a:pPr algn="l">
              <a:defRPr sz="1425" b="0">
                <a:solidFill>
                  <a:srgbClr val="17243A"/>
                </a:solidFill>
                <a:latin typeface="微软雅黑"/>
                <a:ea typeface="微软雅黑"/>
                <a:cs typeface="微软雅黑"/>
              </a:defRPr>
            </a:pPr>
            <a:r>
              <a:rPr sz="1425" b="0">
                <a:solidFill>
                  <a:srgbClr val="17243A"/>
                </a:solidFill>
                <a:latin typeface="微软雅黑"/>
                <a:ea typeface="微软雅黑"/>
                <a:cs typeface="微软雅黑"/>
              </a:rPr>
              <a:t>按患者 ID 划分，同一患者访视不跨集合</a:t>
            </a:r>
          </a:p>
          <a:p>
            <a:pPr algn="l">
              <a:defRPr sz="1425" b="0">
                <a:solidFill>
                  <a:srgbClr val="17243A"/>
                </a:solidFill>
                <a:latin typeface="微软雅黑"/>
                <a:ea typeface="微软雅黑"/>
                <a:cs typeface="微软雅黑"/>
              </a:defRPr>
            </a:pPr>
            <a:r>
              <a:rPr sz="1425" b="0">
                <a:solidFill>
                  <a:srgbClr val="17243A"/>
                </a:solidFill>
                <a:latin typeface="微软雅黑"/>
                <a:ea typeface="微软雅黑"/>
                <a:cs typeface="微软雅黑"/>
              </a:rPr>
              <a:t>仅使用当前及既往记录，固定知识语料版本</a:t>
            </a:r>
          </a:p>
        </p:txBody>
      </p:sp>
      <p:sp>
        <p:nvSpPr>
          <p:cNvPr id="32" name="surface-13">
            <a:extLst>
              <a:ext uri="{FF2B5EF4-FFF2-40B4-BE49-F238E27FC236}">
                <a16:creationId xmlns:a16="http://schemas.microsoft.com/office/drawing/2014/main" id="{FC8F4221-6790-4A43-A944-F08B47A687B0}"/>
              </a:ext>
            </a:extLst>
          </p:cNvPr>
          <p:cNvSpPr>
            <a:spLocks noGrp="1"/>
          </p:cNvSpPr>
          <p:nvPr/>
        </p:nvSpPr>
        <p:spPr>
          <a:xfrm>
            <a:off x="6200775" y="2009775"/>
            <a:ext cx="5429250" cy="609600"/>
          </a:xfrm>
          <a:prstGeom prst="roundRect">
            <a:avLst>
              <a:gd name="adj" fmla="val 12500"/>
            </a:avLst>
          </a:prstGeom>
          <a:solidFill>
            <a:srgbClr val="FEFEFE"/>
          </a:solidFill>
          <a:ln w="12383">
            <a:solidFill>
              <a:srgbClr val="B9D9F0"/>
            </a:solidFill>
          </a:ln>
        </p:spPr>
      </p:sp>
      <p:sp>
        <p:nvSpPr>
          <p:cNvPr id="33" name="text-14">
            <a:extLst>
              <a:ext uri="{FF2B5EF4-FFF2-40B4-BE49-F238E27FC236}">
                <a16:creationId xmlns:a16="http://schemas.microsoft.com/office/drawing/2014/main" id="{3F7907F5-BA04-43AF-B8CC-00C28A11B734}"/>
              </a:ext>
            </a:extLst>
          </p:cNvPr>
          <p:cNvSpPr>
            <a:spLocks noGrp="1"/>
          </p:cNvSpPr>
          <p:nvPr/>
        </p:nvSpPr>
        <p:spPr>
          <a:xfrm>
            <a:off x="6296025" y="2105025"/>
            <a:ext cx="5238750" cy="266700"/>
          </a:xfrm>
          <a:prstGeom prst="rect">
            <a:avLst/>
          </a:prstGeom>
          <a:noFill/>
          <a:ln w="0">
            <a:noFill/>
          </a:ln>
        </p:spPr>
        <p:txBody>
          <a:bodyPr wrap="square" lIns="0" tIns="0" rIns="0" bIns="0" anchor="ctr">
            <a:normAutofit fontScale="100000"/>
          </a:bodyPr>
          <a:lstStyle/>
          <a:p>
            <a:pPr algn="ctr">
              <a:defRPr sz="1575" b="1">
                <a:solidFill>
                  <a:srgbClr val="071A43"/>
                </a:solidFill>
                <a:latin typeface="微软雅黑"/>
                <a:ea typeface="微软雅黑"/>
                <a:cs typeface="微软雅黑"/>
              </a:defRPr>
            </a:pPr>
            <a:r>
              <a:rPr sz="1575" b="1">
                <a:solidFill>
                  <a:srgbClr val="071A43"/>
                </a:solidFill>
                <a:latin typeface="微软雅黑"/>
                <a:ea typeface="微软雅黑"/>
                <a:cs typeface="微软雅黑"/>
              </a:rPr>
              <a:t>患者病例数据 + 医学知识文档</a:t>
            </a:r>
          </a:p>
        </p:txBody>
      </p:sp>
      <p:sp>
        <p:nvSpPr>
          <p:cNvPr id="34" name="text-15">
            <a:extLst>
              <a:ext uri="{FF2B5EF4-FFF2-40B4-BE49-F238E27FC236}">
                <a16:creationId xmlns:a16="http://schemas.microsoft.com/office/drawing/2014/main" id="{2C6301E5-A3AF-465A-B1F5-D8DDD17AE2B7}"/>
              </a:ext>
            </a:extLst>
          </p:cNvPr>
          <p:cNvSpPr>
            <a:spLocks noGrp="1"/>
          </p:cNvSpPr>
          <p:nvPr/>
        </p:nvSpPr>
        <p:spPr>
          <a:xfrm>
            <a:off x="6296025" y="2419350"/>
            <a:ext cx="5238750" cy="142875"/>
          </a:xfrm>
          <a:prstGeom prst="rect">
            <a:avLst/>
          </a:prstGeom>
          <a:noFill/>
          <a:ln w="0">
            <a:noFill/>
          </a:ln>
        </p:spPr>
        <p:txBody>
          <a:bodyPr wrap="square" lIns="0" tIns="0" rIns="0" bIns="0" anchor="ctr">
            <a:normAutofit/>
          </a:bodyPr>
          <a:lstStyle/>
          <a:p>
            <a:r>
              <a:t/>
            </a:r>
          </a:p>
        </p:txBody>
      </p:sp>
      <p:sp>
        <p:nvSpPr>
          <p:cNvPr id="35" name="surface-16">
            <a:extLst>
              <a:ext uri="{FF2B5EF4-FFF2-40B4-BE49-F238E27FC236}">
                <a16:creationId xmlns:a16="http://schemas.microsoft.com/office/drawing/2014/main" id="{20F50F2E-423F-4222-B697-5130969E6C96}"/>
              </a:ext>
            </a:extLst>
          </p:cNvPr>
          <p:cNvSpPr>
            <a:spLocks noGrp="1"/>
          </p:cNvSpPr>
          <p:nvPr/>
        </p:nvSpPr>
        <p:spPr>
          <a:xfrm>
            <a:off x="6200775" y="2914650"/>
            <a:ext cx="2571750" cy="819150"/>
          </a:xfrm>
          <a:prstGeom prst="roundRect">
            <a:avLst>
              <a:gd name="adj" fmla="val 9302"/>
            </a:avLst>
          </a:prstGeom>
          <a:solidFill>
            <a:srgbClr val="FEFEFE"/>
          </a:solidFill>
          <a:ln w="12383">
            <a:solidFill>
              <a:srgbClr val="B9D9F0"/>
            </a:solidFill>
          </a:ln>
        </p:spPr>
      </p:sp>
      <p:sp>
        <p:nvSpPr>
          <p:cNvPr id="36" name="text-17">
            <a:extLst>
              <a:ext uri="{FF2B5EF4-FFF2-40B4-BE49-F238E27FC236}">
                <a16:creationId xmlns:a16="http://schemas.microsoft.com/office/drawing/2014/main" id="{1B3BAE5E-57AA-43D0-9D3A-B922AAA43961}"/>
              </a:ext>
            </a:extLst>
          </p:cNvPr>
          <p:cNvSpPr>
            <a:spLocks noGrp="1"/>
          </p:cNvSpPr>
          <p:nvPr/>
        </p:nvSpPr>
        <p:spPr>
          <a:xfrm>
            <a:off x="6296025" y="3009900"/>
            <a:ext cx="2381250" cy="266700"/>
          </a:xfrm>
          <a:prstGeom prst="rect">
            <a:avLst/>
          </a:prstGeom>
          <a:noFill/>
          <a:ln w="0">
            <a:noFill/>
          </a:ln>
        </p:spPr>
        <p:txBody>
          <a:bodyPr wrap="square" lIns="0" tIns="0" rIns="0" bIns="0" anchor="ctr">
            <a:normAutofit fontScale="100000"/>
          </a:bodyPr>
          <a:lstStyle/>
          <a:p>
            <a:pPr algn="ctr">
              <a:defRPr sz="1575" b="1">
                <a:solidFill>
                  <a:srgbClr val="071A43"/>
                </a:solidFill>
                <a:latin typeface="微软雅黑"/>
                <a:ea typeface="微软雅黑"/>
                <a:cs typeface="微软雅黑"/>
              </a:defRPr>
            </a:pPr>
            <a:r>
              <a:rPr sz="1575" b="1">
                <a:solidFill>
                  <a:srgbClr val="071A43"/>
                </a:solidFill>
                <a:latin typeface="微软雅黑"/>
                <a:ea typeface="微软雅黑"/>
                <a:cs typeface="微软雅黑"/>
              </a:rPr>
              <a:t>实验一：知识构建</a:t>
            </a:r>
          </a:p>
        </p:txBody>
      </p:sp>
      <p:sp>
        <p:nvSpPr>
          <p:cNvPr id="37" name="text-18">
            <a:extLst>
              <a:ext uri="{FF2B5EF4-FFF2-40B4-BE49-F238E27FC236}">
                <a16:creationId xmlns:a16="http://schemas.microsoft.com/office/drawing/2014/main" id="{1001BC50-74AC-4383-99EC-F8C597586F25}"/>
              </a:ext>
            </a:extLst>
          </p:cNvPr>
          <p:cNvSpPr>
            <a:spLocks noGrp="1"/>
          </p:cNvSpPr>
          <p:nvPr/>
        </p:nvSpPr>
        <p:spPr>
          <a:xfrm>
            <a:off x="6296025" y="3324225"/>
            <a:ext cx="2381250" cy="352425"/>
          </a:xfrm>
          <a:prstGeom prst="rect">
            <a:avLst/>
          </a:prstGeom>
          <a:noFill/>
          <a:ln w="0">
            <a:noFill/>
          </a:ln>
        </p:spPr>
        <p:txBody>
          <a:bodyPr wrap="square" lIns="0" tIns="0" rIns="0" bIns="0" anchor="ctr">
            <a:normAutofit fontScale="100000"/>
          </a:bodyPr>
          <a:lstStyle/>
          <a:p>
            <a:pPr algn="ctr">
              <a:defRPr sz="1350" b="0">
                <a:solidFill>
                  <a:srgbClr val="17243A"/>
                </a:solidFill>
                <a:latin typeface="微软雅黑"/>
                <a:ea typeface="微软雅黑"/>
                <a:cs typeface="微软雅黑"/>
              </a:defRPr>
            </a:pPr>
            <a:r>
              <a:rPr sz="1350" b="0">
                <a:solidFill>
                  <a:srgbClr val="17243A"/>
                </a:solidFill>
                <a:latin typeface="微软雅黑"/>
                <a:ea typeface="微软雅黑"/>
                <a:cs typeface="微软雅黑"/>
              </a:rPr>
              <a:t>条件及来源是否完整</a:t>
            </a:r>
          </a:p>
        </p:txBody>
      </p:sp>
      <p:sp>
        <p:nvSpPr>
          <p:cNvPr id="38" name="surface-19">
            <a:extLst>
              <a:ext uri="{FF2B5EF4-FFF2-40B4-BE49-F238E27FC236}">
                <a16:creationId xmlns:a16="http://schemas.microsoft.com/office/drawing/2014/main" id="{551EB3B5-7DCB-4315-8AF3-CE6344A39144}"/>
              </a:ext>
            </a:extLst>
          </p:cNvPr>
          <p:cNvSpPr>
            <a:spLocks noGrp="1"/>
          </p:cNvSpPr>
          <p:nvPr/>
        </p:nvSpPr>
        <p:spPr>
          <a:xfrm>
            <a:off x="9058275" y="2914650"/>
            <a:ext cx="2571750" cy="819150"/>
          </a:xfrm>
          <a:prstGeom prst="roundRect">
            <a:avLst>
              <a:gd name="adj" fmla="val 9302"/>
            </a:avLst>
          </a:prstGeom>
          <a:solidFill>
            <a:srgbClr val="FEFEFE"/>
          </a:solidFill>
          <a:ln w="12383">
            <a:solidFill>
              <a:srgbClr val="B9D9F0"/>
            </a:solidFill>
          </a:ln>
        </p:spPr>
      </p:sp>
      <p:sp>
        <p:nvSpPr>
          <p:cNvPr id="39" name="text-20">
            <a:extLst>
              <a:ext uri="{FF2B5EF4-FFF2-40B4-BE49-F238E27FC236}">
                <a16:creationId xmlns:a16="http://schemas.microsoft.com/office/drawing/2014/main" id="{FDE06985-45FD-4E2B-8B5E-3387DA3B3A4E}"/>
              </a:ext>
            </a:extLst>
          </p:cNvPr>
          <p:cNvSpPr>
            <a:spLocks noGrp="1"/>
          </p:cNvSpPr>
          <p:nvPr/>
        </p:nvSpPr>
        <p:spPr>
          <a:xfrm>
            <a:off x="9153525" y="3009900"/>
            <a:ext cx="2381250" cy="266700"/>
          </a:xfrm>
          <a:prstGeom prst="rect">
            <a:avLst/>
          </a:prstGeom>
          <a:noFill/>
          <a:ln w="0">
            <a:noFill/>
          </a:ln>
        </p:spPr>
        <p:txBody>
          <a:bodyPr wrap="square" lIns="0" tIns="0" rIns="0" bIns="0" anchor="ctr">
            <a:normAutofit fontScale="100000"/>
          </a:bodyPr>
          <a:lstStyle/>
          <a:p>
            <a:pPr algn="ctr">
              <a:defRPr sz="1575" b="1">
                <a:solidFill>
                  <a:srgbClr val="071A43"/>
                </a:solidFill>
                <a:latin typeface="微软雅黑"/>
                <a:ea typeface="微软雅黑"/>
                <a:cs typeface="微软雅黑"/>
              </a:defRPr>
            </a:pPr>
            <a:r>
              <a:rPr sz="1575" b="1">
                <a:solidFill>
                  <a:srgbClr val="071A43"/>
                </a:solidFill>
                <a:latin typeface="微软雅黑"/>
                <a:ea typeface="微软雅黑"/>
                <a:cs typeface="微软雅黑"/>
              </a:rPr>
              <a:t>实验二：检索与补查</a:t>
            </a:r>
          </a:p>
        </p:txBody>
      </p:sp>
      <p:sp>
        <p:nvSpPr>
          <p:cNvPr id="40" name="text-21">
            <a:extLst>
              <a:ext uri="{FF2B5EF4-FFF2-40B4-BE49-F238E27FC236}">
                <a16:creationId xmlns:a16="http://schemas.microsoft.com/office/drawing/2014/main" id="{40B13952-6909-4ECC-9131-662A455B6E15}"/>
              </a:ext>
            </a:extLst>
          </p:cNvPr>
          <p:cNvSpPr>
            <a:spLocks noGrp="1"/>
          </p:cNvSpPr>
          <p:nvPr/>
        </p:nvSpPr>
        <p:spPr>
          <a:xfrm>
            <a:off x="9153525" y="3324225"/>
            <a:ext cx="2381250" cy="352425"/>
          </a:xfrm>
          <a:prstGeom prst="rect">
            <a:avLst/>
          </a:prstGeom>
          <a:noFill/>
          <a:ln w="0">
            <a:noFill/>
          </a:ln>
        </p:spPr>
        <p:txBody>
          <a:bodyPr wrap="square" lIns="0" tIns="0" rIns="0" bIns="0" anchor="ctr">
            <a:normAutofit fontScale="100000"/>
          </a:bodyPr>
          <a:lstStyle/>
          <a:p>
            <a:pPr algn="ctr">
              <a:defRPr sz="1350" b="0">
                <a:solidFill>
                  <a:srgbClr val="17243A"/>
                </a:solidFill>
                <a:latin typeface="微软雅黑"/>
                <a:ea typeface="微软雅黑"/>
                <a:cs typeface="微软雅黑"/>
              </a:defRPr>
            </a:pPr>
            <a:r>
              <a:rPr sz="1350" b="0">
                <a:solidFill>
                  <a:srgbClr val="17243A"/>
                </a:solidFill>
                <a:latin typeface="微软雅黑"/>
                <a:ea typeface="微软雅黑"/>
                <a:cs typeface="微软雅黑"/>
              </a:rPr>
              <a:t>证据是否适用、缺口是否补齐</a:t>
            </a:r>
          </a:p>
        </p:txBody>
      </p:sp>
      <p:sp>
        <p:nvSpPr>
          <p:cNvPr id="41" name="surface-22">
            <a:extLst>
              <a:ext uri="{FF2B5EF4-FFF2-40B4-BE49-F238E27FC236}">
                <a16:creationId xmlns:a16="http://schemas.microsoft.com/office/drawing/2014/main" id="{0C09B679-7110-4290-A42A-37CDBA080DF6}"/>
              </a:ext>
            </a:extLst>
          </p:cNvPr>
          <p:cNvSpPr>
            <a:spLocks noGrp="1"/>
          </p:cNvSpPr>
          <p:nvPr/>
        </p:nvSpPr>
        <p:spPr>
          <a:xfrm>
            <a:off x="6200775" y="4029075"/>
            <a:ext cx="5429250" cy="819150"/>
          </a:xfrm>
          <a:prstGeom prst="roundRect">
            <a:avLst>
              <a:gd name="adj" fmla="val 9302"/>
            </a:avLst>
          </a:prstGeom>
          <a:solidFill>
            <a:srgbClr val="EDF5FB"/>
          </a:solidFill>
          <a:ln w="12383">
            <a:solidFill>
              <a:srgbClr val="02549D"/>
            </a:solidFill>
          </a:ln>
        </p:spPr>
      </p:sp>
      <p:sp>
        <p:nvSpPr>
          <p:cNvPr id="42" name="text-23">
            <a:extLst>
              <a:ext uri="{FF2B5EF4-FFF2-40B4-BE49-F238E27FC236}">
                <a16:creationId xmlns:a16="http://schemas.microsoft.com/office/drawing/2014/main" id="{74C8C032-E58D-43E2-8691-685DF82BCCD1}"/>
              </a:ext>
            </a:extLst>
          </p:cNvPr>
          <p:cNvSpPr>
            <a:spLocks noGrp="1"/>
          </p:cNvSpPr>
          <p:nvPr/>
        </p:nvSpPr>
        <p:spPr>
          <a:xfrm>
            <a:off x="6296025" y="4124325"/>
            <a:ext cx="5238750" cy="266700"/>
          </a:xfrm>
          <a:prstGeom prst="rect">
            <a:avLst/>
          </a:prstGeom>
          <a:noFill/>
          <a:ln w="0">
            <a:noFill/>
          </a:ln>
        </p:spPr>
        <p:txBody>
          <a:bodyPr wrap="square" lIns="0" tIns="0" rIns="0" bIns="0" anchor="ctr">
            <a:normAutofit fontScale="100000"/>
          </a:bodyPr>
          <a:lstStyle/>
          <a:p>
            <a:pPr algn="ctr">
              <a:defRPr sz="1575" b="1">
                <a:solidFill>
                  <a:srgbClr val="02549D"/>
                </a:solidFill>
                <a:latin typeface="微软雅黑"/>
                <a:ea typeface="微软雅黑"/>
                <a:cs typeface="微软雅黑"/>
              </a:defRPr>
            </a:pPr>
            <a:r>
              <a:rPr sz="1575" b="1">
                <a:solidFill>
                  <a:srgbClr val="02549D"/>
                </a:solidFill>
                <a:latin typeface="微软雅黑"/>
                <a:ea typeface="微软雅黑"/>
                <a:cs typeface="微软雅黑"/>
              </a:rPr>
              <a:t>实验三：可解释诊断报告质量</a:t>
            </a:r>
          </a:p>
        </p:txBody>
      </p:sp>
      <p:sp>
        <p:nvSpPr>
          <p:cNvPr id="43" name="text-24">
            <a:extLst>
              <a:ext uri="{FF2B5EF4-FFF2-40B4-BE49-F238E27FC236}">
                <a16:creationId xmlns:a16="http://schemas.microsoft.com/office/drawing/2014/main" id="{DE57D095-D00F-4B08-A310-966E7B462666}"/>
              </a:ext>
            </a:extLst>
          </p:cNvPr>
          <p:cNvSpPr>
            <a:spLocks noGrp="1"/>
          </p:cNvSpPr>
          <p:nvPr/>
        </p:nvSpPr>
        <p:spPr>
          <a:xfrm>
            <a:off x="6296025" y="4438650"/>
            <a:ext cx="5238750" cy="352425"/>
          </a:xfrm>
          <a:prstGeom prst="rect">
            <a:avLst/>
          </a:prstGeom>
          <a:noFill/>
          <a:ln w="0">
            <a:noFill/>
          </a:ln>
        </p:spPr>
        <p:txBody>
          <a:bodyPr wrap="square" lIns="0" tIns="0" rIns="0" bIns="0" anchor="ctr">
            <a:normAutofit fontScale="100000"/>
          </a:bodyPr>
          <a:lstStyle/>
          <a:p>
            <a:pPr algn="ctr">
              <a:defRPr sz="1350" b="0">
                <a:solidFill>
                  <a:srgbClr val="17243A"/>
                </a:solidFill>
                <a:latin typeface="微软雅黑"/>
                <a:ea typeface="微软雅黑"/>
                <a:cs typeface="微软雅黑"/>
              </a:defRPr>
            </a:pPr>
            <a:r>
              <a:rPr sz="1350" b="0">
                <a:solidFill>
                  <a:srgbClr val="17243A"/>
                </a:solidFill>
                <a:latin typeface="微软雅黑"/>
                <a:ea typeface="微软雅黑"/>
                <a:cs typeface="微软雅黑"/>
              </a:rPr>
              <a:t>声明支持、必要证据覆盖、临床错误</a:t>
            </a:r>
          </a:p>
        </p:txBody>
      </p:sp>
      <p:sp>
        <p:nvSpPr>
          <p:cNvPr id="44" name="surface-25">
            <a:extLst>
              <a:ext uri="{FF2B5EF4-FFF2-40B4-BE49-F238E27FC236}">
                <a16:creationId xmlns:a16="http://schemas.microsoft.com/office/drawing/2014/main" id="{038041AB-E908-4FBA-AE37-EB95E08E0FB4}"/>
              </a:ext>
            </a:extLst>
          </p:cNvPr>
          <p:cNvSpPr>
            <a:spLocks noGrp="1"/>
          </p:cNvSpPr>
          <p:nvPr/>
        </p:nvSpPr>
        <p:spPr>
          <a:xfrm>
            <a:off x="6200775" y="5143500"/>
            <a:ext cx="2571750" cy="647700"/>
          </a:xfrm>
          <a:prstGeom prst="roundRect">
            <a:avLst>
              <a:gd name="adj" fmla="val 11765"/>
            </a:avLst>
          </a:prstGeom>
          <a:solidFill>
            <a:srgbClr val="FEFEFE"/>
          </a:solidFill>
          <a:ln w="12383">
            <a:solidFill>
              <a:srgbClr val="B9D9F0"/>
            </a:solidFill>
          </a:ln>
        </p:spPr>
      </p:sp>
      <p:sp>
        <p:nvSpPr>
          <p:cNvPr id="45" name="text-26">
            <a:extLst>
              <a:ext uri="{FF2B5EF4-FFF2-40B4-BE49-F238E27FC236}">
                <a16:creationId xmlns:a16="http://schemas.microsoft.com/office/drawing/2014/main" id="{4D74903D-699A-4E2C-B325-AE8CFE125AB7}"/>
              </a:ext>
            </a:extLst>
          </p:cNvPr>
          <p:cNvSpPr>
            <a:spLocks noGrp="1"/>
          </p:cNvSpPr>
          <p:nvPr/>
        </p:nvSpPr>
        <p:spPr>
          <a:xfrm>
            <a:off x="6296025" y="5238750"/>
            <a:ext cx="2381250" cy="266700"/>
          </a:xfrm>
          <a:prstGeom prst="rect">
            <a:avLst/>
          </a:prstGeom>
          <a:noFill/>
          <a:ln w="0">
            <a:noFill/>
          </a:ln>
        </p:spPr>
        <p:txBody>
          <a:bodyPr wrap="square" lIns="0" tIns="0" rIns="0" bIns="0" anchor="ctr">
            <a:normAutofit fontScale="100000"/>
          </a:bodyPr>
          <a:lstStyle/>
          <a:p>
            <a:pPr algn="ctr">
              <a:defRPr sz="1575" b="1">
                <a:solidFill>
                  <a:srgbClr val="071A43"/>
                </a:solidFill>
                <a:latin typeface="微软雅黑"/>
                <a:ea typeface="微软雅黑"/>
                <a:cs typeface="微软雅黑"/>
              </a:defRPr>
            </a:pPr>
            <a:r>
              <a:rPr sz="1575" b="1">
                <a:solidFill>
                  <a:srgbClr val="071A43"/>
                </a:solidFill>
                <a:latin typeface="微软雅黑"/>
                <a:ea typeface="微软雅黑"/>
                <a:cs typeface="微软雅黑"/>
              </a:rPr>
              <a:t>实验四：诊断性能</a:t>
            </a:r>
          </a:p>
        </p:txBody>
      </p:sp>
      <p:sp>
        <p:nvSpPr>
          <p:cNvPr id="46" name="text-27">
            <a:extLst>
              <a:ext uri="{FF2B5EF4-FFF2-40B4-BE49-F238E27FC236}">
                <a16:creationId xmlns:a16="http://schemas.microsoft.com/office/drawing/2014/main" id="{5CA81C0C-72DC-4026-903B-4FC3E856F3BF}"/>
              </a:ext>
            </a:extLst>
          </p:cNvPr>
          <p:cNvSpPr>
            <a:spLocks noGrp="1"/>
          </p:cNvSpPr>
          <p:nvPr/>
        </p:nvSpPr>
        <p:spPr>
          <a:xfrm>
            <a:off x="6296025" y="5553075"/>
            <a:ext cx="2381250" cy="180975"/>
          </a:xfrm>
          <a:prstGeom prst="rect">
            <a:avLst/>
          </a:prstGeom>
          <a:noFill/>
          <a:ln w="0">
            <a:noFill/>
          </a:ln>
        </p:spPr>
        <p:txBody>
          <a:bodyPr wrap="square" lIns="0" tIns="0" rIns="0" bIns="0" anchor="ctr">
            <a:normAutofit fontScale="87963"/>
          </a:bodyPr>
          <a:lstStyle/>
          <a:p>
            <a:pPr algn="ctr">
              <a:defRPr sz="1350" b="0">
                <a:solidFill>
                  <a:srgbClr val="17243A"/>
                </a:solidFill>
                <a:latin typeface="微软雅黑"/>
                <a:ea typeface="微软雅黑"/>
                <a:cs typeface="微软雅黑"/>
              </a:defRPr>
            </a:pPr>
            <a:r>
              <a:rPr sz="1350" b="0">
                <a:solidFill>
                  <a:srgbClr val="17243A"/>
                </a:solidFill>
                <a:latin typeface="微软雅黑"/>
                <a:ea typeface="微软雅黑"/>
                <a:cs typeface="微软雅黑"/>
              </a:rPr>
              <a:t>患者级临床状态判断</a:t>
            </a:r>
          </a:p>
        </p:txBody>
      </p:sp>
      <p:sp>
        <p:nvSpPr>
          <p:cNvPr id="47" name="surface-28">
            <a:extLst>
              <a:ext uri="{FF2B5EF4-FFF2-40B4-BE49-F238E27FC236}">
                <a16:creationId xmlns:a16="http://schemas.microsoft.com/office/drawing/2014/main" id="{BB6EAFB8-4780-4BD6-83A8-206BCA237C1D}"/>
              </a:ext>
            </a:extLst>
          </p:cNvPr>
          <p:cNvSpPr>
            <a:spLocks noGrp="1"/>
          </p:cNvSpPr>
          <p:nvPr/>
        </p:nvSpPr>
        <p:spPr>
          <a:xfrm>
            <a:off x="9058275" y="5143500"/>
            <a:ext cx="2571750" cy="647700"/>
          </a:xfrm>
          <a:prstGeom prst="roundRect">
            <a:avLst>
              <a:gd name="adj" fmla="val 11765"/>
            </a:avLst>
          </a:prstGeom>
          <a:solidFill>
            <a:srgbClr val="FEFEFE"/>
          </a:solidFill>
          <a:ln w="12383">
            <a:solidFill>
              <a:srgbClr val="B9D9F0"/>
            </a:solidFill>
          </a:ln>
        </p:spPr>
      </p:sp>
      <p:sp>
        <p:nvSpPr>
          <p:cNvPr id="48" name="text-29">
            <a:extLst>
              <a:ext uri="{FF2B5EF4-FFF2-40B4-BE49-F238E27FC236}">
                <a16:creationId xmlns:a16="http://schemas.microsoft.com/office/drawing/2014/main" id="{AF6CD397-959E-4DAE-BF51-B0C17159D8AE}"/>
              </a:ext>
            </a:extLst>
          </p:cNvPr>
          <p:cNvSpPr>
            <a:spLocks noGrp="1"/>
          </p:cNvSpPr>
          <p:nvPr/>
        </p:nvSpPr>
        <p:spPr>
          <a:xfrm>
            <a:off x="9153525" y="5238750"/>
            <a:ext cx="2381250" cy="266700"/>
          </a:xfrm>
          <a:prstGeom prst="rect">
            <a:avLst/>
          </a:prstGeom>
          <a:noFill/>
          <a:ln w="0">
            <a:noFill/>
          </a:ln>
        </p:spPr>
        <p:txBody>
          <a:bodyPr wrap="square" lIns="0" tIns="0" rIns="0" bIns="0" anchor="ctr">
            <a:normAutofit fontScale="100000"/>
          </a:bodyPr>
          <a:lstStyle/>
          <a:p>
            <a:pPr algn="ctr">
              <a:defRPr sz="1575" b="1">
                <a:solidFill>
                  <a:srgbClr val="071A43"/>
                </a:solidFill>
                <a:latin typeface="微软雅黑"/>
                <a:ea typeface="微软雅黑"/>
                <a:cs typeface="微软雅黑"/>
              </a:defRPr>
            </a:pPr>
            <a:r>
              <a:rPr sz="1575" b="1">
                <a:solidFill>
                  <a:srgbClr val="071A43"/>
                </a:solidFill>
                <a:latin typeface="微软雅黑"/>
                <a:ea typeface="微软雅黑"/>
                <a:cs typeface="微软雅黑"/>
              </a:rPr>
              <a:t>实验五：消融与鲁棒性</a:t>
            </a:r>
          </a:p>
        </p:txBody>
      </p:sp>
      <p:sp>
        <p:nvSpPr>
          <p:cNvPr id="49" name="text-30">
            <a:extLst>
              <a:ext uri="{FF2B5EF4-FFF2-40B4-BE49-F238E27FC236}">
                <a16:creationId xmlns:a16="http://schemas.microsoft.com/office/drawing/2014/main" id="{067A350E-33F6-4AE0-922D-A5C88E65F54B}"/>
              </a:ext>
            </a:extLst>
          </p:cNvPr>
          <p:cNvSpPr>
            <a:spLocks noGrp="1"/>
          </p:cNvSpPr>
          <p:nvPr/>
        </p:nvSpPr>
        <p:spPr>
          <a:xfrm>
            <a:off x="9153525" y="5553075"/>
            <a:ext cx="2381250" cy="180975"/>
          </a:xfrm>
          <a:prstGeom prst="rect">
            <a:avLst/>
          </a:prstGeom>
          <a:noFill/>
          <a:ln w="0">
            <a:noFill/>
          </a:ln>
        </p:spPr>
        <p:txBody>
          <a:bodyPr wrap="square" lIns="0" tIns="0" rIns="0" bIns="0" anchor="ctr">
            <a:normAutofit fontScale="87963"/>
          </a:bodyPr>
          <a:lstStyle/>
          <a:p>
            <a:pPr algn="ctr">
              <a:defRPr sz="1350" b="0">
                <a:solidFill>
                  <a:srgbClr val="17243A"/>
                </a:solidFill>
                <a:latin typeface="微软雅黑"/>
                <a:ea typeface="微软雅黑"/>
                <a:cs typeface="微软雅黑"/>
              </a:defRPr>
            </a:pPr>
            <a:r>
              <a:rPr sz="1350" b="0">
                <a:solidFill>
                  <a:srgbClr val="17243A"/>
                </a:solidFill>
                <a:latin typeface="微软雅黑"/>
                <a:ea typeface="微软雅黑"/>
                <a:cs typeface="微软雅黑"/>
              </a:rPr>
              <a:t>模块贡献与输入扰动</a:t>
            </a:r>
          </a:p>
        </p:txBody>
      </p:sp>
      <p:cxnSp>
        <p:nvCxnSpPr>
          <p:cNvPr id="50" name=""/>
          <p:cNvCxnSpPr>
            <a:stCxn id="32" idx="2"/>
            <a:endCxn id="35" idx="0"/>
          </p:cNvCxnSpPr>
          <p:nvPr/>
        </p:nvCxnSpPr>
        <p:spPr>
          <a:xfrm flipH="1">
            <a:off x="7486650" y="2619375"/>
            <a:ext cx="1428750" cy="295275"/>
          </a:xfrm>
          <a:prstGeom prst="bentConnector4">
            <a:avLst>
              <a:gd name="adj1" fmla="val 0"/>
              <a:gd name="adj2" fmla="val 50000"/>
            </a:avLst>
          </a:prstGeom>
          <a:ln w="19050">
            <a:solidFill>
              <a:srgbClr val="7FA9CA"/>
            </a:solidFill>
            <a:tailEnd type="triangle" w="sm" len="sm"/>
          </a:ln>
        </p:spPr>
      </p:cxnSp>
      <p:cxnSp>
        <p:nvCxnSpPr>
          <p:cNvPr id="51" name=""/>
          <p:cNvCxnSpPr>
            <a:stCxn id="32" idx="2"/>
            <a:endCxn id="38" idx="0"/>
          </p:cNvCxnSpPr>
          <p:nvPr/>
        </p:nvCxnSpPr>
        <p:spPr>
          <a:xfrm>
            <a:off x="8915400" y="2619375"/>
            <a:ext cx="1428750" cy="295275"/>
          </a:xfrm>
          <a:prstGeom prst="bentConnector4">
            <a:avLst>
              <a:gd name="adj1" fmla="val 0"/>
              <a:gd name="adj2" fmla="val 50000"/>
            </a:avLst>
          </a:prstGeom>
          <a:ln w="19050">
            <a:solidFill>
              <a:srgbClr val="7FA9CA"/>
            </a:solidFill>
            <a:tailEnd type="triangle" w="sm" len="sm"/>
          </a:ln>
        </p:spPr>
      </p:cxnSp>
      <p:cxnSp>
        <p:nvCxnSpPr>
          <p:cNvPr id="52" name=""/>
          <p:cNvCxnSpPr>
            <a:stCxn id="35" idx="2"/>
            <a:endCxn id="41" idx="0"/>
          </p:cNvCxnSpPr>
          <p:nvPr/>
        </p:nvCxnSpPr>
        <p:spPr>
          <a:xfrm>
            <a:off x="7486650" y="3733800"/>
            <a:ext cx="1428750" cy="295275"/>
          </a:xfrm>
          <a:prstGeom prst="bentConnector4">
            <a:avLst>
              <a:gd name="adj1" fmla="val 0"/>
              <a:gd name="adj2" fmla="val 50000"/>
            </a:avLst>
          </a:prstGeom>
          <a:ln w="19050">
            <a:solidFill>
              <a:srgbClr val="7FA9CA"/>
            </a:solidFill>
            <a:tailEnd type="triangle" w="sm" len="sm"/>
          </a:ln>
        </p:spPr>
      </p:cxnSp>
      <p:cxnSp>
        <p:nvCxnSpPr>
          <p:cNvPr id="53" name=""/>
          <p:cNvCxnSpPr>
            <a:stCxn id="38" idx="2"/>
            <a:endCxn id="41" idx="0"/>
          </p:cNvCxnSpPr>
          <p:nvPr/>
        </p:nvCxnSpPr>
        <p:spPr>
          <a:xfrm flipH="1">
            <a:off x="8915400" y="3733800"/>
            <a:ext cx="1428750" cy="295275"/>
          </a:xfrm>
          <a:prstGeom prst="bentConnector4">
            <a:avLst>
              <a:gd name="adj1" fmla="val 0"/>
              <a:gd name="adj2" fmla="val 50000"/>
            </a:avLst>
          </a:prstGeom>
          <a:ln w="19050">
            <a:solidFill>
              <a:srgbClr val="7FA9CA"/>
            </a:solidFill>
            <a:tailEnd type="triangle" w="sm" len="sm"/>
          </a:ln>
        </p:spPr>
      </p:cxnSp>
      <p:cxnSp>
        <p:nvCxnSpPr>
          <p:cNvPr id="54" name=""/>
          <p:cNvCxnSpPr>
            <a:stCxn id="41" idx="2"/>
            <a:endCxn id="44" idx="0"/>
          </p:cNvCxnSpPr>
          <p:nvPr/>
        </p:nvCxnSpPr>
        <p:spPr>
          <a:xfrm flipH="1">
            <a:off x="7486650" y="4848225"/>
            <a:ext cx="1428750" cy="295275"/>
          </a:xfrm>
          <a:prstGeom prst="bentConnector4">
            <a:avLst>
              <a:gd name="adj1" fmla="val 0"/>
              <a:gd name="adj2" fmla="val 50000"/>
            </a:avLst>
          </a:prstGeom>
          <a:ln w="19050">
            <a:solidFill>
              <a:srgbClr val="7FA9CA"/>
            </a:solidFill>
            <a:tailEnd type="triangle" w="sm" len="sm"/>
          </a:ln>
        </p:spPr>
      </p:cxnSp>
      <p:cxnSp>
        <p:nvCxnSpPr>
          <p:cNvPr id="55" name=""/>
          <p:cNvCxnSpPr>
            <a:stCxn id="41" idx="2"/>
            <a:endCxn id="47" idx="0"/>
          </p:cNvCxnSpPr>
          <p:nvPr/>
        </p:nvCxnSpPr>
        <p:spPr>
          <a:xfrm>
            <a:off x="8915400" y="4848225"/>
            <a:ext cx="1428750" cy="295275"/>
          </a:xfrm>
          <a:prstGeom prst="bentConnector4">
            <a:avLst>
              <a:gd name="adj1" fmla="val 0"/>
              <a:gd name="adj2" fmla="val 50000"/>
            </a:avLst>
          </a:prstGeom>
          <a:ln w="19050">
            <a:solidFill>
              <a:srgbClr val="7FA9CA"/>
            </a:solidFill>
            <a:tailEnd type="triangle" w="sm" len="sm"/>
          </a:ln>
        </p:spPr>
      </p:cxnSp>
      <p:sp>
        <p:nvSpPr>
          <p:cNvPr id="56" name="text-31">
            <a:extLst>
              <a:ext uri="{FF2B5EF4-FFF2-40B4-BE49-F238E27FC236}">
                <a16:creationId xmlns:a16="http://schemas.microsoft.com/office/drawing/2014/main" id="{E2845122-246D-4471-8267-DAC63523A333}"/>
              </a:ext>
            </a:extLst>
          </p:cNvPr>
          <p:cNvSpPr>
            <a:spLocks noGrp="1"/>
          </p:cNvSpPr>
          <p:nvPr/>
        </p:nvSpPr>
        <p:spPr>
          <a:xfrm>
            <a:off x="276225" y="6172200"/>
            <a:ext cx="8763000" cy="228600"/>
          </a:xfrm>
          <a:prstGeom prst="rect">
            <a:avLst/>
          </a:prstGeom>
          <a:noFill/>
          <a:ln w="0">
            <a:noFill/>
          </a:ln>
        </p:spPr>
        <p:txBody>
          <a:bodyPr wrap="square" lIns="0" tIns="0" rIns="0" bIns="0" anchor="ctr">
            <a:normAutofit fontScale="100000"/>
          </a:bodyPr>
          <a:lstStyle/>
          <a:p>
            <a:pPr algn="l">
              <a:defRPr sz="1200" b="0">
                <a:solidFill>
                  <a:srgbClr val="526982"/>
                </a:solidFill>
                <a:latin typeface="微软雅黑"/>
                <a:ea typeface="微软雅黑"/>
                <a:cs typeface="微软雅黑"/>
              </a:defRPr>
            </a:pPr>
            <a:r>
              <a:rPr sz="1200" b="0">
                <a:solidFill>
                  <a:srgbClr val="526982"/>
                </a:solidFill>
                <a:latin typeface="微软雅黑"/>
                <a:ea typeface="微软雅黑"/>
                <a:cs typeface="微软雅黑"/>
              </a:rPr>
              <a:t>计划规模，尚未完成采集或标注。ADNI 访视诊断标签用于临床状态评价。</a:t>
            </a:r>
          </a:p>
        </p:txBody>
      </p:sp>
    </p:spTree>
    <p:custDataLst>
      <p:tags r:id="rId10"/>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3"/>
          <p:cNvPicPr>
            <a:picLocks noChangeAspect="1"/>
          </p:cNvPicPr>
          <p:nvPr/>
        </p:nvPicPr>
        <p:blipFill>
          <a:blip r:embed="rId1"/>
          <a:srcRect l="3256" t="-6868" r="4770" b="-1340"/>
          <a:stretch>
            <a:fillRect/>
          </a:stretch>
        </p:blipFill>
        <p:spPr>
          <a:xfrm>
            <a:off x="9389745" y="6247765"/>
            <a:ext cx="2313940" cy="410210"/>
          </a:xfrm>
          <a:prstGeom prst="rect">
            <a:avLst/>
          </a:prstGeom>
        </p:spPr>
      </p:pic>
      <p:pic>
        <p:nvPicPr>
          <p:cNvPr id="3" name="图片 1" descr="华科大"/>
          <p:cNvPicPr>
            <a:picLocks noChangeAspect="1"/>
          </p:cNvPicPr>
          <p:nvPr>
            <p:custDataLst>
              <p:tags r:id="rId2"/>
            </p:custDataLst>
          </p:nvPr>
        </p:nvPicPr>
        <p:blipFill>
          <a:blip r:embed="rId3"/>
          <a:stretch>
            <a:fillRect/>
          </a:stretch>
        </p:blipFill>
        <p:spPr>
          <a:xfrm>
            <a:off x="635" y="-97790"/>
            <a:ext cx="2354580" cy="824230"/>
          </a:xfrm>
          <a:prstGeom prst="rect">
            <a:avLst/>
          </a:prstGeom>
        </p:spPr>
      </p:pic>
      <p:pic>
        <p:nvPicPr>
          <p:cNvPr id="4" name="图片 2" descr="华科大"/>
          <p:cNvPicPr>
            <a:picLocks noChangeAspect="1"/>
          </p:cNvPicPr>
          <p:nvPr>
            <p:custDataLst>
              <p:tags r:id="rId4"/>
            </p:custDataLst>
          </p:nvPr>
        </p:nvPicPr>
        <p:blipFill>
          <a:blip r:embed="rId3"/>
          <a:stretch>
            <a:fillRect/>
          </a:stretch>
        </p:blipFill>
        <p:spPr>
          <a:xfrm>
            <a:off x="127635" y="29210"/>
            <a:ext cx="2354580" cy="824230"/>
          </a:xfrm>
          <a:prstGeom prst="rect">
            <a:avLst/>
          </a:prstGeom>
        </p:spPr>
      </p:pic>
      <p:pic>
        <p:nvPicPr>
          <p:cNvPr id="5" name="图片 5"/>
          <p:cNvPicPr>
            <a:picLocks noChangeAspect="1"/>
          </p:cNvPicPr>
          <p:nvPr>
            <p:custDataLst>
              <p:tags r:id="rId5"/>
            </p:custDataLst>
          </p:nvPr>
        </p:nvPicPr>
        <p:blipFill>
          <a:blip r:embed="rId6"/>
          <a:srcRect t="69576" b="21479"/>
          <a:stretch>
            <a:fillRect/>
          </a:stretch>
        </p:blipFill>
        <p:spPr>
          <a:xfrm>
            <a:off x="0" y="-22860"/>
            <a:ext cx="12192000" cy="681355"/>
          </a:xfrm>
          <a:prstGeom prst="rect">
            <a:avLst/>
          </a:prstGeom>
        </p:spPr>
      </p:pic>
      <p:sp>
        <p:nvSpPr>
          <p:cNvPr id="6" name="矩形 6"/>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7" name="图片 7"/>
          <p:cNvPicPr>
            <a:picLocks noChangeAspect="1"/>
          </p:cNvPicPr>
          <p:nvPr>
            <p:custDataLst>
              <p:tags r:id="rId7"/>
            </p:custDataLst>
          </p:nvPr>
        </p:nvPicPr>
        <p:blipFill>
          <a:blip r:embed="rId6"/>
          <a:srcRect t="69576" b="21479"/>
          <a:stretch>
            <a:fillRect/>
          </a:stretch>
        </p:blipFill>
        <p:spPr>
          <a:xfrm>
            <a:off x="0" y="-22860"/>
            <a:ext cx="12192000" cy="681355"/>
          </a:xfrm>
          <a:prstGeom prst="rect">
            <a:avLst/>
          </a:prstGeom>
        </p:spPr>
      </p:pic>
      <p:sp>
        <p:nvSpPr>
          <p:cNvPr id="8" name="矩形 10"/>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11"/>
          <p:cNvSpPr/>
          <p:nvPr>
            <p:custDataLst>
              <p:tags r:id="rId8"/>
            </p:custDataLst>
          </p:nvPr>
        </p:nvSpPr>
        <p:spPr>
          <a:xfrm>
            <a:off x="8606184" y="-22745"/>
            <a:ext cx="1859281" cy="676679"/>
          </a:xfrm>
          <a:prstGeom prst="rect">
            <a:avLst/>
          </a:prstGeom>
          <a:solidFill>
            <a:srgbClr val="02549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12"/>
          <p:cNvSpPr txBox="1"/>
          <p:nvPr/>
        </p:nvSpPr>
        <p:spPr>
          <a:xfrm>
            <a:off x="2125374" y="67915"/>
            <a:ext cx="16725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研究背景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1" name="文本框 13"/>
          <p:cNvSpPr txBox="1"/>
          <p:nvPr/>
        </p:nvSpPr>
        <p:spPr>
          <a:xfrm>
            <a:off x="3762124" y="80122"/>
            <a:ext cx="178165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研究现状</a:t>
            </a:r>
            <a:endParaRPr lang="zh-CN" altLang="en-US" sz="2400" b="1" dirty="0">
              <a:solidFill>
                <a:schemeClr val="bg1"/>
              </a:solidFill>
            </a:endParaRPr>
          </a:p>
        </p:txBody>
      </p:sp>
      <p:sp>
        <p:nvSpPr>
          <p:cNvPr id="12" name="文本框 14"/>
          <p:cNvSpPr txBox="1"/>
          <p:nvPr/>
        </p:nvSpPr>
        <p:spPr>
          <a:xfrm>
            <a:off x="5394826" y="86984"/>
            <a:ext cx="183705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系统架构</a:t>
            </a:r>
            <a:endParaRPr lang="zh-CN" altLang="en-US" sz="2400" b="1" dirty="0">
              <a:solidFill>
                <a:schemeClr val="bg1"/>
              </a:solidFill>
            </a:endParaRPr>
          </a:p>
        </p:txBody>
      </p:sp>
      <p:sp>
        <p:nvSpPr>
          <p:cNvPr id="13" name="文本框 15"/>
          <p:cNvSpPr txBox="1"/>
          <p:nvPr/>
        </p:nvSpPr>
        <p:spPr>
          <a:xfrm>
            <a:off x="7005125" y="86983"/>
            <a:ext cx="185928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图谱算法</a:t>
            </a:r>
            <a:endParaRPr lang="zh-CN" altLang="en-US" sz="2400" b="1" dirty="0">
              <a:solidFill>
                <a:schemeClr val="bg1"/>
              </a:solidFill>
            </a:endParaRPr>
          </a:p>
        </p:txBody>
      </p:sp>
      <p:sp>
        <p:nvSpPr>
          <p:cNvPr id="14" name="文本框 16"/>
          <p:cNvSpPr txBox="1"/>
          <p:nvPr/>
        </p:nvSpPr>
        <p:spPr>
          <a:xfrm>
            <a:off x="8667692" y="80141"/>
            <a:ext cx="1736725" cy="46037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实验</a:t>
            </a:r>
            <a:r>
              <a:rPr lang="zh-CN" altLang="en-US" sz="2400" b="1" dirty="0">
                <a:solidFill>
                  <a:schemeClr val="bg1"/>
                </a:solidFill>
                <a:latin typeface="微软雅黑" panose="020B0503020204020204" pitchFamily="34" charset="-122"/>
                <a:ea typeface="微软雅黑" panose="020B0503020204020204" pitchFamily="34" charset="-122"/>
              </a:rPr>
              <a:t>设计</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15" name="图片 17" descr="华科大"/>
          <p:cNvPicPr>
            <a:picLocks noChangeAspect="1"/>
          </p:cNvPicPr>
          <p:nvPr>
            <p:custDataLst>
              <p:tags r:id="rId9"/>
            </p:custDataLst>
          </p:nvPr>
        </p:nvPicPr>
        <p:blipFill>
          <a:blip r:embed="rId3"/>
          <a:stretch>
            <a:fillRect/>
          </a:stretch>
        </p:blipFill>
        <p:spPr>
          <a:xfrm>
            <a:off x="-156383" y="-97790"/>
            <a:ext cx="2354580" cy="824230"/>
          </a:xfrm>
          <a:prstGeom prst="rect">
            <a:avLst/>
          </a:prstGeom>
        </p:spPr>
      </p:pic>
      <p:sp>
        <p:nvSpPr>
          <p:cNvPr id="16" name="文本框 115"/>
          <p:cNvSpPr txBox="1"/>
          <p:nvPr/>
        </p:nvSpPr>
        <p:spPr>
          <a:xfrm>
            <a:off x="10326506" y="69184"/>
            <a:ext cx="2015375" cy="460375"/>
          </a:xfrm>
          <a:prstGeom prst="rect">
            <a:avLst/>
          </a:prstGeom>
          <a:noFill/>
        </p:spPr>
        <p:txBody>
          <a:bodyPr wrap="squar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研究</a:t>
            </a:r>
            <a:r>
              <a:rPr lang="zh-CN" altLang="en-US" sz="2400" b="1" dirty="0">
                <a:solidFill>
                  <a:schemeClr val="bg1"/>
                </a:solidFill>
                <a:latin typeface="微软雅黑" panose="020B0503020204020204" pitchFamily="34" charset="-122"/>
                <a:ea typeface="微软雅黑" panose="020B0503020204020204" pitchFamily="34" charset="-122"/>
              </a:rPr>
              <a:t>计划</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7" name="surface-32">
            <a:extLst>
              <a:ext uri="{FF2B5EF4-FFF2-40B4-BE49-F238E27FC236}">
                <a16:creationId xmlns:a16="http://schemas.microsoft.com/office/drawing/2014/main" id="{523204AB-E3DD-483A-A893-4D3C1F04482F}"/>
              </a:ext>
            </a:extLst>
          </p:cNvPr>
          <p:cNvSpPr>
            <a:spLocks noGrp="1"/>
          </p:cNvSpPr>
          <p:nvPr/>
        </p:nvSpPr>
        <p:spPr>
          <a:xfrm>
            <a:off x="228600" y="933450"/>
            <a:ext cx="5781675" cy="5086350"/>
          </a:xfrm>
          <a:prstGeom prst="roundRect">
            <a:avLst>
              <a:gd name="adj" fmla="val 1873"/>
            </a:avLst>
          </a:prstGeom>
          <a:solidFill>
            <a:srgbClr val="FEFEFE"/>
          </a:solidFill>
          <a:ln w="12383">
            <a:solidFill>
              <a:srgbClr val="B9D9F0"/>
            </a:solidFill>
          </a:ln>
        </p:spPr>
      </p:sp>
      <p:sp>
        <p:nvSpPr>
          <p:cNvPr id="18" name="surface-33">
            <a:extLst>
              <a:ext uri="{FF2B5EF4-FFF2-40B4-BE49-F238E27FC236}">
                <a16:creationId xmlns:a16="http://schemas.microsoft.com/office/drawing/2014/main" id="{60D58C67-4396-4925-BF67-3A2BB4AF269F}"/>
              </a:ext>
            </a:extLst>
          </p:cNvPr>
          <p:cNvSpPr>
            <a:spLocks noGrp="1"/>
          </p:cNvSpPr>
          <p:nvPr/>
        </p:nvSpPr>
        <p:spPr>
          <a:xfrm>
            <a:off x="238125" y="942975"/>
            <a:ext cx="5762625" cy="476250"/>
          </a:xfrm>
          <a:prstGeom prst="roundRect">
            <a:avLst>
              <a:gd name="adj" fmla="val 16000"/>
            </a:avLst>
          </a:prstGeom>
          <a:solidFill>
            <a:srgbClr val="EDF5FB"/>
          </a:solidFill>
          <a:ln w="12383">
            <a:solidFill>
              <a:srgbClr val="EDF5FB"/>
            </a:solidFill>
          </a:ln>
        </p:spPr>
      </p:sp>
      <p:pic>
        <p:nvPicPr>
          <p:cNvPr id="19" name="Image 2" descr="image"/>
          <p:cNvPicPr>
            <a:picLocks noChangeAspect="1"/>
          </p:cNvPicPr>
          <p:nvPr/>
        </p:nvPicPr>
        <p:blipFill>
          <a:blip r:embed="rIdBadge"/>
          <a:stretch>
            <a:fillRect/>
          </a:stretch>
        </p:blipFill>
        <p:spPr>
          <a:xfrm>
            <a:off x="228600" y="933450"/>
            <a:ext cx="609600" cy="495300"/>
          </a:xfrm>
          <a:prstGeom prst="rect">
            <a:avLst/>
          </a:prstGeom>
        </p:spPr>
      </p:pic>
      <p:sp>
        <p:nvSpPr>
          <p:cNvPr id="20" name="text-34">
            <a:extLst>
              <a:ext uri="{FF2B5EF4-FFF2-40B4-BE49-F238E27FC236}">
                <a16:creationId xmlns:a16="http://schemas.microsoft.com/office/drawing/2014/main" id="{321AE582-F6D3-4A5F-B077-22D0B644C579}"/>
              </a:ext>
            </a:extLst>
          </p:cNvPr>
          <p:cNvSpPr>
            <a:spLocks noGrp="1"/>
          </p:cNvSpPr>
          <p:nvPr/>
        </p:nvSpPr>
        <p:spPr>
          <a:xfrm>
            <a:off x="371475" y="1000125"/>
            <a:ext cx="438150" cy="323850"/>
          </a:xfrm>
          <a:prstGeom prst="rect">
            <a:avLst/>
          </a:prstGeom>
          <a:noFill/>
          <a:ln w="0">
            <a:noFill/>
          </a:ln>
        </p:spPr>
        <p:txBody>
          <a:bodyPr wrap="square" lIns="0" tIns="0" rIns="0" bIns="0" anchor="ctr">
            <a:normAutofit fontScale="97701"/>
          </a:bodyPr>
          <a:lstStyle/>
          <a:p>
            <a:pPr algn="ctr">
              <a:defRPr sz="2175" b="1">
                <a:solidFill>
                  <a:srgbClr val="FFFFFF"/>
                </a:solidFill>
                <a:latin typeface="微软雅黑"/>
                <a:ea typeface="微软雅黑"/>
                <a:cs typeface="微软雅黑"/>
              </a:defRPr>
            </a:pPr>
            <a:r>
              <a:rPr sz="2175" b="1">
                <a:solidFill>
                  <a:srgbClr val="FFFFFF"/>
                </a:solidFill>
                <a:latin typeface="微软雅黑"/>
                <a:ea typeface="微软雅黑"/>
                <a:cs typeface="微软雅黑"/>
              </a:rPr>
              <a:t>01</a:t>
            </a:r>
          </a:p>
        </p:txBody>
      </p:sp>
      <p:sp>
        <p:nvSpPr>
          <p:cNvPr id="21" name="text-35">
            <a:extLst>
              <a:ext uri="{FF2B5EF4-FFF2-40B4-BE49-F238E27FC236}">
                <a16:creationId xmlns:a16="http://schemas.microsoft.com/office/drawing/2014/main" id="{254A966F-619C-4505-A9AD-D69071288242}"/>
              </a:ext>
            </a:extLst>
          </p:cNvPr>
          <p:cNvSpPr>
            <a:spLocks noGrp="1"/>
          </p:cNvSpPr>
          <p:nvPr/>
        </p:nvSpPr>
        <p:spPr>
          <a:xfrm>
            <a:off x="923925" y="1000125"/>
            <a:ext cx="4933950" cy="323850"/>
          </a:xfrm>
          <a:prstGeom prst="rect">
            <a:avLst/>
          </a:prstGeom>
          <a:noFill/>
          <a:ln w="0">
            <a:noFill/>
          </a:ln>
        </p:spPr>
        <p:txBody>
          <a:bodyPr wrap="square" lIns="0" tIns="0" rIns="0" bIns="0" anchor="ctr">
            <a:normAutofit fontScale="100000"/>
          </a:bodyPr>
          <a:lstStyle/>
          <a:p>
            <a:pPr algn="l">
              <a:defRPr sz="1913" b="1">
                <a:solidFill>
                  <a:srgbClr val="071A43"/>
                </a:solidFill>
                <a:latin typeface="微软雅黑"/>
                <a:ea typeface="微软雅黑"/>
                <a:cs typeface="微软雅黑"/>
              </a:defRPr>
            </a:pPr>
            <a:r>
              <a:rPr sz="1913" b="1">
                <a:solidFill>
                  <a:srgbClr val="071A43"/>
                </a:solidFill>
                <a:latin typeface="微软雅黑"/>
                <a:ea typeface="微软雅黑"/>
                <a:cs typeface="微软雅黑"/>
              </a:rPr>
              <a:t>实验一：条件化知识构建</a:t>
            </a:r>
          </a:p>
        </p:txBody>
      </p:sp>
      <p:sp>
        <p:nvSpPr>
          <p:cNvPr id="22" name="surface-36">
            <a:extLst>
              <a:ext uri="{FF2B5EF4-FFF2-40B4-BE49-F238E27FC236}">
                <a16:creationId xmlns:a16="http://schemas.microsoft.com/office/drawing/2014/main" id="{0B504D68-C917-4728-834D-E65B12B7FF7A}"/>
              </a:ext>
            </a:extLst>
          </p:cNvPr>
          <p:cNvSpPr>
            <a:spLocks noGrp="1"/>
          </p:cNvSpPr>
          <p:nvPr/>
        </p:nvSpPr>
        <p:spPr>
          <a:xfrm>
            <a:off x="6181725" y="933450"/>
            <a:ext cx="5781675" cy="5086350"/>
          </a:xfrm>
          <a:prstGeom prst="roundRect">
            <a:avLst>
              <a:gd name="adj" fmla="val 1873"/>
            </a:avLst>
          </a:prstGeom>
          <a:solidFill>
            <a:srgbClr val="FEFEFE"/>
          </a:solidFill>
          <a:ln w="12383">
            <a:solidFill>
              <a:srgbClr val="B9D9F0"/>
            </a:solidFill>
          </a:ln>
        </p:spPr>
      </p:sp>
      <p:sp>
        <p:nvSpPr>
          <p:cNvPr id="23" name="surface-37">
            <a:extLst>
              <a:ext uri="{FF2B5EF4-FFF2-40B4-BE49-F238E27FC236}">
                <a16:creationId xmlns:a16="http://schemas.microsoft.com/office/drawing/2014/main" id="{7150D005-74E5-45F0-B2D4-F03787086D74}"/>
              </a:ext>
            </a:extLst>
          </p:cNvPr>
          <p:cNvSpPr>
            <a:spLocks noGrp="1"/>
          </p:cNvSpPr>
          <p:nvPr/>
        </p:nvSpPr>
        <p:spPr>
          <a:xfrm>
            <a:off x="6191250" y="942975"/>
            <a:ext cx="5762625" cy="476250"/>
          </a:xfrm>
          <a:prstGeom prst="roundRect">
            <a:avLst>
              <a:gd name="adj" fmla="val 16000"/>
            </a:avLst>
          </a:prstGeom>
          <a:solidFill>
            <a:srgbClr val="EDF5FB"/>
          </a:solidFill>
          <a:ln w="12383">
            <a:solidFill>
              <a:srgbClr val="EDF5FB"/>
            </a:solidFill>
          </a:ln>
        </p:spPr>
      </p:sp>
      <p:pic>
        <p:nvPicPr>
          <p:cNvPr id="24" name="Image 2" descr="image"/>
          <p:cNvPicPr>
            <a:picLocks noChangeAspect="1"/>
          </p:cNvPicPr>
          <p:nvPr/>
        </p:nvPicPr>
        <p:blipFill>
          <a:blip r:embed="rIdBadge"/>
          <a:stretch>
            <a:fillRect/>
          </a:stretch>
        </p:blipFill>
        <p:spPr>
          <a:xfrm>
            <a:off x="6181725" y="933450"/>
            <a:ext cx="609600" cy="495300"/>
          </a:xfrm>
          <a:prstGeom prst="rect">
            <a:avLst/>
          </a:prstGeom>
        </p:spPr>
      </p:pic>
      <p:sp>
        <p:nvSpPr>
          <p:cNvPr id="25" name="text-38">
            <a:extLst>
              <a:ext uri="{FF2B5EF4-FFF2-40B4-BE49-F238E27FC236}">
                <a16:creationId xmlns:a16="http://schemas.microsoft.com/office/drawing/2014/main" id="{6A0B3700-5EB9-4E04-9F50-7E24D7E579F0}"/>
              </a:ext>
            </a:extLst>
          </p:cNvPr>
          <p:cNvSpPr>
            <a:spLocks noGrp="1"/>
          </p:cNvSpPr>
          <p:nvPr/>
        </p:nvSpPr>
        <p:spPr>
          <a:xfrm>
            <a:off x="6324600" y="1000125"/>
            <a:ext cx="438150" cy="323850"/>
          </a:xfrm>
          <a:prstGeom prst="rect">
            <a:avLst/>
          </a:prstGeom>
          <a:noFill/>
          <a:ln w="0">
            <a:noFill/>
          </a:ln>
        </p:spPr>
        <p:txBody>
          <a:bodyPr wrap="square" lIns="0" tIns="0" rIns="0" bIns="0" anchor="ctr">
            <a:normAutofit fontScale="97701"/>
          </a:bodyPr>
          <a:lstStyle/>
          <a:p>
            <a:pPr algn="ctr">
              <a:defRPr sz="2175" b="1">
                <a:solidFill>
                  <a:srgbClr val="FFFFFF"/>
                </a:solidFill>
                <a:latin typeface="微软雅黑"/>
                <a:ea typeface="微软雅黑"/>
                <a:cs typeface="微软雅黑"/>
              </a:defRPr>
            </a:pPr>
            <a:r>
              <a:rPr sz="2175" b="1">
                <a:solidFill>
                  <a:srgbClr val="FFFFFF"/>
                </a:solidFill>
                <a:latin typeface="微软雅黑"/>
                <a:ea typeface="微软雅黑"/>
                <a:cs typeface="微软雅黑"/>
              </a:rPr>
              <a:t>02</a:t>
            </a:r>
          </a:p>
        </p:txBody>
      </p:sp>
      <p:sp>
        <p:nvSpPr>
          <p:cNvPr id="26" name="text-39">
            <a:extLst>
              <a:ext uri="{FF2B5EF4-FFF2-40B4-BE49-F238E27FC236}">
                <a16:creationId xmlns:a16="http://schemas.microsoft.com/office/drawing/2014/main" id="{B5EF2A1E-17FB-4436-9E8A-A1D599386655}"/>
              </a:ext>
            </a:extLst>
          </p:cNvPr>
          <p:cNvSpPr>
            <a:spLocks noGrp="1"/>
          </p:cNvSpPr>
          <p:nvPr/>
        </p:nvSpPr>
        <p:spPr>
          <a:xfrm>
            <a:off x="6877050" y="1000125"/>
            <a:ext cx="4933950" cy="323850"/>
          </a:xfrm>
          <a:prstGeom prst="rect">
            <a:avLst/>
          </a:prstGeom>
          <a:noFill/>
          <a:ln w="0">
            <a:noFill/>
          </a:ln>
        </p:spPr>
        <p:txBody>
          <a:bodyPr wrap="square" lIns="0" tIns="0" rIns="0" bIns="0" anchor="ctr">
            <a:normAutofit fontScale="100000"/>
          </a:bodyPr>
          <a:lstStyle/>
          <a:p>
            <a:pPr algn="l">
              <a:defRPr sz="1913" b="1">
                <a:solidFill>
                  <a:srgbClr val="071A43"/>
                </a:solidFill>
                <a:latin typeface="微软雅黑"/>
                <a:ea typeface="微软雅黑"/>
                <a:cs typeface="微软雅黑"/>
              </a:defRPr>
            </a:pPr>
            <a:r>
              <a:rPr sz="1913" b="1">
                <a:solidFill>
                  <a:srgbClr val="071A43"/>
                </a:solidFill>
                <a:latin typeface="微软雅黑"/>
                <a:ea typeface="微软雅黑"/>
                <a:cs typeface="微软雅黑"/>
              </a:rPr>
              <a:t>实验二：患者证据检索与补查</a:t>
            </a:r>
          </a:p>
        </p:txBody>
      </p:sp>
      <p:sp>
        <p:nvSpPr>
          <p:cNvPr id="27" name="text-40">
            <a:extLst>
              <a:ext uri="{FF2B5EF4-FFF2-40B4-BE49-F238E27FC236}">
                <a16:creationId xmlns:a16="http://schemas.microsoft.com/office/drawing/2014/main" id="{3796BBA5-7DB6-4072-A70A-8B9797C677E2}"/>
              </a:ext>
            </a:extLst>
          </p:cNvPr>
          <p:cNvSpPr>
            <a:spLocks noGrp="1"/>
          </p:cNvSpPr>
          <p:nvPr/>
        </p:nvSpPr>
        <p:spPr>
          <a:xfrm>
            <a:off x="419100" y="1524000"/>
            <a:ext cx="5381625" cy="438150"/>
          </a:xfrm>
          <a:prstGeom prst="rect">
            <a:avLst/>
          </a:prstGeom>
          <a:noFill/>
          <a:ln w="0">
            <a:noFill/>
          </a:ln>
        </p:spPr>
        <p:txBody>
          <a:bodyPr wrap="square" lIns="0" tIns="0" rIns="0" bIns="0" anchor="ctr">
            <a:normAutofit fontScale="100000"/>
          </a:bodyPr>
          <a:lstStyle/>
          <a:p>
            <a:pPr algn="l">
              <a:defRPr sz="1500" b="0">
                <a:solidFill>
                  <a:srgbClr val="17243A"/>
                </a:solidFill>
                <a:latin typeface="微软雅黑"/>
                <a:ea typeface="微软雅黑"/>
                <a:cs typeface="微软雅黑"/>
              </a:defRPr>
            </a:pPr>
            <a:r>
              <a:rPr sz="1500" b="0">
                <a:solidFill>
                  <a:srgbClr val="17243A"/>
                </a:solidFill>
                <a:latin typeface="微软雅黑"/>
                <a:ea typeface="微软雅黑"/>
                <a:cs typeface="微软雅黑"/>
              </a:rPr>
              <a:t>验证医学声明的条件归属、逻辑关系及来源保留</a:t>
            </a:r>
          </a:p>
        </p:txBody>
      </p:sp>
      <p:sp>
        <p:nvSpPr>
          <p:cNvPr id="28" name="text-41">
            <a:extLst>
              <a:ext uri="{FF2B5EF4-FFF2-40B4-BE49-F238E27FC236}">
                <a16:creationId xmlns:a16="http://schemas.microsoft.com/office/drawing/2014/main" id="{F2785324-B708-44F8-8112-4CA1C121F65D}"/>
              </a:ext>
            </a:extLst>
          </p:cNvPr>
          <p:cNvSpPr>
            <a:spLocks noGrp="1"/>
          </p:cNvSpPr>
          <p:nvPr/>
        </p:nvSpPr>
        <p:spPr>
          <a:xfrm>
            <a:off x="419100" y="2028825"/>
            <a:ext cx="5334000" cy="276225"/>
          </a:xfrm>
          <a:prstGeom prst="rect">
            <a:avLst/>
          </a:prstGeom>
          <a:noFill/>
          <a:ln w="0">
            <a:noFill/>
          </a:ln>
        </p:spPr>
        <p:txBody>
          <a:bodyPr wrap="square" lIns="0" tIns="0" rIns="0" bIns="0" anchor="ctr">
            <a:normAutofit fontScale="100000"/>
          </a:bodyPr>
          <a:lstStyle/>
          <a:p>
            <a:pPr algn="l">
              <a:defRPr sz="1538" b="1">
                <a:solidFill>
                  <a:srgbClr val="02549D"/>
                </a:solidFill>
                <a:latin typeface="微软雅黑"/>
                <a:ea typeface="微软雅黑"/>
                <a:cs typeface="微软雅黑"/>
              </a:defRPr>
            </a:pPr>
            <a:r>
              <a:rPr sz="1538" b="1">
                <a:solidFill>
                  <a:srgbClr val="02549D"/>
                </a:solidFill>
                <a:latin typeface="微软雅黑"/>
                <a:ea typeface="微软雅黑"/>
                <a:cs typeface="微软雅黑"/>
              </a:rPr>
              <a:t>对照方法</a:t>
            </a:r>
          </a:p>
        </p:txBody>
      </p:sp>
      <p:graphicFrame>
        <p:nvGraphicFramePr>
          <p:cNvPr id="29" name=""/>
          <p:cNvGraphicFramePr/>
          <p:nvPr/>
        </p:nvGraphicFramePr>
        <p:xfrm>
          <a:off x="409575" y="2381250"/>
          <a:ext cx="5419725" cy="1752600"/>
        </p:xfrm>
        <a:graphic>
          <a:graphicData uri="http://schemas.openxmlformats.org/drawingml/2006/table">
            <a:tbl>
              <a:tblPr firstRow="0" bandRow="0"/>
              <a:tblGrid>
                <a:gridCol w="2295525"/>
                <a:gridCol w="3124200"/>
              </a:tblGrid>
              <a:tr h="350520">
                <a:tc>
                  <a:txBody>
                    <a:bodyPr lIns="85725" tIns="47625" rIns="76200" bIns="47625">
                      <a:normAutofit/>
                    </a:bodyPr>
                    <a:lstStyle/>
                    <a:p>
                      <a:pPr algn="l"/>
                      <a:r>
                        <a:rPr sz="1350" b="1">
                          <a:solidFill>
                            <a:srgbClr val="071A43"/>
                          </a:solidFill>
                          <a:latin typeface="微软雅黑"/>
                          <a:ea typeface="微软雅黑"/>
                          <a:cs typeface="微软雅黑"/>
                        </a:rPr>
                        <a:t>方法</a:t>
                      </a:r>
                    </a:p>
                  </a:txBody>
                  <a:tcPr marL="91440" marR="91440" marT="45720" marB="45720" anchor="ctr">
                    <a:solidFill>
                      <a:srgbClr val="EDF5FB"/>
                    </a:solidFill>
                  </a:tcPr>
                </a:tc>
                <a:tc>
                  <a:txBody>
                    <a:bodyPr lIns="85725" tIns="47625" rIns="76200" bIns="47625">
                      <a:normAutofit/>
                    </a:bodyPr>
                    <a:lstStyle/>
                    <a:p>
                      <a:pPr algn="l"/>
                      <a:r>
                        <a:rPr sz="1350" b="1">
                          <a:solidFill>
                            <a:srgbClr val="071A43"/>
                          </a:solidFill>
                          <a:latin typeface="微软雅黑"/>
                          <a:ea typeface="微软雅黑"/>
                          <a:cs typeface="微软雅黑"/>
                        </a:rPr>
                        <a:t>核心变化</a:t>
                      </a:r>
                    </a:p>
                  </a:txBody>
                  <a:tcPr marL="91440" marR="91440" marT="45720" marB="45720" anchor="ctr">
                    <a:solidFill>
                      <a:srgbClr val="EDF5FB"/>
                    </a:solidFill>
                  </a:tcPr>
                </a:tc>
              </a:tr>
              <a:tr h="350520">
                <a:tc>
                  <a:txBody>
                    <a:bodyPr lIns="85725" tIns="47625" rIns="76200" bIns="47625">
                      <a:normAutofit/>
                    </a:bodyPr>
                    <a:lstStyle/>
                    <a:p>
                      <a:pPr algn="l"/>
                      <a:r>
                        <a:rPr sz="1350" b="0">
                          <a:solidFill>
                            <a:srgbClr val="17243A"/>
                          </a:solidFill>
                          <a:latin typeface="微软雅黑"/>
                          <a:ea typeface="微软雅黑"/>
                          <a:cs typeface="微软雅黑"/>
                        </a:rPr>
                        <a:t>B1 三元组抽取</a:t>
                      </a:r>
                    </a:p>
                  </a:txBody>
                  <a:tcPr marL="91440" marR="91440" marT="45720" marB="45720" anchor="ctr">
                    <a:solidFill>
                      <a:srgbClr val="FEFEFE"/>
                    </a:solidFill>
                  </a:tcPr>
                </a:tc>
                <a:tc>
                  <a:txBody>
                    <a:bodyPr lIns="85725" tIns="47625" rIns="76200" bIns="47625">
                      <a:normAutofit/>
                    </a:bodyPr>
                    <a:lstStyle/>
                    <a:p>
                      <a:pPr algn="l"/>
                      <a:r>
                        <a:rPr sz="1350" b="0">
                          <a:solidFill>
                            <a:srgbClr val="17243A"/>
                          </a:solidFill>
                          <a:latin typeface="微软雅黑"/>
                          <a:ea typeface="微软雅黑"/>
                          <a:cs typeface="微软雅黑"/>
                        </a:rPr>
                        <a:t>抽取主体、关系、客体</a:t>
                      </a:r>
                    </a:p>
                  </a:txBody>
                  <a:tcPr marL="91440" marR="91440" marT="45720" marB="45720" anchor="ctr">
                    <a:solidFill>
                      <a:srgbClr val="FEFEFE"/>
                    </a:solidFill>
                  </a:tcPr>
                </a:tc>
              </a:tr>
              <a:tr h="350520">
                <a:tc>
                  <a:txBody>
                    <a:bodyPr lIns="85725" tIns="47625" rIns="76200" bIns="47625">
                      <a:normAutofit/>
                    </a:bodyPr>
                    <a:lstStyle/>
                    <a:p>
                      <a:pPr algn="l"/>
                      <a:r>
                        <a:rPr sz="1350" b="0">
                          <a:solidFill>
                            <a:srgbClr val="17243A"/>
                          </a:solidFill>
                          <a:latin typeface="微软雅黑"/>
                          <a:ea typeface="微软雅黑"/>
                          <a:cs typeface="微软雅黑"/>
                        </a:rPr>
                        <a:t>B2 条件抽取</a:t>
                      </a:r>
                    </a:p>
                  </a:txBody>
                  <a:tcPr marL="91440" marR="91440" marT="45720" marB="45720" anchor="ctr">
                    <a:solidFill>
                      <a:srgbClr val="FEFEFE"/>
                    </a:solidFill>
                  </a:tcPr>
                </a:tc>
                <a:tc>
                  <a:txBody>
                    <a:bodyPr lIns="85725" tIns="47625" rIns="76200" bIns="47625">
                      <a:normAutofit/>
                    </a:bodyPr>
                    <a:lstStyle/>
                    <a:p>
                      <a:pPr algn="l"/>
                      <a:r>
                        <a:rPr sz="1350" b="0">
                          <a:solidFill>
                            <a:srgbClr val="17243A"/>
                          </a:solidFill>
                          <a:latin typeface="微软雅黑"/>
                          <a:ea typeface="微软雅黑"/>
                          <a:cs typeface="微软雅黑"/>
                        </a:rPr>
                        <a:t>加入人群、时间及排除条件</a:t>
                      </a:r>
                    </a:p>
                  </a:txBody>
                  <a:tcPr marL="91440" marR="91440" marT="45720" marB="45720" anchor="ctr">
                    <a:solidFill>
                      <a:srgbClr val="FEFEFE"/>
                    </a:solidFill>
                  </a:tcPr>
                </a:tc>
              </a:tr>
              <a:tr h="350520">
                <a:tc>
                  <a:txBody>
                    <a:bodyPr lIns="85725" tIns="47625" rIns="76200" bIns="47625">
                      <a:normAutofit/>
                    </a:bodyPr>
                    <a:lstStyle/>
                    <a:p>
                      <a:pPr algn="l"/>
                      <a:r>
                        <a:rPr sz="1350" b="0">
                          <a:solidFill>
                            <a:srgbClr val="17243A"/>
                          </a:solidFill>
                          <a:latin typeface="微软雅黑"/>
                          <a:ea typeface="微软雅黑"/>
                          <a:cs typeface="微软雅黑"/>
                        </a:rPr>
                        <a:t>B3 文档解析 + 条件抽取</a:t>
                      </a:r>
                    </a:p>
                  </a:txBody>
                  <a:tcPr marL="91440" marR="91440" marT="45720" marB="45720" anchor="ctr">
                    <a:solidFill>
                      <a:srgbClr val="FEFEFE"/>
                    </a:solidFill>
                  </a:tcPr>
                </a:tc>
                <a:tc>
                  <a:txBody>
                    <a:bodyPr lIns="85725" tIns="47625" rIns="76200" bIns="47625">
                      <a:normAutofit/>
                    </a:bodyPr>
                    <a:lstStyle/>
                    <a:p>
                      <a:pPr algn="l"/>
                      <a:r>
                        <a:rPr sz="1350" b="0">
                          <a:solidFill>
                            <a:srgbClr val="17243A"/>
                          </a:solidFill>
                          <a:latin typeface="微软雅黑"/>
                          <a:ea typeface="微软雅黑"/>
                          <a:cs typeface="微软雅黑"/>
                        </a:rPr>
                        <a:t>联合处理正文、表格与脚注</a:t>
                      </a:r>
                    </a:p>
                  </a:txBody>
                  <a:tcPr marL="91440" marR="91440" marT="45720" marB="45720" anchor="ctr">
                    <a:solidFill>
                      <a:srgbClr val="FEFEFE"/>
                    </a:solidFill>
                  </a:tcPr>
                </a:tc>
              </a:tr>
              <a:tr h="350520">
                <a:tc>
                  <a:txBody>
                    <a:bodyPr lIns="85725" tIns="47625" rIns="76200" bIns="47625">
                      <a:normAutofit/>
                    </a:bodyPr>
                    <a:lstStyle/>
                    <a:p>
                      <a:pPr algn="l"/>
                      <a:r>
                        <a:rPr sz="1350" b="1">
                          <a:solidFill>
                            <a:srgbClr val="071A43"/>
                          </a:solidFill>
                          <a:latin typeface="微软雅黑"/>
                          <a:ea typeface="微软雅黑"/>
                          <a:cs typeface="微软雅黑"/>
                        </a:rPr>
                        <a:t>完整算法一</a:t>
                      </a:r>
                    </a:p>
                  </a:txBody>
                  <a:tcPr marL="91440" marR="91440" marT="45720" marB="45720" anchor="ctr">
                    <a:solidFill>
                      <a:srgbClr val="F0F7FC"/>
                    </a:solidFill>
                  </a:tcPr>
                </a:tc>
                <a:tc>
                  <a:txBody>
                    <a:bodyPr lIns="85725" tIns="47625" rIns="76200" bIns="47625">
                      <a:normAutofit/>
                    </a:bodyPr>
                    <a:lstStyle/>
                    <a:p>
                      <a:pPr algn="l"/>
                      <a:r>
                        <a:rPr sz="1350" b="1">
                          <a:solidFill>
                            <a:srgbClr val="071A43"/>
                          </a:solidFill>
                          <a:latin typeface="微软雅黑"/>
                          <a:ea typeface="微软雅黑"/>
                          <a:cs typeface="微软雅黑"/>
                        </a:rPr>
                        <a:t>跨位置条件归属、来源及逻辑关联</a:t>
                      </a:r>
                    </a:p>
                  </a:txBody>
                  <a:tcPr marL="91440" marR="91440" marT="45720" marB="45720" anchor="ctr">
                    <a:solidFill>
                      <a:srgbClr val="F0F7FC"/>
                    </a:solidFill>
                  </a:tcPr>
                </a:tc>
              </a:tr>
            </a:tbl>
          </a:graphicData>
        </a:graphic>
      </p:graphicFrame>
      <p:sp>
        <p:nvSpPr>
          <p:cNvPr id="30" name="text-42">
            <a:extLst>
              <a:ext uri="{FF2B5EF4-FFF2-40B4-BE49-F238E27FC236}">
                <a16:creationId xmlns:a16="http://schemas.microsoft.com/office/drawing/2014/main" id="{0E01F850-BBE7-4668-B27F-BA8EC5E27BC2}"/>
              </a:ext>
            </a:extLst>
          </p:cNvPr>
          <p:cNvSpPr>
            <a:spLocks noGrp="1"/>
          </p:cNvSpPr>
          <p:nvPr/>
        </p:nvSpPr>
        <p:spPr>
          <a:xfrm>
            <a:off x="419100" y="4238625"/>
            <a:ext cx="5381625" cy="276225"/>
          </a:xfrm>
          <a:prstGeom prst="rect">
            <a:avLst/>
          </a:prstGeom>
          <a:noFill/>
          <a:ln w="0">
            <a:noFill/>
          </a:ln>
        </p:spPr>
        <p:txBody>
          <a:bodyPr wrap="square" lIns="0" tIns="0" rIns="0" bIns="0" anchor="ctr">
            <a:normAutofit fontScale="100000"/>
          </a:bodyPr>
          <a:lstStyle/>
          <a:p>
            <a:pPr algn="l">
              <a:defRPr sz="1538" b="1">
                <a:solidFill>
                  <a:srgbClr val="02549D"/>
                </a:solidFill>
                <a:latin typeface="微软雅黑"/>
                <a:ea typeface="微软雅黑"/>
                <a:cs typeface="微软雅黑"/>
              </a:defRPr>
            </a:pPr>
            <a:r>
              <a:rPr sz="1538" b="1">
                <a:solidFill>
                  <a:srgbClr val="02549D"/>
                </a:solidFill>
                <a:latin typeface="微软雅黑"/>
                <a:ea typeface="微软雅黑"/>
                <a:cs typeface="微软雅黑"/>
              </a:rPr>
              <a:t>主要指标</a:t>
            </a:r>
          </a:p>
        </p:txBody>
      </p:sp>
      <p:sp>
        <p:nvSpPr>
          <p:cNvPr id="31" name="text-43">
            <a:extLst>
              <a:ext uri="{FF2B5EF4-FFF2-40B4-BE49-F238E27FC236}">
                <a16:creationId xmlns:a16="http://schemas.microsoft.com/office/drawing/2014/main" id="{95B3C9D5-FC86-49AF-A68D-37A34125F698}"/>
              </a:ext>
            </a:extLst>
          </p:cNvPr>
          <p:cNvSpPr>
            <a:spLocks noGrp="1"/>
          </p:cNvSpPr>
          <p:nvPr/>
        </p:nvSpPr>
        <p:spPr>
          <a:xfrm>
            <a:off x="419100" y="4581525"/>
            <a:ext cx="5381625" cy="285750"/>
          </a:xfrm>
          <a:prstGeom prst="rect">
            <a:avLst/>
          </a:prstGeom>
          <a:noFill/>
          <a:ln w="0">
            <a:noFill/>
          </a:ln>
        </p:spPr>
        <p:txBody>
          <a:bodyPr wrap="square" lIns="0" tIns="0" rIns="0" bIns="0" anchor="ctr">
            <a:normAutofit fontScale="100000"/>
          </a:bodyPr>
          <a:lstStyle/>
          <a:p>
            <a:pPr algn="l">
              <a:defRPr sz="1650" b="1">
                <a:solidFill>
                  <a:srgbClr val="071A43"/>
                </a:solidFill>
                <a:latin typeface="微软雅黑"/>
                <a:ea typeface="微软雅黑"/>
                <a:cs typeface="微软雅黑"/>
              </a:defRPr>
            </a:pPr>
            <a:r>
              <a:rPr sz="1650" b="1">
                <a:solidFill>
                  <a:srgbClr val="071A43"/>
                </a:solidFill>
                <a:latin typeface="微软雅黑"/>
                <a:ea typeface="微软雅黑"/>
                <a:cs typeface="微软雅黑"/>
              </a:rPr>
              <a:t>条件归属 F1、完整声明准确率</a:t>
            </a:r>
          </a:p>
        </p:txBody>
      </p:sp>
      <p:sp>
        <p:nvSpPr>
          <p:cNvPr id="32" name="text-44">
            <a:extLst>
              <a:ext uri="{FF2B5EF4-FFF2-40B4-BE49-F238E27FC236}">
                <a16:creationId xmlns:a16="http://schemas.microsoft.com/office/drawing/2014/main" id="{A3711DFC-E7B5-4623-8657-8B280DC424F3}"/>
              </a:ext>
            </a:extLst>
          </p:cNvPr>
          <p:cNvSpPr>
            <a:spLocks noGrp="1"/>
          </p:cNvSpPr>
          <p:nvPr/>
        </p:nvSpPr>
        <p:spPr>
          <a:xfrm>
            <a:off x="419100" y="4953000"/>
            <a:ext cx="5381625" cy="247650"/>
          </a:xfrm>
          <a:prstGeom prst="rect">
            <a:avLst/>
          </a:prstGeom>
          <a:noFill/>
          <a:ln w="0">
            <a:noFill/>
          </a:ln>
        </p:spPr>
        <p:txBody>
          <a:bodyPr wrap="square" lIns="0" tIns="0" rIns="0" bIns="0" anchor="ctr">
            <a:normAutofit fontScale="100000"/>
          </a:bodyPr>
          <a:lstStyle/>
          <a:p>
            <a:pPr algn="l">
              <a:defRPr sz="1373" b="0">
                <a:solidFill>
                  <a:srgbClr val="17243A"/>
                </a:solidFill>
                <a:latin typeface="微软雅黑"/>
                <a:ea typeface="微软雅黑"/>
                <a:cs typeface="微软雅黑"/>
              </a:defRPr>
            </a:pPr>
            <a:r>
              <a:rPr sz="1373" b="0">
                <a:solidFill>
                  <a:srgbClr val="17243A"/>
                </a:solidFill>
                <a:latin typeface="微软雅黑"/>
                <a:ea typeface="微软雅黑"/>
                <a:cs typeface="微软雅黑"/>
              </a:rPr>
              <a:t>辅助：声明 / 条件抽取 F1、来源定位准确率</a:t>
            </a:r>
          </a:p>
        </p:txBody>
      </p:sp>
      <p:sp>
        <p:nvSpPr>
          <p:cNvPr id="33" name="text-45">
            <a:extLst>
              <a:ext uri="{FF2B5EF4-FFF2-40B4-BE49-F238E27FC236}">
                <a16:creationId xmlns:a16="http://schemas.microsoft.com/office/drawing/2014/main" id="{58E7502E-A315-4E7C-98B0-28F9C0848EA2}"/>
              </a:ext>
            </a:extLst>
          </p:cNvPr>
          <p:cNvSpPr>
            <a:spLocks noGrp="1"/>
          </p:cNvSpPr>
          <p:nvPr/>
        </p:nvSpPr>
        <p:spPr>
          <a:xfrm>
            <a:off x="419100" y="5353050"/>
            <a:ext cx="5381625" cy="495300"/>
          </a:xfrm>
          <a:prstGeom prst="rect">
            <a:avLst/>
          </a:prstGeom>
          <a:noFill/>
          <a:ln w="0">
            <a:noFill/>
          </a:ln>
        </p:spPr>
        <p:txBody>
          <a:bodyPr wrap="square" lIns="0" tIns="0" rIns="0" bIns="0" anchor="ctr">
            <a:normAutofit fontScale="100000"/>
          </a:bodyPr>
          <a:lstStyle/>
          <a:p>
            <a:pPr algn="l">
              <a:defRPr sz="1425" b="0">
                <a:solidFill>
                  <a:srgbClr val="17243A"/>
                </a:solidFill>
                <a:latin typeface="微软雅黑"/>
                <a:ea typeface="微软雅黑"/>
                <a:cs typeface="微软雅黑"/>
              </a:defRPr>
            </a:pPr>
            <a:r>
              <a:rPr sz="1425" b="0">
                <a:solidFill>
                  <a:srgbClr val="17243A"/>
                </a:solidFill>
                <a:latin typeface="微软雅黑"/>
                <a:ea typeface="微软雅黑"/>
                <a:cs typeface="微软雅黑"/>
              </a:rPr>
              <a:t>分场景：同句同段、跨段标题、表格表注、</a:t>
            </a:r>
          </a:p>
          <a:p>
            <a:pPr algn="l">
              <a:defRPr sz="1425" b="0">
                <a:solidFill>
                  <a:srgbClr val="17243A"/>
                </a:solidFill>
                <a:latin typeface="微软雅黑"/>
                <a:ea typeface="微软雅黑"/>
                <a:cs typeface="微软雅黑"/>
              </a:defRPr>
            </a:pPr>
            <a:r>
              <a:rPr sz="1425" b="0">
                <a:solidFill>
                  <a:srgbClr val="17243A"/>
                </a:solidFill>
                <a:latin typeface="微软雅黑"/>
                <a:ea typeface="微软雅黑"/>
                <a:cs typeface="微软雅黑"/>
              </a:rPr>
              <a:t>角标脚注与跨页条件</a:t>
            </a:r>
          </a:p>
        </p:txBody>
      </p:sp>
      <p:sp>
        <p:nvSpPr>
          <p:cNvPr id="34" name="text-46">
            <a:extLst>
              <a:ext uri="{FF2B5EF4-FFF2-40B4-BE49-F238E27FC236}">
                <a16:creationId xmlns:a16="http://schemas.microsoft.com/office/drawing/2014/main" id="{69183A15-47FA-48E1-95A6-BDAEE1DC2EF8}"/>
              </a:ext>
            </a:extLst>
          </p:cNvPr>
          <p:cNvSpPr>
            <a:spLocks noGrp="1"/>
          </p:cNvSpPr>
          <p:nvPr/>
        </p:nvSpPr>
        <p:spPr>
          <a:xfrm>
            <a:off x="6372225" y="1524000"/>
            <a:ext cx="5381625" cy="438150"/>
          </a:xfrm>
          <a:prstGeom prst="rect">
            <a:avLst/>
          </a:prstGeom>
          <a:noFill/>
          <a:ln w="0">
            <a:noFill/>
          </a:ln>
        </p:spPr>
        <p:txBody>
          <a:bodyPr wrap="square" lIns="0" tIns="0" rIns="0" bIns="0" anchor="ctr">
            <a:normAutofit fontScale="100000"/>
          </a:bodyPr>
          <a:lstStyle/>
          <a:p>
            <a:pPr algn="l">
              <a:defRPr sz="1500" b="0">
                <a:solidFill>
                  <a:srgbClr val="17243A"/>
                </a:solidFill>
                <a:latin typeface="微软雅黑"/>
                <a:ea typeface="微软雅黑"/>
                <a:cs typeface="微软雅黑"/>
              </a:defRPr>
            </a:pPr>
            <a:r>
              <a:rPr sz="1500" b="0">
                <a:solidFill>
                  <a:srgbClr val="17243A"/>
                </a:solidFill>
                <a:latin typeface="微软雅黑"/>
                <a:ea typeface="微软雅黑"/>
                <a:cs typeface="微软雅黑"/>
              </a:rPr>
              <a:t>验证患者状态匹配、证据缺口识别与定向补查</a:t>
            </a:r>
          </a:p>
        </p:txBody>
      </p:sp>
      <p:sp>
        <p:nvSpPr>
          <p:cNvPr id="35" name="text-47">
            <a:extLst>
              <a:ext uri="{FF2B5EF4-FFF2-40B4-BE49-F238E27FC236}">
                <a16:creationId xmlns:a16="http://schemas.microsoft.com/office/drawing/2014/main" id="{A03DD121-6D71-4538-B247-E80DACEB1D43}"/>
              </a:ext>
            </a:extLst>
          </p:cNvPr>
          <p:cNvSpPr>
            <a:spLocks noGrp="1"/>
          </p:cNvSpPr>
          <p:nvPr/>
        </p:nvSpPr>
        <p:spPr>
          <a:xfrm>
            <a:off x="6372225" y="2028825"/>
            <a:ext cx="5334000" cy="276225"/>
          </a:xfrm>
          <a:prstGeom prst="rect">
            <a:avLst/>
          </a:prstGeom>
          <a:noFill/>
          <a:ln w="0">
            <a:noFill/>
          </a:ln>
        </p:spPr>
        <p:txBody>
          <a:bodyPr wrap="square" lIns="0" tIns="0" rIns="0" bIns="0" anchor="ctr">
            <a:normAutofit fontScale="100000"/>
          </a:bodyPr>
          <a:lstStyle/>
          <a:p>
            <a:pPr algn="l">
              <a:defRPr sz="1538" b="1">
                <a:solidFill>
                  <a:srgbClr val="02549D"/>
                </a:solidFill>
                <a:latin typeface="微软雅黑"/>
                <a:ea typeface="微软雅黑"/>
                <a:cs typeface="微软雅黑"/>
              </a:defRPr>
            </a:pPr>
            <a:r>
              <a:rPr sz="1538" b="1">
                <a:solidFill>
                  <a:srgbClr val="02549D"/>
                </a:solidFill>
                <a:latin typeface="微软雅黑"/>
                <a:ea typeface="微软雅黑"/>
                <a:cs typeface="微软雅黑"/>
              </a:rPr>
              <a:t>对照方法</a:t>
            </a:r>
          </a:p>
        </p:txBody>
      </p:sp>
      <p:graphicFrame>
        <p:nvGraphicFramePr>
          <p:cNvPr id="36" name=""/>
          <p:cNvGraphicFramePr/>
          <p:nvPr/>
        </p:nvGraphicFramePr>
        <p:xfrm>
          <a:off x="6362700" y="2381250"/>
          <a:ext cx="5419725" cy="1752600"/>
        </p:xfrm>
        <a:graphic>
          <a:graphicData uri="http://schemas.openxmlformats.org/drawingml/2006/table">
            <a:tbl>
              <a:tblPr firstRow="0" bandRow="0"/>
              <a:tblGrid>
                <a:gridCol w="1933575"/>
                <a:gridCol w="3486150"/>
              </a:tblGrid>
              <a:tr h="350520">
                <a:tc>
                  <a:txBody>
                    <a:bodyPr lIns="85725" tIns="47625" rIns="76200" bIns="47625">
                      <a:normAutofit/>
                    </a:bodyPr>
                    <a:lstStyle/>
                    <a:p>
                      <a:pPr algn="l"/>
                      <a:r>
                        <a:rPr sz="1350" b="1">
                          <a:solidFill>
                            <a:srgbClr val="071A43"/>
                          </a:solidFill>
                          <a:latin typeface="微软雅黑"/>
                          <a:ea typeface="微软雅黑"/>
                          <a:cs typeface="微软雅黑"/>
                        </a:rPr>
                        <a:t>方法</a:t>
                      </a:r>
                    </a:p>
                  </a:txBody>
                  <a:tcPr marL="91440" marR="91440" marT="45720" marB="45720" anchor="ctr">
                    <a:solidFill>
                      <a:srgbClr val="EDF5FB"/>
                    </a:solidFill>
                  </a:tcPr>
                </a:tc>
                <a:tc>
                  <a:txBody>
                    <a:bodyPr lIns="85725" tIns="47625" rIns="76200" bIns="47625">
                      <a:normAutofit/>
                    </a:bodyPr>
                    <a:lstStyle/>
                    <a:p>
                      <a:pPr algn="l"/>
                      <a:r>
                        <a:rPr sz="1350" b="1">
                          <a:solidFill>
                            <a:srgbClr val="071A43"/>
                          </a:solidFill>
                          <a:latin typeface="微软雅黑"/>
                          <a:ea typeface="微软雅黑"/>
                          <a:cs typeface="微软雅黑"/>
                        </a:rPr>
                        <a:t>检索策略</a:t>
                      </a:r>
                    </a:p>
                  </a:txBody>
                  <a:tcPr marL="91440" marR="91440" marT="45720" marB="45720" anchor="ctr">
                    <a:solidFill>
                      <a:srgbClr val="EDF5FB"/>
                    </a:solidFill>
                  </a:tcPr>
                </a:tc>
              </a:tr>
              <a:tr h="350520">
                <a:tc>
                  <a:txBody>
                    <a:bodyPr lIns="85725" tIns="47625" rIns="76200" bIns="47625">
                      <a:normAutofit/>
                    </a:bodyPr>
                    <a:lstStyle/>
                    <a:p>
                      <a:pPr algn="l"/>
                      <a:r>
                        <a:rPr sz="1350" b="0">
                          <a:solidFill>
                            <a:srgbClr val="17243A"/>
                          </a:solidFill>
                          <a:latin typeface="微软雅黑"/>
                          <a:ea typeface="微软雅黑"/>
                          <a:cs typeface="微软雅黑"/>
                        </a:rPr>
                        <a:t>Dense / Hybrid RAG</a:t>
                      </a:r>
                    </a:p>
                  </a:txBody>
                  <a:tcPr marL="91440" marR="91440" marT="45720" marB="45720" anchor="ctr">
                    <a:solidFill>
                      <a:srgbClr val="FEFEFE"/>
                    </a:solidFill>
                  </a:tcPr>
                </a:tc>
                <a:tc>
                  <a:txBody>
                    <a:bodyPr lIns="85725" tIns="47625" rIns="76200" bIns="47625">
                      <a:normAutofit/>
                    </a:bodyPr>
                    <a:lstStyle/>
                    <a:p>
                      <a:pPr algn="l"/>
                      <a:r>
                        <a:rPr sz="1350" b="0">
                          <a:solidFill>
                            <a:srgbClr val="17243A"/>
                          </a:solidFill>
                          <a:latin typeface="微软雅黑"/>
                          <a:ea typeface="微软雅黑"/>
                          <a:cs typeface="微软雅黑"/>
                        </a:rPr>
                        <a:t>向量检索 / 关键词与向量混合检索</a:t>
                      </a:r>
                    </a:p>
                  </a:txBody>
                  <a:tcPr marL="91440" marR="91440" marT="45720" marB="45720" anchor="ctr">
                    <a:solidFill>
                      <a:srgbClr val="FEFEFE"/>
                    </a:solidFill>
                  </a:tcPr>
                </a:tc>
              </a:tr>
              <a:tr h="350520">
                <a:tc>
                  <a:txBody>
                    <a:bodyPr lIns="85725" tIns="47625" rIns="76200" bIns="47625">
                      <a:normAutofit/>
                    </a:bodyPr>
                    <a:lstStyle/>
                    <a:p>
                      <a:pPr algn="l"/>
                      <a:r>
                        <a:rPr sz="1350" b="0">
                          <a:solidFill>
                            <a:srgbClr val="17243A"/>
                          </a:solidFill>
                          <a:latin typeface="微软雅黑"/>
                          <a:ea typeface="微软雅黑"/>
                          <a:cs typeface="微软雅黑"/>
                        </a:rPr>
                        <a:t>KG-RAG</a:t>
                      </a:r>
                    </a:p>
                  </a:txBody>
                  <a:tcPr marL="91440" marR="91440" marT="45720" marB="45720" anchor="ctr">
                    <a:solidFill>
                      <a:srgbClr val="FEFEFE"/>
                    </a:solidFill>
                  </a:tcPr>
                </a:tc>
                <a:tc>
                  <a:txBody>
                    <a:bodyPr lIns="85725" tIns="47625" rIns="76200" bIns="47625">
                      <a:normAutofit/>
                    </a:bodyPr>
                    <a:lstStyle/>
                    <a:p>
                      <a:pPr algn="l"/>
                      <a:r>
                        <a:rPr sz="1350" b="0">
                          <a:solidFill>
                            <a:srgbClr val="17243A"/>
                          </a:solidFill>
                          <a:latin typeface="微软雅黑"/>
                          <a:ea typeface="微软雅黑"/>
                          <a:cs typeface="微软雅黑"/>
                        </a:rPr>
                        <a:t>普通实体关系图谱检索</a:t>
                      </a:r>
                    </a:p>
                  </a:txBody>
                  <a:tcPr marL="91440" marR="91440" marT="45720" marB="45720" anchor="ctr">
                    <a:solidFill>
                      <a:srgbClr val="FEFEFE"/>
                    </a:solidFill>
                  </a:tcPr>
                </a:tc>
              </a:tr>
              <a:tr h="350520">
                <a:tc>
                  <a:txBody>
                    <a:bodyPr lIns="85725" tIns="47625" rIns="76200" bIns="47625">
                      <a:normAutofit/>
                    </a:bodyPr>
                    <a:lstStyle/>
                    <a:p>
                      <a:pPr algn="l"/>
                      <a:r>
                        <a:rPr sz="1350" b="0">
                          <a:solidFill>
                            <a:srgbClr val="17243A"/>
                          </a:solidFill>
                          <a:latin typeface="微软雅黑"/>
                          <a:ea typeface="微软雅黑"/>
                          <a:cs typeface="微软雅黑"/>
                        </a:rPr>
                        <a:t>Agentic RAG</a:t>
                      </a:r>
                    </a:p>
                  </a:txBody>
                  <a:tcPr marL="91440" marR="91440" marT="45720" marB="45720" anchor="ctr">
                    <a:solidFill>
                      <a:srgbClr val="FEFEFE"/>
                    </a:solidFill>
                  </a:tcPr>
                </a:tc>
                <a:tc>
                  <a:txBody>
                    <a:bodyPr lIns="85725" tIns="47625" rIns="76200" bIns="47625">
                      <a:normAutofit/>
                    </a:bodyPr>
                    <a:lstStyle/>
                    <a:p>
                      <a:pPr algn="l"/>
                      <a:r>
                        <a:rPr sz="1350" b="0">
                          <a:solidFill>
                            <a:srgbClr val="17243A"/>
                          </a:solidFill>
                          <a:latin typeface="微软雅黑"/>
                          <a:ea typeface="微软雅黑"/>
                          <a:cs typeface="微软雅黑"/>
                        </a:rPr>
                        <a:t>LLM 规划与迭代检索</a:t>
                      </a:r>
                    </a:p>
                  </a:txBody>
                  <a:tcPr marL="91440" marR="91440" marT="45720" marB="45720" anchor="ctr">
                    <a:solidFill>
                      <a:srgbClr val="FEFEFE"/>
                    </a:solidFill>
                  </a:tcPr>
                </a:tc>
              </a:tr>
              <a:tr h="350520">
                <a:tc>
                  <a:txBody>
                    <a:bodyPr lIns="85725" tIns="47625" rIns="76200" bIns="47625">
                      <a:normAutofit/>
                    </a:bodyPr>
                    <a:lstStyle/>
                    <a:p>
                      <a:pPr algn="l"/>
                      <a:r>
                        <a:rPr sz="1350" b="1">
                          <a:solidFill>
                            <a:srgbClr val="071A43"/>
                          </a:solidFill>
                          <a:latin typeface="微软雅黑"/>
                          <a:ea typeface="微软雅黑"/>
                          <a:cs typeface="微软雅黑"/>
                        </a:rPr>
                        <a:t>完整算法二</a:t>
                      </a:r>
                    </a:p>
                  </a:txBody>
                  <a:tcPr marL="91440" marR="91440" marT="45720" marB="45720" anchor="ctr">
                    <a:solidFill>
                      <a:srgbClr val="F0F7FC"/>
                    </a:solidFill>
                  </a:tcPr>
                </a:tc>
                <a:tc>
                  <a:txBody>
                    <a:bodyPr lIns="85725" tIns="47625" rIns="76200" bIns="47625">
                      <a:normAutofit/>
                    </a:bodyPr>
                    <a:lstStyle/>
                    <a:p>
                      <a:pPr algn="l"/>
                      <a:r>
                        <a:rPr sz="1350" b="1">
                          <a:solidFill>
                            <a:srgbClr val="071A43"/>
                          </a:solidFill>
                          <a:latin typeface="微软雅黑"/>
                          <a:ea typeface="微软雅黑"/>
                          <a:cs typeface="微软雅黑"/>
                        </a:rPr>
                        <a:t>状态匹配、缺口识别、定向补查</a:t>
                      </a:r>
                    </a:p>
                  </a:txBody>
                  <a:tcPr marL="91440" marR="91440" marT="45720" marB="45720" anchor="ctr">
                    <a:solidFill>
                      <a:srgbClr val="F0F7FC"/>
                    </a:solidFill>
                  </a:tcPr>
                </a:tc>
              </a:tr>
            </a:tbl>
          </a:graphicData>
        </a:graphic>
      </p:graphicFrame>
      <p:sp>
        <p:nvSpPr>
          <p:cNvPr id="37" name="text-48">
            <a:extLst>
              <a:ext uri="{FF2B5EF4-FFF2-40B4-BE49-F238E27FC236}">
                <a16:creationId xmlns:a16="http://schemas.microsoft.com/office/drawing/2014/main" id="{2FBF1FB6-9DAA-49AA-87F0-03699C411E50}"/>
              </a:ext>
            </a:extLst>
          </p:cNvPr>
          <p:cNvSpPr>
            <a:spLocks noGrp="1"/>
          </p:cNvSpPr>
          <p:nvPr/>
        </p:nvSpPr>
        <p:spPr>
          <a:xfrm>
            <a:off x="6372225" y="4238625"/>
            <a:ext cx="5381625" cy="276225"/>
          </a:xfrm>
          <a:prstGeom prst="rect">
            <a:avLst/>
          </a:prstGeom>
          <a:noFill/>
          <a:ln w="0">
            <a:noFill/>
          </a:ln>
        </p:spPr>
        <p:txBody>
          <a:bodyPr wrap="square" lIns="0" tIns="0" rIns="0" bIns="0" anchor="ctr">
            <a:normAutofit fontScale="100000"/>
          </a:bodyPr>
          <a:lstStyle/>
          <a:p>
            <a:pPr algn="l">
              <a:defRPr sz="1538" b="1">
                <a:solidFill>
                  <a:srgbClr val="02549D"/>
                </a:solidFill>
                <a:latin typeface="微软雅黑"/>
                <a:ea typeface="微软雅黑"/>
                <a:cs typeface="微软雅黑"/>
              </a:defRPr>
            </a:pPr>
            <a:r>
              <a:rPr sz="1538" b="1">
                <a:solidFill>
                  <a:srgbClr val="02549D"/>
                </a:solidFill>
                <a:latin typeface="微软雅黑"/>
                <a:ea typeface="微软雅黑"/>
                <a:cs typeface="微软雅黑"/>
              </a:rPr>
              <a:t>主要指标</a:t>
            </a:r>
          </a:p>
        </p:txBody>
      </p:sp>
      <p:sp>
        <p:nvSpPr>
          <p:cNvPr id="38" name="text-49">
            <a:extLst>
              <a:ext uri="{FF2B5EF4-FFF2-40B4-BE49-F238E27FC236}">
                <a16:creationId xmlns:a16="http://schemas.microsoft.com/office/drawing/2014/main" id="{121353F4-5E1C-408D-8442-320449177353}"/>
              </a:ext>
            </a:extLst>
          </p:cNvPr>
          <p:cNvSpPr>
            <a:spLocks noGrp="1"/>
          </p:cNvSpPr>
          <p:nvPr/>
        </p:nvSpPr>
        <p:spPr>
          <a:xfrm>
            <a:off x="6372225" y="4581525"/>
            <a:ext cx="5381625" cy="542925"/>
          </a:xfrm>
          <a:prstGeom prst="rect">
            <a:avLst/>
          </a:prstGeom>
          <a:noFill/>
          <a:ln w="0">
            <a:noFill/>
          </a:ln>
        </p:spPr>
        <p:txBody>
          <a:bodyPr wrap="square" lIns="0" tIns="0" rIns="0" bIns="0" anchor="ctr">
            <a:normAutofit fontScale="100000"/>
          </a:bodyPr>
          <a:lstStyle/>
          <a:p>
            <a:pPr algn="l">
              <a:defRPr sz="1575" b="1">
                <a:solidFill>
                  <a:srgbClr val="071A43"/>
                </a:solidFill>
                <a:latin typeface="微软雅黑"/>
                <a:ea typeface="微软雅黑"/>
                <a:cs typeface="微软雅黑"/>
              </a:defRPr>
            </a:pPr>
            <a:r>
              <a:rPr sz="1575" b="1">
                <a:solidFill>
                  <a:srgbClr val="071A43"/>
                </a:solidFill>
                <a:latin typeface="微软雅黑"/>
                <a:ea typeface="微软雅黑"/>
                <a:cs typeface="微软雅黑"/>
              </a:rPr>
              <a:t>知识适用性 Macro-F1、必要证据覆盖率</a:t>
            </a:r>
          </a:p>
          <a:p>
            <a:pPr algn="l">
              <a:defRPr sz="1575" b="1">
                <a:solidFill>
                  <a:srgbClr val="071A43"/>
                </a:solidFill>
                <a:latin typeface="微软雅黑"/>
                <a:ea typeface="微软雅黑"/>
                <a:cs typeface="微软雅黑"/>
              </a:defRPr>
            </a:pPr>
            <a:r>
              <a:rPr sz="1575" b="1">
                <a:solidFill>
                  <a:srgbClr val="071A43"/>
                </a:solidFill>
                <a:latin typeface="微软雅黑"/>
                <a:ea typeface="微软雅黑"/>
                <a:cs typeface="微软雅黑"/>
              </a:rPr>
              <a:t>证据缺口识别 F1</a:t>
            </a:r>
          </a:p>
        </p:txBody>
      </p:sp>
      <p:sp>
        <p:nvSpPr>
          <p:cNvPr id="39" name="text-50">
            <a:extLst>
              <a:ext uri="{FF2B5EF4-FFF2-40B4-BE49-F238E27FC236}">
                <a16:creationId xmlns:a16="http://schemas.microsoft.com/office/drawing/2014/main" id="{E08F629A-BCDF-4FAC-AA78-1A97C4577376}"/>
              </a:ext>
            </a:extLst>
          </p:cNvPr>
          <p:cNvSpPr>
            <a:spLocks noGrp="1"/>
          </p:cNvSpPr>
          <p:nvPr/>
        </p:nvSpPr>
        <p:spPr>
          <a:xfrm>
            <a:off x="6372225" y="5191125"/>
            <a:ext cx="5381625" cy="257175"/>
          </a:xfrm>
          <a:prstGeom prst="rect">
            <a:avLst/>
          </a:prstGeom>
          <a:noFill/>
          <a:ln w="0">
            <a:noFill/>
          </a:ln>
        </p:spPr>
        <p:txBody>
          <a:bodyPr wrap="square" lIns="0" tIns="0" rIns="0" bIns="0" anchor="ctr">
            <a:normAutofit fontScale="100000"/>
          </a:bodyPr>
          <a:lstStyle/>
          <a:p>
            <a:pPr algn="l">
              <a:defRPr sz="1335" b="0">
                <a:solidFill>
                  <a:srgbClr val="17243A"/>
                </a:solidFill>
                <a:latin typeface="微软雅黑"/>
                <a:ea typeface="微软雅黑"/>
                <a:cs typeface="微软雅黑"/>
              </a:defRPr>
            </a:pPr>
            <a:r>
              <a:rPr sz="1335" b="0">
                <a:solidFill>
                  <a:srgbClr val="17243A"/>
                </a:solidFill>
                <a:latin typeface="微软雅黑"/>
                <a:ea typeface="微软雅黑"/>
                <a:cs typeface="微软雅黑"/>
              </a:rPr>
              <a:t>辅助：Recall@10、nDCG@10、补查成功率及成本</a:t>
            </a:r>
          </a:p>
        </p:txBody>
      </p:sp>
      <p:sp>
        <p:nvSpPr>
          <p:cNvPr id="40" name="text-51">
            <a:extLst>
              <a:ext uri="{FF2B5EF4-FFF2-40B4-BE49-F238E27FC236}">
                <a16:creationId xmlns:a16="http://schemas.microsoft.com/office/drawing/2014/main" id="{40B94DAF-8F6D-462C-996C-05424DCC5105}"/>
              </a:ext>
            </a:extLst>
          </p:cNvPr>
          <p:cNvSpPr>
            <a:spLocks noGrp="1"/>
          </p:cNvSpPr>
          <p:nvPr/>
        </p:nvSpPr>
        <p:spPr>
          <a:xfrm>
            <a:off x="6372225" y="5524500"/>
            <a:ext cx="5381625" cy="381000"/>
          </a:xfrm>
          <a:prstGeom prst="rect">
            <a:avLst/>
          </a:prstGeom>
          <a:noFill/>
          <a:ln w="0">
            <a:noFill/>
          </a:ln>
        </p:spPr>
        <p:txBody>
          <a:bodyPr wrap="square" lIns="0" tIns="0" rIns="0" bIns="0" anchor="ctr">
            <a:normAutofit fontScale="91042"/>
          </a:bodyPr>
          <a:lstStyle/>
          <a:p>
            <a:pPr algn="l">
              <a:defRPr sz="1373" b="0">
                <a:solidFill>
                  <a:srgbClr val="17243A"/>
                </a:solidFill>
                <a:latin typeface="微软雅黑"/>
                <a:ea typeface="微软雅黑"/>
                <a:cs typeface="微软雅黑"/>
              </a:defRPr>
            </a:pPr>
            <a:r>
              <a:rPr sz="1373" b="0">
                <a:solidFill>
                  <a:srgbClr val="17243A"/>
                </a:solidFill>
                <a:latin typeface="微软雅黑"/>
                <a:ea typeface="微软雅黑"/>
                <a:cs typeface="微软雅黑"/>
              </a:rPr>
              <a:t>知识缺口：补查原文</a:t>
            </a:r>
          </a:p>
          <a:p>
            <a:pPr algn="l">
              <a:defRPr sz="1373" b="0">
                <a:solidFill>
                  <a:srgbClr val="17243A"/>
                </a:solidFill>
                <a:latin typeface="微软雅黑"/>
                <a:ea typeface="微软雅黑"/>
                <a:cs typeface="微软雅黑"/>
              </a:defRPr>
            </a:pPr>
            <a:r>
              <a:rPr sz="1373" b="0">
                <a:solidFill>
                  <a:srgbClr val="17243A"/>
                </a:solidFill>
                <a:latin typeface="微软雅黑"/>
                <a:ea typeface="微软雅黑"/>
                <a:cs typeface="微软雅黑"/>
              </a:rPr>
              <a:t>患者数据缺口：明确提示缺失</a:t>
            </a:r>
          </a:p>
        </p:txBody>
      </p:sp>
      <p:sp>
        <p:nvSpPr>
          <p:cNvPr id="41" name="text-52">
            <a:extLst>
              <a:ext uri="{FF2B5EF4-FFF2-40B4-BE49-F238E27FC236}">
                <a16:creationId xmlns:a16="http://schemas.microsoft.com/office/drawing/2014/main" id="{E6D80593-F10E-4826-A65F-B93ACC1B1011}"/>
              </a:ext>
            </a:extLst>
          </p:cNvPr>
          <p:cNvSpPr>
            <a:spLocks noGrp="1"/>
          </p:cNvSpPr>
          <p:nvPr/>
        </p:nvSpPr>
        <p:spPr>
          <a:xfrm>
            <a:off x="276225" y="6172200"/>
            <a:ext cx="8858250" cy="228600"/>
          </a:xfrm>
          <a:prstGeom prst="rect">
            <a:avLst/>
          </a:prstGeom>
          <a:noFill/>
          <a:ln w="0">
            <a:noFill/>
          </a:ln>
        </p:spPr>
        <p:txBody>
          <a:bodyPr wrap="square" lIns="0" tIns="0" rIns="0" bIns="0" anchor="ctr">
            <a:normAutofit fontScale="100000"/>
          </a:bodyPr>
          <a:lstStyle/>
          <a:p>
            <a:pPr algn="l">
              <a:defRPr sz="1200" b="0">
                <a:solidFill>
                  <a:srgbClr val="526982"/>
                </a:solidFill>
                <a:latin typeface="微软雅黑"/>
                <a:ea typeface="微软雅黑"/>
                <a:cs typeface="微软雅黑"/>
              </a:defRPr>
            </a:pPr>
            <a:r>
              <a:rPr sz="1200" b="0">
                <a:solidFill>
                  <a:srgbClr val="526982"/>
                </a:solidFill>
                <a:latin typeface="微软雅黑"/>
                <a:ea typeface="微软雅黑"/>
                <a:cs typeface="微软雅黑"/>
              </a:rPr>
              <a:t>公平对照：同一知识库与检索预算。固定条件化图谱，额外比较算法二的独立效果。</a:t>
            </a:r>
          </a:p>
        </p:txBody>
      </p:sp>
    </p:spTree>
    <p:custDataLst>
      <p:tags r:id="rId10"/>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3"/>
          <p:cNvPicPr>
            <a:picLocks noChangeAspect="1"/>
          </p:cNvPicPr>
          <p:nvPr/>
        </p:nvPicPr>
        <p:blipFill>
          <a:blip r:embed="rId1"/>
          <a:srcRect l="3256" t="-6868" r="4770" b="-1340"/>
          <a:stretch>
            <a:fillRect/>
          </a:stretch>
        </p:blipFill>
        <p:spPr>
          <a:xfrm>
            <a:off x="9389745" y="6247765"/>
            <a:ext cx="2313940" cy="410210"/>
          </a:xfrm>
          <a:prstGeom prst="rect">
            <a:avLst/>
          </a:prstGeom>
        </p:spPr>
      </p:pic>
      <p:pic>
        <p:nvPicPr>
          <p:cNvPr id="3" name="图片 1" descr="华科大"/>
          <p:cNvPicPr>
            <a:picLocks noChangeAspect="1"/>
          </p:cNvPicPr>
          <p:nvPr>
            <p:custDataLst>
              <p:tags r:id="rId2"/>
            </p:custDataLst>
          </p:nvPr>
        </p:nvPicPr>
        <p:blipFill>
          <a:blip r:embed="rId3"/>
          <a:stretch>
            <a:fillRect/>
          </a:stretch>
        </p:blipFill>
        <p:spPr>
          <a:xfrm>
            <a:off x="635" y="-97790"/>
            <a:ext cx="2354580" cy="824230"/>
          </a:xfrm>
          <a:prstGeom prst="rect">
            <a:avLst/>
          </a:prstGeom>
        </p:spPr>
      </p:pic>
      <p:pic>
        <p:nvPicPr>
          <p:cNvPr id="4" name="图片 2" descr="华科大"/>
          <p:cNvPicPr>
            <a:picLocks noChangeAspect="1"/>
          </p:cNvPicPr>
          <p:nvPr>
            <p:custDataLst>
              <p:tags r:id="rId4"/>
            </p:custDataLst>
          </p:nvPr>
        </p:nvPicPr>
        <p:blipFill>
          <a:blip r:embed="rId3"/>
          <a:stretch>
            <a:fillRect/>
          </a:stretch>
        </p:blipFill>
        <p:spPr>
          <a:xfrm>
            <a:off x="127635" y="29210"/>
            <a:ext cx="2354580" cy="824230"/>
          </a:xfrm>
          <a:prstGeom prst="rect">
            <a:avLst/>
          </a:prstGeom>
        </p:spPr>
      </p:pic>
      <p:pic>
        <p:nvPicPr>
          <p:cNvPr id="5" name="图片 5"/>
          <p:cNvPicPr>
            <a:picLocks noChangeAspect="1"/>
          </p:cNvPicPr>
          <p:nvPr>
            <p:custDataLst>
              <p:tags r:id="rId5"/>
            </p:custDataLst>
          </p:nvPr>
        </p:nvPicPr>
        <p:blipFill>
          <a:blip r:embed="rId6"/>
          <a:srcRect t="69576" b="21479"/>
          <a:stretch>
            <a:fillRect/>
          </a:stretch>
        </p:blipFill>
        <p:spPr>
          <a:xfrm>
            <a:off x="0" y="-22860"/>
            <a:ext cx="12192000" cy="681355"/>
          </a:xfrm>
          <a:prstGeom prst="rect">
            <a:avLst/>
          </a:prstGeom>
        </p:spPr>
      </p:pic>
      <p:sp>
        <p:nvSpPr>
          <p:cNvPr id="6" name="矩形 6"/>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7" name="图片 7"/>
          <p:cNvPicPr>
            <a:picLocks noChangeAspect="1"/>
          </p:cNvPicPr>
          <p:nvPr>
            <p:custDataLst>
              <p:tags r:id="rId7"/>
            </p:custDataLst>
          </p:nvPr>
        </p:nvPicPr>
        <p:blipFill>
          <a:blip r:embed="rId6"/>
          <a:srcRect t="69576" b="21479"/>
          <a:stretch>
            <a:fillRect/>
          </a:stretch>
        </p:blipFill>
        <p:spPr>
          <a:xfrm>
            <a:off x="0" y="-22860"/>
            <a:ext cx="12192000" cy="681355"/>
          </a:xfrm>
          <a:prstGeom prst="rect">
            <a:avLst/>
          </a:prstGeom>
        </p:spPr>
      </p:pic>
      <p:sp>
        <p:nvSpPr>
          <p:cNvPr id="8" name="矩形 10"/>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11"/>
          <p:cNvSpPr/>
          <p:nvPr>
            <p:custDataLst>
              <p:tags r:id="rId8"/>
            </p:custDataLst>
          </p:nvPr>
        </p:nvSpPr>
        <p:spPr>
          <a:xfrm>
            <a:off x="8606184" y="-22745"/>
            <a:ext cx="1859281" cy="676679"/>
          </a:xfrm>
          <a:prstGeom prst="rect">
            <a:avLst/>
          </a:prstGeom>
          <a:solidFill>
            <a:srgbClr val="02549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12"/>
          <p:cNvSpPr txBox="1"/>
          <p:nvPr/>
        </p:nvSpPr>
        <p:spPr>
          <a:xfrm>
            <a:off x="2125374" y="67915"/>
            <a:ext cx="16725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研究背景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1" name="文本框 13"/>
          <p:cNvSpPr txBox="1"/>
          <p:nvPr/>
        </p:nvSpPr>
        <p:spPr>
          <a:xfrm>
            <a:off x="3762124" y="80122"/>
            <a:ext cx="178165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研究现状</a:t>
            </a:r>
            <a:endParaRPr lang="zh-CN" altLang="en-US" sz="2400" b="1" dirty="0">
              <a:solidFill>
                <a:schemeClr val="bg1"/>
              </a:solidFill>
            </a:endParaRPr>
          </a:p>
        </p:txBody>
      </p:sp>
      <p:sp>
        <p:nvSpPr>
          <p:cNvPr id="12" name="文本框 14"/>
          <p:cNvSpPr txBox="1"/>
          <p:nvPr/>
        </p:nvSpPr>
        <p:spPr>
          <a:xfrm>
            <a:off x="5394826" y="86984"/>
            <a:ext cx="183705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系统架构</a:t>
            </a:r>
            <a:endParaRPr lang="zh-CN" altLang="en-US" sz="2400" b="1" dirty="0">
              <a:solidFill>
                <a:schemeClr val="bg1"/>
              </a:solidFill>
            </a:endParaRPr>
          </a:p>
        </p:txBody>
      </p:sp>
      <p:sp>
        <p:nvSpPr>
          <p:cNvPr id="13" name="文本框 15"/>
          <p:cNvSpPr txBox="1"/>
          <p:nvPr/>
        </p:nvSpPr>
        <p:spPr>
          <a:xfrm>
            <a:off x="7005125" y="86983"/>
            <a:ext cx="185928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图谱算法</a:t>
            </a:r>
            <a:endParaRPr lang="zh-CN" altLang="en-US" sz="2400" b="1" dirty="0">
              <a:solidFill>
                <a:schemeClr val="bg1"/>
              </a:solidFill>
            </a:endParaRPr>
          </a:p>
        </p:txBody>
      </p:sp>
      <p:sp>
        <p:nvSpPr>
          <p:cNvPr id="14" name="文本框 16"/>
          <p:cNvSpPr txBox="1"/>
          <p:nvPr/>
        </p:nvSpPr>
        <p:spPr>
          <a:xfrm>
            <a:off x="8667692" y="80141"/>
            <a:ext cx="1736725" cy="46037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实验</a:t>
            </a:r>
            <a:r>
              <a:rPr lang="zh-CN" altLang="en-US" sz="2400" b="1" dirty="0">
                <a:solidFill>
                  <a:schemeClr val="bg1"/>
                </a:solidFill>
                <a:latin typeface="微软雅黑" panose="020B0503020204020204" pitchFamily="34" charset="-122"/>
                <a:ea typeface="微软雅黑" panose="020B0503020204020204" pitchFamily="34" charset="-122"/>
              </a:rPr>
              <a:t>设计</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15" name="图片 17" descr="华科大"/>
          <p:cNvPicPr>
            <a:picLocks noChangeAspect="1"/>
          </p:cNvPicPr>
          <p:nvPr>
            <p:custDataLst>
              <p:tags r:id="rId9"/>
            </p:custDataLst>
          </p:nvPr>
        </p:nvPicPr>
        <p:blipFill>
          <a:blip r:embed="rId3"/>
          <a:stretch>
            <a:fillRect/>
          </a:stretch>
        </p:blipFill>
        <p:spPr>
          <a:xfrm>
            <a:off x="-156383" y="-97790"/>
            <a:ext cx="2354580" cy="824230"/>
          </a:xfrm>
          <a:prstGeom prst="rect">
            <a:avLst/>
          </a:prstGeom>
        </p:spPr>
      </p:pic>
      <p:sp>
        <p:nvSpPr>
          <p:cNvPr id="16" name="文本框 115"/>
          <p:cNvSpPr txBox="1"/>
          <p:nvPr/>
        </p:nvSpPr>
        <p:spPr>
          <a:xfrm>
            <a:off x="10326506" y="69184"/>
            <a:ext cx="2015375" cy="460375"/>
          </a:xfrm>
          <a:prstGeom prst="rect">
            <a:avLst/>
          </a:prstGeom>
          <a:noFill/>
        </p:spPr>
        <p:txBody>
          <a:bodyPr wrap="squar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研究</a:t>
            </a:r>
            <a:r>
              <a:rPr lang="zh-CN" altLang="en-US" sz="2400" b="1" dirty="0">
                <a:solidFill>
                  <a:schemeClr val="bg1"/>
                </a:solidFill>
                <a:latin typeface="微软雅黑" panose="020B0503020204020204" pitchFamily="34" charset="-122"/>
                <a:ea typeface="微软雅黑" panose="020B0503020204020204" pitchFamily="34" charset="-122"/>
              </a:rPr>
              <a:t>计划</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7" name="text-53">
            <a:extLst>
              <a:ext uri="{FF2B5EF4-FFF2-40B4-BE49-F238E27FC236}">
                <a16:creationId xmlns:a16="http://schemas.microsoft.com/office/drawing/2014/main" id="{FA8EEC4E-3AB5-42CD-AD8F-971956BDD721}"/>
              </a:ext>
            </a:extLst>
          </p:cNvPr>
          <p:cNvSpPr>
            <a:spLocks noGrp="1"/>
          </p:cNvSpPr>
          <p:nvPr/>
        </p:nvSpPr>
        <p:spPr>
          <a:xfrm>
            <a:off x="257175" y="904875"/>
            <a:ext cx="11239500" cy="381000"/>
          </a:xfrm>
          <a:prstGeom prst="rect">
            <a:avLst/>
          </a:prstGeom>
          <a:noFill/>
          <a:ln w="0">
            <a:noFill/>
          </a:ln>
        </p:spPr>
        <p:txBody>
          <a:bodyPr wrap="square" lIns="0" tIns="0" rIns="0" bIns="0" anchor="ctr">
            <a:normAutofit fontScale="100000"/>
          </a:bodyPr>
          <a:lstStyle/>
          <a:p>
            <a:pPr algn="l">
              <a:defRPr sz="2175" b="1">
                <a:solidFill>
                  <a:srgbClr val="071A43"/>
                </a:solidFill>
                <a:latin typeface="微软雅黑"/>
                <a:ea typeface="微软雅黑"/>
                <a:cs typeface="微软雅黑"/>
              </a:defRPr>
            </a:pPr>
            <a:r>
              <a:rPr sz="2175" b="1">
                <a:solidFill>
                  <a:srgbClr val="071A43"/>
                </a:solidFill>
                <a:latin typeface="微软雅黑"/>
                <a:ea typeface="微软雅黑"/>
                <a:cs typeface="微软雅黑"/>
              </a:rPr>
              <a:t>实验三：可解释辅助诊断报告质量评价</a:t>
            </a:r>
          </a:p>
        </p:txBody>
      </p:sp>
      <p:sp>
        <p:nvSpPr>
          <p:cNvPr id="18" name="text-54">
            <a:extLst>
              <a:ext uri="{FF2B5EF4-FFF2-40B4-BE49-F238E27FC236}">
                <a16:creationId xmlns:a16="http://schemas.microsoft.com/office/drawing/2014/main" id="{AB6A4E4D-D9E1-4B21-8C89-CA262101A16C}"/>
              </a:ext>
            </a:extLst>
          </p:cNvPr>
          <p:cNvSpPr>
            <a:spLocks noGrp="1"/>
          </p:cNvSpPr>
          <p:nvPr/>
        </p:nvSpPr>
        <p:spPr>
          <a:xfrm>
            <a:off x="276225" y="1428750"/>
            <a:ext cx="11601450" cy="285750"/>
          </a:xfrm>
          <a:prstGeom prst="rect">
            <a:avLst/>
          </a:prstGeom>
          <a:noFill/>
          <a:ln w="0">
            <a:noFill/>
          </a:ln>
        </p:spPr>
        <p:txBody>
          <a:bodyPr wrap="square" lIns="0" tIns="0" rIns="0" bIns="0" anchor="ctr">
            <a:normAutofit fontScale="100000"/>
          </a:bodyPr>
          <a:lstStyle/>
          <a:p>
            <a:pPr algn="l">
              <a:defRPr sz="1575" b="0">
                <a:solidFill>
                  <a:srgbClr val="17243A"/>
                </a:solidFill>
                <a:latin typeface="微软雅黑"/>
                <a:ea typeface="微软雅黑"/>
                <a:cs typeface="微软雅黑"/>
              </a:defRPr>
            </a:pPr>
            <a:r>
              <a:rPr sz="1575" b="0">
                <a:solidFill>
                  <a:srgbClr val="17243A"/>
                </a:solidFill>
                <a:latin typeface="微软雅黑"/>
                <a:ea typeface="微软雅黑"/>
                <a:cs typeface="微软雅黑"/>
              </a:rPr>
              <a:t>统一报告章节：综合判断、患者证据、医学依据、限制与冲突、辅助建议</a:t>
            </a:r>
          </a:p>
        </p:txBody>
      </p:sp>
      <p:sp>
        <p:nvSpPr>
          <p:cNvPr id="19" name="surface-55">
            <a:extLst>
              <a:ext uri="{FF2B5EF4-FFF2-40B4-BE49-F238E27FC236}">
                <a16:creationId xmlns:a16="http://schemas.microsoft.com/office/drawing/2014/main" id="{8CE89755-42FA-42A2-8903-A9CC4CEA2ECF}"/>
              </a:ext>
            </a:extLst>
          </p:cNvPr>
          <p:cNvSpPr>
            <a:spLocks noGrp="1"/>
          </p:cNvSpPr>
          <p:nvPr/>
        </p:nvSpPr>
        <p:spPr>
          <a:xfrm>
            <a:off x="276225" y="1952625"/>
            <a:ext cx="2381250" cy="866775"/>
          </a:xfrm>
          <a:prstGeom prst="roundRect">
            <a:avLst>
              <a:gd name="adj" fmla="val 8791"/>
            </a:avLst>
          </a:prstGeom>
          <a:solidFill>
            <a:srgbClr val="FEFEFE"/>
          </a:solidFill>
          <a:ln w="12383">
            <a:solidFill>
              <a:srgbClr val="B9D9F0"/>
            </a:solidFill>
          </a:ln>
        </p:spPr>
      </p:sp>
      <p:sp>
        <p:nvSpPr>
          <p:cNvPr id="20" name="text-56">
            <a:extLst>
              <a:ext uri="{FF2B5EF4-FFF2-40B4-BE49-F238E27FC236}">
                <a16:creationId xmlns:a16="http://schemas.microsoft.com/office/drawing/2014/main" id="{5A254BAE-4100-4ACE-977D-B83982A86362}"/>
              </a:ext>
            </a:extLst>
          </p:cNvPr>
          <p:cNvSpPr>
            <a:spLocks noGrp="1"/>
          </p:cNvSpPr>
          <p:nvPr/>
        </p:nvSpPr>
        <p:spPr>
          <a:xfrm>
            <a:off x="371475" y="2047875"/>
            <a:ext cx="2190750" cy="266700"/>
          </a:xfrm>
          <a:prstGeom prst="rect">
            <a:avLst/>
          </a:prstGeom>
          <a:noFill/>
          <a:ln w="0">
            <a:noFill/>
          </a:ln>
        </p:spPr>
        <p:txBody>
          <a:bodyPr wrap="square" lIns="0" tIns="0" rIns="0" bIns="0" anchor="ctr">
            <a:normAutofit fontScale="100000"/>
          </a:bodyPr>
          <a:lstStyle/>
          <a:p>
            <a:pPr algn="ctr">
              <a:defRPr sz="1575" b="1">
                <a:solidFill>
                  <a:srgbClr val="071A43"/>
                </a:solidFill>
                <a:latin typeface="微软雅黑"/>
                <a:ea typeface="微软雅黑"/>
                <a:cs typeface="微软雅黑"/>
              </a:defRPr>
            </a:pPr>
            <a:r>
              <a:rPr sz="1575" b="1">
                <a:solidFill>
                  <a:srgbClr val="071A43"/>
                </a:solidFill>
                <a:latin typeface="微软雅黑"/>
                <a:ea typeface="微软雅黑"/>
                <a:cs typeface="微软雅黑"/>
              </a:rPr>
              <a:t>自然语言报告</a:t>
            </a:r>
          </a:p>
        </p:txBody>
      </p:sp>
      <p:sp>
        <p:nvSpPr>
          <p:cNvPr id="21" name="text-57">
            <a:extLst>
              <a:ext uri="{FF2B5EF4-FFF2-40B4-BE49-F238E27FC236}">
                <a16:creationId xmlns:a16="http://schemas.microsoft.com/office/drawing/2014/main" id="{15C47EC3-F672-4EDD-8F9C-16CA30460664}"/>
              </a:ext>
            </a:extLst>
          </p:cNvPr>
          <p:cNvSpPr>
            <a:spLocks noGrp="1"/>
          </p:cNvSpPr>
          <p:nvPr/>
        </p:nvSpPr>
        <p:spPr>
          <a:xfrm>
            <a:off x="371475" y="2362200"/>
            <a:ext cx="2190750" cy="400050"/>
          </a:xfrm>
          <a:prstGeom prst="rect">
            <a:avLst/>
          </a:prstGeom>
          <a:noFill/>
          <a:ln w="0">
            <a:noFill/>
          </a:ln>
        </p:spPr>
        <p:txBody>
          <a:bodyPr wrap="square" lIns="0" tIns="0" rIns="0" bIns="0" anchor="ctr">
            <a:normAutofit fontScale="100000"/>
          </a:bodyPr>
          <a:lstStyle/>
          <a:p>
            <a:pPr algn="ctr">
              <a:defRPr sz="1350" b="0">
                <a:solidFill>
                  <a:srgbClr val="17243A"/>
                </a:solidFill>
                <a:latin typeface="微软雅黑"/>
                <a:ea typeface="微软雅黑"/>
                <a:cs typeface="微软雅黑"/>
              </a:defRPr>
            </a:pPr>
            <a:r>
              <a:rPr sz="1350" b="0">
                <a:solidFill>
                  <a:srgbClr val="17243A"/>
                </a:solidFill>
                <a:latin typeface="微软雅黑"/>
                <a:ea typeface="微软雅黑"/>
                <a:cs typeface="微软雅黑"/>
              </a:rPr>
              <a:t>不存在的信息明确标为缺失</a:t>
            </a:r>
          </a:p>
        </p:txBody>
      </p:sp>
      <p:sp>
        <p:nvSpPr>
          <p:cNvPr id="22" name="surface-58">
            <a:extLst>
              <a:ext uri="{FF2B5EF4-FFF2-40B4-BE49-F238E27FC236}">
                <a16:creationId xmlns:a16="http://schemas.microsoft.com/office/drawing/2014/main" id="{1F77B50F-3BB0-45F7-A2E5-4668708E6D39}"/>
              </a:ext>
            </a:extLst>
          </p:cNvPr>
          <p:cNvSpPr>
            <a:spLocks noGrp="1"/>
          </p:cNvSpPr>
          <p:nvPr/>
        </p:nvSpPr>
        <p:spPr>
          <a:xfrm>
            <a:off x="2981325" y="1952625"/>
            <a:ext cx="2657475" cy="866775"/>
          </a:xfrm>
          <a:prstGeom prst="roundRect">
            <a:avLst>
              <a:gd name="adj" fmla="val 8791"/>
            </a:avLst>
          </a:prstGeom>
          <a:solidFill>
            <a:srgbClr val="FEFEFE"/>
          </a:solidFill>
          <a:ln w="12383">
            <a:solidFill>
              <a:srgbClr val="B9D9F0"/>
            </a:solidFill>
          </a:ln>
        </p:spPr>
      </p:sp>
      <p:sp>
        <p:nvSpPr>
          <p:cNvPr id="23" name="text-59">
            <a:extLst>
              <a:ext uri="{FF2B5EF4-FFF2-40B4-BE49-F238E27FC236}">
                <a16:creationId xmlns:a16="http://schemas.microsoft.com/office/drawing/2014/main" id="{4C2CD170-AEF7-4106-A81C-680382E97D58}"/>
              </a:ext>
            </a:extLst>
          </p:cNvPr>
          <p:cNvSpPr>
            <a:spLocks noGrp="1"/>
          </p:cNvSpPr>
          <p:nvPr/>
        </p:nvSpPr>
        <p:spPr>
          <a:xfrm>
            <a:off x="3076575" y="2047875"/>
            <a:ext cx="2466975" cy="266700"/>
          </a:xfrm>
          <a:prstGeom prst="rect">
            <a:avLst/>
          </a:prstGeom>
          <a:noFill/>
          <a:ln w="0">
            <a:noFill/>
          </a:ln>
        </p:spPr>
        <p:txBody>
          <a:bodyPr wrap="square" lIns="0" tIns="0" rIns="0" bIns="0" anchor="ctr">
            <a:normAutofit fontScale="100000"/>
          </a:bodyPr>
          <a:lstStyle/>
          <a:p>
            <a:pPr algn="ctr">
              <a:defRPr sz="1575" b="1">
                <a:solidFill>
                  <a:srgbClr val="071A43"/>
                </a:solidFill>
                <a:latin typeface="微软雅黑"/>
                <a:ea typeface="微软雅黑"/>
                <a:cs typeface="微软雅黑"/>
              </a:defRPr>
            </a:pPr>
            <a:r>
              <a:rPr sz="1575" b="1">
                <a:solidFill>
                  <a:srgbClr val="071A43"/>
                </a:solidFill>
                <a:latin typeface="微软雅黑"/>
                <a:ea typeface="微软雅黑"/>
                <a:cs typeface="微软雅黑"/>
              </a:rPr>
              <a:t>原子医学声明拆解</a:t>
            </a:r>
          </a:p>
        </p:txBody>
      </p:sp>
      <p:sp>
        <p:nvSpPr>
          <p:cNvPr id="24" name="text-60">
            <a:extLst>
              <a:ext uri="{FF2B5EF4-FFF2-40B4-BE49-F238E27FC236}">
                <a16:creationId xmlns:a16="http://schemas.microsoft.com/office/drawing/2014/main" id="{C80367FD-16FF-4CED-ABBB-D71B33CCD4B9}"/>
              </a:ext>
            </a:extLst>
          </p:cNvPr>
          <p:cNvSpPr>
            <a:spLocks noGrp="1"/>
          </p:cNvSpPr>
          <p:nvPr/>
        </p:nvSpPr>
        <p:spPr>
          <a:xfrm>
            <a:off x="3076575" y="2362200"/>
            <a:ext cx="2466975" cy="400050"/>
          </a:xfrm>
          <a:prstGeom prst="rect">
            <a:avLst/>
          </a:prstGeom>
          <a:noFill/>
          <a:ln w="0">
            <a:noFill/>
          </a:ln>
        </p:spPr>
        <p:txBody>
          <a:bodyPr wrap="square" lIns="0" tIns="0" rIns="0" bIns="0" anchor="ctr">
            <a:normAutofit fontScale="100000"/>
          </a:bodyPr>
          <a:lstStyle/>
          <a:p>
            <a:pPr algn="ctr">
              <a:defRPr sz="1350" b="0">
                <a:solidFill>
                  <a:srgbClr val="17243A"/>
                </a:solidFill>
                <a:latin typeface="微软雅黑"/>
                <a:ea typeface="微软雅黑"/>
                <a:cs typeface="微软雅黑"/>
              </a:defRPr>
            </a:pPr>
            <a:r>
              <a:rPr sz="1350" b="0">
                <a:solidFill>
                  <a:srgbClr val="17243A"/>
                </a:solidFill>
                <a:latin typeface="微软雅黑"/>
                <a:ea typeface="微软雅黑"/>
                <a:cs typeface="微软雅黑"/>
              </a:rPr>
              <a:t>诊断结论、事实、知识、缺失</a:t>
            </a:r>
          </a:p>
        </p:txBody>
      </p:sp>
      <p:sp>
        <p:nvSpPr>
          <p:cNvPr id="25" name="surface-61">
            <a:extLst>
              <a:ext uri="{FF2B5EF4-FFF2-40B4-BE49-F238E27FC236}">
                <a16:creationId xmlns:a16="http://schemas.microsoft.com/office/drawing/2014/main" id="{0CE74514-F4CE-4153-BE8D-A7429772C335}"/>
              </a:ext>
            </a:extLst>
          </p:cNvPr>
          <p:cNvSpPr>
            <a:spLocks noGrp="1"/>
          </p:cNvSpPr>
          <p:nvPr/>
        </p:nvSpPr>
        <p:spPr>
          <a:xfrm>
            <a:off x="5962650" y="1952625"/>
            <a:ext cx="2686050" cy="866775"/>
          </a:xfrm>
          <a:prstGeom prst="roundRect">
            <a:avLst>
              <a:gd name="adj" fmla="val 8791"/>
            </a:avLst>
          </a:prstGeom>
          <a:solidFill>
            <a:srgbClr val="FEFEFE"/>
          </a:solidFill>
          <a:ln w="12383">
            <a:solidFill>
              <a:srgbClr val="B9D9F0"/>
            </a:solidFill>
          </a:ln>
        </p:spPr>
      </p:sp>
      <p:sp>
        <p:nvSpPr>
          <p:cNvPr id="26" name="text-62">
            <a:extLst>
              <a:ext uri="{FF2B5EF4-FFF2-40B4-BE49-F238E27FC236}">
                <a16:creationId xmlns:a16="http://schemas.microsoft.com/office/drawing/2014/main" id="{EDB86CAA-00C0-4673-8F32-5DCA0C5E90FA}"/>
              </a:ext>
            </a:extLst>
          </p:cNvPr>
          <p:cNvSpPr>
            <a:spLocks noGrp="1"/>
          </p:cNvSpPr>
          <p:nvPr/>
        </p:nvSpPr>
        <p:spPr>
          <a:xfrm>
            <a:off x="6057900" y="2047875"/>
            <a:ext cx="2495550" cy="266700"/>
          </a:xfrm>
          <a:prstGeom prst="rect">
            <a:avLst/>
          </a:prstGeom>
          <a:noFill/>
          <a:ln w="0">
            <a:noFill/>
          </a:ln>
        </p:spPr>
        <p:txBody>
          <a:bodyPr wrap="square" lIns="0" tIns="0" rIns="0" bIns="0" anchor="ctr">
            <a:normAutofit fontScale="100000"/>
          </a:bodyPr>
          <a:lstStyle/>
          <a:p>
            <a:pPr algn="ctr">
              <a:defRPr sz="1575" b="1">
                <a:solidFill>
                  <a:srgbClr val="071A43"/>
                </a:solidFill>
                <a:latin typeface="微软雅黑"/>
                <a:ea typeface="微软雅黑"/>
                <a:cs typeface="微软雅黑"/>
              </a:defRPr>
            </a:pPr>
            <a:r>
              <a:rPr sz="1575" b="1">
                <a:solidFill>
                  <a:srgbClr val="071A43"/>
                </a:solidFill>
                <a:latin typeface="微软雅黑"/>
                <a:ea typeface="微软雅黑"/>
                <a:cs typeface="微软雅黑"/>
              </a:rPr>
              <a:t>逐条证据核验</a:t>
            </a:r>
          </a:p>
        </p:txBody>
      </p:sp>
      <p:sp>
        <p:nvSpPr>
          <p:cNvPr id="27" name="text-63">
            <a:extLst>
              <a:ext uri="{FF2B5EF4-FFF2-40B4-BE49-F238E27FC236}">
                <a16:creationId xmlns:a16="http://schemas.microsoft.com/office/drawing/2014/main" id="{D30C054C-30A7-4869-97D5-2FCA73DB770A}"/>
              </a:ext>
            </a:extLst>
          </p:cNvPr>
          <p:cNvSpPr>
            <a:spLocks noGrp="1"/>
          </p:cNvSpPr>
          <p:nvPr/>
        </p:nvSpPr>
        <p:spPr>
          <a:xfrm>
            <a:off x="6057900" y="2362200"/>
            <a:ext cx="2495550" cy="400050"/>
          </a:xfrm>
          <a:prstGeom prst="rect">
            <a:avLst/>
          </a:prstGeom>
          <a:noFill/>
          <a:ln w="0">
            <a:noFill/>
          </a:ln>
        </p:spPr>
        <p:txBody>
          <a:bodyPr wrap="square" lIns="0" tIns="0" rIns="0" bIns="0" anchor="ctr">
            <a:normAutofit fontScale="100000"/>
          </a:bodyPr>
          <a:lstStyle/>
          <a:p>
            <a:pPr algn="ctr">
              <a:defRPr sz="1350" b="0">
                <a:solidFill>
                  <a:srgbClr val="17243A"/>
                </a:solidFill>
                <a:latin typeface="微软雅黑"/>
                <a:ea typeface="微软雅黑"/>
                <a:cs typeface="微软雅黑"/>
              </a:defRPr>
            </a:pPr>
            <a:r>
              <a:rPr sz="1350" b="0">
                <a:solidFill>
                  <a:srgbClr val="17243A"/>
                </a:solidFill>
                <a:latin typeface="微软雅黑"/>
                <a:ea typeface="微软雅黑"/>
                <a:cs typeface="微软雅黑"/>
              </a:rPr>
              <a:t>患者记录、知识原文、专家标准</a:t>
            </a:r>
          </a:p>
        </p:txBody>
      </p:sp>
      <p:sp>
        <p:nvSpPr>
          <p:cNvPr id="28" name="surface-64">
            <a:extLst>
              <a:ext uri="{FF2B5EF4-FFF2-40B4-BE49-F238E27FC236}">
                <a16:creationId xmlns:a16="http://schemas.microsoft.com/office/drawing/2014/main" id="{2A7082AE-259E-4B02-AFBF-7D1C62981C16}"/>
              </a:ext>
            </a:extLst>
          </p:cNvPr>
          <p:cNvSpPr>
            <a:spLocks noGrp="1"/>
          </p:cNvSpPr>
          <p:nvPr/>
        </p:nvSpPr>
        <p:spPr>
          <a:xfrm>
            <a:off x="8972550" y="1952625"/>
            <a:ext cx="2952750" cy="866775"/>
          </a:xfrm>
          <a:prstGeom prst="roundRect">
            <a:avLst>
              <a:gd name="adj" fmla="val 8791"/>
            </a:avLst>
          </a:prstGeom>
          <a:solidFill>
            <a:srgbClr val="EDF5FB"/>
          </a:solidFill>
          <a:ln w="12383">
            <a:solidFill>
              <a:srgbClr val="02549D"/>
            </a:solidFill>
          </a:ln>
        </p:spPr>
      </p:sp>
      <p:sp>
        <p:nvSpPr>
          <p:cNvPr id="29" name="text-65">
            <a:extLst>
              <a:ext uri="{FF2B5EF4-FFF2-40B4-BE49-F238E27FC236}">
                <a16:creationId xmlns:a16="http://schemas.microsoft.com/office/drawing/2014/main" id="{99D905BF-5865-42C1-BBDF-7DDAC05AC101}"/>
              </a:ext>
            </a:extLst>
          </p:cNvPr>
          <p:cNvSpPr>
            <a:spLocks noGrp="1"/>
          </p:cNvSpPr>
          <p:nvPr/>
        </p:nvSpPr>
        <p:spPr>
          <a:xfrm>
            <a:off x="9067800" y="2047875"/>
            <a:ext cx="2762250" cy="266700"/>
          </a:xfrm>
          <a:prstGeom prst="rect">
            <a:avLst/>
          </a:prstGeom>
          <a:noFill/>
          <a:ln w="0">
            <a:noFill/>
          </a:ln>
        </p:spPr>
        <p:txBody>
          <a:bodyPr wrap="square" lIns="0" tIns="0" rIns="0" bIns="0" anchor="ctr">
            <a:normAutofit fontScale="100000"/>
          </a:bodyPr>
          <a:lstStyle/>
          <a:p>
            <a:pPr algn="ctr">
              <a:defRPr sz="1575" b="1">
                <a:solidFill>
                  <a:srgbClr val="02549D"/>
                </a:solidFill>
                <a:latin typeface="微软雅黑"/>
                <a:ea typeface="微软雅黑"/>
                <a:cs typeface="微软雅黑"/>
              </a:defRPr>
            </a:pPr>
            <a:r>
              <a:rPr sz="1575" b="1">
                <a:solidFill>
                  <a:srgbClr val="02549D"/>
                </a:solidFill>
                <a:latin typeface="微软雅黑"/>
                <a:ea typeface="微软雅黑"/>
                <a:cs typeface="微软雅黑"/>
              </a:rPr>
              <a:t>指标统计与错误分级</a:t>
            </a:r>
          </a:p>
        </p:txBody>
      </p:sp>
      <p:sp>
        <p:nvSpPr>
          <p:cNvPr id="30" name="text-66">
            <a:extLst>
              <a:ext uri="{FF2B5EF4-FFF2-40B4-BE49-F238E27FC236}">
                <a16:creationId xmlns:a16="http://schemas.microsoft.com/office/drawing/2014/main" id="{8F551963-E1D3-444A-B2FD-C2E1B146EE56}"/>
              </a:ext>
            </a:extLst>
          </p:cNvPr>
          <p:cNvSpPr>
            <a:spLocks noGrp="1"/>
          </p:cNvSpPr>
          <p:nvPr/>
        </p:nvSpPr>
        <p:spPr>
          <a:xfrm>
            <a:off x="9067800" y="2362200"/>
            <a:ext cx="2762250" cy="400050"/>
          </a:xfrm>
          <a:prstGeom prst="rect">
            <a:avLst/>
          </a:prstGeom>
          <a:noFill/>
          <a:ln w="0">
            <a:noFill/>
          </a:ln>
        </p:spPr>
        <p:txBody>
          <a:bodyPr wrap="square" lIns="0" tIns="0" rIns="0" bIns="0" anchor="ctr">
            <a:normAutofit fontScale="100000"/>
          </a:bodyPr>
          <a:lstStyle/>
          <a:p>
            <a:pPr algn="ctr">
              <a:defRPr sz="1350" b="0">
                <a:solidFill>
                  <a:srgbClr val="17243A"/>
                </a:solidFill>
                <a:latin typeface="微软雅黑"/>
                <a:ea typeface="微软雅黑"/>
                <a:cs typeface="微软雅黑"/>
              </a:defRPr>
            </a:pPr>
            <a:r>
              <a:rPr sz="1350" b="0">
                <a:solidFill>
                  <a:srgbClr val="17243A"/>
                </a:solidFill>
                <a:latin typeface="微软雅黑"/>
                <a:ea typeface="微软雅黑"/>
                <a:cs typeface="微软雅黑"/>
              </a:rPr>
              <a:t>判断、证据定位及错误原因</a:t>
            </a:r>
          </a:p>
        </p:txBody>
      </p:sp>
      <p:cxnSp>
        <p:nvCxnSpPr>
          <p:cNvPr id="31" name=""/>
          <p:cNvCxnSpPr>
            <a:stCxn id="19" idx="3"/>
            <a:endCxn id="22" idx="1"/>
          </p:cNvCxnSpPr>
          <p:nvPr/>
        </p:nvCxnSpPr>
        <p:spPr>
          <a:xfrm>
            <a:off x="2657475" y="2386013"/>
            <a:ext cx="323850" cy="0"/>
          </a:xfrm>
          <a:prstGeom prst="straightConnector1">
            <a:avLst/>
          </a:prstGeom>
          <a:ln w="19050">
            <a:solidFill>
              <a:srgbClr val="7FA9CA"/>
            </a:solidFill>
            <a:tailEnd type="triangle" w="sm" len="sm"/>
          </a:ln>
        </p:spPr>
      </p:cxnSp>
      <p:cxnSp>
        <p:nvCxnSpPr>
          <p:cNvPr id="32" name=""/>
          <p:cNvCxnSpPr>
            <a:stCxn id="22" idx="3"/>
            <a:endCxn id="25" idx="1"/>
          </p:cNvCxnSpPr>
          <p:nvPr/>
        </p:nvCxnSpPr>
        <p:spPr>
          <a:xfrm>
            <a:off x="5638800" y="2386013"/>
            <a:ext cx="323850" cy="0"/>
          </a:xfrm>
          <a:prstGeom prst="straightConnector1">
            <a:avLst/>
          </a:prstGeom>
          <a:ln w="19050">
            <a:solidFill>
              <a:srgbClr val="7FA9CA"/>
            </a:solidFill>
            <a:tailEnd type="triangle" w="sm" len="sm"/>
          </a:ln>
        </p:spPr>
      </p:cxnSp>
      <p:cxnSp>
        <p:nvCxnSpPr>
          <p:cNvPr id="33" name=""/>
          <p:cNvCxnSpPr>
            <a:stCxn id="25" idx="3"/>
            <a:endCxn id="28" idx="1"/>
          </p:cNvCxnSpPr>
          <p:nvPr/>
        </p:nvCxnSpPr>
        <p:spPr>
          <a:xfrm>
            <a:off x="8648700" y="2386013"/>
            <a:ext cx="323850" cy="0"/>
          </a:xfrm>
          <a:prstGeom prst="straightConnector1">
            <a:avLst/>
          </a:prstGeom>
          <a:ln w="19050">
            <a:solidFill>
              <a:srgbClr val="7FA9CA"/>
            </a:solidFill>
            <a:tailEnd type="triangle" w="sm" len="sm"/>
          </a:ln>
        </p:spPr>
      </p:cxnSp>
      <p:sp>
        <p:nvSpPr>
          <p:cNvPr id="34" name="text-67">
            <a:extLst>
              <a:ext uri="{FF2B5EF4-FFF2-40B4-BE49-F238E27FC236}">
                <a16:creationId xmlns:a16="http://schemas.microsoft.com/office/drawing/2014/main" id="{3B83FEA4-74C9-4506-9D20-DF4F92E7F2B3}"/>
              </a:ext>
            </a:extLst>
          </p:cNvPr>
          <p:cNvSpPr>
            <a:spLocks noGrp="1"/>
          </p:cNvSpPr>
          <p:nvPr/>
        </p:nvSpPr>
        <p:spPr>
          <a:xfrm>
            <a:off x="295275" y="3028950"/>
            <a:ext cx="11563350" cy="276225"/>
          </a:xfrm>
          <a:prstGeom prst="rect">
            <a:avLst/>
          </a:prstGeom>
          <a:noFill/>
          <a:ln w="0">
            <a:noFill/>
          </a:ln>
        </p:spPr>
        <p:txBody>
          <a:bodyPr wrap="square" lIns="0" tIns="0" rIns="0" bIns="0" anchor="ctr">
            <a:normAutofit fontScale="100000"/>
          </a:bodyPr>
          <a:lstStyle/>
          <a:p>
            <a:pPr algn="l">
              <a:defRPr sz="1463" b="0">
                <a:solidFill>
                  <a:srgbClr val="17243A"/>
                </a:solidFill>
                <a:latin typeface="微软雅黑"/>
                <a:ea typeface="微软雅黑"/>
                <a:cs typeface="微软雅黑"/>
              </a:defRPr>
            </a:pPr>
            <a:r>
              <a:rPr sz="1463" b="0">
                <a:solidFill>
                  <a:srgbClr val="17243A"/>
                </a:solidFill>
                <a:latin typeface="微软雅黑"/>
                <a:ea typeface="微软雅黑"/>
                <a:cs typeface="微软雅黑"/>
              </a:rPr>
              <a:t>临床错误：患者事实、医学知识、条件适用、关键证据遗漏、过度诊断、来源错误</a:t>
            </a:r>
          </a:p>
        </p:txBody>
      </p:sp>
      <p:sp>
        <p:nvSpPr>
          <p:cNvPr id="35" name="surface-68">
            <a:extLst>
              <a:ext uri="{FF2B5EF4-FFF2-40B4-BE49-F238E27FC236}">
                <a16:creationId xmlns:a16="http://schemas.microsoft.com/office/drawing/2014/main" id="{C0994FDF-2411-4211-BFA5-A8A253E29F2D}"/>
              </a:ext>
            </a:extLst>
          </p:cNvPr>
          <p:cNvSpPr>
            <a:spLocks noGrp="1"/>
          </p:cNvSpPr>
          <p:nvPr/>
        </p:nvSpPr>
        <p:spPr>
          <a:xfrm>
            <a:off x="228600" y="3495675"/>
            <a:ext cx="6953250" cy="2524125"/>
          </a:xfrm>
          <a:prstGeom prst="roundRect">
            <a:avLst>
              <a:gd name="adj" fmla="val 3774"/>
            </a:avLst>
          </a:prstGeom>
          <a:solidFill>
            <a:srgbClr val="FEFEFE"/>
          </a:solidFill>
          <a:ln w="12383">
            <a:solidFill>
              <a:srgbClr val="B9D9F0"/>
            </a:solidFill>
          </a:ln>
        </p:spPr>
      </p:sp>
      <p:sp>
        <p:nvSpPr>
          <p:cNvPr id="36" name="surface-69">
            <a:extLst>
              <a:ext uri="{FF2B5EF4-FFF2-40B4-BE49-F238E27FC236}">
                <a16:creationId xmlns:a16="http://schemas.microsoft.com/office/drawing/2014/main" id="{80372635-D586-4E62-AEA1-CCA2C30DE8E1}"/>
              </a:ext>
            </a:extLst>
          </p:cNvPr>
          <p:cNvSpPr>
            <a:spLocks noGrp="1"/>
          </p:cNvSpPr>
          <p:nvPr/>
        </p:nvSpPr>
        <p:spPr>
          <a:xfrm>
            <a:off x="238125" y="3505200"/>
            <a:ext cx="6934200" cy="476250"/>
          </a:xfrm>
          <a:prstGeom prst="roundRect">
            <a:avLst>
              <a:gd name="adj" fmla="val 16000"/>
            </a:avLst>
          </a:prstGeom>
          <a:solidFill>
            <a:srgbClr val="EDF5FB"/>
          </a:solidFill>
          <a:ln w="12383">
            <a:solidFill>
              <a:srgbClr val="EDF5FB"/>
            </a:solidFill>
          </a:ln>
        </p:spPr>
      </p:sp>
      <p:pic>
        <p:nvPicPr>
          <p:cNvPr id="37" name="Image 2" descr="image"/>
          <p:cNvPicPr>
            <a:picLocks noChangeAspect="1"/>
          </p:cNvPicPr>
          <p:nvPr/>
        </p:nvPicPr>
        <p:blipFill>
          <a:blip r:embed="rIdBadge"/>
          <a:stretch>
            <a:fillRect/>
          </a:stretch>
        </p:blipFill>
        <p:spPr>
          <a:xfrm>
            <a:off x="228600" y="3495675"/>
            <a:ext cx="609600" cy="495300"/>
          </a:xfrm>
          <a:prstGeom prst="rect">
            <a:avLst/>
          </a:prstGeom>
        </p:spPr>
      </p:pic>
      <p:sp>
        <p:nvSpPr>
          <p:cNvPr id="38" name="text-70">
            <a:extLst>
              <a:ext uri="{FF2B5EF4-FFF2-40B4-BE49-F238E27FC236}">
                <a16:creationId xmlns:a16="http://schemas.microsoft.com/office/drawing/2014/main" id="{B58CF561-B990-4D8B-928D-7F10887C7F88}"/>
              </a:ext>
            </a:extLst>
          </p:cNvPr>
          <p:cNvSpPr>
            <a:spLocks noGrp="1"/>
          </p:cNvSpPr>
          <p:nvPr/>
        </p:nvSpPr>
        <p:spPr>
          <a:xfrm>
            <a:off x="371475" y="3562350"/>
            <a:ext cx="438150" cy="323850"/>
          </a:xfrm>
          <a:prstGeom prst="rect">
            <a:avLst/>
          </a:prstGeom>
          <a:noFill/>
          <a:ln w="0">
            <a:noFill/>
          </a:ln>
        </p:spPr>
        <p:txBody>
          <a:bodyPr wrap="square" lIns="0" tIns="0" rIns="0" bIns="0" anchor="ctr">
            <a:normAutofit fontScale="97701"/>
          </a:bodyPr>
          <a:lstStyle/>
          <a:p>
            <a:pPr algn="ctr">
              <a:defRPr sz="2175" b="1">
                <a:solidFill>
                  <a:srgbClr val="FFFFFF"/>
                </a:solidFill>
                <a:latin typeface="微软雅黑"/>
                <a:ea typeface="微软雅黑"/>
                <a:cs typeface="微软雅黑"/>
              </a:defRPr>
            </a:pPr>
            <a:r>
              <a:rPr sz="2175" b="1">
                <a:solidFill>
                  <a:srgbClr val="FFFFFF"/>
                </a:solidFill>
                <a:latin typeface="微软雅黑"/>
                <a:ea typeface="微软雅黑"/>
                <a:cs typeface="微软雅黑"/>
              </a:rPr>
              <a:t>03</a:t>
            </a:r>
          </a:p>
        </p:txBody>
      </p:sp>
      <p:sp>
        <p:nvSpPr>
          <p:cNvPr id="39" name="text-71">
            <a:extLst>
              <a:ext uri="{FF2B5EF4-FFF2-40B4-BE49-F238E27FC236}">
                <a16:creationId xmlns:a16="http://schemas.microsoft.com/office/drawing/2014/main" id="{A9B4A03F-37F4-47D5-8090-8D72F16C0265}"/>
              </a:ext>
            </a:extLst>
          </p:cNvPr>
          <p:cNvSpPr>
            <a:spLocks noGrp="1"/>
          </p:cNvSpPr>
          <p:nvPr/>
        </p:nvSpPr>
        <p:spPr>
          <a:xfrm>
            <a:off x="923925" y="3562350"/>
            <a:ext cx="6105525" cy="323850"/>
          </a:xfrm>
          <a:prstGeom prst="rect">
            <a:avLst/>
          </a:prstGeom>
          <a:noFill/>
          <a:ln w="0">
            <a:noFill/>
          </a:ln>
        </p:spPr>
        <p:txBody>
          <a:bodyPr wrap="square" lIns="0" tIns="0" rIns="0" bIns="0" anchor="ctr">
            <a:normAutofit fontScale="100000"/>
          </a:bodyPr>
          <a:lstStyle/>
          <a:p>
            <a:pPr algn="l">
              <a:defRPr sz="1913" b="1">
                <a:solidFill>
                  <a:srgbClr val="071A43"/>
                </a:solidFill>
                <a:latin typeface="微软雅黑"/>
                <a:ea typeface="微软雅黑"/>
                <a:cs typeface="微软雅黑"/>
              </a:defRPr>
            </a:pPr>
            <a:r>
              <a:rPr sz="1913" b="1">
                <a:solidFill>
                  <a:srgbClr val="071A43"/>
                </a:solidFill>
                <a:latin typeface="微软雅黑"/>
                <a:ea typeface="微软雅黑"/>
                <a:cs typeface="微软雅黑"/>
              </a:rPr>
              <a:t>报告质量主要终点</a:t>
            </a:r>
          </a:p>
        </p:txBody>
      </p:sp>
      <p:graphicFrame>
        <p:nvGraphicFramePr>
          <p:cNvPr id="40" name=""/>
          <p:cNvGraphicFramePr/>
          <p:nvPr/>
        </p:nvGraphicFramePr>
        <p:xfrm>
          <a:off x="400050" y="4076700"/>
          <a:ext cx="6610350" cy="1323975"/>
        </p:xfrm>
        <a:graphic>
          <a:graphicData uri="http://schemas.openxmlformats.org/drawingml/2006/table">
            <a:tbl>
              <a:tblPr firstRow="0" bandRow="0"/>
              <a:tblGrid>
                <a:gridCol w="2000250"/>
                <a:gridCol w="3162300"/>
                <a:gridCol w="1447800"/>
              </a:tblGrid>
              <a:tr h="330994">
                <a:tc>
                  <a:txBody>
                    <a:bodyPr lIns="85725" tIns="47625" rIns="76200" bIns="47625">
                      <a:normAutofit/>
                    </a:bodyPr>
                    <a:lstStyle/>
                    <a:p>
                      <a:pPr algn="l"/>
                      <a:r>
                        <a:rPr sz="1350" b="1">
                          <a:solidFill>
                            <a:srgbClr val="071A43"/>
                          </a:solidFill>
                          <a:latin typeface="微软雅黑"/>
                          <a:ea typeface="微软雅黑"/>
                          <a:cs typeface="微软雅黑"/>
                        </a:rPr>
                        <a:t>主要终点</a:t>
                      </a:r>
                    </a:p>
                  </a:txBody>
                  <a:tcPr marL="91440" marR="91440" marT="45720" marB="45720" anchor="ctr">
                    <a:solidFill>
                      <a:srgbClr val="EDF5FB"/>
                    </a:solidFill>
                  </a:tcPr>
                </a:tc>
                <a:tc>
                  <a:txBody>
                    <a:bodyPr lIns="85725" tIns="47625" rIns="76200" bIns="47625">
                      <a:normAutofit/>
                    </a:bodyPr>
                    <a:lstStyle/>
                    <a:p>
                      <a:pPr algn="l"/>
                      <a:r>
                        <a:rPr sz="1350" b="1">
                          <a:solidFill>
                            <a:srgbClr val="071A43"/>
                          </a:solidFill>
                          <a:latin typeface="微软雅黑"/>
                          <a:ea typeface="微软雅黑"/>
                          <a:cs typeface="微软雅黑"/>
                        </a:rPr>
                        <a:t>计算依据</a:t>
                      </a:r>
                    </a:p>
                  </a:txBody>
                  <a:tcPr marL="91440" marR="91440" marT="45720" marB="45720" anchor="ctr">
                    <a:solidFill>
                      <a:srgbClr val="EDF5FB"/>
                    </a:solidFill>
                  </a:tcPr>
                </a:tc>
                <a:tc>
                  <a:txBody>
                    <a:bodyPr lIns="85725" tIns="47625" rIns="76200" bIns="47625">
                      <a:normAutofit/>
                    </a:bodyPr>
                    <a:lstStyle/>
                    <a:p>
                      <a:pPr algn="l"/>
                      <a:r>
                        <a:rPr sz="1350" b="1">
                          <a:solidFill>
                            <a:srgbClr val="071A43"/>
                          </a:solidFill>
                          <a:latin typeface="微软雅黑"/>
                          <a:ea typeface="微软雅黑"/>
                          <a:cs typeface="微软雅黑"/>
                        </a:rPr>
                        <a:t>评价目标</a:t>
                      </a:r>
                    </a:p>
                  </a:txBody>
                  <a:tcPr marL="91440" marR="91440" marT="45720" marB="45720" anchor="ctr">
                    <a:solidFill>
                      <a:srgbClr val="EDF5FB"/>
                    </a:solidFill>
                  </a:tcPr>
                </a:tc>
              </a:tr>
              <a:tr h="330994">
                <a:tc>
                  <a:txBody>
                    <a:bodyPr lIns="85725" tIns="47625" rIns="76200" bIns="47625">
                      <a:normAutofit/>
                    </a:bodyPr>
                    <a:lstStyle/>
                    <a:p>
                      <a:pPr algn="l"/>
                      <a:r>
                        <a:rPr sz="1350" b="0">
                          <a:solidFill>
                            <a:srgbClr val="17243A"/>
                          </a:solidFill>
                          <a:latin typeface="微软雅黑"/>
                          <a:ea typeface="微软雅黑"/>
                          <a:cs typeface="微软雅黑"/>
                        </a:rPr>
                        <a:t>必要证据覆盖率</a:t>
                      </a:r>
                    </a:p>
                  </a:txBody>
                  <a:tcPr marL="91440" marR="91440" marT="45720" marB="45720" anchor="ctr">
                    <a:solidFill>
                      <a:srgbClr val="FEFEFE"/>
                    </a:solidFill>
                  </a:tcPr>
                </a:tc>
                <a:tc>
                  <a:txBody>
                    <a:bodyPr lIns="85725" tIns="47625" rIns="76200" bIns="47625">
                      <a:normAutofit/>
                    </a:bodyPr>
                    <a:lstStyle/>
                    <a:p>
                      <a:pPr algn="l"/>
                      <a:r>
                        <a:rPr sz="1350" b="0">
                          <a:solidFill>
                            <a:srgbClr val="17243A"/>
                          </a:solidFill>
                          <a:latin typeface="微软雅黑"/>
                          <a:ea typeface="微软雅黑"/>
                          <a:cs typeface="微软雅黑"/>
                        </a:rPr>
                        <a:t>正确覆盖 / 必要证据</a:t>
                      </a:r>
                    </a:p>
                  </a:txBody>
                  <a:tcPr marL="91440" marR="91440" marT="45720" marB="45720" anchor="ctr">
                    <a:solidFill>
                      <a:srgbClr val="FEFEFE"/>
                    </a:solidFill>
                  </a:tcPr>
                </a:tc>
                <a:tc>
                  <a:txBody>
                    <a:bodyPr lIns="85725" tIns="47625" rIns="76200" bIns="47625">
                      <a:normAutofit/>
                    </a:bodyPr>
                    <a:lstStyle/>
                    <a:p>
                      <a:pPr algn="l"/>
                      <a:r>
                        <a:rPr sz="1350" b="0">
                          <a:solidFill>
                            <a:srgbClr val="17243A"/>
                          </a:solidFill>
                          <a:latin typeface="微软雅黑"/>
                          <a:ea typeface="微软雅黑"/>
                          <a:cs typeface="微软雅黑"/>
                        </a:rPr>
                        <a:t>解释完整性</a:t>
                      </a:r>
                    </a:p>
                  </a:txBody>
                  <a:tcPr marL="91440" marR="91440" marT="45720" marB="45720" anchor="ctr">
                    <a:solidFill>
                      <a:srgbClr val="FEFEFE"/>
                    </a:solidFill>
                  </a:tcPr>
                </a:tc>
              </a:tr>
              <a:tr h="330994">
                <a:tc>
                  <a:txBody>
                    <a:bodyPr lIns="85725" tIns="47625" rIns="76200" bIns="47625">
                      <a:normAutofit/>
                    </a:bodyPr>
                    <a:lstStyle/>
                    <a:p>
                      <a:pPr algn="l"/>
                      <a:r>
                        <a:rPr sz="1350" b="0">
                          <a:solidFill>
                            <a:srgbClr val="17243A"/>
                          </a:solidFill>
                          <a:latin typeface="微软雅黑"/>
                          <a:ea typeface="微软雅黑"/>
                          <a:cs typeface="微软雅黑"/>
                        </a:rPr>
                        <a:t>医学声明支持率</a:t>
                      </a:r>
                    </a:p>
                  </a:txBody>
                  <a:tcPr marL="91440" marR="91440" marT="45720" marB="45720" anchor="ctr">
                    <a:solidFill>
                      <a:srgbClr val="FEFEFE"/>
                    </a:solidFill>
                  </a:tcPr>
                </a:tc>
                <a:tc>
                  <a:txBody>
                    <a:bodyPr lIns="85725" tIns="47625" rIns="76200" bIns="47625">
                      <a:normAutofit/>
                    </a:bodyPr>
                    <a:lstStyle/>
                    <a:p>
                      <a:pPr algn="l"/>
                      <a:r>
                        <a:rPr sz="1350" b="0">
                          <a:solidFill>
                            <a:srgbClr val="17243A"/>
                          </a:solidFill>
                          <a:latin typeface="微软雅黑"/>
                          <a:ea typeface="微软雅黑"/>
                          <a:cs typeface="微软雅黑"/>
                        </a:rPr>
                        <a:t>可信来源支持 / 可核验声明</a:t>
                      </a:r>
                    </a:p>
                  </a:txBody>
                  <a:tcPr marL="91440" marR="91440" marT="45720" marB="45720" anchor="ctr">
                    <a:solidFill>
                      <a:srgbClr val="FEFEFE"/>
                    </a:solidFill>
                  </a:tcPr>
                </a:tc>
                <a:tc>
                  <a:txBody>
                    <a:bodyPr lIns="85725" tIns="47625" rIns="76200" bIns="47625">
                      <a:normAutofit/>
                    </a:bodyPr>
                    <a:lstStyle/>
                    <a:p>
                      <a:pPr algn="l"/>
                      <a:r>
                        <a:rPr sz="1350" b="0">
                          <a:solidFill>
                            <a:srgbClr val="17243A"/>
                          </a:solidFill>
                          <a:latin typeface="微软雅黑"/>
                          <a:ea typeface="微软雅黑"/>
                          <a:cs typeface="微软雅黑"/>
                        </a:rPr>
                        <a:t>证据忠实性</a:t>
                      </a:r>
                    </a:p>
                  </a:txBody>
                  <a:tcPr marL="91440" marR="91440" marT="45720" marB="45720" anchor="ctr">
                    <a:solidFill>
                      <a:srgbClr val="FEFEFE"/>
                    </a:solidFill>
                  </a:tcPr>
                </a:tc>
              </a:tr>
              <a:tr h="330994">
                <a:tc>
                  <a:txBody>
                    <a:bodyPr lIns="85725" tIns="47625" rIns="76200" bIns="47625">
                      <a:normAutofit/>
                    </a:bodyPr>
                    <a:lstStyle/>
                    <a:p>
                      <a:pPr algn="l"/>
                      <a:r>
                        <a:rPr sz="1350" b="0">
                          <a:solidFill>
                            <a:srgbClr val="17243A"/>
                          </a:solidFill>
                          <a:latin typeface="微软雅黑"/>
                          <a:ea typeface="微软雅黑"/>
                          <a:cs typeface="微软雅黑"/>
                        </a:rPr>
                        <a:t>严重临床错误率</a:t>
                      </a:r>
                    </a:p>
                  </a:txBody>
                  <a:tcPr marL="91440" marR="91440" marT="45720" marB="45720" anchor="ctr">
                    <a:solidFill>
                      <a:srgbClr val="FEFEFE"/>
                    </a:solidFill>
                  </a:tcPr>
                </a:tc>
                <a:tc>
                  <a:txBody>
                    <a:bodyPr lIns="85725" tIns="47625" rIns="76200" bIns="47625">
                      <a:normAutofit/>
                    </a:bodyPr>
                    <a:lstStyle/>
                    <a:p>
                      <a:pPr algn="l"/>
                      <a:r>
                        <a:rPr sz="1350" b="0">
                          <a:solidFill>
                            <a:srgbClr val="17243A"/>
                          </a:solidFill>
                          <a:latin typeface="微软雅黑"/>
                          <a:ea typeface="微软雅黑"/>
                          <a:cs typeface="微软雅黑"/>
                        </a:rPr>
                        <a:t>含严重错误的报告 / 全部报告</a:t>
                      </a:r>
                    </a:p>
                  </a:txBody>
                  <a:tcPr marL="91440" marR="91440" marT="45720" marB="45720" anchor="ctr">
                    <a:solidFill>
                      <a:srgbClr val="FEFEFE"/>
                    </a:solidFill>
                  </a:tcPr>
                </a:tc>
                <a:tc>
                  <a:txBody>
                    <a:bodyPr lIns="85725" tIns="47625" rIns="76200" bIns="47625">
                      <a:normAutofit/>
                    </a:bodyPr>
                    <a:lstStyle/>
                    <a:p>
                      <a:pPr algn="l"/>
                      <a:r>
                        <a:rPr sz="1350" b="0">
                          <a:solidFill>
                            <a:srgbClr val="17243A"/>
                          </a:solidFill>
                          <a:latin typeface="微软雅黑"/>
                          <a:ea typeface="微软雅黑"/>
                          <a:cs typeface="微软雅黑"/>
                        </a:rPr>
                        <a:t>临床安全性</a:t>
                      </a:r>
                    </a:p>
                  </a:txBody>
                  <a:tcPr marL="91440" marR="91440" marT="45720" marB="45720" anchor="ctr">
                    <a:solidFill>
                      <a:srgbClr val="FEFEFE"/>
                    </a:solidFill>
                  </a:tcPr>
                </a:tc>
              </a:tr>
            </a:tbl>
          </a:graphicData>
        </a:graphic>
      </p:graphicFrame>
      <p:sp>
        <p:nvSpPr>
          <p:cNvPr id="41" name="text-72">
            <a:extLst>
              <a:ext uri="{FF2B5EF4-FFF2-40B4-BE49-F238E27FC236}">
                <a16:creationId xmlns:a16="http://schemas.microsoft.com/office/drawing/2014/main" id="{62F8AF5B-3EB7-4EBE-BA8F-9B5A699A04E3}"/>
              </a:ext>
            </a:extLst>
          </p:cNvPr>
          <p:cNvSpPr>
            <a:spLocks noGrp="1"/>
          </p:cNvSpPr>
          <p:nvPr/>
        </p:nvSpPr>
        <p:spPr>
          <a:xfrm>
            <a:off x="419100" y="5572125"/>
            <a:ext cx="6543675" cy="304800"/>
          </a:xfrm>
          <a:prstGeom prst="rect">
            <a:avLst/>
          </a:prstGeom>
          <a:noFill/>
          <a:ln w="0">
            <a:noFill/>
          </a:ln>
        </p:spPr>
        <p:txBody>
          <a:bodyPr wrap="square" lIns="0" tIns="0" rIns="0" bIns="0" anchor="ctr">
            <a:normAutofit fontScale="100000"/>
          </a:bodyPr>
          <a:lstStyle/>
          <a:p>
            <a:pPr algn="l">
              <a:defRPr sz="1365" b="0">
                <a:solidFill>
                  <a:srgbClr val="17243A"/>
                </a:solidFill>
                <a:latin typeface="微软雅黑"/>
                <a:ea typeface="微软雅黑"/>
                <a:cs typeface="微软雅黑"/>
              </a:defRPr>
            </a:pPr>
            <a:r>
              <a:rPr sz="1365" b="0">
                <a:solidFill>
                  <a:srgbClr val="17243A"/>
                </a:solidFill>
                <a:latin typeface="微软雅黑"/>
                <a:ea typeface="微软雅黑"/>
                <a:cs typeface="微软雅黑"/>
              </a:rPr>
              <a:t>辅助：患者事实准确率、知识适用性 Macro-F1、无依据陈述率</a:t>
            </a:r>
          </a:p>
        </p:txBody>
      </p:sp>
      <p:sp>
        <p:nvSpPr>
          <p:cNvPr id="42" name="surface-73">
            <a:extLst>
              <a:ext uri="{FF2B5EF4-FFF2-40B4-BE49-F238E27FC236}">
                <a16:creationId xmlns:a16="http://schemas.microsoft.com/office/drawing/2014/main" id="{772809A6-0E8D-408B-B884-14119BDADF87}"/>
              </a:ext>
            </a:extLst>
          </p:cNvPr>
          <p:cNvSpPr>
            <a:spLocks noGrp="1"/>
          </p:cNvSpPr>
          <p:nvPr/>
        </p:nvSpPr>
        <p:spPr>
          <a:xfrm>
            <a:off x="7353300" y="3495675"/>
            <a:ext cx="4610100" cy="2524125"/>
          </a:xfrm>
          <a:prstGeom prst="roundRect">
            <a:avLst>
              <a:gd name="adj" fmla="val 3774"/>
            </a:avLst>
          </a:prstGeom>
          <a:solidFill>
            <a:srgbClr val="FEFEFE"/>
          </a:solidFill>
          <a:ln w="12383">
            <a:solidFill>
              <a:srgbClr val="B9D9F0"/>
            </a:solidFill>
          </a:ln>
        </p:spPr>
      </p:sp>
      <p:sp>
        <p:nvSpPr>
          <p:cNvPr id="43" name="surface-74">
            <a:extLst>
              <a:ext uri="{FF2B5EF4-FFF2-40B4-BE49-F238E27FC236}">
                <a16:creationId xmlns:a16="http://schemas.microsoft.com/office/drawing/2014/main" id="{16787AEF-79DC-42AB-8F97-C7C20CC2A043}"/>
              </a:ext>
            </a:extLst>
          </p:cNvPr>
          <p:cNvSpPr>
            <a:spLocks noGrp="1"/>
          </p:cNvSpPr>
          <p:nvPr/>
        </p:nvSpPr>
        <p:spPr>
          <a:xfrm>
            <a:off x="7362825" y="3505200"/>
            <a:ext cx="4591050" cy="476250"/>
          </a:xfrm>
          <a:prstGeom prst="roundRect">
            <a:avLst>
              <a:gd name="adj" fmla="val 16000"/>
            </a:avLst>
          </a:prstGeom>
          <a:solidFill>
            <a:srgbClr val="EDF5FB"/>
          </a:solidFill>
          <a:ln w="12383">
            <a:solidFill>
              <a:srgbClr val="EDF5FB"/>
            </a:solidFill>
          </a:ln>
        </p:spPr>
      </p:sp>
      <p:pic>
        <p:nvPicPr>
          <p:cNvPr id="44" name="Image 2" descr="image"/>
          <p:cNvPicPr>
            <a:picLocks noChangeAspect="1"/>
          </p:cNvPicPr>
          <p:nvPr/>
        </p:nvPicPr>
        <p:blipFill>
          <a:blip r:embed="rIdBadge"/>
          <a:stretch>
            <a:fillRect/>
          </a:stretch>
        </p:blipFill>
        <p:spPr>
          <a:xfrm>
            <a:off x="7353300" y="3495675"/>
            <a:ext cx="609600" cy="495300"/>
          </a:xfrm>
          <a:prstGeom prst="rect">
            <a:avLst/>
          </a:prstGeom>
        </p:spPr>
      </p:pic>
      <p:sp>
        <p:nvSpPr>
          <p:cNvPr id="45" name="text-75">
            <a:extLst>
              <a:ext uri="{FF2B5EF4-FFF2-40B4-BE49-F238E27FC236}">
                <a16:creationId xmlns:a16="http://schemas.microsoft.com/office/drawing/2014/main" id="{00813BEC-82C6-4C7A-86AB-90E12A29D2CA}"/>
              </a:ext>
            </a:extLst>
          </p:cNvPr>
          <p:cNvSpPr>
            <a:spLocks noGrp="1"/>
          </p:cNvSpPr>
          <p:nvPr/>
        </p:nvSpPr>
        <p:spPr>
          <a:xfrm>
            <a:off x="7496175" y="3562350"/>
            <a:ext cx="438150" cy="323850"/>
          </a:xfrm>
          <a:prstGeom prst="rect">
            <a:avLst/>
          </a:prstGeom>
          <a:noFill/>
          <a:ln w="0">
            <a:noFill/>
          </a:ln>
        </p:spPr>
        <p:txBody>
          <a:bodyPr wrap="square" lIns="0" tIns="0" rIns="0" bIns="0" anchor="ctr">
            <a:normAutofit fontScale="97701"/>
          </a:bodyPr>
          <a:lstStyle/>
          <a:p>
            <a:pPr algn="ctr">
              <a:defRPr sz="2175" b="1">
                <a:solidFill>
                  <a:srgbClr val="FFFFFF"/>
                </a:solidFill>
                <a:latin typeface="微软雅黑"/>
                <a:ea typeface="微软雅黑"/>
                <a:cs typeface="微软雅黑"/>
              </a:defRPr>
            </a:pPr>
            <a:r>
              <a:rPr sz="2175" b="1">
                <a:solidFill>
                  <a:srgbClr val="FFFFFF"/>
                </a:solidFill>
                <a:latin typeface="微软雅黑"/>
                <a:ea typeface="微软雅黑"/>
                <a:cs typeface="微软雅黑"/>
              </a:rPr>
              <a:t>04</a:t>
            </a:r>
          </a:p>
        </p:txBody>
      </p:sp>
      <p:sp>
        <p:nvSpPr>
          <p:cNvPr id="46" name="text-76">
            <a:extLst>
              <a:ext uri="{FF2B5EF4-FFF2-40B4-BE49-F238E27FC236}">
                <a16:creationId xmlns:a16="http://schemas.microsoft.com/office/drawing/2014/main" id="{E0C8E0D5-1A30-4C12-AA16-707C6F2CB9F9}"/>
              </a:ext>
            </a:extLst>
          </p:cNvPr>
          <p:cNvSpPr>
            <a:spLocks noGrp="1"/>
          </p:cNvSpPr>
          <p:nvPr/>
        </p:nvSpPr>
        <p:spPr>
          <a:xfrm>
            <a:off x="8048625" y="3562350"/>
            <a:ext cx="3762375" cy="323850"/>
          </a:xfrm>
          <a:prstGeom prst="rect">
            <a:avLst/>
          </a:prstGeom>
          <a:noFill/>
          <a:ln w="0">
            <a:noFill/>
          </a:ln>
        </p:spPr>
        <p:txBody>
          <a:bodyPr wrap="square" lIns="0" tIns="0" rIns="0" bIns="0" anchor="ctr">
            <a:normAutofit fontScale="100000"/>
          </a:bodyPr>
          <a:lstStyle/>
          <a:p>
            <a:pPr algn="l">
              <a:defRPr sz="1913" b="1">
                <a:solidFill>
                  <a:srgbClr val="071A43"/>
                </a:solidFill>
                <a:latin typeface="微软雅黑"/>
                <a:ea typeface="微软雅黑"/>
                <a:cs typeface="微软雅黑"/>
              </a:defRPr>
            </a:pPr>
            <a:r>
              <a:rPr sz="1913" b="1">
                <a:solidFill>
                  <a:srgbClr val="071A43"/>
                </a:solidFill>
                <a:latin typeface="微软雅黑"/>
                <a:ea typeface="微软雅黑"/>
                <a:cs typeface="微软雅黑"/>
              </a:rPr>
              <a:t>专家标注与评价验证</a:t>
            </a:r>
          </a:p>
        </p:txBody>
      </p:sp>
      <p:sp>
        <p:nvSpPr>
          <p:cNvPr id="47" name="text-77">
            <a:extLst>
              <a:ext uri="{FF2B5EF4-FFF2-40B4-BE49-F238E27FC236}">
                <a16:creationId xmlns:a16="http://schemas.microsoft.com/office/drawing/2014/main" id="{BC581B81-F2D8-4610-89AE-7CA0E1F85F36}"/>
              </a:ext>
            </a:extLst>
          </p:cNvPr>
          <p:cNvSpPr>
            <a:spLocks noGrp="1"/>
          </p:cNvSpPr>
          <p:nvPr/>
        </p:nvSpPr>
        <p:spPr>
          <a:xfrm>
            <a:off x="7534275" y="4086225"/>
            <a:ext cx="4238625" cy="276225"/>
          </a:xfrm>
          <a:prstGeom prst="rect">
            <a:avLst/>
          </a:prstGeom>
          <a:noFill/>
          <a:ln w="0">
            <a:noFill/>
          </a:ln>
        </p:spPr>
        <p:txBody>
          <a:bodyPr wrap="square" lIns="0" tIns="0" rIns="0" bIns="0" anchor="ctr">
            <a:normAutofit fontScale="100000"/>
          </a:bodyPr>
          <a:lstStyle/>
          <a:p>
            <a:pPr algn="l">
              <a:defRPr sz="1575" b="1">
                <a:solidFill>
                  <a:srgbClr val="071A43"/>
                </a:solidFill>
                <a:latin typeface="微软雅黑"/>
                <a:ea typeface="微软雅黑"/>
                <a:cs typeface="微软雅黑"/>
              </a:defRPr>
            </a:pPr>
            <a:r>
              <a:rPr sz="1575" b="1">
                <a:solidFill>
                  <a:srgbClr val="071A43"/>
                </a:solidFill>
                <a:latin typeface="微软雅黑"/>
                <a:ea typeface="微软雅黑"/>
                <a:cs typeface="微软雅黑"/>
              </a:rPr>
              <a:t>金标准：60–100 个病例子集</a:t>
            </a:r>
          </a:p>
        </p:txBody>
      </p:sp>
      <p:sp>
        <p:nvSpPr>
          <p:cNvPr id="48" name="text-78">
            <a:extLst>
              <a:ext uri="{FF2B5EF4-FFF2-40B4-BE49-F238E27FC236}">
                <a16:creationId xmlns:a16="http://schemas.microsoft.com/office/drawing/2014/main" id="{4CD5F8A4-99A2-4D6E-B40C-4062C1CA5FB6}"/>
              </a:ext>
            </a:extLst>
          </p:cNvPr>
          <p:cNvSpPr>
            <a:spLocks noGrp="1"/>
          </p:cNvSpPr>
          <p:nvPr/>
        </p:nvSpPr>
        <p:spPr>
          <a:xfrm>
            <a:off x="7534275" y="4438650"/>
            <a:ext cx="4238625" cy="485775"/>
          </a:xfrm>
          <a:prstGeom prst="rect">
            <a:avLst/>
          </a:prstGeom>
          <a:noFill/>
          <a:ln w="0">
            <a:noFill/>
          </a:ln>
        </p:spPr>
        <p:txBody>
          <a:bodyPr wrap="square" lIns="0" tIns="0" rIns="0" bIns="0" anchor="ctr">
            <a:normAutofit fontScale="100000"/>
          </a:bodyPr>
          <a:lstStyle/>
          <a:p>
            <a:pPr algn="l">
              <a:defRPr sz="1402" b="0">
                <a:solidFill>
                  <a:srgbClr val="17243A"/>
                </a:solidFill>
                <a:latin typeface="微软雅黑"/>
                <a:ea typeface="微软雅黑"/>
                <a:cs typeface="微软雅黑"/>
              </a:defRPr>
            </a:pPr>
            <a:r>
              <a:rPr sz="1402" b="0">
                <a:solidFill>
                  <a:srgbClr val="17243A"/>
                </a:solidFill>
                <a:latin typeface="微软雅黑"/>
                <a:ea typeface="微软雅黑"/>
                <a:cs typeface="微软雅黑"/>
              </a:rPr>
              <a:t>参考标准含关键事实、必要证据、</a:t>
            </a:r>
          </a:p>
          <a:p>
            <a:pPr algn="l">
              <a:defRPr sz="1402" b="0">
                <a:solidFill>
                  <a:srgbClr val="17243A"/>
                </a:solidFill>
                <a:latin typeface="微软雅黑"/>
                <a:ea typeface="微软雅黑"/>
                <a:cs typeface="微软雅黑"/>
              </a:defRPr>
            </a:pPr>
            <a:r>
              <a:rPr sz="1402" b="0">
                <a:solidFill>
                  <a:srgbClr val="17243A"/>
                </a:solidFill>
                <a:latin typeface="微软雅黑"/>
                <a:ea typeface="微软雅黑"/>
                <a:cs typeface="微软雅黑"/>
              </a:rPr>
              <a:t>适用条件、资料缺失与错误清单</a:t>
            </a:r>
          </a:p>
        </p:txBody>
      </p:sp>
      <p:sp>
        <p:nvSpPr>
          <p:cNvPr id="49" name="text-79">
            <a:extLst>
              <a:ext uri="{FF2B5EF4-FFF2-40B4-BE49-F238E27FC236}">
                <a16:creationId xmlns:a16="http://schemas.microsoft.com/office/drawing/2014/main" id="{3D38F72D-AFE4-499F-93B5-3DFBA6A8C9CF}"/>
              </a:ext>
            </a:extLst>
          </p:cNvPr>
          <p:cNvSpPr>
            <a:spLocks noGrp="1"/>
          </p:cNvSpPr>
          <p:nvPr/>
        </p:nvSpPr>
        <p:spPr>
          <a:xfrm>
            <a:off x="7534275" y="5019675"/>
            <a:ext cx="4238625" cy="476250"/>
          </a:xfrm>
          <a:prstGeom prst="rect">
            <a:avLst/>
          </a:prstGeom>
          <a:noFill/>
          <a:ln w="0">
            <a:noFill/>
          </a:ln>
        </p:spPr>
        <p:txBody>
          <a:bodyPr wrap="square" lIns="0" tIns="0" rIns="0" bIns="0" anchor="ctr">
            <a:normAutofit fontScale="100000"/>
          </a:bodyPr>
          <a:lstStyle/>
          <a:p>
            <a:pPr algn="l">
              <a:defRPr sz="1402" b="0">
                <a:solidFill>
                  <a:srgbClr val="17243A"/>
                </a:solidFill>
                <a:latin typeface="微软雅黑"/>
                <a:ea typeface="微软雅黑"/>
                <a:cs typeface="微软雅黑"/>
              </a:defRPr>
            </a:pPr>
            <a:r>
              <a:rPr sz="1402" b="0">
                <a:solidFill>
                  <a:srgbClr val="17243A"/>
                </a:solidFill>
                <a:latin typeface="微软雅黑"/>
                <a:ea typeface="微软雅黑"/>
                <a:cs typeface="微软雅黑"/>
              </a:rPr>
              <a:t>规则开发：15–20 例开发病例</a:t>
            </a:r>
          </a:p>
          <a:p>
            <a:pPr algn="l">
              <a:defRPr sz="1402" b="0">
                <a:solidFill>
                  <a:srgbClr val="17243A"/>
                </a:solidFill>
                <a:latin typeface="微软雅黑"/>
                <a:ea typeface="微软雅黑"/>
                <a:cs typeface="微软雅黑"/>
              </a:defRPr>
            </a:pPr>
            <a:r>
              <a:rPr sz="1402" b="0">
                <a:solidFill>
                  <a:srgbClr val="17243A"/>
                </a:solidFill>
                <a:latin typeface="微软雅黑"/>
                <a:ea typeface="微软雅黑"/>
                <a:cs typeface="微软雅黑"/>
              </a:rPr>
              <a:t>独立复核：60–100 份匿名随机报告</a:t>
            </a:r>
          </a:p>
        </p:txBody>
      </p:sp>
      <p:sp>
        <p:nvSpPr>
          <p:cNvPr id="50" name="text-80">
            <a:extLst>
              <a:ext uri="{FF2B5EF4-FFF2-40B4-BE49-F238E27FC236}">
                <a16:creationId xmlns:a16="http://schemas.microsoft.com/office/drawing/2014/main" id="{A6F9DC71-4619-4EF5-BC1A-3435A9F1EE30}"/>
              </a:ext>
            </a:extLst>
          </p:cNvPr>
          <p:cNvSpPr>
            <a:spLocks noGrp="1"/>
          </p:cNvSpPr>
          <p:nvPr/>
        </p:nvSpPr>
        <p:spPr>
          <a:xfrm>
            <a:off x="7534275" y="5591175"/>
            <a:ext cx="4238625" cy="285750"/>
          </a:xfrm>
          <a:prstGeom prst="rect">
            <a:avLst/>
          </a:prstGeom>
          <a:noFill/>
          <a:ln w="0">
            <a:noFill/>
          </a:ln>
        </p:spPr>
        <p:txBody>
          <a:bodyPr wrap="square" lIns="0" tIns="0" rIns="0" bIns="0" anchor="ctr">
            <a:normAutofit fontScale="100000"/>
          </a:bodyPr>
          <a:lstStyle/>
          <a:p>
            <a:pPr algn="l">
              <a:defRPr sz="1388" b="0">
                <a:solidFill>
                  <a:srgbClr val="17243A"/>
                </a:solidFill>
                <a:latin typeface="微软雅黑"/>
                <a:ea typeface="微软雅黑"/>
                <a:cs typeface="微软雅黑"/>
              </a:defRPr>
            </a:pPr>
            <a:r>
              <a:rPr sz="1388" b="0">
                <a:solidFill>
                  <a:srgbClr val="17243A"/>
                </a:solidFill>
                <a:latin typeface="微软雅黑"/>
                <a:ea typeface="微软雅黑"/>
                <a:cs typeface="微软雅黑"/>
              </a:rPr>
              <a:t>轻微 / 中等 / 严重分级，验证自动核验</a:t>
            </a:r>
          </a:p>
        </p:txBody>
      </p:sp>
      <p:sp>
        <p:nvSpPr>
          <p:cNvPr id="51" name="text-81">
            <a:extLst>
              <a:ext uri="{FF2B5EF4-FFF2-40B4-BE49-F238E27FC236}">
                <a16:creationId xmlns:a16="http://schemas.microsoft.com/office/drawing/2014/main" id="{F122B891-1642-44D5-B468-926EC73DB105}"/>
              </a:ext>
            </a:extLst>
          </p:cNvPr>
          <p:cNvSpPr>
            <a:spLocks noGrp="1"/>
          </p:cNvSpPr>
          <p:nvPr/>
        </p:nvSpPr>
        <p:spPr>
          <a:xfrm>
            <a:off x="276225" y="6172200"/>
            <a:ext cx="8686800" cy="228600"/>
          </a:xfrm>
          <a:prstGeom prst="rect">
            <a:avLst/>
          </a:prstGeom>
          <a:noFill/>
          <a:ln w="0">
            <a:noFill/>
          </a:ln>
        </p:spPr>
        <p:txBody>
          <a:bodyPr wrap="square" lIns="0" tIns="0" rIns="0" bIns="0" anchor="ctr">
            <a:normAutofit fontScale="100000"/>
          </a:bodyPr>
          <a:lstStyle/>
          <a:p>
            <a:pPr algn="l">
              <a:defRPr sz="1200" b="0">
                <a:solidFill>
                  <a:srgbClr val="526982"/>
                </a:solidFill>
                <a:latin typeface="微软雅黑"/>
                <a:ea typeface="微软雅黑"/>
                <a:cs typeface="微软雅黑"/>
              </a:defRPr>
            </a:pPr>
            <a:r>
              <a:rPr sz="1200" b="0">
                <a:solidFill>
                  <a:srgbClr val="526982"/>
                </a:solidFill>
                <a:latin typeface="微软雅黑"/>
                <a:ea typeface="微软雅黑"/>
                <a:cs typeface="微软雅黑"/>
              </a:rPr>
              <a:t>各指标分别报告。自动严重错误识别不足时，以专家人工评价作为主要结果。</a:t>
            </a:r>
          </a:p>
        </p:txBody>
      </p:sp>
    </p:spTree>
    <p:custDataLst>
      <p:tags r:id="rId10"/>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descr="华科大"/>
          <p:cNvPicPr>
            <a:picLocks noChangeAspect="1"/>
          </p:cNvPicPr>
          <p:nvPr>
            <p:custDataLst>
              <p:tags r:id="rId1"/>
            </p:custDataLst>
          </p:nvPr>
        </p:nvPicPr>
        <p:blipFill>
          <a:blip r:embed="rId2"/>
          <a:stretch>
            <a:fillRect/>
          </a:stretch>
        </p:blipFill>
        <p:spPr>
          <a:xfrm>
            <a:off x="0" y="-110490"/>
            <a:ext cx="3847465" cy="1346835"/>
          </a:xfrm>
          <a:prstGeom prst="rect">
            <a:avLst/>
          </a:prstGeom>
        </p:spPr>
      </p:pic>
      <p:pic>
        <p:nvPicPr>
          <p:cNvPr id="4" name="图片 3" descr="D:/图片1.png图片1"/>
          <p:cNvPicPr>
            <a:picLocks noChangeAspect="1"/>
          </p:cNvPicPr>
          <p:nvPr/>
        </p:nvPicPr>
        <p:blipFill>
          <a:blip r:embed="rId3"/>
          <a:srcRect l="10309" r="20218" b="10052"/>
          <a:stretch>
            <a:fillRect/>
          </a:stretch>
        </p:blipFill>
        <p:spPr>
          <a:xfrm>
            <a:off x="3565525" y="0"/>
            <a:ext cx="8626475" cy="6858000"/>
          </a:xfrm>
          <a:prstGeom prst="rect">
            <a:avLst/>
          </a:prstGeom>
        </p:spPr>
      </p:pic>
      <p:sp>
        <p:nvSpPr>
          <p:cNvPr id="5" name="矩形 4"/>
          <p:cNvSpPr/>
          <p:nvPr/>
        </p:nvSpPr>
        <p:spPr>
          <a:xfrm>
            <a:off x="0" y="0"/>
            <a:ext cx="12192000" cy="6858000"/>
          </a:xfrm>
          <a:prstGeom prst="rect">
            <a:avLst/>
          </a:prstGeom>
          <a:gradFill>
            <a:gsLst>
              <a:gs pos="62000">
                <a:srgbClr val="02549D">
                  <a:alpha val="100000"/>
                  <a:lumMod val="96000"/>
                  <a:lumOff val="4000"/>
                </a:srgbClr>
              </a:gs>
              <a:gs pos="6000">
                <a:schemeClr val="accent1">
                  <a:lumMod val="53000"/>
                  <a:lumOff val="47000"/>
                  <a:alpha val="0"/>
                </a:schemeClr>
              </a:gs>
              <a:gs pos="100000">
                <a:srgbClr val="02549D">
                  <a:alpha val="100000"/>
                </a:srgbClr>
              </a:gs>
            </a:gsLst>
            <a:path path="circle">
              <a:fillToRect l="100000" b="100000"/>
            </a:path>
            <a:tileRect t="-100000" r="-10000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p:cNvSpPr txBox="1"/>
          <p:nvPr/>
        </p:nvSpPr>
        <p:spPr>
          <a:xfrm>
            <a:off x="504825" y="1691640"/>
            <a:ext cx="9972675" cy="2553335"/>
          </a:xfrm>
          <a:prstGeom prst="rect">
            <a:avLst/>
          </a:prstGeom>
          <a:noFill/>
        </p:spPr>
        <p:txBody>
          <a:bodyPr wrap="square" rtlCol="0">
            <a:spAutoFit/>
          </a:bodyPr>
          <a:lstStyle/>
          <a:p>
            <a:r>
              <a:rPr lang="en-US" altLang="zh-CN" sz="8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8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8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谢谢</a:t>
            </a:r>
            <a:endParaRPr lang="zh-CN" altLang="en-US" sz="8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片 12" descr="华科大"/>
          <p:cNvPicPr>
            <a:picLocks noChangeAspect="1"/>
          </p:cNvPicPr>
          <p:nvPr>
            <p:custDataLst>
              <p:tags r:id="rId4"/>
            </p:custDataLst>
          </p:nvPr>
        </p:nvPicPr>
        <p:blipFill>
          <a:blip r:embed="rId2"/>
          <a:stretch>
            <a:fillRect/>
          </a:stretch>
        </p:blipFill>
        <p:spPr>
          <a:xfrm>
            <a:off x="0" y="0"/>
            <a:ext cx="3132455" cy="1096645"/>
          </a:xfrm>
          <a:prstGeom prst="rect">
            <a:avLst/>
          </a:prstGeom>
        </p:spPr>
      </p:pic>
      <p:cxnSp>
        <p:nvCxnSpPr>
          <p:cNvPr id="7" name="直接连接符 6"/>
          <p:cNvCxnSpPr/>
          <p:nvPr/>
        </p:nvCxnSpPr>
        <p:spPr>
          <a:xfrm flipV="1">
            <a:off x="504825" y="4439920"/>
            <a:ext cx="6324600" cy="43815"/>
          </a:xfrm>
          <a:prstGeom prst="line">
            <a:avLst/>
          </a:prstGeom>
          <a:ln w="28575" cmpd="sng">
            <a:solidFill>
              <a:schemeClr val="bg1"/>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3"/>
          <p:cNvPicPr>
            <a:picLocks noChangeAspect="1"/>
          </p:cNvPicPr>
          <p:nvPr/>
        </p:nvPicPr>
        <p:blipFill>
          <a:blip r:embed="rId1"/>
          <a:srcRect l="3256" t="-6868" r="4770" b="-1340"/>
          <a:stretch>
            <a:fillRect/>
          </a:stretch>
        </p:blipFill>
        <p:spPr>
          <a:xfrm>
            <a:off x="9389745" y="6247765"/>
            <a:ext cx="2313940" cy="410210"/>
          </a:xfrm>
          <a:prstGeom prst="rect">
            <a:avLst/>
          </a:prstGeom>
        </p:spPr>
      </p:pic>
      <p:pic>
        <p:nvPicPr>
          <p:cNvPr id="3" name="图片 1" descr="华科大"/>
          <p:cNvPicPr>
            <a:picLocks noChangeAspect="1"/>
          </p:cNvPicPr>
          <p:nvPr>
            <p:custDataLst>
              <p:tags r:id="rId2"/>
            </p:custDataLst>
          </p:nvPr>
        </p:nvPicPr>
        <p:blipFill>
          <a:blip r:embed="rId3"/>
          <a:stretch>
            <a:fillRect/>
          </a:stretch>
        </p:blipFill>
        <p:spPr>
          <a:xfrm>
            <a:off x="635" y="-97790"/>
            <a:ext cx="2354580" cy="824230"/>
          </a:xfrm>
          <a:prstGeom prst="rect">
            <a:avLst/>
          </a:prstGeom>
        </p:spPr>
      </p:pic>
      <p:pic>
        <p:nvPicPr>
          <p:cNvPr id="4" name="图片 2" descr="华科大"/>
          <p:cNvPicPr>
            <a:picLocks noChangeAspect="1"/>
          </p:cNvPicPr>
          <p:nvPr>
            <p:custDataLst>
              <p:tags r:id="rId4"/>
            </p:custDataLst>
          </p:nvPr>
        </p:nvPicPr>
        <p:blipFill>
          <a:blip r:embed="rId3"/>
          <a:stretch>
            <a:fillRect/>
          </a:stretch>
        </p:blipFill>
        <p:spPr>
          <a:xfrm>
            <a:off x="127635" y="29210"/>
            <a:ext cx="2354580" cy="824230"/>
          </a:xfrm>
          <a:prstGeom prst="rect">
            <a:avLst/>
          </a:prstGeom>
        </p:spPr>
      </p:pic>
      <p:pic>
        <p:nvPicPr>
          <p:cNvPr id="5" name="图片 5"/>
          <p:cNvPicPr>
            <a:picLocks noChangeAspect="1"/>
          </p:cNvPicPr>
          <p:nvPr>
            <p:custDataLst>
              <p:tags r:id="rId5"/>
            </p:custDataLst>
          </p:nvPr>
        </p:nvPicPr>
        <p:blipFill>
          <a:blip r:embed="rId6"/>
          <a:srcRect t="69576" b="21479"/>
          <a:stretch>
            <a:fillRect/>
          </a:stretch>
        </p:blipFill>
        <p:spPr>
          <a:xfrm>
            <a:off x="0" y="-22860"/>
            <a:ext cx="12192000" cy="681355"/>
          </a:xfrm>
          <a:prstGeom prst="rect">
            <a:avLst/>
          </a:prstGeom>
        </p:spPr>
      </p:pic>
      <p:sp>
        <p:nvSpPr>
          <p:cNvPr id="6" name="矩形 6"/>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7" name="图片 7"/>
          <p:cNvPicPr>
            <a:picLocks noChangeAspect="1"/>
          </p:cNvPicPr>
          <p:nvPr>
            <p:custDataLst>
              <p:tags r:id="rId7"/>
            </p:custDataLst>
          </p:nvPr>
        </p:nvPicPr>
        <p:blipFill>
          <a:blip r:embed="rId6"/>
          <a:srcRect t="69576" b="21479"/>
          <a:stretch>
            <a:fillRect/>
          </a:stretch>
        </p:blipFill>
        <p:spPr>
          <a:xfrm>
            <a:off x="0" y="-22860"/>
            <a:ext cx="12192000" cy="681355"/>
          </a:xfrm>
          <a:prstGeom prst="rect">
            <a:avLst/>
          </a:prstGeom>
        </p:spPr>
      </p:pic>
      <p:sp>
        <p:nvSpPr>
          <p:cNvPr id="8" name="矩形 10"/>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11"/>
          <p:cNvSpPr/>
          <p:nvPr>
            <p:custDataLst>
              <p:tags r:id="rId8"/>
            </p:custDataLst>
          </p:nvPr>
        </p:nvSpPr>
        <p:spPr>
          <a:xfrm>
            <a:off x="8606184" y="-22745"/>
            <a:ext cx="1859281" cy="676679"/>
          </a:xfrm>
          <a:prstGeom prst="rect">
            <a:avLst/>
          </a:prstGeom>
          <a:solidFill>
            <a:srgbClr val="02549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12"/>
          <p:cNvSpPr txBox="1"/>
          <p:nvPr/>
        </p:nvSpPr>
        <p:spPr>
          <a:xfrm>
            <a:off x="2125374" y="67915"/>
            <a:ext cx="16725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研究背景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1" name="文本框 13"/>
          <p:cNvSpPr txBox="1"/>
          <p:nvPr/>
        </p:nvSpPr>
        <p:spPr>
          <a:xfrm>
            <a:off x="3762124" y="80122"/>
            <a:ext cx="178165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研究现状</a:t>
            </a:r>
            <a:endParaRPr lang="zh-CN" altLang="en-US" sz="2400" b="1" dirty="0">
              <a:solidFill>
                <a:schemeClr val="bg1"/>
              </a:solidFill>
            </a:endParaRPr>
          </a:p>
        </p:txBody>
      </p:sp>
      <p:sp>
        <p:nvSpPr>
          <p:cNvPr id="12" name="文本框 14"/>
          <p:cNvSpPr txBox="1"/>
          <p:nvPr/>
        </p:nvSpPr>
        <p:spPr>
          <a:xfrm>
            <a:off x="5394826" y="86984"/>
            <a:ext cx="183705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系统架构</a:t>
            </a:r>
            <a:endParaRPr lang="zh-CN" altLang="en-US" sz="2400" b="1" dirty="0">
              <a:solidFill>
                <a:schemeClr val="bg1"/>
              </a:solidFill>
            </a:endParaRPr>
          </a:p>
        </p:txBody>
      </p:sp>
      <p:sp>
        <p:nvSpPr>
          <p:cNvPr id="13" name="文本框 15"/>
          <p:cNvSpPr txBox="1"/>
          <p:nvPr/>
        </p:nvSpPr>
        <p:spPr>
          <a:xfrm>
            <a:off x="7005125" y="86983"/>
            <a:ext cx="185928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图谱算法</a:t>
            </a:r>
            <a:endParaRPr lang="zh-CN" altLang="en-US" sz="2400" b="1" dirty="0">
              <a:solidFill>
                <a:schemeClr val="bg1"/>
              </a:solidFill>
            </a:endParaRPr>
          </a:p>
        </p:txBody>
      </p:sp>
      <p:sp>
        <p:nvSpPr>
          <p:cNvPr id="14" name="文本框 16"/>
          <p:cNvSpPr txBox="1"/>
          <p:nvPr/>
        </p:nvSpPr>
        <p:spPr>
          <a:xfrm>
            <a:off x="8667692" y="80141"/>
            <a:ext cx="1736725" cy="46037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实验</a:t>
            </a:r>
            <a:r>
              <a:rPr lang="zh-CN" altLang="en-US" sz="2400" b="1" dirty="0">
                <a:solidFill>
                  <a:schemeClr val="bg1"/>
                </a:solidFill>
                <a:latin typeface="微软雅黑" panose="020B0503020204020204" pitchFamily="34" charset="-122"/>
                <a:ea typeface="微软雅黑" panose="020B0503020204020204" pitchFamily="34" charset="-122"/>
              </a:rPr>
              <a:t>设计</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15" name="图片 17" descr="华科大"/>
          <p:cNvPicPr>
            <a:picLocks noChangeAspect="1"/>
          </p:cNvPicPr>
          <p:nvPr>
            <p:custDataLst>
              <p:tags r:id="rId9"/>
            </p:custDataLst>
          </p:nvPr>
        </p:nvPicPr>
        <p:blipFill>
          <a:blip r:embed="rId3"/>
          <a:stretch>
            <a:fillRect/>
          </a:stretch>
        </p:blipFill>
        <p:spPr>
          <a:xfrm>
            <a:off x="-156383" y="-97790"/>
            <a:ext cx="2354580" cy="824230"/>
          </a:xfrm>
          <a:prstGeom prst="rect">
            <a:avLst/>
          </a:prstGeom>
        </p:spPr>
      </p:pic>
      <p:sp>
        <p:nvSpPr>
          <p:cNvPr id="16" name="文本框 115"/>
          <p:cNvSpPr txBox="1"/>
          <p:nvPr/>
        </p:nvSpPr>
        <p:spPr>
          <a:xfrm>
            <a:off x="10326506" y="69184"/>
            <a:ext cx="2015375" cy="460375"/>
          </a:xfrm>
          <a:prstGeom prst="rect">
            <a:avLst/>
          </a:prstGeom>
          <a:noFill/>
        </p:spPr>
        <p:txBody>
          <a:bodyPr wrap="squar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研究</a:t>
            </a:r>
            <a:r>
              <a:rPr lang="zh-CN" altLang="en-US" sz="2400" b="1" dirty="0">
                <a:solidFill>
                  <a:schemeClr val="bg1"/>
                </a:solidFill>
                <a:latin typeface="微软雅黑" panose="020B0503020204020204" pitchFamily="34" charset="-122"/>
                <a:ea typeface="微软雅黑" panose="020B0503020204020204" pitchFamily="34" charset="-122"/>
              </a:rPr>
              <a:t>计划</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7" name="surface-82">
            <a:extLst>
              <a:ext uri="{FF2B5EF4-FFF2-40B4-BE49-F238E27FC236}">
                <a16:creationId xmlns:a16="http://schemas.microsoft.com/office/drawing/2014/main" id="{FDD830B6-C858-4468-9463-27278AF9C4D1}"/>
              </a:ext>
            </a:extLst>
          </p:cNvPr>
          <p:cNvSpPr>
            <a:spLocks noGrp="1"/>
          </p:cNvSpPr>
          <p:nvPr/>
        </p:nvSpPr>
        <p:spPr>
          <a:xfrm>
            <a:off x="228600" y="933450"/>
            <a:ext cx="5781675" cy="5086350"/>
          </a:xfrm>
          <a:prstGeom prst="roundRect">
            <a:avLst>
              <a:gd name="adj" fmla="val 1873"/>
            </a:avLst>
          </a:prstGeom>
          <a:solidFill>
            <a:srgbClr val="FEFEFE"/>
          </a:solidFill>
          <a:ln w="12383">
            <a:solidFill>
              <a:srgbClr val="B9D9F0"/>
            </a:solidFill>
          </a:ln>
        </p:spPr>
      </p:sp>
      <p:sp>
        <p:nvSpPr>
          <p:cNvPr id="18" name="surface-83">
            <a:extLst>
              <a:ext uri="{FF2B5EF4-FFF2-40B4-BE49-F238E27FC236}">
                <a16:creationId xmlns:a16="http://schemas.microsoft.com/office/drawing/2014/main" id="{6D2D919B-0E12-4FD3-9AFA-ECD1DC43E4D5}"/>
              </a:ext>
            </a:extLst>
          </p:cNvPr>
          <p:cNvSpPr>
            <a:spLocks noGrp="1"/>
          </p:cNvSpPr>
          <p:nvPr/>
        </p:nvSpPr>
        <p:spPr>
          <a:xfrm>
            <a:off x="238125" y="942975"/>
            <a:ext cx="5762625" cy="476250"/>
          </a:xfrm>
          <a:prstGeom prst="roundRect">
            <a:avLst>
              <a:gd name="adj" fmla="val 16000"/>
            </a:avLst>
          </a:prstGeom>
          <a:solidFill>
            <a:srgbClr val="EDF5FB"/>
          </a:solidFill>
          <a:ln w="12383">
            <a:solidFill>
              <a:srgbClr val="EDF5FB"/>
            </a:solidFill>
          </a:ln>
        </p:spPr>
      </p:sp>
      <p:pic>
        <p:nvPicPr>
          <p:cNvPr id="19" name="Image 2" descr="image"/>
          <p:cNvPicPr>
            <a:picLocks noChangeAspect="1"/>
          </p:cNvPicPr>
          <p:nvPr/>
        </p:nvPicPr>
        <p:blipFill>
          <a:blip r:embed="rIdBadge"/>
          <a:stretch>
            <a:fillRect/>
          </a:stretch>
        </p:blipFill>
        <p:spPr>
          <a:xfrm>
            <a:off x="228600" y="933450"/>
            <a:ext cx="609600" cy="495300"/>
          </a:xfrm>
          <a:prstGeom prst="rect">
            <a:avLst/>
          </a:prstGeom>
        </p:spPr>
      </p:pic>
      <p:sp>
        <p:nvSpPr>
          <p:cNvPr id="20" name="text-84">
            <a:extLst>
              <a:ext uri="{FF2B5EF4-FFF2-40B4-BE49-F238E27FC236}">
                <a16:creationId xmlns:a16="http://schemas.microsoft.com/office/drawing/2014/main" id="{D9638DB0-6D59-469C-8284-CEFC9FDEA528}"/>
              </a:ext>
            </a:extLst>
          </p:cNvPr>
          <p:cNvSpPr>
            <a:spLocks noGrp="1"/>
          </p:cNvSpPr>
          <p:nvPr/>
        </p:nvSpPr>
        <p:spPr>
          <a:xfrm>
            <a:off x="371475" y="1000125"/>
            <a:ext cx="438150" cy="323850"/>
          </a:xfrm>
          <a:prstGeom prst="rect">
            <a:avLst/>
          </a:prstGeom>
          <a:noFill/>
          <a:ln w="0">
            <a:noFill/>
          </a:ln>
        </p:spPr>
        <p:txBody>
          <a:bodyPr wrap="square" lIns="0" tIns="0" rIns="0" bIns="0" anchor="ctr">
            <a:normAutofit fontScale="97701"/>
          </a:bodyPr>
          <a:lstStyle/>
          <a:p>
            <a:pPr algn="ctr">
              <a:defRPr sz="2175" b="1">
                <a:solidFill>
                  <a:srgbClr val="FFFFFF"/>
                </a:solidFill>
                <a:latin typeface="微软雅黑"/>
                <a:ea typeface="微软雅黑"/>
                <a:cs typeface="微软雅黑"/>
              </a:defRPr>
            </a:pPr>
            <a:r>
              <a:rPr sz="2175" b="1">
                <a:solidFill>
                  <a:srgbClr val="FFFFFF"/>
                </a:solidFill>
                <a:latin typeface="微软雅黑"/>
                <a:ea typeface="微软雅黑"/>
                <a:cs typeface="微软雅黑"/>
              </a:rPr>
              <a:t>04</a:t>
            </a:r>
          </a:p>
        </p:txBody>
      </p:sp>
      <p:sp>
        <p:nvSpPr>
          <p:cNvPr id="21" name="text-85">
            <a:extLst>
              <a:ext uri="{FF2B5EF4-FFF2-40B4-BE49-F238E27FC236}">
                <a16:creationId xmlns:a16="http://schemas.microsoft.com/office/drawing/2014/main" id="{E90518D8-7666-42FD-B614-CF390858B483}"/>
              </a:ext>
            </a:extLst>
          </p:cNvPr>
          <p:cNvSpPr>
            <a:spLocks noGrp="1"/>
          </p:cNvSpPr>
          <p:nvPr/>
        </p:nvSpPr>
        <p:spPr>
          <a:xfrm>
            <a:off x="923925" y="1000125"/>
            <a:ext cx="4933950" cy="323850"/>
          </a:xfrm>
          <a:prstGeom prst="rect">
            <a:avLst/>
          </a:prstGeom>
          <a:noFill/>
          <a:ln w="0">
            <a:noFill/>
          </a:ln>
        </p:spPr>
        <p:txBody>
          <a:bodyPr wrap="square" lIns="0" tIns="0" rIns="0" bIns="0" anchor="ctr">
            <a:normAutofit fontScale="100000"/>
          </a:bodyPr>
          <a:lstStyle/>
          <a:p>
            <a:pPr algn="l">
              <a:defRPr sz="1913" b="1">
                <a:solidFill>
                  <a:srgbClr val="071A43"/>
                </a:solidFill>
                <a:latin typeface="微软雅黑"/>
                <a:ea typeface="微软雅黑"/>
                <a:cs typeface="微软雅黑"/>
              </a:defRPr>
            </a:pPr>
            <a:r>
              <a:rPr sz="1913" b="1">
                <a:solidFill>
                  <a:srgbClr val="071A43"/>
                </a:solidFill>
                <a:latin typeface="微软雅黑"/>
                <a:ea typeface="微软雅黑"/>
                <a:cs typeface="微软雅黑"/>
              </a:rPr>
              <a:t>实验四：整体系统诊断性能</a:t>
            </a:r>
          </a:p>
        </p:txBody>
      </p:sp>
      <p:sp>
        <p:nvSpPr>
          <p:cNvPr id="22" name="surface-86">
            <a:extLst>
              <a:ext uri="{FF2B5EF4-FFF2-40B4-BE49-F238E27FC236}">
                <a16:creationId xmlns:a16="http://schemas.microsoft.com/office/drawing/2014/main" id="{DC16D60E-0EF7-4A1A-B232-8397CAD1127B}"/>
              </a:ext>
            </a:extLst>
          </p:cNvPr>
          <p:cNvSpPr>
            <a:spLocks noGrp="1"/>
          </p:cNvSpPr>
          <p:nvPr/>
        </p:nvSpPr>
        <p:spPr>
          <a:xfrm>
            <a:off x="6181725" y="933450"/>
            <a:ext cx="5781675" cy="5086350"/>
          </a:xfrm>
          <a:prstGeom prst="roundRect">
            <a:avLst>
              <a:gd name="adj" fmla="val 1873"/>
            </a:avLst>
          </a:prstGeom>
          <a:solidFill>
            <a:srgbClr val="FEFEFE"/>
          </a:solidFill>
          <a:ln w="12383">
            <a:solidFill>
              <a:srgbClr val="B9D9F0"/>
            </a:solidFill>
          </a:ln>
        </p:spPr>
      </p:sp>
      <p:sp>
        <p:nvSpPr>
          <p:cNvPr id="23" name="surface-87">
            <a:extLst>
              <a:ext uri="{FF2B5EF4-FFF2-40B4-BE49-F238E27FC236}">
                <a16:creationId xmlns:a16="http://schemas.microsoft.com/office/drawing/2014/main" id="{8A109F9A-5E0A-4EF3-8EEE-FD3902E77B7C}"/>
              </a:ext>
            </a:extLst>
          </p:cNvPr>
          <p:cNvSpPr>
            <a:spLocks noGrp="1"/>
          </p:cNvSpPr>
          <p:nvPr/>
        </p:nvSpPr>
        <p:spPr>
          <a:xfrm>
            <a:off x="6191250" y="942975"/>
            <a:ext cx="5762625" cy="476250"/>
          </a:xfrm>
          <a:prstGeom prst="roundRect">
            <a:avLst>
              <a:gd name="adj" fmla="val 16000"/>
            </a:avLst>
          </a:prstGeom>
          <a:solidFill>
            <a:srgbClr val="EDF5FB"/>
          </a:solidFill>
          <a:ln w="12383">
            <a:solidFill>
              <a:srgbClr val="EDF5FB"/>
            </a:solidFill>
          </a:ln>
        </p:spPr>
      </p:sp>
      <p:pic>
        <p:nvPicPr>
          <p:cNvPr id="24" name="Image 2" descr="image"/>
          <p:cNvPicPr>
            <a:picLocks noChangeAspect="1"/>
          </p:cNvPicPr>
          <p:nvPr/>
        </p:nvPicPr>
        <p:blipFill>
          <a:blip r:embed="rIdBadge"/>
          <a:stretch>
            <a:fillRect/>
          </a:stretch>
        </p:blipFill>
        <p:spPr>
          <a:xfrm>
            <a:off x="6181725" y="933450"/>
            <a:ext cx="609600" cy="495300"/>
          </a:xfrm>
          <a:prstGeom prst="rect">
            <a:avLst/>
          </a:prstGeom>
        </p:spPr>
      </p:pic>
      <p:sp>
        <p:nvSpPr>
          <p:cNvPr id="25" name="text-88">
            <a:extLst>
              <a:ext uri="{FF2B5EF4-FFF2-40B4-BE49-F238E27FC236}">
                <a16:creationId xmlns:a16="http://schemas.microsoft.com/office/drawing/2014/main" id="{CF47DCDC-B98F-444C-8CC3-C261F7F8C1B1}"/>
              </a:ext>
            </a:extLst>
          </p:cNvPr>
          <p:cNvSpPr>
            <a:spLocks noGrp="1"/>
          </p:cNvSpPr>
          <p:nvPr/>
        </p:nvSpPr>
        <p:spPr>
          <a:xfrm>
            <a:off x="6324600" y="1000125"/>
            <a:ext cx="438150" cy="323850"/>
          </a:xfrm>
          <a:prstGeom prst="rect">
            <a:avLst/>
          </a:prstGeom>
          <a:noFill/>
          <a:ln w="0">
            <a:noFill/>
          </a:ln>
        </p:spPr>
        <p:txBody>
          <a:bodyPr wrap="square" lIns="0" tIns="0" rIns="0" bIns="0" anchor="ctr">
            <a:normAutofit fontScale="97701"/>
          </a:bodyPr>
          <a:lstStyle/>
          <a:p>
            <a:pPr algn="ctr">
              <a:defRPr sz="2175" b="1">
                <a:solidFill>
                  <a:srgbClr val="FFFFFF"/>
                </a:solidFill>
                <a:latin typeface="微软雅黑"/>
                <a:ea typeface="微软雅黑"/>
                <a:cs typeface="微软雅黑"/>
              </a:defRPr>
            </a:pPr>
            <a:r>
              <a:rPr sz="2175" b="1">
                <a:solidFill>
                  <a:srgbClr val="FFFFFF"/>
                </a:solidFill>
                <a:latin typeface="微软雅黑"/>
                <a:ea typeface="微软雅黑"/>
                <a:cs typeface="微软雅黑"/>
              </a:rPr>
              <a:t>05</a:t>
            </a:r>
          </a:p>
        </p:txBody>
      </p:sp>
      <p:sp>
        <p:nvSpPr>
          <p:cNvPr id="26" name="text-89">
            <a:extLst>
              <a:ext uri="{FF2B5EF4-FFF2-40B4-BE49-F238E27FC236}">
                <a16:creationId xmlns:a16="http://schemas.microsoft.com/office/drawing/2014/main" id="{B0715E19-7260-43B7-A235-54027E880A7D}"/>
              </a:ext>
            </a:extLst>
          </p:cNvPr>
          <p:cNvSpPr>
            <a:spLocks noGrp="1"/>
          </p:cNvSpPr>
          <p:nvPr/>
        </p:nvSpPr>
        <p:spPr>
          <a:xfrm>
            <a:off x="6877050" y="1000125"/>
            <a:ext cx="4933950" cy="323850"/>
          </a:xfrm>
          <a:prstGeom prst="rect">
            <a:avLst/>
          </a:prstGeom>
          <a:noFill/>
          <a:ln w="0">
            <a:noFill/>
          </a:ln>
        </p:spPr>
        <p:txBody>
          <a:bodyPr wrap="square" lIns="0" tIns="0" rIns="0" bIns="0" anchor="ctr">
            <a:normAutofit fontScale="100000"/>
          </a:bodyPr>
          <a:lstStyle/>
          <a:p>
            <a:pPr algn="l">
              <a:defRPr sz="1913" b="1">
                <a:solidFill>
                  <a:srgbClr val="071A43"/>
                </a:solidFill>
                <a:latin typeface="微软雅黑"/>
                <a:ea typeface="微软雅黑"/>
                <a:cs typeface="微软雅黑"/>
              </a:defRPr>
            </a:pPr>
            <a:r>
              <a:rPr sz="1913" b="1">
                <a:solidFill>
                  <a:srgbClr val="071A43"/>
                </a:solidFill>
                <a:latin typeface="微软雅黑"/>
                <a:ea typeface="微软雅黑"/>
                <a:cs typeface="微软雅黑"/>
              </a:rPr>
              <a:t>实验五：消融与鲁棒性</a:t>
            </a:r>
          </a:p>
        </p:txBody>
      </p:sp>
      <p:sp>
        <p:nvSpPr>
          <p:cNvPr id="27" name="text-90">
            <a:extLst>
              <a:ext uri="{FF2B5EF4-FFF2-40B4-BE49-F238E27FC236}">
                <a16:creationId xmlns:a16="http://schemas.microsoft.com/office/drawing/2014/main" id="{E5CBB54C-7746-4AA7-B3E8-A6C689A306F2}"/>
              </a:ext>
            </a:extLst>
          </p:cNvPr>
          <p:cNvSpPr>
            <a:spLocks noGrp="1"/>
          </p:cNvSpPr>
          <p:nvPr/>
        </p:nvSpPr>
        <p:spPr>
          <a:xfrm>
            <a:off x="419100" y="1524000"/>
            <a:ext cx="5381625" cy="400050"/>
          </a:xfrm>
          <a:prstGeom prst="rect">
            <a:avLst/>
          </a:prstGeom>
          <a:noFill/>
          <a:ln w="0">
            <a:noFill/>
          </a:ln>
        </p:spPr>
        <p:txBody>
          <a:bodyPr wrap="square" lIns="0" tIns="0" rIns="0" bIns="0" anchor="ctr">
            <a:normAutofit fontScale="100000"/>
          </a:bodyPr>
          <a:lstStyle/>
          <a:p>
            <a:pPr algn="l">
              <a:defRPr sz="1500" b="0">
                <a:solidFill>
                  <a:srgbClr val="17243A"/>
                </a:solidFill>
                <a:latin typeface="微软雅黑"/>
                <a:ea typeface="微软雅黑"/>
                <a:cs typeface="微软雅黑"/>
              </a:defRPr>
            </a:pPr>
            <a:r>
              <a:rPr sz="1500" b="0">
                <a:solidFill>
                  <a:srgbClr val="17243A"/>
                </a:solidFill>
                <a:latin typeface="微软雅黑"/>
                <a:ea typeface="微软雅黑"/>
                <a:cs typeface="微软雅黑"/>
              </a:rPr>
              <a:t>评价知识构建与检索优化对患者级判断的贡献</a:t>
            </a:r>
          </a:p>
        </p:txBody>
      </p:sp>
      <p:sp>
        <p:nvSpPr>
          <p:cNvPr id="28" name="text-91">
            <a:extLst>
              <a:ext uri="{FF2B5EF4-FFF2-40B4-BE49-F238E27FC236}">
                <a16:creationId xmlns:a16="http://schemas.microsoft.com/office/drawing/2014/main" id="{ED391D9A-0730-4F96-856A-03C73AE43768}"/>
              </a:ext>
            </a:extLst>
          </p:cNvPr>
          <p:cNvSpPr>
            <a:spLocks noGrp="1"/>
          </p:cNvSpPr>
          <p:nvPr/>
        </p:nvSpPr>
        <p:spPr>
          <a:xfrm>
            <a:off x="419100" y="2000250"/>
            <a:ext cx="5381625" cy="276225"/>
          </a:xfrm>
          <a:prstGeom prst="rect">
            <a:avLst/>
          </a:prstGeom>
          <a:noFill/>
          <a:ln w="0">
            <a:noFill/>
          </a:ln>
        </p:spPr>
        <p:txBody>
          <a:bodyPr wrap="square" lIns="0" tIns="0" rIns="0" bIns="0" anchor="ctr">
            <a:normAutofit fontScale="100000"/>
          </a:bodyPr>
          <a:lstStyle/>
          <a:p>
            <a:pPr algn="l">
              <a:defRPr sz="1538" b="1">
                <a:solidFill>
                  <a:srgbClr val="02549D"/>
                </a:solidFill>
                <a:latin typeface="微软雅黑"/>
                <a:ea typeface="微软雅黑"/>
                <a:cs typeface="微软雅黑"/>
              </a:defRPr>
            </a:pPr>
            <a:r>
              <a:rPr sz="1538" b="1">
                <a:solidFill>
                  <a:srgbClr val="02549D"/>
                </a:solidFill>
                <a:latin typeface="微软雅黑"/>
                <a:ea typeface="微软雅黑"/>
                <a:cs typeface="微软雅黑"/>
              </a:rPr>
              <a:t>系统对照</a:t>
            </a:r>
          </a:p>
        </p:txBody>
      </p:sp>
      <p:graphicFrame>
        <p:nvGraphicFramePr>
          <p:cNvPr id="29" name=""/>
          <p:cNvGraphicFramePr/>
          <p:nvPr/>
        </p:nvGraphicFramePr>
        <p:xfrm>
          <a:off x="409575" y="2276475"/>
          <a:ext cx="5419725" cy="1971675"/>
        </p:xfrm>
        <a:graphic>
          <a:graphicData uri="http://schemas.openxmlformats.org/drawingml/2006/table">
            <a:tbl>
              <a:tblPr firstRow="0" bandRow="0"/>
              <a:tblGrid>
                <a:gridCol w="2952750"/>
                <a:gridCol w="2466975"/>
              </a:tblGrid>
              <a:tr h="328613">
                <a:tc>
                  <a:txBody>
                    <a:bodyPr lIns="85725" tIns="47625" rIns="76200" bIns="47625">
                      <a:normAutofit/>
                    </a:bodyPr>
                    <a:lstStyle/>
                    <a:p>
                      <a:pPr algn="l"/>
                      <a:r>
                        <a:rPr sz="1335" b="1">
                          <a:solidFill>
                            <a:srgbClr val="071A43"/>
                          </a:solidFill>
                          <a:latin typeface="微软雅黑"/>
                          <a:ea typeface="微软雅黑"/>
                          <a:cs typeface="微软雅黑"/>
                        </a:rPr>
                        <a:t>方法</a:t>
                      </a:r>
                    </a:p>
                  </a:txBody>
                  <a:tcPr marL="91440" marR="91440" marT="45720" marB="45720" anchor="ctr">
                    <a:solidFill>
                      <a:srgbClr val="EDF5FB"/>
                    </a:solidFill>
                  </a:tcPr>
                </a:tc>
                <a:tc>
                  <a:txBody>
                    <a:bodyPr lIns="85725" tIns="47625" rIns="76200" bIns="47625">
                      <a:normAutofit/>
                    </a:bodyPr>
                    <a:lstStyle/>
                    <a:p>
                      <a:pPr algn="l"/>
                      <a:r>
                        <a:rPr sz="1335" b="1">
                          <a:solidFill>
                            <a:srgbClr val="071A43"/>
                          </a:solidFill>
                          <a:latin typeface="微软雅黑"/>
                          <a:ea typeface="微软雅黑"/>
                          <a:cs typeface="微软雅黑"/>
                        </a:rPr>
                        <a:t>验证作用</a:t>
                      </a:r>
                    </a:p>
                  </a:txBody>
                  <a:tcPr marL="91440" marR="91440" marT="45720" marB="45720" anchor="ctr">
                    <a:solidFill>
                      <a:srgbClr val="EDF5FB"/>
                    </a:solidFill>
                  </a:tcPr>
                </a:tc>
              </a:tr>
              <a:tr h="328613">
                <a:tc>
                  <a:txBody>
                    <a:bodyPr lIns="85725" tIns="47625" rIns="76200" bIns="47625">
                      <a:normAutofit/>
                    </a:bodyPr>
                    <a:lstStyle/>
                    <a:p>
                      <a:pPr algn="l"/>
                      <a:r>
                        <a:rPr sz="1335" b="0">
                          <a:solidFill>
                            <a:srgbClr val="17243A"/>
                          </a:solidFill>
                          <a:latin typeface="微软雅黑"/>
                          <a:ea typeface="微软雅黑"/>
                          <a:cs typeface="微软雅黑"/>
                        </a:rPr>
                        <a:t>单 LLM</a:t>
                      </a:r>
                    </a:p>
                  </a:txBody>
                  <a:tcPr marL="91440" marR="91440" marT="45720" marB="45720" anchor="ctr">
                    <a:solidFill>
                      <a:srgbClr val="FEFEFE"/>
                    </a:solidFill>
                  </a:tcPr>
                </a:tc>
                <a:tc>
                  <a:txBody>
                    <a:bodyPr lIns="85725" tIns="47625" rIns="76200" bIns="47625">
                      <a:normAutofit/>
                    </a:bodyPr>
                    <a:lstStyle/>
                    <a:p>
                      <a:pPr algn="l"/>
                      <a:r>
                        <a:rPr sz="1335" b="0">
                          <a:solidFill>
                            <a:srgbClr val="17243A"/>
                          </a:solidFill>
                          <a:latin typeface="微软雅黑"/>
                          <a:ea typeface="微软雅黑"/>
                          <a:cs typeface="微软雅黑"/>
                        </a:rPr>
                        <a:t>基础诊断分析</a:t>
                      </a:r>
                    </a:p>
                  </a:txBody>
                  <a:tcPr marL="91440" marR="91440" marT="45720" marB="45720" anchor="ctr">
                    <a:solidFill>
                      <a:srgbClr val="FEFEFE"/>
                    </a:solidFill>
                  </a:tcPr>
                </a:tc>
              </a:tr>
              <a:tr h="328613">
                <a:tc>
                  <a:txBody>
                    <a:bodyPr lIns="85725" tIns="47625" rIns="76200" bIns="47625">
                      <a:normAutofit/>
                    </a:bodyPr>
                    <a:lstStyle/>
                    <a:p>
                      <a:pPr algn="l"/>
                      <a:r>
                        <a:rPr sz="1335" b="0">
                          <a:solidFill>
                            <a:srgbClr val="17243A"/>
                          </a:solidFill>
                          <a:latin typeface="微软雅黑"/>
                          <a:ea typeface="微软雅黑"/>
                          <a:cs typeface="微软雅黑"/>
                        </a:rPr>
                        <a:t>单 LLM + 文本 RAG</a:t>
                      </a:r>
                    </a:p>
                  </a:txBody>
                  <a:tcPr marL="91440" marR="91440" marT="45720" marB="45720" anchor="ctr">
                    <a:solidFill>
                      <a:srgbClr val="FEFEFE"/>
                    </a:solidFill>
                  </a:tcPr>
                </a:tc>
                <a:tc>
                  <a:txBody>
                    <a:bodyPr lIns="85725" tIns="47625" rIns="76200" bIns="47625">
                      <a:normAutofit/>
                    </a:bodyPr>
                    <a:lstStyle/>
                    <a:p>
                      <a:pPr algn="l"/>
                      <a:r>
                        <a:rPr sz="1335" b="0">
                          <a:solidFill>
                            <a:srgbClr val="17243A"/>
                          </a:solidFill>
                          <a:latin typeface="微软雅黑"/>
                          <a:ea typeface="微软雅黑"/>
                          <a:cs typeface="微软雅黑"/>
                        </a:rPr>
                        <a:t>外部知识增强</a:t>
                      </a:r>
                    </a:p>
                  </a:txBody>
                  <a:tcPr marL="91440" marR="91440" marT="45720" marB="45720" anchor="ctr">
                    <a:solidFill>
                      <a:srgbClr val="FEFEFE"/>
                    </a:solidFill>
                  </a:tcPr>
                </a:tc>
              </a:tr>
              <a:tr h="328613">
                <a:tc>
                  <a:txBody>
                    <a:bodyPr lIns="85725" tIns="47625" rIns="76200" bIns="47625">
                      <a:normAutofit/>
                    </a:bodyPr>
                    <a:lstStyle/>
                    <a:p>
                      <a:pPr algn="l"/>
                      <a:r>
                        <a:rPr sz="1335" b="0">
                          <a:solidFill>
                            <a:srgbClr val="17243A"/>
                          </a:solidFill>
                          <a:latin typeface="微软雅黑"/>
                          <a:ea typeface="微软雅黑"/>
                          <a:cs typeface="微软雅黑"/>
                        </a:rPr>
                        <a:t>多智能体 + 文本 RAG</a:t>
                      </a:r>
                    </a:p>
                  </a:txBody>
                  <a:tcPr marL="91440" marR="91440" marT="45720" marB="45720" anchor="ctr">
                    <a:solidFill>
                      <a:srgbClr val="FEFEFE"/>
                    </a:solidFill>
                  </a:tcPr>
                </a:tc>
                <a:tc>
                  <a:txBody>
                    <a:bodyPr lIns="85725" tIns="47625" rIns="76200" bIns="47625">
                      <a:normAutofit/>
                    </a:bodyPr>
                    <a:lstStyle/>
                    <a:p>
                      <a:pPr algn="l"/>
                      <a:r>
                        <a:rPr sz="1335" b="0">
                          <a:solidFill>
                            <a:srgbClr val="17243A"/>
                          </a:solidFill>
                          <a:latin typeface="微软雅黑"/>
                          <a:ea typeface="微软雅黑"/>
                          <a:cs typeface="微软雅黑"/>
                        </a:rPr>
                        <a:t>多智能体协作</a:t>
                      </a:r>
                    </a:p>
                  </a:txBody>
                  <a:tcPr marL="91440" marR="91440" marT="45720" marB="45720" anchor="ctr">
                    <a:solidFill>
                      <a:srgbClr val="FEFEFE"/>
                    </a:solidFill>
                  </a:tcPr>
                </a:tc>
              </a:tr>
              <a:tr h="328613">
                <a:tc>
                  <a:txBody>
                    <a:bodyPr lIns="85725" tIns="47625" rIns="76200" bIns="47625">
                      <a:normAutofit/>
                    </a:bodyPr>
                    <a:lstStyle/>
                    <a:p>
                      <a:pPr algn="l"/>
                      <a:r>
                        <a:rPr sz="1335" b="0">
                          <a:solidFill>
                            <a:srgbClr val="17243A"/>
                          </a:solidFill>
                          <a:latin typeface="微软雅黑"/>
                          <a:ea typeface="微软雅黑"/>
                          <a:cs typeface="微软雅黑"/>
                        </a:rPr>
                        <a:t>多智能体 + 普通 KG-RAG</a:t>
                      </a:r>
                    </a:p>
                  </a:txBody>
                  <a:tcPr marL="91440" marR="91440" marT="45720" marB="45720" anchor="ctr">
                    <a:solidFill>
                      <a:srgbClr val="FEFEFE"/>
                    </a:solidFill>
                  </a:tcPr>
                </a:tc>
                <a:tc>
                  <a:txBody>
                    <a:bodyPr lIns="85725" tIns="47625" rIns="76200" bIns="47625">
                      <a:normAutofit/>
                    </a:bodyPr>
                    <a:lstStyle/>
                    <a:p>
                      <a:pPr algn="l"/>
                      <a:r>
                        <a:rPr sz="1335" b="0">
                          <a:solidFill>
                            <a:srgbClr val="17243A"/>
                          </a:solidFill>
                          <a:latin typeface="微软雅黑"/>
                          <a:ea typeface="微软雅黑"/>
                          <a:cs typeface="微软雅黑"/>
                        </a:rPr>
                        <a:t>普通图谱检索</a:t>
                      </a:r>
                    </a:p>
                  </a:txBody>
                  <a:tcPr marL="91440" marR="91440" marT="45720" marB="45720" anchor="ctr">
                    <a:solidFill>
                      <a:srgbClr val="FEFEFE"/>
                    </a:solidFill>
                  </a:tcPr>
                </a:tc>
              </a:tr>
              <a:tr h="328613">
                <a:tc>
                  <a:txBody>
                    <a:bodyPr lIns="85725" tIns="47625" rIns="76200" bIns="47625">
                      <a:normAutofit/>
                    </a:bodyPr>
                    <a:lstStyle/>
                    <a:p>
                      <a:pPr algn="l"/>
                      <a:r>
                        <a:rPr sz="1335" b="1">
                          <a:solidFill>
                            <a:srgbClr val="071A43"/>
                          </a:solidFill>
                          <a:latin typeface="微软雅黑"/>
                          <a:ea typeface="微软雅黑"/>
                          <a:cs typeface="微软雅黑"/>
                        </a:rPr>
                        <a:t>完整系统</a:t>
                      </a:r>
                    </a:p>
                  </a:txBody>
                  <a:tcPr marL="91440" marR="91440" marT="45720" marB="45720" anchor="ctr">
                    <a:solidFill>
                      <a:srgbClr val="F0F7FC"/>
                    </a:solidFill>
                  </a:tcPr>
                </a:tc>
                <a:tc>
                  <a:txBody>
                    <a:bodyPr lIns="85725" tIns="47625" rIns="76200" bIns="47625">
                      <a:normAutofit/>
                    </a:bodyPr>
                    <a:lstStyle/>
                    <a:p>
                      <a:pPr algn="l"/>
                      <a:r>
                        <a:rPr sz="1335" b="1">
                          <a:solidFill>
                            <a:srgbClr val="071A43"/>
                          </a:solidFill>
                          <a:latin typeface="微软雅黑"/>
                          <a:ea typeface="微软雅黑"/>
                          <a:cs typeface="微软雅黑"/>
                        </a:rPr>
                        <a:t>条件化图谱 +</a:t>
                      </a:r>
                    </a:p>
                    <a:p>
                      <a:pPr algn="l"/>
                      <a:r>
                        <a:rPr sz="1335" b="1">
                          <a:solidFill>
                            <a:srgbClr val="071A43"/>
                          </a:solidFill>
                          <a:latin typeface="微软雅黑"/>
                          <a:ea typeface="微软雅黑"/>
                          <a:cs typeface="微软雅黑"/>
                        </a:rPr>
                        <a:t>患者状态引导检索</a:t>
                      </a:r>
                    </a:p>
                  </a:txBody>
                  <a:tcPr marL="91440" marR="91440" marT="45720" marB="45720" anchor="ctr">
                    <a:solidFill>
                      <a:srgbClr val="F0F7FC"/>
                    </a:solidFill>
                  </a:tcPr>
                </a:tc>
              </a:tr>
            </a:tbl>
          </a:graphicData>
        </a:graphic>
      </p:graphicFrame>
      <p:sp>
        <p:nvSpPr>
          <p:cNvPr id="30" name="text-92">
            <a:extLst>
              <a:ext uri="{FF2B5EF4-FFF2-40B4-BE49-F238E27FC236}">
                <a16:creationId xmlns:a16="http://schemas.microsoft.com/office/drawing/2014/main" id="{58CD3D63-58C9-4F38-B37B-1EAA7D5E9461}"/>
              </a:ext>
            </a:extLst>
          </p:cNvPr>
          <p:cNvSpPr>
            <a:spLocks noGrp="1"/>
          </p:cNvSpPr>
          <p:nvPr/>
        </p:nvSpPr>
        <p:spPr>
          <a:xfrm>
            <a:off x="419100" y="4648200"/>
            <a:ext cx="5381625" cy="276225"/>
          </a:xfrm>
          <a:prstGeom prst="rect">
            <a:avLst/>
          </a:prstGeom>
          <a:noFill/>
          <a:ln w="0">
            <a:noFill/>
          </a:ln>
        </p:spPr>
        <p:txBody>
          <a:bodyPr wrap="square" lIns="0" tIns="0" rIns="0" bIns="0" anchor="ctr">
            <a:normAutofit fontScale="100000"/>
          </a:bodyPr>
          <a:lstStyle/>
          <a:p>
            <a:pPr algn="l">
              <a:defRPr sz="1538" b="1">
                <a:solidFill>
                  <a:srgbClr val="02549D"/>
                </a:solidFill>
                <a:latin typeface="微软雅黑"/>
                <a:ea typeface="微软雅黑"/>
                <a:cs typeface="微软雅黑"/>
              </a:defRPr>
            </a:pPr>
            <a:r>
              <a:rPr sz="1538" b="1">
                <a:solidFill>
                  <a:srgbClr val="02549D"/>
                </a:solidFill>
                <a:latin typeface="微软雅黑"/>
                <a:ea typeface="微软雅黑"/>
                <a:cs typeface="微软雅黑"/>
              </a:rPr>
              <a:t>诊断指标与结果展示</a:t>
            </a:r>
          </a:p>
        </p:txBody>
      </p:sp>
      <p:sp>
        <p:nvSpPr>
          <p:cNvPr id="31" name="text-93">
            <a:extLst>
              <a:ext uri="{FF2B5EF4-FFF2-40B4-BE49-F238E27FC236}">
                <a16:creationId xmlns:a16="http://schemas.microsoft.com/office/drawing/2014/main" id="{35CD644B-2886-495C-97E2-A3F88D7A2C63}"/>
              </a:ext>
            </a:extLst>
          </p:cNvPr>
          <p:cNvSpPr>
            <a:spLocks noGrp="1"/>
          </p:cNvSpPr>
          <p:nvPr/>
        </p:nvSpPr>
        <p:spPr>
          <a:xfrm>
            <a:off x="419100" y="5010150"/>
            <a:ext cx="5381625" cy="457200"/>
          </a:xfrm>
          <a:prstGeom prst="rect">
            <a:avLst/>
          </a:prstGeom>
          <a:noFill/>
          <a:ln w="0">
            <a:noFill/>
          </a:ln>
        </p:spPr>
        <p:txBody>
          <a:bodyPr wrap="square" lIns="0" tIns="0" rIns="0" bIns="0" anchor="ctr">
            <a:normAutofit fontScale="97529"/>
          </a:bodyPr>
          <a:lstStyle/>
          <a:p>
            <a:pPr algn="l">
              <a:defRPr sz="1538" b="1">
                <a:solidFill>
                  <a:srgbClr val="071A43"/>
                </a:solidFill>
                <a:latin typeface="微软雅黑"/>
                <a:ea typeface="微软雅黑"/>
                <a:cs typeface="微软雅黑"/>
              </a:defRPr>
            </a:pPr>
            <a:r>
              <a:rPr sz="1538" b="1">
                <a:solidFill>
                  <a:srgbClr val="071A43"/>
                </a:solidFill>
                <a:latin typeface="微软雅黑"/>
                <a:ea typeface="微软雅黑"/>
                <a:cs typeface="微软雅黑"/>
              </a:rPr>
              <a:t>Accuracy、Macro-F1、Balanced Accuracy</a:t>
            </a:r>
          </a:p>
          <a:p>
            <a:pPr algn="l">
              <a:defRPr sz="1538" b="1">
                <a:solidFill>
                  <a:srgbClr val="071A43"/>
                </a:solidFill>
                <a:latin typeface="微软雅黑"/>
                <a:ea typeface="微软雅黑"/>
                <a:cs typeface="微软雅黑"/>
              </a:defRPr>
            </a:pPr>
            <a:r>
              <a:rPr sz="1538" b="1">
                <a:solidFill>
                  <a:srgbClr val="071A43"/>
                </a:solidFill>
                <a:latin typeface="微软雅黑"/>
                <a:ea typeface="微软雅黑"/>
                <a:cs typeface="微软雅黑"/>
              </a:rPr>
              <a:t>混淆矩阵，另列报告质量结果</a:t>
            </a:r>
          </a:p>
        </p:txBody>
      </p:sp>
      <p:sp>
        <p:nvSpPr>
          <p:cNvPr id="32" name="text-94">
            <a:extLst>
              <a:ext uri="{FF2B5EF4-FFF2-40B4-BE49-F238E27FC236}">
                <a16:creationId xmlns:a16="http://schemas.microsoft.com/office/drawing/2014/main" id="{4B78CC34-D159-4616-B7E5-4863796CD205}"/>
              </a:ext>
            </a:extLst>
          </p:cNvPr>
          <p:cNvSpPr>
            <a:spLocks noGrp="1"/>
          </p:cNvSpPr>
          <p:nvPr/>
        </p:nvSpPr>
        <p:spPr>
          <a:xfrm>
            <a:off x="419100" y="5524500"/>
            <a:ext cx="5381625" cy="361950"/>
          </a:xfrm>
          <a:prstGeom prst="rect">
            <a:avLst/>
          </a:prstGeom>
          <a:noFill/>
          <a:ln w="0">
            <a:noFill/>
          </a:ln>
        </p:spPr>
        <p:txBody>
          <a:bodyPr wrap="square" lIns="0" tIns="0" rIns="0" bIns="0" anchor="ctr">
            <a:normAutofit fontScale="84220"/>
          </a:bodyPr>
          <a:lstStyle/>
          <a:p>
            <a:pPr algn="l">
              <a:defRPr sz="1410" b="0">
                <a:solidFill>
                  <a:srgbClr val="17243A"/>
                </a:solidFill>
                <a:latin typeface="微软雅黑"/>
                <a:ea typeface="微软雅黑"/>
                <a:cs typeface="微软雅黑"/>
              </a:defRPr>
            </a:pPr>
            <a:r>
              <a:rPr sz="1410" b="0">
                <a:solidFill>
                  <a:srgbClr val="17243A"/>
                </a:solidFill>
                <a:latin typeface="微软雅黑"/>
                <a:ea typeface="微软雅黑"/>
                <a:cs typeface="微软雅黑"/>
              </a:rPr>
              <a:t>证据不足：报告拒绝判断率，</a:t>
            </a:r>
          </a:p>
          <a:p>
            <a:pPr algn="l">
              <a:defRPr sz="1410" b="0">
                <a:solidFill>
                  <a:srgbClr val="17243A"/>
                </a:solidFill>
                <a:latin typeface="微软雅黑"/>
                <a:ea typeface="微软雅黑"/>
                <a:cs typeface="微软雅黑"/>
              </a:defRPr>
            </a:pPr>
            <a:r>
              <a:rPr sz="1410" b="0">
                <a:solidFill>
                  <a:srgbClr val="17243A"/>
                </a:solidFill>
                <a:latin typeface="微软雅黑"/>
                <a:ea typeface="微软雅黑"/>
                <a:cs typeface="微软雅黑"/>
              </a:rPr>
              <a:t>并统计已判断病例的准确率</a:t>
            </a:r>
          </a:p>
        </p:txBody>
      </p:sp>
      <p:sp>
        <p:nvSpPr>
          <p:cNvPr id="33" name="text-95">
            <a:extLst>
              <a:ext uri="{FF2B5EF4-FFF2-40B4-BE49-F238E27FC236}">
                <a16:creationId xmlns:a16="http://schemas.microsoft.com/office/drawing/2014/main" id="{56772C30-8479-483E-B558-15A376F57D42}"/>
              </a:ext>
            </a:extLst>
          </p:cNvPr>
          <p:cNvSpPr>
            <a:spLocks noGrp="1"/>
          </p:cNvSpPr>
          <p:nvPr/>
        </p:nvSpPr>
        <p:spPr>
          <a:xfrm>
            <a:off x="6372225" y="1524000"/>
            <a:ext cx="5381625" cy="276225"/>
          </a:xfrm>
          <a:prstGeom prst="rect">
            <a:avLst/>
          </a:prstGeom>
          <a:noFill/>
          <a:ln w="0">
            <a:noFill/>
          </a:ln>
        </p:spPr>
        <p:txBody>
          <a:bodyPr wrap="square" lIns="0" tIns="0" rIns="0" bIns="0" anchor="ctr">
            <a:normAutofit fontScale="100000"/>
          </a:bodyPr>
          <a:lstStyle/>
          <a:p>
            <a:pPr algn="l">
              <a:defRPr sz="1538" b="1">
                <a:solidFill>
                  <a:srgbClr val="02549D"/>
                </a:solidFill>
                <a:latin typeface="微软雅黑"/>
                <a:ea typeface="微软雅黑"/>
                <a:cs typeface="微软雅黑"/>
              </a:defRPr>
            </a:pPr>
            <a:r>
              <a:rPr sz="1538" b="1">
                <a:solidFill>
                  <a:srgbClr val="02549D"/>
                </a:solidFill>
                <a:latin typeface="微软雅黑"/>
                <a:ea typeface="微软雅黑"/>
                <a:cs typeface="微软雅黑"/>
              </a:rPr>
              <a:t>两个算法的模块消融</a:t>
            </a:r>
          </a:p>
        </p:txBody>
      </p:sp>
      <p:graphicFrame>
        <p:nvGraphicFramePr>
          <p:cNvPr id="34" name=""/>
          <p:cNvGraphicFramePr/>
          <p:nvPr/>
        </p:nvGraphicFramePr>
        <p:xfrm>
          <a:off x="6362700" y="1895475"/>
          <a:ext cx="5419725" cy="1666875"/>
        </p:xfrm>
        <a:graphic>
          <a:graphicData uri="http://schemas.openxmlformats.org/drawingml/2006/table">
            <a:tbl>
              <a:tblPr firstRow="0" bandRow="0"/>
              <a:tblGrid>
                <a:gridCol w="1809750"/>
                <a:gridCol w="1695450"/>
                <a:gridCol w="1914525"/>
              </a:tblGrid>
              <a:tr h="333375">
                <a:tc>
                  <a:txBody>
                    <a:bodyPr lIns="85725" tIns="47625" rIns="76200" bIns="47625">
                      <a:normAutofit/>
                    </a:bodyPr>
                    <a:lstStyle/>
                    <a:p>
                      <a:pPr algn="l"/>
                      <a:r>
                        <a:rPr sz="1320" b="1">
                          <a:solidFill>
                            <a:srgbClr val="071A43"/>
                          </a:solidFill>
                          <a:latin typeface="微软雅黑"/>
                          <a:ea typeface="微软雅黑"/>
                          <a:cs typeface="微软雅黑"/>
                        </a:rPr>
                        <a:t>实验组</a:t>
                      </a:r>
                    </a:p>
                  </a:txBody>
                  <a:tcPr marL="91440" marR="91440" marT="45720" marB="45720" anchor="ctr">
                    <a:solidFill>
                      <a:srgbClr val="EDF5FB"/>
                    </a:solidFill>
                  </a:tcPr>
                </a:tc>
                <a:tc>
                  <a:txBody>
                    <a:bodyPr lIns="85725" tIns="47625" rIns="76200" bIns="47625">
                      <a:normAutofit/>
                    </a:bodyPr>
                    <a:lstStyle/>
                    <a:p>
                      <a:pPr algn="l"/>
                      <a:r>
                        <a:rPr sz="1320" b="1">
                          <a:solidFill>
                            <a:srgbClr val="071A43"/>
                          </a:solidFill>
                          <a:latin typeface="微软雅黑"/>
                          <a:ea typeface="微软雅黑"/>
                          <a:cs typeface="微软雅黑"/>
                        </a:rPr>
                        <a:t>条件化知识构建</a:t>
                      </a:r>
                    </a:p>
                  </a:txBody>
                  <a:tcPr marL="91440" marR="91440" marT="45720" marB="45720" anchor="ctr">
                    <a:solidFill>
                      <a:srgbClr val="EDF5FB"/>
                    </a:solidFill>
                  </a:tcPr>
                </a:tc>
                <a:tc>
                  <a:txBody>
                    <a:bodyPr lIns="85725" tIns="47625" rIns="76200" bIns="47625">
                      <a:normAutofit/>
                    </a:bodyPr>
                    <a:lstStyle/>
                    <a:p>
                      <a:pPr algn="l"/>
                      <a:r>
                        <a:rPr sz="1320" b="1">
                          <a:solidFill>
                            <a:srgbClr val="071A43"/>
                          </a:solidFill>
                          <a:latin typeface="微软雅黑"/>
                          <a:ea typeface="微软雅黑"/>
                          <a:cs typeface="微软雅黑"/>
                        </a:rPr>
                        <a:t>患者状态引导检索</a:t>
                      </a:r>
                    </a:p>
                  </a:txBody>
                  <a:tcPr marL="91440" marR="91440" marT="45720" marB="45720" anchor="ctr">
                    <a:solidFill>
                      <a:srgbClr val="EDF5FB"/>
                    </a:solidFill>
                  </a:tcPr>
                </a:tc>
              </a:tr>
              <a:tr h="333375">
                <a:tc>
                  <a:txBody>
                    <a:bodyPr lIns="85725" tIns="47625" rIns="76200" bIns="47625">
                      <a:normAutofit/>
                    </a:bodyPr>
                    <a:lstStyle/>
                    <a:p>
                      <a:pPr algn="l"/>
                      <a:r>
                        <a:rPr sz="1320" b="0">
                          <a:solidFill>
                            <a:srgbClr val="17243A"/>
                          </a:solidFill>
                          <a:latin typeface="微软雅黑"/>
                          <a:ea typeface="微软雅黑"/>
                          <a:cs typeface="微软雅黑"/>
                        </a:rPr>
                        <a:t>A0 基础系统</a:t>
                      </a:r>
                    </a:p>
                  </a:txBody>
                  <a:tcPr marL="91440" marR="91440" marT="45720" marB="45720" anchor="ctr">
                    <a:solidFill>
                      <a:srgbClr val="FEFEFE"/>
                    </a:solidFill>
                  </a:tcPr>
                </a:tc>
                <a:tc>
                  <a:txBody>
                    <a:bodyPr lIns="85725" tIns="47625" rIns="76200" bIns="47625">
                      <a:normAutofit/>
                    </a:bodyPr>
                    <a:lstStyle/>
                    <a:p>
                      <a:pPr algn="l"/>
                      <a:r>
                        <a:rPr sz="1320" b="0">
                          <a:solidFill>
                            <a:srgbClr val="17243A"/>
                          </a:solidFill>
                          <a:latin typeface="微软雅黑"/>
                          <a:ea typeface="微软雅黑"/>
                          <a:cs typeface="微软雅黑"/>
                        </a:rPr>
                        <a:t>无</a:t>
                      </a:r>
                    </a:p>
                  </a:txBody>
                  <a:tcPr marL="91440" marR="91440" marT="45720" marB="45720" anchor="ctr">
                    <a:solidFill>
                      <a:srgbClr val="FEFEFE"/>
                    </a:solidFill>
                  </a:tcPr>
                </a:tc>
                <a:tc>
                  <a:txBody>
                    <a:bodyPr lIns="85725" tIns="47625" rIns="76200" bIns="47625">
                      <a:normAutofit/>
                    </a:bodyPr>
                    <a:lstStyle/>
                    <a:p>
                      <a:pPr algn="l"/>
                      <a:r>
                        <a:rPr sz="1320" b="0">
                          <a:solidFill>
                            <a:srgbClr val="17243A"/>
                          </a:solidFill>
                          <a:latin typeface="微软雅黑"/>
                          <a:ea typeface="微软雅黑"/>
                          <a:cs typeface="微软雅黑"/>
                        </a:rPr>
                        <a:t>无</a:t>
                      </a:r>
                    </a:p>
                  </a:txBody>
                  <a:tcPr marL="91440" marR="91440" marT="45720" marB="45720" anchor="ctr">
                    <a:solidFill>
                      <a:srgbClr val="FEFEFE"/>
                    </a:solidFill>
                  </a:tcPr>
                </a:tc>
              </a:tr>
              <a:tr h="333375">
                <a:tc>
                  <a:txBody>
                    <a:bodyPr lIns="85725" tIns="47625" rIns="76200" bIns="47625">
                      <a:normAutofit/>
                    </a:bodyPr>
                    <a:lstStyle/>
                    <a:p>
                      <a:pPr algn="l"/>
                      <a:r>
                        <a:rPr sz="1320" b="0">
                          <a:solidFill>
                            <a:srgbClr val="17243A"/>
                          </a:solidFill>
                          <a:latin typeface="微软雅黑"/>
                          <a:ea typeface="微软雅黑"/>
                          <a:cs typeface="微软雅黑"/>
                        </a:rPr>
                        <a:t>A1 仅算法一</a:t>
                      </a:r>
                    </a:p>
                  </a:txBody>
                  <a:tcPr marL="91440" marR="91440" marT="45720" marB="45720" anchor="ctr">
                    <a:solidFill>
                      <a:srgbClr val="FEFEFE"/>
                    </a:solidFill>
                  </a:tcPr>
                </a:tc>
                <a:tc>
                  <a:txBody>
                    <a:bodyPr lIns="85725" tIns="47625" rIns="76200" bIns="47625">
                      <a:normAutofit/>
                    </a:bodyPr>
                    <a:lstStyle/>
                    <a:p>
                      <a:pPr algn="l"/>
                      <a:r>
                        <a:rPr sz="1320" b="0">
                          <a:solidFill>
                            <a:srgbClr val="17243A"/>
                          </a:solidFill>
                          <a:latin typeface="微软雅黑"/>
                          <a:ea typeface="微软雅黑"/>
                          <a:cs typeface="微软雅黑"/>
                        </a:rPr>
                        <a:t>有</a:t>
                      </a:r>
                    </a:p>
                  </a:txBody>
                  <a:tcPr marL="91440" marR="91440" marT="45720" marB="45720" anchor="ctr">
                    <a:solidFill>
                      <a:srgbClr val="FEFEFE"/>
                    </a:solidFill>
                  </a:tcPr>
                </a:tc>
                <a:tc>
                  <a:txBody>
                    <a:bodyPr lIns="85725" tIns="47625" rIns="76200" bIns="47625">
                      <a:normAutofit/>
                    </a:bodyPr>
                    <a:lstStyle/>
                    <a:p>
                      <a:pPr algn="l"/>
                      <a:r>
                        <a:rPr sz="1320" b="0">
                          <a:solidFill>
                            <a:srgbClr val="17243A"/>
                          </a:solidFill>
                          <a:latin typeface="微软雅黑"/>
                          <a:ea typeface="微软雅黑"/>
                          <a:cs typeface="微软雅黑"/>
                        </a:rPr>
                        <a:t>无</a:t>
                      </a:r>
                    </a:p>
                  </a:txBody>
                  <a:tcPr marL="91440" marR="91440" marT="45720" marB="45720" anchor="ctr">
                    <a:solidFill>
                      <a:srgbClr val="FEFEFE"/>
                    </a:solidFill>
                  </a:tcPr>
                </a:tc>
              </a:tr>
              <a:tr h="333375">
                <a:tc>
                  <a:txBody>
                    <a:bodyPr lIns="85725" tIns="47625" rIns="76200" bIns="47625">
                      <a:normAutofit/>
                    </a:bodyPr>
                    <a:lstStyle/>
                    <a:p>
                      <a:pPr algn="l"/>
                      <a:r>
                        <a:rPr sz="1320" b="0">
                          <a:solidFill>
                            <a:srgbClr val="17243A"/>
                          </a:solidFill>
                          <a:latin typeface="微软雅黑"/>
                          <a:ea typeface="微软雅黑"/>
                          <a:cs typeface="微软雅黑"/>
                        </a:rPr>
                        <a:t>A2 仅算法二</a:t>
                      </a:r>
                    </a:p>
                  </a:txBody>
                  <a:tcPr marL="91440" marR="91440" marT="45720" marB="45720" anchor="ctr">
                    <a:solidFill>
                      <a:srgbClr val="FEFEFE"/>
                    </a:solidFill>
                  </a:tcPr>
                </a:tc>
                <a:tc>
                  <a:txBody>
                    <a:bodyPr lIns="85725" tIns="47625" rIns="76200" bIns="47625">
                      <a:normAutofit/>
                    </a:bodyPr>
                    <a:lstStyle/>
                    <a:p>
                      <a:pPr algn="l"/>
                      <a:r>
                        <a:rPr sz="1320" b="0">
                          <a:solidFill>
                            <a:srgbClr val="17243A"/>
                          </a:solidFill>
                          <a:latin typeface="微软雅黑"/>
                          <a:ea typeface="微软雅黑"/>
                          <a:cs typeface="微软雅黑"/>
                        </a:rPr>
                        <a:t>无</a:t>
                      </a:r>
                    </a:p>
                  </a:txBody>
                  <a:tcPr marL="91440" marR="91440" marT="45720" marB="45720" anchor="ctr">
                    <a:solidFill>
                      <a:srgbClr val="FEFEFE"/>
                    </a:solidFill>
                  </a:tcPr>
                </a:tc>
                <a:tc>
                  <a:txBody>
                    <a:bodyPr lIns="85725" tIns="47625" rIns="76200" bIns="47625">
                      <a:normAutofit/>
                    </a:bodyPr>
                    <a:lstStyle/>
                    <a:p>
                      <a:pPr algn="l"/>
                      <a:r>
                        <a:rPr sz="1320" b="0">
                          <a:solidFill>
                            <a:srgbClr val="17243A"/>
                          </a:solidFill>
                          <a:latin typeface="微软雅黑"/>
                          <a:ea typeface="微软雅黑"/>
                          <a:cs typeface="微软雅黑"/>
                        </a:rPr>
                        <a:t>有</a:t>
                      </a:r>
                    </a:p>
                  </a:txBody>
                  <a:tcPr marL="91440" marR="91440" marT="45720" marB="45720" anchor="ctr">
                    <a:solidFill>
                      <a:srgbClr val="FEFEFE"/>
                    </a:solidFill>
                  </a:tcPr>
                </a:tc>
              </a:tr>
              <a:tr h="333375">
                <a:tc>
                  <a:txBody>
                    <a:bodyPr lIns="85725" tIns="47625" rIns="76200" bIns="47625">
                      <a:normAutofit/>
                    </a:bodyPr>
                    <a:lstStyle/>
                    <a:p>
                      <a:pPr algn="l"/>
                      <a:r>
                        <a:rPr sz="1320" b="1">
                          <a:solidFill>
                            <a:srgbClr val="071A43"/>
                          </a:solidFill>
                          <a:latin typeface="微软雅黑"/>
                          <a:ea typeface="微软雅黑"/>
                          <a:cs typeface="微软雅黑"/>
                        </a:rPr>
                        <a:t>A3 完整系统</a:t>
                      </a:r>
                    </a:p>
                  </a:txBody>
                  <a:tcPr marL="91440" marR="91440" marT="45720" marB="45720" anchor="ctr">
                    <a:solidFill>
                      <a:srgbClr val="F0F7FC"/>
                    </a:solidFill>
                  </a:tcPr>
                </a:tc>
                <a:tc>
                  <a:txBody>
                    <a:bodyPr lIns="85725" tIns="47625" rIns="76200" bIns="47625">
                      <a:normAutofit/>
                    </a:bodyPr>
                    <a:lstStyle/>
                    <a:p>
                      <a:pPr algn="l"/>
                      <a:r>
                        <a:rPr sz="1320" b="1">
                          <a:solidFill>
                            <a:srgbClr val="071A43"/>
                          </a:solidFill>
                          <a:latin typeface="微软雅黑"/>
                          <a:ea typeface="微软雅黑"/>
                          <a:cs typeface="微软雅黑"/>
                        </a:rPr>
                        <a:t>有</a:t>
                      </a:r>
                    </a:p>
                  </a:txBody>
                  <a:tcPr marL="91440" marR="91440" marT="45720" marB="45720" anchor="ctr">
                    <a:solidFill>
                      <a:srgbClr val="F0F7FC"/>
                    </a:solidFill>
                  </a:tcPr>
                </a:tc>
                <a:tc>
                  <a:txBody>
                    <a:bodyPr lIns="85725" tIns="47625" rIns="76200" bIns="47625">
                      <a:normAutofit/>
                    </a:bodyPr>
                    <a:lstStyle/>
                    <a:p>
                      <a:pPr algn="l"/>
                      <a:r>
                        <a:rPr sz="1320" b="1">
                          <a:solidFill>
                            <a:srgbClr val="071A43"/>
                          </a:solidFill>
                          <a:latin typeface="微软雅黑"/>
                          <a:ea typeface="微软雅黑"/>
                          <a:cs typeface="微软雅黑"/>
                        </a:rPr>
                        <a:t>有</a:t>
                      </a:r>
                    </a:p>
                  </a:txBody>
                  <a:tcPr marL="91440" marR="91440" marT="45720" marB="45720" anchor="ctr">
                    <a:solidFill>
                      <a:srgbClr val="F0F7FC"/>
                    </a:solidFill>
                  </a:tcPr>
                </a:tc>
              </a:tr>
            </a:tbl>
          </a:graphicData>
        </a:graphic>
      </p:graphicFrame>
      <p:sp>
        <p:nvSpPr>
          <p:cNvPr id="35" name="text-96">
            <a:extLst>
              <a:ext uri="{FF2B5EF4-FFF2-40B4-BE49-F238E27FC236}">
                <a16:creationId xmlns:a16="http://schemas.microsoft.com/office/drawing/2014/main" id="{632F721B-C7B0-4D10-9626-F06824AF23C3}"/>
              </a:ext>
            </a:extLst>
          </p:cNvPr>
          <p:cNvSpPr>
            <a:spLocks noGrp="1"/>
          </p:cNvSpPr>
          <p:nvPr/>
        </p:nvSpPr>
        <p:spPr>
          <a:xfrm>
            <a:off x="6372225" y="3705225"/>
            <a:ext cx="5381625" cy="457200"/>
          </a:xfrm>
          <a:prstGeom prst="rect">
            <a:avLst/>
          </a:prstGeom>
          <a:noFill/>
          <a:ln w="0">
            <a:noFill/>
          </a:ln>
        </p:spPr>
        <p:txBody>
          <a:bodyPr wrap="square" lIns="0" tIns="0" rIns="0" bIns="0" anchor="ctr">
            <a:normAutofit fontScale="100000"/>
          </a:bodyPr>
          <a:lstStyle/>
          <a:p>
            <a:pPr algn="l">
              <a:defRPr sz="1425" b="0">
                <a:solidFill>
                  <a:srgbClr val="17243A"/>
                </a:solidFill>
                <a:latin typeface="微软雅黑"/>
                <a:ea typeface="微软雅黑"/>
                <a:cs typeface="微软雅黑"/>
              </a:defRPr>
            </a:pPr>
            <a:r>
              <a:rPr sz="1425" b="0">
                <a:solidFill>
                  <a:srgbClr val="17243A"/>
                </a:solidFill>
                <a:latin typeface="微软雅黑"/>
                <a:ea typeface="微软雅黑"/>
                <a:cs typeface="微软雅黑"/>
              </a:rPr>
              <a:t>共同评价：诊断 Macro-F1、证据覆盖率、</a:t>
            </a:r>
          </a:p>
          <a:p>
            <a:pPr algn="l">
              <a:defRPr sz="1425" b="0">
                <a:solidFill>
                  <a:srgbClr val="17243A"/>
                </a:solidFill>
                <a:latin typeface="微软雅黑"/>
                <a:ea typeface="微软雅黑"/>
                <a:cs typeface="微软雅黑"/>
              </a:defRPr>
            </a:pPr>
            <a:r>
              <a:rPr sz="1425" b="0">
                <a:solidFill>
                  <a:srgbClr val="17243A"/>
                </a:solidFill>
                <a:latin typeface="微软雅黑"/>
                <a:ea typeface="微软雅黑"/>
                <a:cs typeface="微软雅黑"/>
              </a:rPr>
              <a:t>医学声明支持率、严重临床错误率</a:t>
            </a:r>
          </a:p>
        </p:txBody>
      </p:sp>
      <p:sp>
        <p:nvSpPr>
          <p:cNvPr id="36" name="text-97">
            <a:extLst>
              <a:ext uri="{FF2B5EF4-FFF2-40B4-BE49-F238E27FC236}">
                <a16:creationId xmlns:a16="http://schemas.microsoft.com/office/drawing/2014/main" id="{7CA79467-2988-4319-8278-FEC00ABE02D5}"/>
              </a:ext>
            </a:extLst>
          </p:cNvPr>
          <p:cNvSpPr>
            <a:spLocks noGrp="1"/>
          </p:cNvSpPr>
          <p:nvPr/>
        </p:nvSpPr>
        <p:spPr>
          <a:xfrm>
            <a:off x="6372225" y="4229100"/>
            <a:ext cx="5381625" cy="276225"/>
          </a:xfrm>
          <a:prstGeom prst="rect">
            <a:avLst/>
          </a:prstGeom>
          <a:noFill/>
          <a:ln w="0">
            <a:noFill/>
          </a:ln>
        </p:spPr>
        <p:txBody>
          <a:bodyPr wrap="square" lIns="0" tIns="0" rIns="0" bIns="0" anchor="ctr">
            <a:normAutofit fontScale="100000"/>
          </a:bodyPr>
          <a:lstStyle/>
          <a:p>
            <a:pPr algn="l">
              <a:defRPr sz="1538" b="1">
                <a:solidFill>
                  <a:srgbClr val="02549D"/>
                </a:solidFill>
                <a:latin typeface="微软雅黑"/>
                <a:ea typeface="微软雅黑"/>
                <a:cs typeface="微软雅黑"/>
              </a:defRPr>
            </a:pPr>
            <a:r>
              <a:rPr sz="1538" b="1">
                <a:solidFill>
                  <a:srgbClr val="02549D"/>
                </a:solidFill>
                <a:latin typeface="微软雅黑"/>
                <a:ea typeface="微软雅黑"/>
                <a:cs typeface="微软雅黑"/>
              </a:rPr>
              <a:t>鲁棒性场景</a:t>
            </a:r>
          </a:p>
        </p:txBody>
      </p:sp>
      <p:graphicFrame>
        <p:nvGraphicFramePr>
          <p:cNvPr id="37" name=""/>
          <p:cNvGraphicFramePr/>
          <p:nvPr/>
        </p:nvGraphicFramePr>
        <p:xfrm>
          <a:off x="6362700" y="4562475"/>
          <a:ext cx="5419725" cy="1076325"/>
        </p:xfrm>
        <a:graphic>
          <a:graphicData uri="http://schemas.openxmlformats.org/drawingml/2006/table">
            <a:tbl>
              <a:tblPr firstRow="0" bandRow="0"/>
              <a:tblGrid>
                <a:gridCol w="1504950"/>
                <a:gridCol w="3914775"/>
              </a:tblGrid>
              <a:tr h="269081">
                <a:tc>
                  <a:txBody>
                    <a:bodyPr lIns="85725" tIns="47625" rIns="76200" bIns="47625">
                      <a:normAutofit/>
                    </a:bodyPr>
                    <a:lstStyle/>
                    <a:p>
                      <a:pPr algn="l"/>
                      <a:r>
                        <a:rPr sz="1320" b="1">
                          <a:solidFill>
                            <a:srgbClr val="071A43"/>
                          </a:solidFill>
                          <a:latin typeface="微软雅黑"/>
                          <a:ea typeface="微软雅黑"/>
                          <a:cs typeface="微软雅黑"/>
                        </a:rPr>
                        <a:t>输入扰动</a:t>
                      </a:r>
                    </a:p>
                  </a:txBody>
                  <a:tcPr marL="91440" marR="91440" marT="45720" marB="45720" anchor="ctr">
                    <a:solidFill>
                      <a:srgbClr val="EDF5FB"/>
                    </a:solidFill>
                  </a:tcPr>
                </a:tc>
                <a:tc>
                  <a:txBody>
                    <a:bodyPr lIns="85725" tIns="47625" rIns="76200" bIns="47625">
                      <a:normAutofit/>
                    </a:bodyPr>
                    <a:lstStyle/>
                    <a:p>
                      <a:pPr algn="l"/>
                      <a:r>
                        <a:rPr sz="1320" b="1">
                          <a:solidFill>
                            <a:srgbClr val="071A43"/>
                          </a:solidFill>
                          <a:latin typeface="微软雅黑"/>
                          <a:ea typeface="微软雅黑"/>
                          <a:cs typeface="微软雅黑"/>
                        </a:rPr>
                        <a:t>评价重点</a:t>
                      </a:r>
                    </a:p>
                  </a:txBody>
                  <a:tcPr marL="91440" marR="91440" marT="45720" marB="45720" anchor="ctr">
                    <a:solidFill>
                      <a:srgbClr val="EDF5FB"/>
                    </a:solidFill>
                  </a:tcPr>
                </a:tc>
              </a:tr>
              <a:tr h="269081">
                <a:tc>
                  <a:txBody>
                    <a:bodyPr lIns="85725" tIns="47625" rIns="76200" bIns="47625">
                      <a:normAutofit/>
                    </a:bodyPr>
                    <a:lstStyle/>
                    <a:p>
                      <a:pPr algn="l"/>
                      <a:r>
                        <a:rPr sz="1320" b="0">
                          <a:solidFill>
                            <a:srgbClr val="17243A"/>
                          </a:solidFill>
                          <a:latin typeface="微软雅黑"/>
                          <a:ea typeface="微软雅黑"/>
                          <a:cs typeface="微软雅黑"/>
                        </a:rPr>
                        <a:t>模态缺失</a:t>
                      </a:r>
                    </a:p>
                  </a:txBody>
                  <a:tcPr marL="91440" marR="91440" marT="45720" marB="45720" anchor="ctr">
                    <a:solidFill>
                      <a:srgbClr val="FEFEFE"/>
                    </a:solidFill>
                  </a:tcPr>
                </a:tc>
                <a:tc>
                  <a:txBody>
                    <a:bodyPr lIns="85725" tIns="47625" rIns="76200" bIns="47625">
                      <a:normAutofit/>
                    </a:bodyPr>
                    <a:lstStyle/>
                    <a:p>
                      <a:pPr algn="l"/>
                      <a:r>
                        <a:rPr sz="1320" b="0">
                          <a:solidFill>
                            <a:srgbClr val="17243A"/>
                          </a:solidFill>
                          <a:latin typeface="微软雅黑"/>
                          <a:ea typeface="微软雅黑"/>
                          <a:cs typeface="微软雅黑"/>
                        </a:rPr>
                        <a:t>缺失提示、诊断表现下降</a:t>
                      </a:r>
                    </a:p>
                  </a:txBody>
                  <a:tcPr marL="91440" marR="91440" marT="45720" marB="45720" anchor="ctr">
                    <a:solidFill>
                      <a:srgbClr val="FEFEFE"/>
                    </a:solidFill>
                  </a:tcPr>
                </a:tc>
              </a:tr>
              <a:tr h="269081">
                <a:tc>
                  <a:txBody>
                    <a:bodyPr lIns="85725" tIns="47625" rIns="76200" bIns="47625">
                      <a:normAutofit/>
                    </a:bodyPr>
                    <a:lstStyle/>
                    <a:p>
                      <a:pPr algn="l"/>
                      <a:r>
                        <a:rPr sz="1320" b="0">
                          <a:solidFill>
                            <a:srgbClr val="17243A"/>
                          </a:solidFill>
                          <a:latin typeface="微软雅黑"/>
                          <a:ea typeface="微软雅黑"/>
                          <a:cs typeface="微软雅黑"/>
                        </a:rPr>
                        <a:t>证据冲突</a:t>
                      </a:r>
                    </a:p>
                  </a:txBody>
                  <a:tcPr marL="91440" marR="91440" marT="45720" marB="45720" anchor="ctr">
                    <a:solidFill>
                      <a:srgbClr val="FEFEFE"/>
                    </a:solidFill>
                  </a:tcPr>
                </a:tc>
                <a:tc>
                  <a:txBody>
                    <a:bodyPr lIns="85725" tIns="47625" rIns="76200" bIns="47625">
                      <a:normAutofit/>
                    </a:bodyPr>
                    <a:lstStyle/>
                    <a:p>
                      <a:pPr algn="l"/>
                      <a:r>
                        <a:rPr sz="1320" b="0">
                          <a:solidFill>
                            <a:srgbClr val="17243A"/>
                          </a:solidFill>
                          <a:latin typeface="微软雅黑"/>
                          <a:ea typeface="微软雅黑"/>
                          <a:cs typeface="微软雅黑"/>
                        </a:rPr>
                        <a:t>冲突识别、无依据断言</a:t>
                      </a:r>
                    </a:p>
                  </a:txBody>
                  <a:tcPr marL="91440" marR="91440" marT="45720" marB="45720" anchor="ctr">
                    <a:solidFill>
                      <a:srgbClr val="FEFEFE"/>
                    </a:solidFill>
                  </a:tcPr>
                </a:tc>
              </a:tr>
              <a:tr h="269081">
                <a:tc>
                  <a:txBody>
                    <a:bodyPr lIns="85725" tIns="47625" rIns="76200" bIns="47625">
                      <a:normAutofit/>
                    </a:bodyPr>
                    <a:lstStyle/>
                    <a:p>
                      <a:pPr algn="l"/>
                      <a:r>
                        <a:rPr sz="1320" b="0">
                          <a:solidFill>
                            <a:srgbClr val="17243A"/>
                          </a:solidFill>
                          <a:latin typeface="微软雅黑"/>
                          <a:ea typeface="微软雅黑"/>
                          <a:cs typeface="微软雅黑"/>
                        </a:rPr>
                        <a:t>知识条件变化</a:t>
                      </a:r>
                    </a:p>
                  </a:txBody>
                  <a:tcPr marL="91440" marR="91440" marT="45720" marB="45720" anchor="ctr">
                    <a:solidFill>
                      <a:srgbClr val="FEFEFE"/>
                    </a:solidFill>
                  </a:tcPr>
                </a:tc>
                <a:tc>
                  <a:txBody>
                    <a:bodyPr lIns="85725" tIns="47625" rIns="76200" bIns="47625">
                      <a:normAutofit/>
                    </a:bodyPr>
                    <a:lstStyle/>
                    <a:p>
                      <a:pPr algn="l"/>
                      <a:r>
                        <a:rPr sz="1320" b="0">
                          <a:solidFill>
                            <a:srgbClr val="17243A"/>
                          </a:solidFill>
                          <a:latin typeface="微软雅黑"/>
                          <a:ea typeface="微软雅黑"/>
                          <a:cs typeface="微软雅黑"/>
                        </a:rPr>
                        <a:t>成对病例适用性、引用正确性</a:t>
                      </a:r>
                    </a:p>
                  </a:txBody>
                  <a:tcPr marL="91440" marR="91440" marT="45720" marB="45720" anchor="ctr">
                    <a:solidFill>
                      <a:srgbClr val="FEFEFE"/>
                    </a:solidFill>
                  </a:tcPr>
                </a:tc>
              </a:tr>
            </a:tbl>
          </a:graphicData>
        </a:graphic>
      </p:graphicFrame>
      <p:sp>
        <p:nvSpPr>
          <p:cNvPr id="38" name="text-98">
            <a:extLst>
              <a:ext uri="{FF2B5EF4-FFF2-40B4-BE49-F238E27FC236}">
                <a16:creationId xmlns:a16="http://schemas.microsoft.com/office/drawing/2014/main" id="{453243CF-D0E0-487F-BEA4-F6383C3751F1}"/>
              </a:ext>
            </a:extLst>
          </p:cNvPr>
          <p:cNvSpPr>
            <a:spLocks noGrp="1"/>
          </p:cNvSpPr>
          <p:nvPr/>
        </p:nvSpPr>
        <p:spPr>
          <a:xfrm>
            <a:off x="6372225" y="5819775"/>
            <a:ext cx="5381625" cy="200025"/>
          </a:xfrm>
          <a:prstGeom prst="rect">
            <a:avLst/>
          </a:prstGeom>
          <a:noFill/>
          <a:ln w="0">
            <a:noFill/>
          </a:ln>
        </p:spPr>
        <p:txBody>
          <a:bodyPr wrap="square" lIns="0" tIns="0" rIns="0" bIns="0" anchor="ctr">
            <a:normAutofit fontScale="100000"/>
          </a:bodyPr>
          <a:lstStyle/>
          <a:p>
            <a:pPr algn="l">
              <a:defRPr sz="1230" b="0">
                <a:solidFill>
                  <a:srgbClr val="526982"/>
                </a:solidFill>
                <a:latin typeface="微软雅黑"/>
                <a:ea typeface="微软雅黑"/>
                <a:cs typeface="微软雅黑"/>
              </a:defRPr>
            </a:pPr>
            <a:r>
              <a:rPr sz="1230" b="0">
                <a:solidFill>
                  <a:srgbClr val="526982"/>
                </a:solidFill>
                <a:latin typeface="微软雅黑"/>
                <a:ea typeface="微软雅黑"/>
                <a:cs typeface="微软雅黑"/>
              </a:rPr>
              <a:t>固定协作框架；解释实验固定候选诊断</a:t>
            </a:r>
          </a:p>
        </p:txBody>
      </p:sp>
      <p:sp>
        <p:nvSpPr>
          <p:cNvPr id="39" name="text-99">
            <a:extLst>
              <a:ext uri="{FF2B5EF4-FFF2-40B4-BE49-F238E27FC236}">
                <a16:creationId xmlns:a16="http://schemas.microsoft.com/office/drawing/2014/main" id="{113941B3-6528-4532-9C9C-56E1C7A6AA26}"/>
              </a:ext>
            </a:extLst>
          </p:cNvPr>
          <p:cNvSpPr>
            <a:spLocks noGrp="1"/>
          </p:cNvSpPr>
          <p:nvPr/>
        </p:nvSpPr>
        <p:spPr>
          <a:xfrm>
            <a:off x="276225" y="6172200"/>
            <a:ext cx="8905875" cy="228600"/>
          </a:xfrm>
          <a:prstGeom prst="rect">
            <a:avLst/>
          </a:prstGeom>
          <a:noFill/>
          <a:ln w="0">
            <a:noFill/>
          </a:ln>
        </p:spPr>
        <p:txBody>
          <a:bodyPr wrap="square" lIns="0" tIns="0" rIns="0" bIns="0" anchor="ctr">
            <a:normAutofit fontScale="100000"/>
          </a:bodyPr>
          <a:lstStyle/>
          <a:p>
            <a:pPr algn="l">
              <a:defRPr sz="1163" b="0">
                <a:solidFill>
                  <a:srgbClr val="526982"/>
                </a:solidFill>
                <a:latin typeface="微软雅黑"/>
                <a:ea typeface="微软雅黑"/>
                <a:cs typeface="微软雅黑"/>
              </a:defRPr>
            </a:pPr>
            <a:r>
              <a:rPr sz="1163" b="0">
                <a:solidFill>
                  <a:srgbClr val="526982"/>
                </a:solidFill>
                <a:latin typeface="微软雅黑"/>
                <a:ea typeface="微软雅黑"/>
                <a:cs typeface="微软雅黑"/>
              </a:rPr>
              <a:t>同一病例、底层 LLM、知识语料、报告结构及可比预算。缺失模态区分自然缺失与人为遮蔽。</a:t>
            </a:r>
          </a:p>
        </p:txBody>
      </p:sp>
    </p:spTree>
    <p:custDataLst>
      <p:tags r:id="rId10"/>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PLACING_PICTURE_USER_VIEWPORT" val="{&quot;height&quot;:4235,&quot;width&quot;:12100}"/>
</p:tagLst>
</file>

<file path=ppt/tags/tag2.xml><?xml version="1.0" encoding="utf-8"?>
<p:tagLst xmlns:p="http://schemas.openxmlformats.org/presentationml/2006/main">
  <p:tag name="KSO_WM_DIAGRAM_VIRTUALLY_FRAME" val="{&quot;height&quot;:122.75,&quot;left&quot;:-1.15,&quot;top&quot;:345.8,&quot;width&quot;:801.75}"/>
</p:tagLst>
</file>

<file path=ppt/tags/tag3.xml><?xml version="1.0" encoding="utf-8"?>
<p:tagLst xmlns:p="http://schemas.openxmlformats.org/presentationml/2006/main">
  <p:tag name="KSO_WM_DIAGRAM_VIRTUALLY_FRAME" val="{&quot;height&quot;:122.75,&quot;left&quot;:-1.15,&quot;top&quot;:345.8,&quot;width&quot;:801.75}"/>
</p:tagLst>
</file>

<file path=ppt/tags/tag4.xml><?xml version="1.0" encoding="utf-8"?>
<p:tagLst xmlns:p="http://schemas.openxmlformats.org/presentationml/2006/main">
  <p:tag name="KSO_WM_UNIT_PLACING_PICTURE_USER_VIEWPORT" val="{&quot;height&quot;:4235,&quot;width&quot;:12100}"/>
</p:tagLst>
</file>

<file path=ppt/tags/tag5.xml><?xml version="1.0" encoding="utf-8"?>
<p:tagLst xmlns:p="http://schemas.openxmlformats.org/presentationml/2006/main">
  <p:tag name="KSO_WM_DIAGRAM_VIRTUALLY_FRAME" val="{&quot;height&quot;:122.75,&quot;left&quot;:-1.15,&quot;top&quot;:345.8,&quot;width&quot;:801.75}"/>
</p:tagLst>
</file>

<file path=ppt/tags/tag6.xml><?xml version="1.0" encoding="utf-8"?>
<p:tagLst xmlns:p="http://schemas.openxmlformats.org/presentationml/2006/main">
  <p:tag name="KSO_WM_DIAGRAM_VIRTUALLY_FRAME" val="{&quot;height&quot;:122.75,&quot;left&quot;:-1.15,&quot;top&quot;:345.8,&quot;width&quot;:801.75}"/>
</p:tagLst>
</file>

<file path=ppt/tags/tag7.xml><?xml version="1.0" encoding="utf-8"?>
<p:tagLst xmlns:p="http://schemas.openxmlformats.org/presentationml/2006/main">
  <p:tag name="PICID" val="{a791dc5b-7db8-45a7-ab7d-d2e36ea33ee8}"/>
</p:tagLst>
</file>

<file path=ppt/tags/tag8.xml><?xml version="1.0" encoding="utf-8"?>
<p:tagLst xmlns:p="http://schemas.openxmlformats.org/presentationml/2006/main">
  <p:tag name="KSO_WM_UNIT_PLACING_PICTURE_USER_VIEWPORT" val="{&quot;height&quot;:4235,&quot;width&quot;:12100}"/>
</p:tagLst>
</file>

<file path=ppt/tags/tag9.xml><?xml version="1.0" encoding="utf-8"?>
<p:tagLst xmlns:p="http://schemas.openxmlformats.org/presentationml/2006/main">
  <p:tag name="PICID" val="{a791dc5b-7db8-45a7-ab7d-d2e36ea33ee8}"/>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UNIT_PLACING_PICTURE_USER_VIEWPORT" val="{&quot;height&quot;:4235,&quot;width&quot;:12100}"/>
</p:tagLst>
</file>

<file path=ppt/tags/tag12.xml><?xml version="1.0" encoding="utf-8"?>
<p:tagLst xmlns:p="http://schemas.openxmlformats.org/presentationml/2006/main">
  <p:tag name="PICID" val="{a791dc5b-7db8-45a7-ab7d-d2e36ea33ee8}"/>
</p:tagLst>
</file>

<file path=ppt/tags/tag13.xml><?xml version="1.0" encoding="utf-8"?>
<p:tagLst xmlns:p="http://schemas.openxmlformats.org/presentationml/2006/main">
  <p:tag name="KSO_WM_UNIT_PLACING_PICTURE_USER_VIEWPORT" val="{&quot;height&quot;:4235,&quot;width&quot;:12100}"/>
</p:tagLst>
</file>

<file path=ppt/tags/tag14.xml><?xml version="1.0" encoding="utf-8"?>
<p:tagLst xmlns:p="http://schemas.openxmlformats.org/presentationml/2006/main">
  <p:tag name="PICID" val="{a791dc5b-7db8-45a7-ab7d-d2e36ea33ee8}"/>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UNIT_PLACING_PICTURE_USER_VIEWPORT" val="{&quot;height&quot;:4235,&quot;width&quot;:12100}"/>
</p:tagLst>
</file>

<file path=ppt/tags/tag17.xml><?xml version="1.0" encoding="utf-8"?>
<p:tagLst xmlns:p="http://schemas.openxmlformats.org/presentationml/2006/main">
  <p:tag name="PICID" val="{a791dc5b-7db8-45a7-ab7d-d2e36ea33ee8}"/>
</p:tagLst>
</file>

<file path=ppt/tags/tag18.xml><?xml version="1.0" encoding="utf-8"?>
<p:tagLst xmlns:p="http://schemas.openxmlformats.org/presentationml/2006/main">
  <p:tag name="KSO_WM_UNIT_PLACING_PICTURE_USER_VIEWPORT" val="{&quot;height&quot;:4235,&quot;width&quot;:12100}"/>
</p:tagLst>
</file>

<file path=ppt/tags/tag19.xml><?xml version="1.0" encoding="utf-8"?>
<p:tagLst xmlns:p="http://schemas.openxmlformats.org/presentationml/2006/main">
  <p:tag name="PICID" val="{a791dc5b-7db8-45a7-ab7d-d2e36ea33ee8}"/>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UNIT_PLACING_PICTURE_USER_VIEWPORT" val="{&quot;height&quot;:4235,&quot;width&quot;:12100}"/>
</p:tagLst>
</file>

<file path=ppt/tags/tag22.xml><?xml version="1.0" encoding="utf-8"?>
<p:tagLst xmlns:p="http://schemas.openxmlformats.org/presentationml/2006/main">
  <p:tag name="PICID" val="{a791dc5b-7db8-45a7-ab7d-d2e36ea33ee8}"/>
</p:tagLst>
</file>

<file path=ppt/tags/tag23.xml><?xml version="1.0" encoding="utf-8"?>
<p:tagLst xmlns:p="http://schemas.openxmlformats.org/presentationml/2006/main">
  <p:tag name="KSO_WM_UNIT_PLACING_PICTURE_USER_VIEWPORT" val="{&quot;height&quot;:4235,&quot;width&quot;:12100}"/>
</p:tagLst>
</file>

<file path=ppt/tags/tag24.xml><?xml version="1.0" encoding="utf-8"?>
<p:tagLst xmlns:p="http://schemas.openxmlformats.org/presentationml/2006/main">
  <p:tag name="PICID" val="{a791dc5b-7db8-45a7-ab7d-d2e36ea33ee8}"/>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UNIT_PLACING_PICTURE_USER_VIEWPORT" val="{&quot;height&quot;:4235,&quot;width&quot;:12100}"/>
</p:tagLst>
</file>

<file path=ppt/tags/tag27.xml><?xml version="1.0" encoding="utf-8"?>
<p:tagLst xmlns:p="http://schemas.openxmlformats.org/presentationml/2006/main">
  <p:tag name="KSO_WM_UNIT_PLACING_PICTURE_USER_VIEWPORT" val="{&quot;height&quot;:4235,&quot;width&quot;:12100}"/>
</p:tagLst>
</file>

<file path=ppt/tags/tag28.xml><?xml version="1.0" encoding="utf-8"?>
<p:tagLst xmlns:p="http://schemas.openxmlformats.org/presentationml/2006/main">
  <p:tag name="PICID" val="{a791dc5b-7db8-45a7-ab7d-d2e36ea33ee8}"/>
</p:tagLst>
</file>

<file path=ppt/tags/tag29.xml><?xml version="1.0" encoding="utf-8"?>
<p:tagLst xmlns:p="http://schemas.openxmlformats.org/presentationml/2006/main">
  <p:tag name="KSO_WM_UNIT_PLACING_PICTURE_USER_VIEWPORT" val="{&quot;height&quot;:4235,&quot;width&quot;:12100}"/>
</p:tagLst>
</file>

<file path=ppt/tags/tag30.xml><?xml version="1.0" encoding="utf-8"?>
<p:tagLst xmlns:p="http://schemas.openxmlformats.org/presentationml/2006/main">
  <p:tag name="PICID" val="{a791dc5b-7db8-45a7-ab7d-d2e36ea33ee8}"/>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UNIT_PLACING_PICTURE_USER_VIEWPORT" val="{&quot;height&quot;:4235,&quot;width&quot;:12100}"/>
</p:tagLst>
</file>

<file path=ppt/tags/tag33.xml><?xml version="1.0" encoding="utf-8"?>
<p:tagLst xmlns:p="http://schemas.openxmlformats.org/presentationml/2006/main">
  <p:tag name="KSO_WM_UNIT_PLACING_PICTURE_USER_VIEWPORT" val="{&quot;height&quot;:4235,&quot;width&quot;:12100}"/>
</p:tagLst>
</file>

<file path=ppt/tags/tag34.xml><?xml version="1.0" encoding="utf-8"?>
<p:tagLst xmlns:p="http://schemas.openxmlformats.org/presentationml/2006/main">
  <p:tag name="KSO_WM_UNIT_PLACING_PICTURE_USER_VIEWPORT" val="{&quot;height&quot;:4235,&quot;width&quot;:12100}"/>
</p:tagLst>
</file>

<file path=ppt/tags/tag35.xml><?xml version="1.0" encoding="utf-8"?>
<p:tagLst xmlns:p="http://schemas.openxmlformats.org/presentationml/2006/main">
  <p:tag name="PICID" val="{a791dc5b-7db8-45a7-ab7d-d2e36ea33ee8}"/>
</p:tagLst>
</file>

<file path=ppt/tags/tag36.xml><?xml version="1.0" encoding="utf-8"?>
<p:tagLst xmlns:p="http://schemas.openxmlformats.org/presentationml/2006/main">
  <p:tag name="PICID" val="{a791dc5b-7db8-45a7-ab7d-d2e36ea33ee8}"/>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UNIT_PLACING_PICTURE_USER_VIEWPORT" val="{&quot;height&quot;:4235,&quot;width&quot;:12100}"/>
</p:tagLst>
</file>

<file path=ppt/tags/tag39.xml><?xml version="1.0" encoding="utf-8"?>
<p:tagLst xmlns:p="http://schemas.openxmlformats.org/presentationml/2006/main">
  <p:tag name="KSO_WM_UNIT_PLACING_PICTURE_USER_VIEWPORT" val="{&quot;height&quot;:4235,&quot;width&quot;:12100}"/>
</p:tagLst>
</file>

<file path=ppt/tags/tag40.xml><?xml version="1.0" encoding="utf-8"?>
<p:tagLst xmlns:p="http://schemas.openxmlformats.org/presentationml/2006/main">
  <p:tag name="KSO_WM_UNIT_PLACING_PICTURE_USER_VIEWPORT" val="{&quot;height&quot;:4235,&quot;width&quot;:12100}"/>
</p:tagLst>
</file>

<file path=ppt/tags/tag41.xml><?xml version="1.0" encoding="utf-8"?>
<p:tagLst xmlns:p="http://schemas.openxmlformats.org/presentationml/2006/main">
  <p:tag name="PICID" val="{a791dc5b-7db8-45a7-ab7d-d2e36ea33ee8}"/>
</p:tagLst>
</file>

<file path=ppt/tags/tag42.xml><?xml version="1.0" encoding="utf-8"?>
<p:tagLst xmlns:p="http://schemas.openxmlformats.org/presentationml/2006/main">
  <p:tag name="PICID" val="{a791dc5b-7db8-45a7-ab7d-d2e36ea33ee8}"/>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UNIT_PLACING_PICTURE_USER_VIEWPORT" val="{&quot;height&quot;:4235,&quot;width&quot;:12100}"/>
</p:tagLst>
</file>

<file path=ppt/tags/tag4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0&quot;:[21602029],&quot;65&quot;:[20205081]}"/>
</p:tagLst>
</file>

<file path=ppt/tags/tag4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0&quot;:[21602029],&quot;65&quot;:[20205081]}"/>
</p:tagLst>
</file>

<file path=ppt/tags/tag4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0&quot;:[21602029],&quot;65&quot;:[20205081]}"/>
</p:tagLst>
</file>

<file path=ppt/tags/tag48.xml><?xml version="1.0" encoding="utf-8"?>
<p:tagLst xmlns:p="http://schemas.openxmlformats.org/presentationml/2006/main">
  <p:tag name="KSO_WM_UNIT_PLACING_PICTURE_USER_VIEWPORT" val="{&quot;height&quot;:4235,&quot;width&quot;:12100}"/>
</p:tagLst>
</file>

<file path=ppt/tags/tag49.xml><?xml version="1.0" encoding="utf-8"?>
<p:tagLst xmlns:p="http://schemas.openxmlformats.org/presentationml/2006/main">
  <p:tag name="KSO_WM_UNIT_PLACING_PICTURE_USER_VIEWPORT" val="{&quot;height&quot;:4235,&quot;width&quot;:12100}"/>
</p:tagLst>
</file>

<file path=ppt/tags/tag50.xml><?xml version="1.0" encoding="utf-8"?>
<p:tagLst xmlns:p="http://schemas.openxmlformats.org/presentationml/2006/main">
  <p:tag name="COMMONDATA" val="eyJoZGlkIjoiYWE4NTNmMDNmNTQyNTFjYmVjMGMwZTEzNjM2MWM4MjAifQ=="/>
  <p:tag name="RESOURCE_RECORD_KEY" val="{&quot;10&quot;:[17426551,20192695,17426558,20117132,17426564,21568122,21602029,4521272,21589047,3471017,3645291],&quot;13&quot;:[4364974],&quot;65&quot;:[2020508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3751</Words>
  <Application>WPS 演示</Application>
  <PresentationFormat>宽屏</PresentationFormat>
  <Paragraphs>684</Paragraphs>
  <Slides>12</Slides>
  <Notes>3</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11</vt:i4>
      </vt:variant>
    </vt:vector>
  </HeadingPairs>
  <TitlesOfParts>
    <vt:vector size="32" baseType="lpstr">
      <vt:lpstr>Arial</vt:lpstr>
      <vt:lpstr>宋体</vt:lpstr>
      <vt:lpstr>Wingdings</vt:lpstr>
      <vt:lpstr>微软雅黑</vt:lpstr>
      <vt:lpstr>等线</vt:lpstr>
      <vt:lpstr>Arial Unicode MS</vt:lpstr>
      <vt:lpstr>等线 Light</vt:lpstr>
      <vt:lpstr>Calibri</vt:lpstr>
      <vt:lpstr>华文中宋</vt:lpstr>
      <vt:lpstr>华文中宋</vt:lpstr>
      <vt:lpstr>华文中宋</vt:lpstr>
      <vt:lpstr>黑体</vt:lpstr>
      <vt:lpstr>黑体</vt:lpstr>
      <vt:lpstr>Times New Roman</vt:lpstr>
      <vt:lpstr>Times New Roman</vt:lpstr>
      <vt:lpstr>Times New Roman</vt:lpstr>
      <vt:lpstr>微软雅黑</vt:lpstr>
      <vt:lpstr>宋体</vt:lpstr>
      <vt:lpstr>Arial</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鲁杰 张</dc:creator>
  <cp:lastModifiedBy>吴鹏昊</cp:lastModifiedBy>
  <cp:revision>427</cp:revision>
  <dcterms:created xsi:type="dcterms:W3CDTF">2024-10-16T06:04:00Z</dcterms:created>
  <dcterms:modified xsi:type="dcterms:W3CDTF">2026-10-09T09:28:55Z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DAB892520CB04161B04A65F23E79FCB1_13</vt:lpwstr>
  </property>
  <property fmtid="{D5CDD505-2E9C-101B-9397-08002B2CF9AE}" pid="3" name="KSOProductBuildVer">
    <vt:lpwstr>2052-12.1.0.28488</vt:lpwstr>
  </property>
</Properties>
</file>
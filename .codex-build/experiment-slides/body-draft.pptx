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18f3112d334833" /><Relationship Type="http://schemas.openxmlformats.org/officeDocument/2006/relationships/extended-properties" Target="/docProps/app.xml" Id="R65e1b9dccc8b48e2" /><Relationship Type="http://schemas.openxmlformats.org/officeDocument/2006/relationships/officeDocument" Target="/ppt/presentation.xml" Id="Re587bcf4c1334c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80db2f7a674abf"/>
  </p:sldMasterIdLst>
  <p:notesMasterIdLst>
    <p:notesMasterId xmlns:r="http://schemas.openxmlformats.org/officeDocument/2006/relationships" r:id="Rc8d23f38b9494296"/>
  </p:notesMasterIdLst>
  <p:sldIdLst>
    <p:sldId xmlns:r="http://schemas.openxmlformats.org/officeDocument/2006/relationships" id="256" r:id="R71b39536cbd94fca"/>
    <p:sldId xmlns:r="http://schemas.openxmlformats.org/officeDocument/2006/relationships" id="257" r:id="R8adcd8b8522a42fc"/>
    <p:sldId xmlns:r="http://schemas.openxmlformats.org/officeDocument/2006/relationships" id="258" r:id="R685ad10a26bc43ce"/>
    <p:sldId xmlns:r="http://schemas.openxmlformats.org/officeDocument/2006/relationships" id="259" r:id="Red288803182446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51d407c25145d9" /><Relationship Type="http://schemas.openxmlformats.org/officeDocument/2006/relationships/slideMaster" Target="/ppt/slideMasters/slideMaster1.xml" Id="R3280db2f7a674abf" /><Relationship Type="http://schemas.openxmlformats.org/officeDocument/2006/relationships/notesMaster" Target="/ppt/notesMasters/notesMaster1.xml" Id="Rc8d23f38b9494296" /><Relationship Type="http://schemas.openxmlformats.org/officeDocument/2006/relationships/presProps" Target="/ppt/presProps.xml" Id="Rb77caac57abc40d6" /><Relationship Type="http://schemas.openxmlformats.org/officeDocument/2006/relationships/tableStyles" Target="/ppt/tableStyles.xml" Id="R12e5d9bee2d54d4d" /><Relationship Type="http://schemas.openxmlformats.org/officeDocument/2006/relationships/slide" Target="/ppt/slides/slide1.xml" Id="R71b39536cbd94fca" /><Relationship Type="http://schemas.openxmlformats.org/officeDocument/2006/relationships/slide" Target="/ppt/slides/slide2.xml" Id="R8adcd8b8522a42fc" /><Relationship Type="http://schemas.openxmlformats.org/officeDocument/2006/relationships/slide" Target="/ppt/slides/slide3.xml" Id="R685ad10a26bc43ce" /><Relationship Type="http://schemas.openxmlformats.org/officeDocument/2006/relationships/slide" Target="/ppt/slides/slide4.xml" Id="Red288803182446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c166193da640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aa2105f1d740d8" /><Relationship Type="http://schemas.openxmlformats.org/officeDocument/2006/relationships/notesMaster" Target="/ppt/notesMasters/notesMaster1.xml" Id="R6e33f41bcc8b4a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0175306f0147b9" /><Relationship Type="http://schemas.openxmlformats.org/officeDocument/2006/relationships/notesMaster" Target="/ppt/notesMasters/notesMaster1.xml" Id="Re7de9bebf76240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13ccc8210b48ea" /><Relationship Type="http://schemas.openxmlformats.org/officeDocument/2006/relationships/notesMaster" Target="/ppt/notesMasters/notesMaster1.xml" Id="Rc9a4432ff39e41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1c42ad11294a21" /><Relationship Type="http://schemas.openxmlformats.org/officeDocument/2006/relationships/notesMaster" Target="/ppt/notesMasters/notesMaster1.xml" Id="Rda40c9e8be3c4e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内容来源：用户提供的实验设计文本。全部样本规模均为规划数量，尚未表示采集、标注或实验已完成。</a:t>
            </a:r>
          </a:p>
          <a:p xmlns:a="http://schemas.openxmlformats.org/drawingml/2006/main">
            <a:r>
              <a:t>ADNI 的临床标签不能等同于独立病理确诊。病例证据集需标注知识的适用性与必要性。报告金标准来自病例子集。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内容来源：用户提供的实验设计文本。全部样本规模均为规划数量，尚未表示采集、标注或实验已完成。</a:t>
            </a:r>
          </a:p>
          <a:p xmlns:a="http://schemas.openxmlformats.org/drawingml/2006/main">
            <a:r>
              <a:t>B2 与 B3 使用充分设计的提示词。实验二的知识适用性分为适用、不适用、条件未知。知识缺口与患者数据缺口分别评价，文献检索不能补出患者尚未开展的检查结果。Dense RAG 与 Hybrid RAG 为两个独立对照组，表中合并一行仅为排版。固定条件化图谱时，比较普通检索、Agentic RAG 与算法二。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内容来源：用户提供的实验设计文本。全部样本规模均为规划数量，尚未表示采集、标注或实验已完成。</a:t>
            </a:r>
          </a:p>
          <a:p xmlns:a="http://schemas.openxmlformats.org/drawingml/2006/main">
            <a:r>
              <a:t>不设置唯一标准报告，也不将指标强行加权为总分。专家参考答案还包含可接受诊断结论及证据不足的判断。条件允许时双专家独立标注并仲裁。验证自动评分的 Precision、Recall、F1 及专家一致性，达到预设标准后再用于剩余报告。专家不知报告所属方法。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内容来源：用户提供的实验设计文本。全部样本规模均为规划数量，尚未表示采集、标注或实验已完成。</a:t>
            </a:r>
          </a:p>
          <a:p xmlns:a="http://schemas.openxmlformats.org/drawingml/2006/main">
            <a:r>
              <a:t>主任务为 CN/MCI/AD 三类临床状态判断。只有获得有意义的类别概率时才增加 AUROC、Brier Score 或校准误差，不把自然语言概率直接当作校准概率。四个消融组保留多智能体分析框架。固定候选诊断的解释实验排除诊断类别差异的干扰。鲁棒性中的条件变化采用满足与不满足条件的成对病例。所有内容是实验设计，不呈现虚构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1758e276f48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da713c077b440a" /><Relationship Type="http://schemas.openxmlformats.org/officeDocument/2006/relationships/slideLayout" Target="/ppt/slideLayouts/slideLayout1.xml" Id="R30d0e409ae1246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d0e409ae12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a4beb7ffc463e" /><Relationship Type="http://schemas.openxmlformats.org/officeDocument/2006/relationships/notesSlide" Target="/ppt/notesSlides/notesSlide1.xml" Id="Rb234a58f54a045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79da2d6f14edf" /><Relationship Type="http://schemas.openxmlformats.org/officeDocument/2006/relationships/notesSlide" Target="/ppt/notesSlides/notesSlide2.xml" Id="Rf071f9e0b2a740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7382ec11d49a4" /><Relationship Type="http://schemas.openxmlformats.org/officeDocument/2006/relationships/notesSlide" Target="/ppt/notesSlides/notesSlide3.xml" Id="Rfb2e3a665f6c49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ec3a7cf3f49ce" /><Relationship Type="http://schemas.openxmlformats.org/officeDocument/2006/relationships/notesSlide" Target="/ppt/notesSlides/notesSlide4.xml" Id="R024f975896334a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ext-1">
            <a:extLst xmlns:a="http://schemas.openxmlformats.org/drawingml/2006/main">
              <a:ext uri="{FF2B5EF4-FFF2-40B4-BE49-F238E27FC236}">
                <a16:creationId xmlns:a16="http://schemas.microsoft.com/office/drawing/2014/main" id="{E5B428A8-2158-453E-AC24-6B04BA8A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89535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实验数据与总体实验</a:t>
            </a:r>
          </a:p>
        </p:txBody>
      </p:sp>
      <p:sp>
        <p:nvSpPr>
          <p:cNvPr id="2" name="surface-2">
            <a:extLst xmlns:a="http://schemas.openxmlformats.org/drawingml/2006/main">
              <a:ext uri="{FF2B5EF4-FFF2-40B4-BE49-F238E27FC236}">
                <a16:creationId xmlns:a16="http://schemas.microsoft.com/office/drawing/2014/main" id="{D50385BE-8AE0-475A-97A4-6B9DC802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28750"/>
            <a:ext cx="5476875" cy="4591050"/>
          </a:xfrm>
          <a:prstGeom xmlns:a="http://schemas.openxmlformats.org/drawingml/2006/main" prst="roundRect">
            <a:avLst>
              <a:gd name="adj" fmla="val 2075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3" name="surface-3">
            <a:extLst xmlns:a="http://schemas.openxmlformats.org/drawingml/2006/main">
              <a:ext uri="{FF2B5EF4-FFF2-40B4-BE49-F238E27FC236}">
                <a16:creationId xmlns:a16="http://schemas.microsoft.com/office/drawing/2014/main" id="{63279C0B-8DCB-40F5-B680-A3710F58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38275"/>
            <a:ext cx="54578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2383">
            <a:solidFill>
              <a:srgbClr val="EDF5FB"/>
            </a:solidFill>
          </a:ln>
        </p:spPr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CC9FBD0-EC0F-4B0E-8AB2-CF82E763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954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86E0F38-7BC8-4213-9EFB-DF0B371F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495425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实验数据与标注</a:t>
            </a:r>
          </a:p>
        </p:txBody>
      </p:sp>
      <p:sp>
        <p:nvSpPr>
          <p:cNvPr id="6" name="surface-6">
            <a:extLst xmlns:a="http://schemas.openxmlformats.org/drawingml/2006/main">
              <a:ext uri="{FF2B5EF4-FFF2-40B4-BE49-F238E27FC236}">
                <a16:creationId xmlns:a16="http://schemas.microsoft.com/office/drawing/2014/main" id="{BE746332-A7D7-4D2F-A127-D403604C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428750"/>
            <a:ext cx="6086475" cy="4591050"/>
          </a:xfrm>
          <a:prstGeom xmlns:a="http://schemas.openxmlformats.org/drawingml/2006/main" prst="roundRect">
            <a:avLst>
              <a:gd name="adj" fmla="val 2075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7" name="surface-7">
            <a:extLst xmlns:a="http://schemas.openxmlformats.org/drawingml/2006/main">
              <a:ext uri="{FF2B5EF4-FFF2-40B4-BE49-F238E27FC236}">
                <a16:creationId xmlns:a16="http://schemas.microsoft.com/office/drawing/2014/main" id="{9A8C6E15-1510-4F68-BF31-1FC0E96D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38275"/>
            <a:ext cx="60674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2383">
            <a:solidFill>
              <a:srgbClr val="EDF5FB"/>
            </a:solidFill>
          </a:ln>
        </p:spPr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974D78AE-DB0F-49D3-A903-FD73462C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954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F592169-78B0-4EB3-BDDE-D02D2FE3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954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总体实验框架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9466551-6291-4B29-89A8-2060A86E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00250"/>
            <a:ext cx="508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73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73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AD/MCI 辅助诊断，主任务为 CN / MCI / AD 三分类</a:t>
            </a:r>
          </a:p>
        </p:txBody>
      </p:sp>
      <p:graphicFrame>
        <p:nvGraphicFramePr>
          <p:cNvPr id="49" name=""/>
          <p:cNvGraphicFramePr/>
          <p:nvPr/>
        </p:nvGraphicFramePr>
        <p:xfrm>
          <a:off xmlns:a="http://schemas.openxmlformats.org/drawingml/2006/main" x="400050" y="2371725"/>
          <a:ext xmlns:a="http://schemas.openxmlformats.org/drawingml/2006/main" cx="5124450" cy="2171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04900"/>
                <a:gridCol w="2743200"/>
                <a:gridCol w="1276350"/>
              </a:tblGrid>
              <a:tr h="542925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数据集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来源与计划规模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评价用途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542925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患者病例集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ADNI</a:t>
                      </a:r>
                    </a:p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200–300 名独立患者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诊断、报告</a:t>
                      </a:r>
                    </a:p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鲁棒性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542925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医学知识集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公开指南与研究文献</a:t>
                      </a:r>
                    </a:p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50–100 份，200–400 条声明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条件化知识</a:t>
                      </a:r>
                    </a:p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构建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542925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病例—证据</a:t>
                      </a:r>
                    </a:p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问题集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ADNI 病例与知识语料</a:t>
                      </a:r>
                    </a:p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100–150 个病例问题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检索、补查</a:t>
                      </a:r>
                    </a:p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证据评价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21F72F5-09E5-4096-BC40-91097755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95825"/>
            <a:ext cx="504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报告金标准：计划选取 60–100 个病例子集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4BB4ADF-8782-47B5-B1F5-90EF8355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95875"/>
            <a:ext cx="50673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按患者 ID 划分，同一患者访视不跨集合</a:t>
            </a:r>
          </a:p>
          <a:p xmlns:a="http://schemas.openxmlformats.org/drawingml/2006/main">
            <a:pPr algn="l">
              <a:defRPr sz="142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仅使用当前及既往记录，固定知识语料版本</a:t>
            </a:r>
          </a:p>
        </p:txBody>
      </p:sp>
      <p:sp>
        <p:nvSpPr>
          <p:cNvPr id="14" name="surface-13">
            <a:extLst xmlns:a="http://schemas.openxmlformats.org/drawingml/2006/main">
              <a:ext uri="{FF2B5EF4-FFF2-40B4-BE49-F238E27FC236}">
                <a16:creationId xmlns:a16="http://schemas.microsoft.com/office/drawing/2014/main" id="{FC8F4221-6790-4A43-A944-F08B47A6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9775"/>
            <a:ext cx="542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3F7907F5-BA04-43AF-B8CC-00C28A1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050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患者病例数据 + 医学知识文档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2C6301E5-A3AF-465A-B1F5-D8DDD1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19350"/>
            <a:ext cx="523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surface-16">
            <a:extLst xmlns:a="http://schemas.openxmlformats.org/drawingml/2006/main">
              <a:ext uri="{FF2B5EF4-FFF2-40B4-BE49-F238E27FC236}">
                <a16:creationId xmlns:a16="http://schemas.microsoft.com/office/drawing/2014/main" id="{20F50F2E-423F-4222-B697-5130969E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1465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1B3BAE5E-57AA-43D0-9D3A-B922AAA4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09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实验一：知识构建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1001BC50-74AC-4383-99EC-F8C59758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24225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条件及来源是否完整</a:t>
            </a:r>
          </a:p>
        </p:txBody>
      </p:sp>
      <p:sp>
        <p:nvSpPr>
          <p:cNvPr id="20" name="surface-19">
            <a:extLst xmlns:a="http://schemas.openxmlformats.org/drawingml/2006/main">
              <a:ext uri="{FF2B5EF4-FFF2-40B4-BE49-F238E27FC236}">
                <a16:creationId xmlns:a16="http://schemas.microsoft.com/office/drawing/2014/main" id="{551EB3B5-7DCB-4315-8AF3-CE6344A3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91465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FDE06985-45FD-4E2B-8B5E-3387DA3B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09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实验二：检索与补查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40B13952-6909-4ECC-9131-662A455B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324225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证据是否适用、缺口是否补齐</a:t>
            </a:r>
          </a:p>
        </p:txBody>
      </p:sp>
      <p:sp>
        <p:nvSpPr>
          <p:cNvPr id="23" name="surface-22">
            <a:extLst xmlns:a="http://schemas.openxmlformats.org/drawingml/2006/main">
              <a:ext uri="{FF2B5EF4-FFF2-40B4-BE49-F238E27FC236}">
                <a16:creationId xmlns:a16="http://schemas.microsoft.com/office/drawing/2014/main" id="{0C09B679-7110-4290-A42A-37CDBA08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029075"/>
            <a:ext cx="542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2383">
            <a:solidFill>
              <a:srgbClr val="02549D"/>
            </a:solidFill>
          </a:ln>
        </p:spPr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74C8C032-E58D-43E2-8691-685DF82B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124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实验三：可解释诊断报告质量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DE57D095-D00F-4B08-A310-966E7B46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38650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声明支持、必要证据覆盖、临床错误</a:t>
            </a:r>
          </a:p>
        </p:txBody>
      </p:sp>
      <p:sp>
        <p:nvSpPr>
          <p:cNvPr id="26" name="surface-25">
            <a:extLst xmlns:a="http://schemas.openxmlformats.org/drawingml/2006/main">
              <a:ext uri="{FF2B5EF4-FFF2-40B4-BE49-F238E27FC236}">
                <a16:creationId xmlns:a16="http://schemas.microsoft.com/office/drawing/2014/main" id="{038041AB-E908-4FBA-AE37-EB95E08E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143500"/>
            <a:ext cx="257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4D74903D-699A-4E2C-B325-AE8CFE12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238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实验四：诊断性能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5CA81C0C-72DC-4026-903B-4FC3E856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5530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患者级临床状态判断</a:t>
            </a:r>
          </a:p>
        </p:txBody>
      </p:sp>
      <p:sp>
        <p:nvSpPr>
          <p:cNvPr id="29" name="surface-28">
            <a:extLst xmlns:a="http://schemas.openxmlformats.org/drawingml/2006/main">
              <a:ext uri="{FF2B5EF4-FFF2-40B4-BE49-F238E27FC236}">
                <a16:creationId xmlns:a16="http://schemas.microsoft.com/office/drawing/2014/main" id="{BB6EAFB8-4780-4BD6-83A8-206BCA23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143500"/>
            <a:ext cx="257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AF6CD397-959E-4DAE-BF51-B0C17159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38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实验五：消融与鲁棒性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067A350E-33F6-4AE0-922D-A5C88E65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5530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模块贡献与输入扰动</a:t>
            </a:r>
          </a:p>
        </p:txBody>
      </p:sp>
      <p:cxnSp>
        <p:nvCxnSpPr>
          <p:cNvPr id="70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7486650" y="2619375"/>
            <a:ext cx="1428750" cy="295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FA9CA"/>
            </a:solidFill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915400" y="2619375"/>
            <a:ext cx="1428750" cy="295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FA9CA"/>
            </a:solidFill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7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486650" y="3733800"/>
            <a:ext cx="1428750" cy="295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FA9CA"/>
            </a:solidFill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0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8915400" y="3733800"/>
            <a:ext cx="1428750" cy="295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FA9CA"/>
            </a:solidFill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7486650" y="4848225"/>
            <a:ext cx="1428750" cy="295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FA9CA"/>
            </a:solidFill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3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915400" y="4848225"/>
            <a:ext cx="1428750" cy="295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FA9CA"/>
            </a:solidFill>
            <a:tailEnd type="triangle" w="sm" len="sm"/>
          </a:ln>
        </p:spPr>
      </p:cxnSp>
      <p:sp>
        <p:nvSpPr>
          <p:cNvPr id="38" name="text-31">
            <a:extLst xmlns:a="http://schemas.openxmlformats.org/drawingml/2006/main">
              <a:ext uri="{FF2B5EF4-FFF2-40B4-BE49-F238E27FC236}">
                <a16:creationId xmlns:a16="http://schemas.microsoft.com/office/drawing/2014/main" id="{E2845122-246D-4471-8267-DAC63523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722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98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982"/>
                </a:solidFill>
                <a:latin typeface="微软雅黑"/>
                <a:ea typeface="微软雅黑"/>
                <a:cs typeface="微软雅黑"/>
              </a:rPr>
              <a:t>计划规模，尚未完成采集或标注。ADNI 访视诊断标签用于临床状态评价。</a:t>
            </a:r>
          </a:p>
        </p:txBody>
      </p:sp>
    </p:spTree>
    <p:extLst>
      <p:ext uri="{BB962C8B-B14F-4D97-AF65-F5344CB8AC3E}">
        <p14:creationId xmlns:p14="http://schemas.microsoft.com/office/powerpoint/2010/main" val="17720136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-32">
            <a:extLst xmlns:a="http://schemas.openxmlformats.org/drawingml/2006/main">
              <a:ext uri="{FF2B5EF4-FFF2-40B4-BE49-F238E27FC236}">
                <a16:creationId xmlns:a16="http://schemas.microsoft.com/office/drawing/2014/main" id="{523204AB-E3DD-483A-A893-4D3C1F04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33450"/>
            <a:ext cx="5781675" cy="5086350"/>
          </a:xfrm>
          <a:prstGeom xmlns:a="http://schemas.openxmlformats.org/drawingml/2006/main" prst="roundRect">
            <a:avLst>
              <a:gd name="adj" fmla="val 1873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2" name="surface-33">
            <a:extLst xmlns:a="http://schemas.openxmlformats.org/drawingml/2006/main">
              <a:ext uri="{FF2B5EF4-FFF2-40B4-BE49-F238E27FC236}">
                <a16:creationId xmlns:a16="http://schemas.microsoft.com/office/drawing/2014/main" id="{60D58C67-4396-4925-BF67-3A2BB4AF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42975"/>
            <a:ext cx="5762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2383">
            <a:solidFill>
              <a:srgbClr val="EDF5FB"/>
            </a:solidFill>
          </a:ln>
        </p:spPr>
      </p:sp>
      <p:sp>
        <p:nvSpPr>
          <p:cNvPr id="3" name="text-34">
            <a:extLst xmlns:a="http://schemas.openxmlformats.org/drawingml/2006/main">
              <a:ext uri="{FF2B5EF4-FFF2-40B4-BE49-F238E27FC236}">
                <a16:creationId xmlns:a16="http://schemas.microsoft.com/office/drawing/2014/main" id="{321AE582-F6D3-4A5F-B077-22D0B644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001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text-35">
            <a:extLst xmlns:a="http://schemas.openxmlformats.org/drawingml/2006/main">
              <a:ext uri="{FF2B5EF4-FFF2-40B4-BE49-F238E27FC236}">
                <a16:creationId xmlns:a16="http://schemas.microsoft.com/office/drawing/2014/main" id="{254A966F-619C-4505-A9AD-D6907128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000125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实验一：条件化知识构建</a:t>
            </a:r>
          </a:p>
        </p:txBody>
      </p:sp>
      <p:sp>
        <p:nvSpPr>
          <p:cNvPr id="5" name="surface-36">
            <a:extLst xmlns:a="http://schemas.openxmlformats.org/drawingml/2006/main">
              <a:ext uri="{FF2B5EF4-FFF2-40B4-BE49-F238E27FC236}">
                <a16:creationId xmlns:a16="http://schemas.microsoft.com/office/drawing/2014/main" id="{0B504D68-C917-4728-834D-E65B12B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933450"/>
            <a:ext cx="5781675" cy="5086350"/>
          </a:xfrm>
          <a:prstGeom xmlns:a="http://schemas.openxmlformats.org/drawingml/2006/main" prst="roundRect">
            <a:avLst>
              <a:gd name="adj" fmla="val 1873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6" name="surface-37">
            <a:extLst xmlns:a="http://schemas.openxmlformats.org/drawingml/2006/main">
              <a:ext uri="{FF2B5EF4-FFF2-40B4-BE49-F238E27FC236}">
                <a16:creationId xmlns:a16="http://schemas.microsoft.com/office/drawing/2014/main" id="{7150D005-74E5-45F0-B2D4-F0378708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42975"/>
            <a:ext cx="5762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2383">
            <a:solidFill>
              <a:srgbClr val="EDF5FB"/>
            </a:solidFill>
          </a:ln>
        </p:spPr>
      </p:sp>
      <p:sp>
        <p:nvSpPr>
          <p:cNvPr id="7" name="text-38">
            <a:extLst xmlns:a="http://schemas.openxmlformats.org/drawingml/2006/main">
              <a:ext uri="{FF2B5EF4-FFF2-40B4-BE49-F238E27FC236}">
                <a16:creationId xmlns:a16="http://schemas.microsoft.com/office/drawing/2014/main" id="{6A0B3700-5EB9-4E04-9F50-7E24D7E5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001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8" name="text-39">
            <a:extLst xmlns:a="http://schemas.openxmlformats.org/drawingml/2006/main">
              <a:ext uri="{FF2B5EF4-FFF2-40B4-BE49-F238E27FC236}">
                <a16:creationId xmlns:a16="http://schemas.microsoft.com/office/drawing/2014/main" id="{B5EF2A1E-17FB-4436-9E8A-A1D59938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000125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实验二：患者证据检索与补查</a:t>
            </a:r>
          </a:p>
        </p:txBody>
      </p:sp>
      <p:sp>
        <p:nvSpPr>
          <p:cNvPr id="9" name="text-40">
            <a:extLst xmlns:a="http://schemas.openxmlformats.org/drawingml/2006/main">
              <a:ext uri="{FF2B5EF4-FFF2-40B4-BE49-F238E27FC236}">
                <a16:creationId xmlns:a16="http://schemas.microsoft.com/office/drawing/2014/main" id="{3796BBA5-7DB6-4072-A70A-8B9797C6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验证医学声明的条件归属、逻辑关系及来源保留</a:t>
            </a:r>
          </a:p>
        </p:txBody>
      </p:sp>
      <p:sp>
        <p:nvSpPr>
          <p:cNvPr id="10" name="text-41">
            <a:extLst xmlns:a="http://schemas.openxmlformats.org/drawingml/2006/main">
              <a:ext uri="{FF2B5EF4-FFF2-40B4-BE49-F238E27FC236}">
                <a16:creationId xmlns:a16="http://schemas.microsoft.com/office/drawing/2014/main" id="{F2785324-B708-44F8-8112-4CA1C121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8825"/>
            <a:ext cx="533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对照方法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409575" y="2381250"/>
          <a:ext xmlns:a="http://schemas.openxmlformats.org/drawingml/2006/main" cx="5419725" cy="1752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95525"/>
                <a:gridCol w="3124200"/>
              </a:tblGrid>
              <a:tr h="350520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核心变化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350520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B1 三元组抽取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抽取主体、关系、客体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50520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B2 条件抽取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加入人群、时间及排除条件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50520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B3 文档解析 + 条件抽取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联合处理正文、表格与脚注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50520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完整算法一</a:t>
                      </a:r>
                    </a:p>
                  </a:txBody>
                  <a:tcPr marL="91440" marR="91440" marT="45720" marB="45720" anchor="ctr">
                    <a:solidFill>
                      <a:srgbClr val="F0F7FC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跨位置条件归属、来源及逻辑关联</a:t>
                      </a:r>
                    </a:p>
                  </a:txBody>
                  <a:tcPr marL="91440" marR="91440" marT="45720" marB="45720" anchor="ctr">
                    <a:solidFill>
                      <a:srgbClr val="F0F7FC"/>
                    </a:solidFill>
                  </a:tcPr>
                </a:tc>
              </a:tr>
            </a:tbl>
          </a:graphicData>
        </a:graphic>
      </p:graphicFrame>
      <p:sp>
        <p:nvSpPr>
          <p:cNvPr id="12" name="text-42">
            <a:extLst xmlns:a="http://schemas.openxmlformats.org/drawingml/2006/main">
              <a:ext uri="{FF2B5EF4-FFF2-40B4-BE49-F238E27FC236}">
                <a16:creationId xmlns:a16="http://schemas.microsoft.com/office/drawing/2014/main" id="{0E01F850-BBE7-4668-B27F-BA8EC5E2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38625"/>
            <a:ext cx="5381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主要指标</a:t>
            </a:r>
          </a:p>
        </p:txBody>
      </p:sp>
      <p:sp>
        <p:nvSpPr>
          <p:cNvPr id="13" name="text-43">
            <a:extLst xmlns:a="http://schemas.openxmlformats.org/drawingml/2006/main">
              <a:ext uri="{FF2B5EF4-FFF2-40B4-BE49-F238E27FC236}">
                <a16:creationId xmlns:a16="http://schemas.microsoft.com/office/drawing/2014/main" id="{95B3C9D5-FC86-49AF-A68D-37A34125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815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条件归属 F1、完整声明准确率</a:t>
            </a:r>
          </a:p>
        </p:txBody>
      </p:sp>
      <p:sp>
        <p:nvSpPr>
          <p:cNvPr id="14" name="text-44">
            <a:extLst xmlns:a="http://schemas.openxmlformats.org/drawingml/2006/main">
              <a:ext uri="{FF2B5EF4-FFF2-40B4-BE49-F238E27FC236}">
                <a16:creationId xmlns:a16="http://schemas.microsoft.com/office/drawing/2014/main" id="{A3711DFC-E7B5-4623-8657-8B280DC4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0"/>
            <a:ext cx="538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73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73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辅助：声明 / 条件抽取 F1、来源定位准确率</a:t>
            </a:r>
          </a:p>
        </p:txBody>
      </p:sp>
      <p:sp>
        <p:nvSpPr>
          <p:cNvPr id="15" name="text-45">
            <a:extLst xmlns:a="http://schemas.openxmlformats.org/drawingml/2006/main">
              <a:ext uri="{FF2B5EF4-FFF2-40B4-BE49-F238E27FC236}">
                <a16:creationId xmlns:a16="http://schemas.microsoft.com/office/drawing/2014/main" id="{58E7502E-A315-4E7C-98B0-28F9C084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53050"/>
            <a:ext cx="538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分场景：同句同段、跨段标题、表格表注、</a:t>
            </a:r>
          </a:p>
          <a:p xmlns:a="http://schemas.openxmlformats.org/drawingml/2006/main">
            <a:pPr algn="l">
              <a:defRPr sz="142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角标脚注与跨页条件</a:t>
            </a:r>
          </a:p>
        </p:txBody>
      </p:sp>
      <p:sp>
        <p:nvSpPr>
          <p:cNvPr id="16" name="text-46">
            <a:extLst xmlns:a="http://schemas.openxmlformats.org/drawingml/2006/main">
              <a:ext uri="{FF2B5EF4-FFF2-40B4-BE49-F238E27FC236}">
                <a16:creationId xmlns:a16="http://schemas.microsoft.com/office/drawing/2014/main" id="{69183A15-47FA-48E1-95A6-BDAEE1DC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524000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验证患者状态匹配、证据缺口识别与定向补查</a:t>
            </a:r>
          </a:p>
        </p:txBody>
      </p:sp>
      <p:sp>
        <p:nvSpPr>
          <p:cNvPr id="17" name="text-47">
            <a:extLst xmlns:a="http://schemas.openxmlformats.org/drawingml/2006/main">
              <a:ext uri="{FF2B5EF4-FFF2-40B4-BE49-F238E27FC236}">
                <a16:creationId xmlns:a16="http://schemas.microsoft.com/office/drawing/2014/main" id="{A03DD121-6D71-4538-B247-E80DACEB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28825"/>
            <a:ext cx="533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对照方法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6362700" y="2381250"/>
          <a:ext xmlns:a="http://schemas.openxmlformats.org/drawingml/2006/main" cx="5419725" cy="1752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33575"/>
                <a:gridCol w="3486150"/>
              </a:tblGrid>
              <a:tr h="350520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检索策略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350520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Dense / Hybrid RAG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向量检索 / 关键词与向量混合检索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50520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KG-RAG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普通实体关系图谱检索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50520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Agentic RAG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规划与迭代检索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50520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完整算法二</a:t>
                      </a:r>
                    </a:p>
                  </a:txBody>
                  <a:tcPr marL="91440" marR="91440" marT="45720" marB="45720" anchor="ctr">
                    <a:solidFill>
                      <a:srgbClr val="F0F7FC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状态匹配、缺口识别、定向补查</a:t>
                      </a:r>
                    </a:p>
                  </a:txBody>
                  <a:tcPr marL="91440" marR="91440" marT="45720" marB="45720" anchor="ctr">
                    <a:solidFill>
                      <a:srgbClr val="F0F7FC"/>
                    </a:solidFill>
                  </a:tcPr>
                </a:tc>
              </a:tr>
            </a:tbl>
          </a:graphicData>
        </a:graphic>
      </p:graphicFrame>
      <p:sp>
        <p:nvSpPr>
          <p:cNvPr id="19" name="text-48">
            <a:extLst xmlns:a="http://schemas.openxmlformats.org/drawingml/2006/main">
              <a:ext uri="{FF2B5EF4-FFF2-40B4-BE49-F238E27FC236}">
                <a16:creationId xmlns:a16="http://schemas.microsoft.com/office/drawing/2014/main" id="{2FBF1FB6-9DAA-49AA-87F0-03699C41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238625"/>
            <a:ext cx="5381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主要指标</a:t>
            </a:r>
          </a:p>
        </p:txBody>
      </p:sp>
      <p:sp>
        <p:nvSpPr>
          <p:cNvPr id="20" name="text-49">
            <a:extLst xmlns:a="http://schemas.openxmlformats.org/drawingml/2006/main">
              <a:ext uri="{FF2B5EF4-FFF2-40B4-BE49-F238E27FC236}">
                <a16:creationId xmlns:a16="http://schemas.microsoft.com/office/drawing/2014/main" id="{121353F4-5E1C-408D-8442-32044917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581525"/>
            <a:ext cx="5381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知识适用性 Macro-F1、必要证据覆盖率</a:t>
            </a:r>
          </a:p>
          <a:p xmlns:a="http://schemas.openxmlformats.org/drawingml/2006/main">
            <a:pPr algn="l">
              <a:def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证据缺口识别 F1</a:t>
            </a:r>
          </a:p>
        </p:txBody>
      </p:sp>
      <p:sp>
        <p:nvSpPr>
          <p:cNvPr id="21" name="text-50">
            <a:extLst xmlns:a="http://schemas.openxmlformats.org/drawingml/2006/main">
              <a:ext uri="{FF2B5EF4-FFF2-40B4-BE49-F238E27FC236}">
                <a16:creationId xmlns:a16="http://schemas.microsoft.com/office/drawing/2014/main" id="{E08F629A-BCDF-4FAC-AA78-1A97C457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9112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3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3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辅助：Recall@10、nDCG@10、补查成功率及成本</a:t>
            </a:r>
          </a:p>
        </p:txBody>
      </p:sp>
      <p:sp>
        <p:nvSpPr>
          <p:cNvPr id="22" name="text-51">
            <a:extLst xmlns:a="http://schemas.openxmlformats.org/drawingml/2006/main">
              <a:ext uri="{FF2B5EF4-FFF2-40B4-BE49-F238E27FC236}">
                <a16:creationId xmlns:a16="http://schemas.microsoft.com/office/drawing/2014/main" id="{40B94DAF-8F6D-462C-996C-05424DCC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524500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1042"/>
          </a:bodyPr>
          <a:lstStyle xmlns:a="http://schemas.openxmlformats.org/drawingml/2006/main"/>
          <a:p xmlns:a="http://schemas.openxmlformats.org/drawingml/2006/main">
            <a:pPr algn="l">
              <a:defRPr sz="1373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73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知识缺口：补查原文</a:t>
            </a:r>
          </a:p>
          <a:p xmlns:a="http://schemas.openxmlformats.org/drawingml/2006/main">
            <a:pPr algn="l">
              <a:defRPr sz="1373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73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患者数据缺口：明确提示缺失</a:t>
            </a:r>
          </a:p>
        </p:txBody>
      </p:sp>
      <p:sp>
        <p:nvSpPr>
          <p:cNvPr id="23" name="text-52">
            <a:extLst xmlns:a="http://schemas.openxmlformats.org/drawingml/2006/main">
              <a:ext uri="{FF2B5EF4-FFF2-40B4-BE49-F238E27FC236}">
                <a16:creationId xmlns:a16="http://schemas.microsoft.com/office/drawing/2014/main" id="{E6D80593-F10E-4826-A65F-B93ACC1B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722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98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982"/>
                </a:solidFill>
                <a:latin typeface="微软雅黑"/>
                <a:ea typeface="微软雅黑"/>
                <a:cs typeface="微软雅黑"/>
              </a:rPr>
              <a:t>公平对照：同一知识库与检索预算。固定条件化图谱，额外比较算法二的独立效果。</a:t>
            </a:r>
          </a:p>
        </p:txBody>
      </p:sp>
    </p:spTree>
    <p:extLst>
      <p:ext uri="{BB962C8B-B14F-4D97-AF65-F5344CB8AC3E}">
        <p14:creationId xmlns:p14="http://schemas.microsoft.com/office/powerpoint/2010/main" val="1229338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53">
            <a:extLst xmlns:a="http://schemas.openxmlformats.org/drawingml/2006/main">
              <a:ext uri="{FF2B5EF4-FFF2-40B4-BE49-F238E27FC236}">
                <a16:creationId xmlns:a16="http://schemas.microsoft.com/office/drawing/2014/main" id="{FA8EEC4E-3AB5-42CD-AD8F-971956BD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904875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实验三：可解释辅助诊断报告质量评价</a:t>
            </a:r>
          </a:p>
        </p:txBody>
      </p:sp>
      <p:sp>
        <p:nvSpPr>
          <p:cNvPr id="2" name="text-54">
            <a:extLst xmlns:a="http://schemas.openxmlformats.org/drawingml/2006/main">
              <a:ext uri="{FF2B5EF4-FFF2-40B4-BE49-F238E27FC236}">
                <a16:creationId xmlns:a16="http://schemas.microsoft.com/office/drawing/2014/main" id="{AB6A4E4D-D9E1-4B21-8C89-CA262101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428750"/>
            <a:ext cx="1160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统一报告章节：综合判断、患者证据、医学依据、限制与冲突、辅助建议</a:t>
            </a:r>
          </a:p>
        </p:txBody>
      </p:sp>
      <p:sp>
        <p:nvSpPr>
          <p:cNvPr id="3" name="surface-55">
            <a:extLst xmlns:a="http://schemas.openxmlformats.org/drawingml/2006/main">
              <a:ext uri="{FF2B5EF4-FFF2-40B4-BE49-F238E27FC236}">
                <a16:creationId xmlns:a16="http://schemas.microsoft.com/office/drawing/2014/main" id="{8CE89755-42FA-42A2-8903-A9CC4CEA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952625"/>
            <a:ext cx="23812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4" name="text-56">
            <a:extLst xmlns:a="http://schemas.openxmlformats.org/drawingml/2006/main">
              <a:ext uri="{FF2B5EF4-FFF2-40B4-BE49-F238E27FC236}">
                <a16:creationId xmlns:a16="http://schemas.microsoft.com/office/drawing/2014/main" id="{5A254BAE-4100-4ACE-977D-B83982A8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47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自然语言报告</a:t>
            </a:r>
          </a:p>
        </p:txBody>
      </p:sp>
      <p:sp>
        <p:nvSpPr>
          <p:cNvPr id="5" name="text-57">
            <a:extLst xmlns:a="http://schemas.openxmlformats.org/drawingml/2006/main">
              <a:ext uri="{FF2B5EF4-FFF2-40B4-BE49-F238E27FC236}">
                <a16:creationId xmlns:a16="http://schemas.microsoft.com/office/drawing/2014/main" id="{15C47EC3-F672-4EDD-8F9C-16CA3046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3622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不存在的信息明确标为缺失</a:t>
            </a:r>
          </a:p>
        </p:txBody>
      </p:sp>
      <p:sp>
        <p:nvSpPr>
          <p:cNvPr id="6" name="surface-58">
            <a:extLst xmlns:a="http://schemas.openxmlformats.org/drawingml/2006/main">
              <a:ext uri="{FF2B5EF4-FFF2-40B4-BE49-F238E27FC236}">
                <a16:creationId xmlns:a16="http://schemas.microsoft.com/office/drawing/2014/main" id="{1F77B50F-3BB0-45F7-A2E5-4668708E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52625"/>
            <a:ext cx="26574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7" name="text-59">
            <a:extLst xmlns:a="http://schemas.openxmlformats.org/drawingml/2006/main">
              <a:ext uri="{FF2B5EF4-FFF2-40B4-BE49-F238E27FC236}">
                <a16:creationId xmlns:a16="http://schemas.microsoft.com/office/drawing/2014/main" id="{4C2CD170-AEF7-4106-A81C-680382E9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047875"/>
            <a:ext cx="2466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原子医学声明拆解</a:t>
            </a:r>
          </a:p>
        </p:txBody>
      </p:sp>
      <p:sp>
        <p:nvSpPr>
          <p:cNvPr id="8" name="text-60">
            <a:extLst xmlns:a="http://schemas.openxmlformats.org/drawingml/2006/main">
              <a:ext uri="{FF2B5EF4-FFF2-40B4-BE49-F238E27FC236}">
                <a16:creationId xmlns:a16="http://schemas.microsoft.com/office/drawing/2014/main" id="{C80367FD-16FF-4CED-ABBB-D71B33CC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62200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诊断结论、事实、知识、缺失</a:t>
            </a:r>
          </a:p>
        </p:txBody>
      </p:sp>
      <p:sp>
        <p:nvSpPr>
          <p:cNvPr id="9" name="surface-61">
            <a:extLst xmlns:a="http://schemas.openxmlformats.org/drawingml/2006/main">
              <a:ext uri="{FF2B5EF4-FFF2-40B4-BE49-F238E27FC236}">
                <a16:creationId xmlns:a16="http://schemas.microsoft.com/office/drawing/2014/main" id="{0CE74514-F4CE-4153-BE8D-A7429772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26860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10" name="text-62">
            <a:extLst xmlns:a="http://schemas.openxmlformats.org/drawingml/2006/main">
              <a:ext uri="{FF2B5EF4-FFF2-40B4-BE49-F238E27FC236}">
                <a16:creationId xmlns:a16="http://schemas.microsoft.com/office/drawing/2014/main" id="{EDB86CAA-00C0-4673-8F32-5DCA0C5E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逐条证据核验</a:t>
            </a:r>
          </a:p>
        </p:txBody>
      </p:sp>
      <p:sp>
        <p:nvSpPr>
          <p:cNvPr id="11" name="text-63">
            <a:extLst xmlns:a="http://schemas.openxmlformats.org/drawingml/2006/main">
              <a:ext uri="{FF2B5EF4-FFF2-40B4-BE49-F238E27FC236}">
                <a16:creationId xmlns:a16="http://schemas.microsoft.com/office/drawing/2014/main" id="{D30C054C-30A7-4869-97D5-2FCA73DB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患者记录、知识原文、专家标准</a:t>
            </a:r>
          </a:p>
        </p:txBody>
      </p:sp>
      <p:sp>
        <p:nvSpPr>
          <p:cNvPr id="12" name="surface-64">
            <a:extLst xmlns:a="http://schemas.openxmlformats.org/drawingml/2006/main">
              <a:ext uri="{FF2B5EF4-FFF2-40B4-BE49-F238E27FC236}">
                <a16:creationId xmlns:a16="http://schemas.microsoft.com/office/drawing/2014/main" id="{2A7082AE-259E-4B02-AFBF-7D1C6298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2952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2383">
            <a:solidFill>
              <a:srgbClr val="02549D"/>
            </a:solidFill>
          </a:ln>
        </p:spPr>
      </p:sp>
      <p:sp>
        <p:nvSpPr>
          <p:cNvPr id="13" name="text-65">
            <a:extLst xmlns:a="http://schemas.openxmlformats.org/drawingml/2006/main">
              <a:ext uri="{FF2B5EF4-FFF2-40B4-BE49-F238E27FC236}">
                <a16:creationId xmlns:a16="http://schemas.microsoft.com/office/drawing/2014/main" id="{99D905BF-5865-42C1-BBDF-7DDAC05A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47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指标统计与错误分级</a:t>
            </a:r>
          </a:p>
        </p:txBody>
      </p:sp>
      <p:sp>
        <p:nvSpPr>
          <p:cNvPr id="14" name="text-66">
            <a:extLst xmlns:a="http://schemas.openxmlformats.org/drawingml/2006/main">
              <a:ext uri="{FF2B5EF4-FFF2-40B4-BE49-F238E27FC236}">
                <a16:creationId xmlns:a16="http://schemas.microsoft.com/office/drawing/2014/main" id="{8F551963-E1D3-444A-B2FD-C2E1B146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判断、证据定位及错误原因</a:t>
            </a:r>
          </a:p>
        </p:txBody>
      </p:sp>
      <p:cxnSp>
        <p:nvCxnSpPr>
          <p:cNvPr id="48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57475" y="2386013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A9CA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38800" y="2386013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A9CA"/>
            </a:solidFill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48700" y="2386013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A9CA"/>
            </a:solidFill>
            <a:tailEnd type="triangle" w="sm" len="sm"/>
          </a:ln>
        </p:spPr>
      </p:cxnSp>
      <p:sp>
        <p:nvSpPr>
          <p:cNvPr id="18" name="text-67">
            <a:extLst xmlns:a="http://schemas.openxmlformats.org/drawingml/2006/main">
              <a:ext uri="{FF2B5EF4-FFF2-40B4-BE49-F238E27FC236}">
                <a16:creationId xmlns:a16="http://schemas.microsoft.com/office/drawing/2014/main" id="{3B83FEA4-74C9-4506-9D20-DF4F92E7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028950"/>
            <a:ext cx="11563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463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临床错误：患者事实、医学知识、条件适用、关键证据遗漏、过度诊断、来源错误</a:t>
            </a:r>
          </a:p>
        </p:txBody>
      </p:sp>
      <p:sp>
        <p:nvSpPr>
          <p:cNvPr id="19" name="surface-68">
            <a:extLst xmlns:a="http://schemas.openxmlformats.org/drawingml/2006/main">
              <a:ext uri="{FF2B5EF4-FFF2-40B4-BE49-F238E27FC236}">
                <a16:creationId xmlns:a16="http://schemas.microsoft.com/office/drawing/2014/main" id="{C0994FDF-2411-4211-BFA5-A8A253E2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495675"/>
            <a:ext cx="6953250" cy="2524125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20" name="surface-69">
            <a:extLst xmlns:a="http://schemas.openxmlformats.org/drawingml/2006/main">
              <a:ext uri="{FF2B5EF4-FFF2-40B4-BE49-F238E27FC236}">
                <a16:creationId xmlns:a16="http://schemas.microsoft.com/office/drawing/2014/main" id="{80372635-D586-4E62-AEA1-CCA2C30D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505200"/>
            <a:ext cx="69342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2383">
            <a:solidFill>
              <a:srgbClr val="EDF5FB"/>
            </a:solidFill>
          </a:ln>
        </p:spPr>
      </p:sp>
      <p:sp>
        <p:nvSpPr>
          <p:cNvPr id="21" name="text-70">
            <a:extLst xmlns:a="http://schemas.openxmlformats.org/drawingml/2006/main">
              <a:ext uri="{FF2B5EF4-FFF2-40B4-BE49-F238E27FC236}">
                <a16:creationId xmlns:a16="http://schemas.microsoft.com/office/drawing/2014/main" id="{B58CF561-B990-4D8B-928D-7F10887C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623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2" name="text-71">
            <a:extLst xmlns:a="http://schemas.openxmlformats.org/drawingml/2006/main">
              <a:ext uri="{FF2B5EF4-FFF2-40B4-BE49-F238E27FC236}">
                <a16:creationId xmlns:a16="http://schemas.microsoft.com/office/drawing/2014/main" id="{A9B4A03F-37F4-47D5-8090-8D72F16C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562350"/>
            <a:ext cx="610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报告质量主要终点</a:t>
            </a:r>
          </a:p>
        </p:txBody>
      </p:sp>
      <p:graphicFrame>
        <p:nvGraphicFramePr>
          <p:cNvPr id="56" name=""/>
          <p:cNvGraphicFramePr/>
          <p:nvPr/>
        </p:nvGraphicFramePr>
        <p:xfrm>
          <a:off xmlns:a="http://schemas.openxmlformats.org/drawingml/2006/main" x="400050" y="4076700"/>
          <a:ext xmlns:a="http://schemas.openxmlformats.org/drawingml/2006/main" cx="6610350" cy="13239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3162300"/>
                <a:gridCol w="1447800"/>
              </a:tblGrid>
              <a:tr h="330994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主要终点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计算依据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评价目标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330994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必要证据覆盖率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正确覆盖 / 必要证据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解释完整性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30994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医学声明支持率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可信来源支持 / 可核验声明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证据忠实性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30994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严重临床错误率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含严重错误的报告 / 全部报告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临床安全性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24" name="text-72">
            <a:extLst xmlns:a="http://schemas.openxmlformats.org/drawingml/2006/main">
              <a:ext uri="{FF2B5EF4-FFF2-40B4-BE49-F238E27FC236}">
                <a16:creationId xmlns:a16="http://schemas.microsoft.com/office/drawing/2014/main" id="{62F8AF5B-3EB7-4EBE-BA8F-9B5A699A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72125"/>
            <a:ext cx="6543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6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6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辅助：患者事实准确率、知识适用性 Macro-F1、无依据陈述率</a:t>
            </a:r>
          </a:p>
        </p:txBody>
      </p:sp>
      <p:sp>
        <p:nvSpPr>
          <p:cNvPr id="25" name="surface-73">
            <a:extLst xmlns:a="http://schemas.openxmlformats.org/drawingml/2006/main">
              <a:ext uri="{FF2B5EF4-FFF2-40B4-BE49-F238E27FC236}">
                <a16:creationId xmlns:a16="http://schemas.microsoft.com/office/drawing/2014/main" id="{772809A6-0E8D-408B-B884-14119BDA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95675"/>
            <a:ext cx="4610100" cy="2524125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26" name="surface-74">
            <a:extLst xmlns:a="http://schemas.openxmlformats.org/drawingml/2006/main">
              <a:ext uri="{FF2B5EF4-FFF2-40B4-BE49-F238E27FC236}">
                <a16:creationId xmlns:a16="http://schemas.microsoft.com/office/drawing/2014/main" id="{16787AEF-79DC-42AB-8F97-C7C20CC2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05200"/>
            <a:ext cx="459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2383">
            <a:solidFill>
              <a:srgbClr val="EDF5FB"/>
            </a:solidFill>
          </a:ln>
        </p:spPr>
      </p:sp>
      <p:sp>
        <p:nvSpPr>
          <p:cNvPr id="27" name="text-75">
            <a:extLst xmlns:a="http://schemas.openxmlformats.org/drawingml/2006/main">
              <a:ext uri="{FF2B5EF4-FFF2-40B4-BE49-F238E27FC236}">
                <a16:creationId xmlns:a16="http://schemas.microsoft.com/office/drawing/2014/main" id="{00813BEC-82C6-4C7A-86AB-90E12A29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5623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8" name="text-76">
            <a:extLst xmlns:a="http://schemas.openxmlformats.org/drawingml/2006/main">
              <a:ext uri="{FF2B5EF4-FFF2-40B4-BE49-F238E27FC236}">
                <a16:creationId xmlns:a16="http://schemas.microsoft.com/office/drawing/2014/main" id="{E0C8E0D5-1A30-4C12-AA16-707C6F2C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62350"/>
            <a:ext cx="376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专家标注与评价验证</a:t>
            </a:r>
          </a:p>
        </p:txBody>
      </p:sp>
      <p:sp>
        <p:nvSpPr>
          <p:cNvPr id="29" name="text-77">
            <a:extLst xmlns:a="http://schemas.openxmlformats.org/drawingml/2006/main">
              <a:ext uri="{FF2B5EF4-FFF2-40B4-BE49-F238E27FC236}">
                <a16:creationId xmlns:a16="http://schemas.microsoft.com/office/drawing/2014/main" id="{BC581B81-F2D8-4610-89AE-7CA0E1F8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086225"/>
            <a:ext cx="4238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金标准：60–100 个病例子集</a:t>
            </a:r>
          </a:p>
        </p:txBody>
      </p:sp>
      <p:sp>
        <p:nvSpPr>
          <p:cNvPr id="30" name="text-78">
            <a:extLst xmlns:a="http://schemas.openxmlformats.org/drawingml/2006/main">
              <a:ext uri="{FF2B5EF4-FFF2-40B4-BE49-F238E27FC236}">
                <a16:creationId xmlns:a16="http://schemas.microsoft.com/office/drawing/2014/main" id="{4CD5F8A4-99A2-4D6E-B40C-4062C1CA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438650"/>
            <a:ext cx="4238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2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402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参考标准含关键事实、必要证据、</a:t>
            </a:r>
          </a:p>
          <a:p xmlns:a="http://schemas.openxmlformats.org/drawingml/2006/main">
            <a:pPr algn="l">
              <a:defRPr sz="1402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402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适用条件、资料缺失与错误清单</a:t>
            </a:r>
          </a:p>
        </p:txBody>
      </p:sp>
      <p:sp>
        <p:nvSpPr>
          <p:cNvPr id="31" name="text-79">
            <a:extLst xmlns:a="http://schemas.openxmlformats.org/drawingml/2006/main">
              <a:ext uri="{FF2B5EF4-FFF2-40B4-BE49-F238E27FC236}">
                <a16:creationId xmlns:a16="http://schemas.microsoft.com/office/drawing/2014/main" id="{3D38F72D-AFE4-499F-93B5-3DFBA6A8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019675"/>
            <a:ext cx="423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2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402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规则开发：15–20 例开发病例</a:t>
            </a:r>
          </a:p>
          <a:p xmlns:a="http://schemas.openxmlformats.org/drawingml/2006/main">
            <a:pPr algn="l">
              <a:defRPr sz="1402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402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独立复核：60–100 份匿名随机报告</a:t>
            </a:r>
          </a:p>
        </p:txBody>
      </p:sp>
      <p:sp>
        <p:nvSpPr>
          <p:cNvPr id="32" name="text-80">
            <a:extLst xmlns:a="http://schemas.openxmlformats.org/drawingml/2006/main">
              <a:ext uri="{FF2B5EF4-FFF2-40B4-BE49-F238E27FC236}">
                <a16:creationId xmlns:a16="http://schemas.microsoft.com/office/drawing/2014/main" id="{A6F9DC71-4619-4EF5-BC1A-3435A9F1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5911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轻微 / 中等 / 严重分级，验证自动核验</a:t>
            </a:r>
          </a:p>
        </p:txBody>
      </p:sp>
      <p:sp>
        <p:nvSpPr>
          <p:cNvPr id="33" name="text-81">
            <a:extLst xmlns:a="http://schemas.openxmlformats.org/drawingml/2006/main">
              <a:ext uri="{FF2B5EF4-FFF2-40B4-BE49-F238E27FC236}">
                <a16:creationId xmlns:a16="http://schemas.microsoft.com/office/drawing/2014/main" id="{F122B891-1642-44D5-B468-926EC73D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72200"/>
            <a:ext cx="868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98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982"/>
                </a:solidFill>
                <a:latin typeface="微软雅黑"/>
                <a:ea typeface="微软雅黑"/>
                <a:cs typeface="微软雅黑"/>
              </a:rPr>
              <a:t>各指标分别报告。自动严重错误识别不足时，以专家人工评价作为主要结果。</a:t>
            </a:r>
          </a:p>
        </p:txBody>
      </p:sp>
    </p:spTree>
    <p:extLst>
      <p:ext uri="{BB962C8B-B14F-4D97-AF65-F5344CB8AC3E}">
        <p14:creationId xmlns:p14="http://schemas.microsoft.com/office/powerpoint/2010/main" val="1310087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-82">
            <a:extLst xmlns:a="http://schemas.openxmlformats.org/drawingml/2006/main">
              <a:ext uri="{FF2B5EF4-FFF2-40B4-BE49-F238E27FC236}">
                <a16:creationId xmlns:a16="http://schemas.microsoft.com/office/drawing/2014/main" id="{FDD830B6-C858-4468-9463-27278AF9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33450"/>
            <a:ext cx="5781675" cy="5086350"/>
          </a:xfrm>
          <a:prstGeom xmlns:a="http://schemas.openxmlformats.org/drawingml/2006/main" prst="roundRect">
            <a:avLst>
              <a:gd name="adj" fmla="val 1873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2" name="surface-83">
            <a:extLst xmlns:a="http://schemas.openxmlformats.org/drawingml/2006/main">
              <a:ext uri="{FF2B5EF4-FFF2-40B4-BE49-F238E27FC236}">
                <a16:creationId xmlns:a16="http://schemas.microsoft.com/office/drawing/2014/main" id="{6D2D919B-0E12-4FD3-9AFA-ECD1DC43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42975"/>
            <a:ext cx="5762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2383">
            <a:solidFill>
              <a:srgbClr val="EDF5FB"/>
            </a:solidFill>
          </a:ln>
        </p:spPr>
      </p:sp>
      <p:sp>
        <p:nvSpPr>
          <p:cNvPr id="3" name="text-84">
            <a:extLst xmlns:a="http://schemas.openxmlformats.org/drawingml/2006/main">
              <a:ext uri="{FF2B5EF4-FFF2-40B4-BE49-F238E27FC236}">
                <a16:creationId xmlns:a16="http://schemas.microsoft.com/office/drawing/2014/main" id="{D9638DB0-6D59-469C-8284-CEFC9FDE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001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" name="text-85">
            <a:extLst xmlns:a="http://schemas.openxmlformats.org/drawingml/2006/main">
              <a:ext uri="{FF2B5EF4-FFF2-40B4-BE49-F238E27FC236}">
                <a16:creationId xmlns:a16="http://schemas.microsoft.com/office/drawing/2014/main" id="{E90518D8-7666-42FD-B614-CF390858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000125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实验四：整体系统诊断性能</a:t>
            </a:r>
          </a:p>
        </p:txBody>
      </p:sp>
      <p:sp>
        <p:nvSpPr>
          <p:cNvPr id="5" name="surface-86">
            <a:extLst xmlns:a="http://schemas.openxmlformats.org/drawingml/2006/main">
              <a:ext uri="{FF2B5EF4-FFF2-40B4-BE49-F238E27FC236}">
                <a16:creationId xmlns:a16="http://schemas.microsoft.com/office/drawing/2014/main" id="{DC16D60E-0EF7-4A1A-B232-8397CAD1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933450"/>
            <a:ext cx="5781675" cy="5086350"/>
          </a:xfrm>
          <a:prstGeom xmlns:a="http://schemas.openxmlformats.org/drawingml/2006/main" prst="roundRect">
            <a:avLst>
              <a:gd name="adj" fmla="val 1873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12383">
            <a:solidFill>
              <a:srgbClr val="B9D9F0"/>
            </a:solidFill>
          </a:ln>
        </p:spPr>
      </p:sp>
      <p:sp>
        <p:nvSpPr>
          <p:cNvPr id="6" name="surface-87">
            <a:extLst xmlns:a="http://schemas.openxmlformats.org/drawingml/2006/main">
              <a:ext uri="{FF2B5EF4-FFF2-40B4-BE49-F238E27FC236}">
                <a16:creationId xmlns:a16="http://schemas.microsoft.com/office/drawing/2014/main" id="{8A109F9A-5E0A-4EF3-8EEE-FD3902E7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42975"/>
            <a:ext cx="5762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2383">
            <a:solidFill>
              <a:srgbClr val="EDF5FB"/>
            </a:solidFill>
          </a:ln>
        </p:spPr>
      </p:sp>
      <p:sp>
        <p:nvSpPr>
          <p:cNvPr id="7" name="text-88">
            <a:extLst xmlns:a="http://schemas.openxmlformats.org/drawingml/2006/main">
              <a:ext uri="{FF2B5EF4-FFF2-40B4-BE49-F238E27FC236}">
                <a16:creationId xmlns:a16="http://schemas.microsoft.com/office/drawing/2014/main" id="{CF47DCDC-B98F-444C-8CC3-C261F7F8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001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8" name="text-89">
            <a:extLst xmlns:a="http://schemas.openxmlformats.org/drawingml/2006/main">
              <a:ext uri="{FF2B5EF4-FFF2-40B4-BE49-F238E27FC236}">
                <a16:creationId xmlns:a16="http://schemas.microsoft.com/office/drawing/2014/main" id="{B0715E19-7260-43B7-A235-54027E88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000125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913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实验五：消融与鲁棒性</a:t>
            </a:r>
          </a:p>
        </p:txBody>
      </p:sp>
      <p:sp>
        <p:nvSpPr>
          <p:cNvPr id="9" name="text-90">
            <a:extLst xmlns:a="http://schemas.openxmlformats.org/drawingml/2006/main">
              <a:ext uri="{FF2B5EF4-FFF2-40B4-BE49-F238E27FC236}">
                <a16:creationId xmlns:a16="http://schemas.microsoft.com/office/drawing/2014/main" id="{E5CBB54C-7746-4AA7-B3E8-A6C689A3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538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评价知识构建与检索优化对患者级判断的贡献</a:t>
            </a:r>
          </a:p>
        </p:txBody>
      </p:sp>
      <p:sp>
        <p:nvSpPr>
          <p:cNvPr id="10" name="text-91">
            <a:extLst xmlns:a="http://schemas.openxmlformats.org/drawingml/2006/main">
              <a:ext uri="{FF2B5EF4-FFF2-40B4-BE49-F238E27FC236}">
                <a16:creationId xmlns:a16="http://schemas.microsoft.com/office/drawing/2014/main" id="{ED391D9A-0730-4F96-856A-03C73AE4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0"/>
            <a:ext cx="5381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系统对照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409575" y="2276475"/>
          <a:ext xmlns:a="http://schemas.openxmlformats.org/drawingml/2006/main" cx="5419725" cy="19716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2466975"/>
              </a:tblGrid>
              <a:tr h="328613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验证作用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328613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 LLM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基础诊断分析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28613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 LLM + 文本 RAG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外部知识增强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28613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多智能体 + 文本 RAG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多智能体协作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28613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多智能体 + 普通 KG-RAG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普通图谱检索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28613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完整系统</a:t>
                      </a:r>
                    </a:p>
                  </a:txBody>
                  <a:tcPr marL="91440" marR="91440" marT="45720" marB="45720" anchor="ctr">
                    <a:solidFill>
                      <a:srgbClr val="F0F7FC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35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条件化图谱 +</a:t>
                      </a:r>
                    </a:p>
                    <a:p>
                      <a:pPr algn="l"/>
                      <a:r>
                        <a:rPr sz="1335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患者状态引导检索</a:t>
                      </a:r>
                    </a:p>
                  </a:txBody>
                  <a:tcPr marL="91440" marR="91440" marT="45720" marB="45720" anchor="ctr">
                    <a:solidFill>
                      <a:srgbClr val="F0F7FC"/>
                    </a:solidFill>
                  </a:tcPr>
                </a:tc>
              </a:tr>
            </a:tbl>
          </a:graphicData>
        </a:graphic>
      </p:graphicFrame>
      <p:sp>
        <p:nvSpPr>
          <p:cNvPr id="12" name="text-92">
            <a:extLst xmlns:a="http://schemas.openxmlformats.org/drawingml/2006/main">
              <a:ext uri="{FF2B5EF4-FFF2-40B4-BE49-F238E27FC236}">
                <a16:creationId xmlns:a16="http://schemas.microsoft.com/office/drawing/2014/main" id="{58CD3D63-58C9-4F38-B37B-1EAA7D5E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48200"/>
            <a:ext cx="5381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诊断指标与结果展示</a:t>
            </a:r>
          </a:p>
        </p:txBody>
      </p:sp>
      <p:sp>
        <p:nvSpPr>
          <p:cNvPr id="13" name="text-93">
            <a:extLst xmlns:a="http://schemas.openxmlformats.org/drawingml/2006/main">
              <a:ext uri="{FF2B5EF4-FFF2-40B4-BE49-F238E27FC236}">
                <a16:creationId xmlns:a16="http://schemas.microsoft.com/office/drawing/2014/main" id="{35CD644B-2886-495C-97E2-A3F88D7A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10150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529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Accuracy、Macro-F1、Balanced Accuracy</a:t>
            </a:r>
          </a:p>
          <a:p xmlns:a="http://schemas.openxmlformats.org/drawingml/2006/main">
            <a:pPr algn="l">
              <a:defRPr sz="1538" b="1">
                <a:solidFill>
                  <a:srgbClr val="071A43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1">
                <a:solidFill>
                  <a:srgbClr val="071A43"/>
                </a:solidFill>
                <a:latin typeface="微软雅黑"/>
                <a:ea typeface="微软雅黑"/>
                <a:cs typeface="微软雅黑"/>
              </a:rPr>
              <a:t>混淆矩阵，另列报告质量结果</a:t>
            </a:r>
          </a:p>
        </p:txBody>
      </p:sp>
      <p:sp>
        <p:nvSpPr>
          <p:cNvPr id="14" name="text-94">
            <a:extLst xmlns:a="http://schemas.openxmlformats.org/drawingml/2006/main">
              <a:ext uri="{FF2B5EF4-FFF2-40B4-BE49-F238E27FC236}">
                <a16:creationId xmlns:a16="http://schemas.microsoft.com/office/drawing/2014/main" id="{4B78CC34-D159-4616-B7E5-4863796C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220"/>
          </a:bodyPr>
          <a:lstStyle xmlns:a="http://schemas.openxmlformats.org/drawingml/2006/main"/>
          <a:p xmlns:a="http://schemas.openxmlformats.org/drawingml/2006/main">
            <a:pPr algn="l">
              <a:defRPr sz="141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41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证据不足：报告拒绝判断率，</a:t>
            </a:r>
          </a:p>
          <a:p xmlns:a="http://schemas.openxmlformats.org/drawingml/2006/main">
            <a:pPr algn="l">
              <a:defRPr sz="141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410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并统计已判断病例的准确率</a:t>
            </a:r>
          </a:p>
        </p:txBody>
      </p:sp>
      <p:sp>
        <p:nvSpPr>
          <p:cNvPr id="15" name="text-95">
            <a:extLst xmlns:a="http://schemas.openxmlformats.org/drawingml/2006/main">
              <a:ext uri="{FF2B5EF4-FFF2-40B4-BE49-F238E27FC236}">
                <a16:creationId xmlns:a16="http://schemas.microsoft.com/office/drawing/2014/main" id="{56772C30-8479-483E-B558-15A376F5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524000"/>
            <a:ext cx="5381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两个算法的模块消融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6362700" y="1895475"/>
          <a:ext xmlns:a="http://schemas.openxmlformats.org/drawingml/2006/main" cx="5419725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1695450"/>
                <a:gridCol w="1914525"/>
              </a:tblGrid>
              <a:tr h="333375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实验组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条件化知识构建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患者状态引导检索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333375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A0 基础系统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33375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A1 仅算法一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33375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A2 仅算法二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333375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A3 完整系统</a:t>
                      </a:r>
                    </a:p>
                  </a:txBody>
                  <a:tcPr marL="91440" marR="91440" marT="45720" marB="45720" anchor="ctr">
                    <a:solidFill>
                      <a:srgbClr val="F0F7FC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F0F7FC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F0F7FC"/>
                    </a:solidFill>
                  </a:tcPr>
                </a:tc>
              </a:tr>
            </a:tbl>
          </a:graphicData>
        </a:graphic>
      </p:graphicFrame>
      <p:sp>
        <p:nvSpPr>
          <p:cNvPr id="17" name="text-96">
            <a:extLst xmlns:a="http://schemas.openxmlformats.org/drawingml/2006/main">
              <a:ext uri="{FF2B5EF4-FFF2-40B4-BE49-F238E27FC236}">
                <a16:creationId xmlns:a16="http://schemas.microsoft.com/office/drawing/2014/main" id="{632F721B-C7B0-4D10-9626-F06824AF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0522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共同评价：诊断 Macro-F1、证据覆盖率、</a:t>
            </a:r>
          </a:p>
          <a:p xmlns:a="http://schemas.openxmlformats.org/drawingml/2006/main">
            <a:pPr algn="l">
              <a:defRPr sz="142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43A"/>
                </a:solidFill>
                <a:latin typeface="微软雅黑"/>
                <a:ea typeface="微软雅黑"/>
                <a:cs typeface="微软雅黑"/>
              </a:rPr>
              <a:t>医学声明支持率、严重临床错误率</a:t>
            </a:r>
          </a:p>
        </p:txBody>
      </p:sp>
      <p:sp>
        <p:nvSpPr>
          <p:cNvPr id="18" name="text-97">
            <a:extLst xmlns:a="http://schemas.openxmlformats.org/drawingml/2006/main">
              <a:ext uri="{FF2B5EF4-FFF2-40B4-BE49-F238E27FC236}">
                <a16:creationId xmlns:a16="http://schemas.microsoft.com/office/drawing/2014/main" id="{7CA79467-2988-4319-8278-FEC00ABE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229100"/>
            <a:ext cx="5381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1">
                <a:solidFill>
                  <a:srgbClr val="02549D"/>
                </a:solidFill>
                <a:latin typeface="微软雅黑"/>
                <a:ea typeface="微软雅黑"/>
                <a:cs typeface="微软雅黑"/>
              </a:rPr>
              <a:t>鲁棒性场景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6362700" y="4562475"/>
          <a:ext xmlns:a="http://schemas.openxmlformats.org/drawingml/2006/main" cx="5419725" cy="10763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04950"/>
                <a:gridCol w="3914775"/>
              </a:tblGrid>
              <a:tr h="269081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输入扰动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1">
                          <a:solidFill>
                            <a:srgbClr val="071A4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评价重点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269081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模态缺失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缺失提示、诊断表现下降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269081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证据冲突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冲突识别、无依据断言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  <a:tr h="269081"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知识条件变化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  <a:tc>
                  <a:txBody>
                    <a:bodyPr lIns="85725" tIns="47625" rIns="76200" bIns="47625">
                      <a:normAutofit/>
                    </a:bodyPr>
                    <a:lstStyle/>
                    <a:p>
                      <a:pPr algn="l"/>
                      <a:r>
                        <a:rPr sz="1320" b="0">
                          <a:solidFill>
                            <a:srgbClr val="1724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成对病例适用性、引用正确性</a:t>
                      </a:r>
                    </a:p>
                  </a:txBody>
                  <a:tcPr marL="91440" marR="91440" marT="45720" marB="45720" anchor="ctr"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20" name="text-98">
            <a:extLst xmlns:a="http://schemas.openxmlformats.org/drawingml/2006/main">
              <a:ext uri="{FF2B5EF4-FFF2-40B4-BE49-F238E27FC236}">
                <a16:creationId xmlns:a16="http://schemas.microsoft.com/office/drawing/2014/main" id="{453243CF-D0E0-487F-BEA4-F6383C37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819775"/>
            <a:ext cx="5381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0" b="0">
                <a:solidFill>
                  <a:srgbClr val="526982"/>
                </a:solidFill>
                <a:latin typeface="微软雅黑"/>
                <a:ea typeface="微软雅黑"/>
                <a:cs typeface="微软雅黑"/>
              </a:defRPr>
            </a:pPr>
            <a:r>
              <a:rPr sz="1230" b="0">
                <a:solidFill>
                  <a:srgbClr val="526982"/>
                </a:solidFill>
                <a:latin typeface="微软雅黑"/>
                <a:ea typeface="微软雅黑"/>
                <a:cs typeface="微软雅黑"/>
              </a:rPr>
              <a:t>固定协作框架；解释实验固定候选诊断</a:t>
            </a:r>
          </a:p>
        </p:txBody>
      </p:sp>
      <p:sp>
        <p:nvSpPr>
          <p:cNvPr id="21" name="text-99">
            <a:extLst xmlns:a="http://schemas.openxmlformats.org/drawingml/2006/main">
              <a:ext uri="{FF2B5EF4-FFF2-40B4-BE49-F238E27FC236}">
                <a16:creationId xmlns:a16="http://schemas.microsoft.com/office/drawing/2014/main" id="{113941B3-6528-4532-9C9C-56E1C7A6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72200"/>
            <a:ext cx="890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982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526982"/>
                </a:solidFill>
                <a:latin typeface="微软雅黑"/>
                <a:ea typeface="微软雅黑"/>
                <a:cs typeface="微软雅黑"/>
              </a:rPr>
              <a:t>同一病例、底层 LLM、知识语料、报告结构及可比预算。缺失模态区分自然缺失与人为遮蔽。</a:t>
            </a:r>
          </a:p>
        </p:txBody>
      </p:sp>
    </p:spTree>
    <p:extLst>
      <p:ext uri="{BB962C8B-B14F-4D97-AF65-F5344CB8AC3E}">
        <p14:creationId xmlns:p14="http://schemas.microsoft.com/office/powerpoint/2010/main" val="1240208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2026-10-09T11:53:00.0780000Z</dcterms:created>
  <dcterms:modified xsi:type="dcterms:W3CDTF">2026-10-09T11:53:00.0780000Z</dcterms:modified>
</coreProperties>
</file>